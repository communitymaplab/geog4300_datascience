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98" r:id="rId3"/>
    <p:sldId id="257" r:id="rId4"/>
    <p:sldId id="297" r:id="rId5"/>
    <p:sldId id="296" r:id="rId6"/>
    <p:sldId id="289" r:id="rId7"/>
    <p:sldId id="290" r:id="rId8"/>
    <p:sldId id="292" r:id="rId9"/>
    <p:sldId id="286" r:id="rId10"/>
    <p:sldId id="293" r:id="rId11"/>
    <p:sldId id="294" r:id="rId12"/>
    <p:sldId id="295" r:id="rId13"/>
    <p:sldId id="29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16" autoAdjust="0"/>
    <p:restoredTop sz="78904"/>
  </p:normalViewPr>
  <p:slideViewPr>
    <p:cSldViewPr snapToGrid="0">
      <p:cViewPr varScale="1">
        <p:scale>
          <a:sx n="86" d="100"/>
          <a:sy n="86" d="100"/>
        </p:scale>
        <p:origin x="248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23026-85D4-48E8-9219-18000F688023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D42E2-8102-4E72-B8DC-BA8209884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0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EC705-F0FB-DA4A-B05E-A965D299866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72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Ordinal data can be used in surveys (</a:t>
            </a:r>
            <a:r>
              <a:rPr lang="en-US" dirty="0" err="1"/>
              <a:t>ie</a:t>
            </a:r>
            <a:r>
              <a:rPr lang="en-US" dirty="0"/>
              <a:t> Likert)</a:t>
            </a:r>
          </a:p>
          <a:p>
            <a:r>
              <a:rPr lang="en-US" dirty="0"/>
              <a:t>Interval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83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Letter grades: ordinal. </a:t>
            </a:r>
            <a:r>
              <a:rPr lang="en-US" dirty="0" err="1"/>
              <a:t>Qualititive</a:t>
            </a:r>
            <a:r>
              <a:rPr lang="en-US" dirty="0"/>
              <a:t> </a:t>
            </a:r>
          </a:p>
          <a:p>
            <a:r>
              <a:rPr lang="en-US" dirty="0"/>
              <a:t>Birth year: interval. How to convert that to ratio data: age.</a:t>
            </a:r>
          </a:p>
          <a:p>
            <a:r>
              <a:rPr lang="en-US" dirty="0"/>
              <a:t>Number of students: Ratio</a:t>
            </a:r>
          </a:p>
          <a:p>
            <a:r>
              <a:rPr lang="en-US" dirty="0"/>
              <a:t>Degree objective: degree (ordinal), dept (nominal)</a:t>
            </a:r>
          </a:p>
          <a:p>
            <a:r>
              <a:rPr lang="en-US" dirty="0"/>
              <a:t>Flavors of ice cream: nominal (can you rank them? Haha)</a:t>
            </a:r>
          </a:p>
          <a:p>
            <a:r>
              <a:rPr lang="en-US" dirty="0"/>
              <a:t>Grams of fat: ratio </a:t>
            </a:r>
          </a:p>
          <a:p>
            <a:r>
              <a:rPr lang="en-US" dirty="0"/>
              <a:t>% of consumers: ratio, you can have 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36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088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Depending your approach, classification methods can paint very different pictures of the same data points.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might we interpret the natural breaks map differently from the quantiles map here?</a:t>
            </a:r>
          </a:p>
        </p:txBody>
      </p:sp>
      <p:sp>
        <p:nvSpPr>
          <p:cNvPr id="117" name="Shape 117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6891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1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9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7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9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59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6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6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3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3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8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91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9932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1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10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54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21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16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3C8B963-0F36-48FC-991E-AA63861DA924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79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B7XoW2qiFUA?si=nCUEGM3MfvDWYk-g&amp;t=27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hyperlink" Target="https://www.youtube.com/watch?v=ZdPNBF6GWBw" TargetMode="External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250" y="4291445"/>
            <a:ext cx="11503742" cy="1309256"/>
          </a:xfrm>
        </p:spPr>
        <p:txBody>
          <a:bodyPr>
            <a:noAutofit/>
          </a:bodyPr>
          <a:lstStyle/>
          <a:p>
            <a:r>
              <a:rPr lang="en-US" sz="4400" dirty="0"/>
              <a:t>Week 4: Descriptive statistics/Exploratory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D1488-58DF-4A33-AC86-D6B690A68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917" y="5705586"/>
            <a:ext cx="9440034" cy="1049867"/>
          </a:xfrm>
        </p:spPr>
        <p:txBody>
          <a:bodyPr>
            <a:normAutofit fontScale="85000" lnSpcReduction="20000"/>
          </a:bodyPr>
          <a:lstStyle/>
          <a:p>
            <a:r>
              <a:rPr lang="en-US" sz="3200" dirty="0"/>
              <a:t>Geog4300/6300: Harper</a:t>
            </a:r>
          </a:p>
          <a:p>
            <a:r>
              <a:rPr lang="en-US" sz="3200" dirty="0"/>
              <a:t>Sept 9, 2025</a:t>
            </a:r>
          </a:p>
          <a:p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D203E7-62A4-4EF9-A1A6-064464A35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197" y="62219"/>
            <a:ext cx="7283605" cy="412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F3D79-B781-D2C7-1828-454EA6409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are we?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192A7-75EB-F737-EB81-9FD8AE685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Reading catch-up:</a:t>
            </a:r>
          </a:p>
          <a:p>
            <a:pPr lvl="1"/>
            <a:r>
              <a:rPr lang="en-US" sz="2400" dirty="0"/>
              <a:t>Wickham and </a:t>
            </a:r>
            <a:r>
              <a:rPr lang="en-US" sz="2400" dirty="0" err="1"/>
              <a:t>Grolemand</a:t>
            </a:r>
            <a:r>
              <a:rPr lang="en-US" sz="2400" dirty="0"/>
              <a:t> Ch 1-3, 5, 7 (optional: 4, 6, 8)</a:t>
            </a:r>
          </a:p>
          <a:p>
            <a:pPr lvl="1"/>
            <a:r>
              <a:rPr lang="en-US" sz="2400" dirty="0"/>
              <a:t>Wikham and </a:t>
            </a:r>
            <a:r>
              <a:rPr lang="en-US" sz="2400" dirty="0" err="1"/>
              <a:t>Grolemand</a:t>
            </a:r>
            <a:r>
              <a:rPr lang="en-US" sz="2400" dirty="0"/>
              <a:t> Ch 21 (Databases)</a:t>
            </a:r>
          </a:p>
          <a:p>
            <a:r>
              <a:rPr lang="en-US" sz="2400" dirty="0"/>
              <a:t>This week: Read McGrew et al. Chapter 3 (Descriptive statistics and graphs)</a:t>
            </a:r>
          </a:p>
          <a:p>
            <a:r>
              <a:rPr lang="en-US" sz="2400" dirty="0"/>
              <a:t>Work on scripts on your own time if we’re not getting to them in class. Ask questions during ‘lab’ time (5:10-5:35 both days) or book a time with me or </a:t>
            </a:r>
            <a:r>
              <a:rPr lang="en-US" sz="2400" dirty="0" err="1"/>
              <a:t>Ummie</a:t>
            </a:r>
            <a:r>
              <a:rPr lang="en-US" sz="2400" dirty="0"/>
              <a:t>.</a:t>
            </a:r>
          </a:p>
          <a:p>
            <a:r>
              <a:rPr lang="en-US" sz="2400" dirty="0"/>
              <a:t>Lab 1: Due Thursday</a:t>
            </a:r>
          </a:p>
        </p:txBody>
      </p:sp>
    </p:spTree>
    <p:extLst>
      <p:ext uri="{BB962C8B-B14F-4D97-AF65-F5344CB8AC3E}">
        <p14:creationId xmlns:p14="http://schemas.microsoft.com/office/powerpoint/2010/main" val="170393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419450" y="377505"/>
            <a:ext cx="53353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Know your variable 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B3EBB5-5DE2-4CDE-B566-811393994CA9}"/>
              </a:ext>
            </a:extLst>
          </p:cNvPr>
          <p:cNvSpPr txBox="1"/>
          <p:nvPr/>
        </p:nvSpPr>
        <p:spPr>
          <a:xfrm>
            <a:off x="857774" y="1123854"/>
            <a:ext cx="1046736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Nominal/categorical: </a:t>
            </a:r>
            <a:r>
              <a:rPr lang="en-US" sz="2800" dirty="0"/>
              <a:t>non-ordered and qualitative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Geographic regions, land use classifications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Ordinal: </a:t>
            </a:r>
            <a:r>
              <a:rPr lang="en-US" sz="2800" dirty="0"/>
              <a:t>qualitative but ranked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Months of the year, storm intensity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Interval: </a:t>
            </a:r>
            <a:r>
              <a:rPr lang="en-US" sz="2800" dirty="0"/>
              <a:t>Quantitative but without a meaningful zero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Temperature, years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Ratio: </a:t>
            </a:r>
            <a:r>
              <a:rPr lang="en-US" sz="2800" dirty="0"/>
              <a:t>Quantitative and divisible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Rainfall amounts, program budget amounts</a:t>
            </a:r>
          </a:p>
        </p:txBody>
      </p:sp>
    </p:spTree>
    <p:extLst>
      <p:ext uri="{BB962C8B-B14F-4D97-AF65-F5344CB8AC3E}">
        <p14:creationId xmlns:p14="http://schemas.microsoft.com/office/powerpoint/2010/main" val="3926810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AFCEE9-B3D7-48C4-953B-1DAEBD576D89}"/>
              </a:ext>
            </a:extLst>
          </p:cNvPr>
          <p:cNvSpPr txBox="1"/>
          <p:nvPr/>
        </p:nvSpPr>
        <p:spPr>
          <a:xfrm>
            <a:off x="874551" y="364803"/>
            <a:ext cx="10719034" cy="319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buSzPct val="25000"/>
              <a:buNone/>
            </a:pPr>
            <a:r>
              <a:rPr lang="en-US" sz="2800" b="1" u="sng" dirty="0">
                <a:solidFill>
                  <a:schemeClr val="bg2">
                    <a:lumMod val="10000"/>
                    <a:lumOff val="90000"/>
                  </a:schemeClr>
                </a:solidFill>
                <a:latin typeface="Calisto MT" panose="02040603050505030304" pitchFamily="18" charset="0"/>
                <a:ea typeface="Calibri"/>
                <a:cs typeface="Calibri"/>
                <a:sym typeface="Calibri"/>
              </a:rPr>
              <a:t>What kind of data is it?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buClr>
                <a:schemeClr val="bg2">
                  <a:lumMod val="10000"/>
                  <a:lumOff val="9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10000"/>
                    <a:lumOff val="90000"/>
                  </a:schemeClr>
                </a:solidFill>
                <a:latin typeface="Calisto MT" panose="02040603050505030304" pitchFamily="18" charset="0"/>
                <a:ea typeface="Calibri"/>
                <a:cs typeface="Calibri"/>
                <a:sym typeface="Calibri"/>
              </a:rPr>
              <a:t>Letter grades on an essay exam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buClr>
                <a:schemeClr val="bg2">
                  <a:lumMod val="10000"/>
                  <a:lumOff val="9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10000"/>
                    <a:lumOff val="90000"/>
                  </a:schemeClr>
                </a:solidFill>
                <a:latin typeface="Calisto MT" panose="02040603050505030304" pitchFamily="18" charset="0"/>
                <a:ea typeface="Calibri"/>
                <a:cs typeface="Calibri"/>
                <a:sym typeface="Calibri"/>
              </a:rPr>
              <a:t>Birth year of graduate students in a department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buClr>
                <a:schemeClr val="bg2">
                  <a:lumMod val="10000"/>
                  <a:lumOff val="9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10000"/>
                    <a:lumOff val="90000"/>
                  </a:schemeClr>
                </a:solidFill>
                <a:latin typeface="Calisto MT" panose="02040603050505030304" pitchFamily="18" charset="0"/>
                <a:ea typeface="Calibri"/>
                <a:cs typeface="Calibri"/>
                <a:sym typeface="Calibri"/>
              </a:rPr>
              <a:t>Number of students from each country in a large course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buClr>
                <a:schemeClr val="bg2">
                  <a:lumMod val="10000"/>
                  <a:lumOff val="9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10000"/>
                    <a:lumOff val="90000"/>
                  </a:schemeClr>
                </a:solidFill>
                <a:latin typeface="Calisto MT" panose="02040603050505030304" pitchFamily="18" charset="0"/>
                <a:ea typeface="Calibri"/>
                <a:cs typeface="Calibri"/>
                <a:sym typeface="Calibri"/>
              </a:rPr>
              <a:t>Degree objectives for geography students (BA/BS, MA/MS, </a:t>
            </a:r>
            <a:r>
              <a:rPr lang="en-US" sz="2800" dirty="0" err="1">
                <a:solidFill>
                  <a:schemeClr val="bg2">
                    <a:lumMod val="10000"/>
                    <a:lumOff val="90000"/>
                  </a:schemeClr>
                </a:solidFill>
                <a:latin typeface="Calisto MT" panose="02040603050505030304" pitchFamily="18" charset="0"/>
                <a:ea typeface="Calibri"/>
                <a:cs typeface="Calibri"/>
                <a:sym typeface="Calibri"/>
              </a:rPr>
              <a:t>Phd</a:t>
            </a:r>
            <a:r>
              <a:rPr lang="en-US" sz="2800" dirty="0">
                <a:solidFill>
                  <a:schemeClr val="bg2">
                    <a:lumMod val="10000"/>
                    <a:lumOff val="90000"/>
                  </a:schemeClr>
                </a:solidFill>
                <a:latin typeface="Calisto MT" panose="02040603050505030304" pitchFamily="18" charset="0"/>
                <a:ea typeface="Calibri"/>
                <a:cs typeface="Calibri"/>
                <a:sym typeface="Calibri"/>
              </a:rPr>
              <a:t>)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buClr>
                <a:schemeClr val="bg2">
                  <a:lumMod val="10000"/>
                  <a:lumOff val="9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10000"/>
                    <a:lumOff val="90000"/>
                  </a:schemeClr>
                </a:solidFill>
                <a:latin typeface="Calisto MT" panose="02040603050505030304" pitchFamily="18" charset="0"/>
                <a:ea typeface="Calibri"/>
                <a:cs typeface="Calibri"/>
                <a:sym typeface="Calibri"/>
              </a:rPr>
              <a:t>Flavors of ice cream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buClr>
                <a:schemeClr val="bg2">
                  <a:lumMod val="10000"/>
                  <a:lumOff val="9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10000"/>
                    <a:lumOff val="90000"/>
                  </a:schemeClr>
                </a:solidFill>
                <a:latin typeface="Calisto MT" panose="02040603050505030304" pitchFamily="18" charset="0"/>
                <a:ea typeface="Calibri"/>
                <a:cs typeface="Calibri"/>
                <a:sym typeface="Calibri"/>
              </a:rPr>
              <a:t>Grams of fat in ice cream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buClr>
                <a:schemeClr val="bg2">
                  <a:lumMod val="10000"/>
                  <a:lumOff val="90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10000"/>
                    <a:lumOff val="90000"/>
                  </a:schemeClr>
                </a:solidFill>
                <a:latin typeface="Calisto MT" panose="02040603050505030304" pitchFamily="18" charset="0"/>
                <a:ea typeface="Calibri"/>
                <a:cs typeface="Calibri"/>
                <a:sym typeface="Calibri"/>
              </a:rPr>
              <a:t>% of consumers who prefer particular flavors of ice cream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08B52D-37D2-4EAA-B5A0-C2AE3A8614A9}"/>
              </a:ext>
            </a:extLst>
          </p:cNvPr>
          <p:cNvSpPr txBox="1"/>
          <p:nvPr/>
        </p:nvSpPr>
        <p:spPr>
          <a:xfrm>
            <a:off x="4538444" y="4923537"/>
            <a:ext cx="743507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chemeClr val="bg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/>
                </a:solidFill>
              </a:rPr>
              <a:t>Nominal/categorical: </a:t>
            </a:r>
            <a:r>
              <a:rPr lang="en-US" sz="2400" dirty="0"/>
              <a:t>non-ordered and qualitative</a:t>
            </a:r>
          </a:p>
          <a:p>
            <a:pPr marL="457200" indent="-457200">
              <a:buClr>
                <a:schemeClr val="bg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/>
                </a:solidFill>
              </a:rPr>
              <a:t>Ordinal: </a:t>
            </a:r>
            <a:r>
              <a:rPr lang="en-US" sz="2400" dirty="0"/>
              <a:t>qualitative but ranked</a:t>
            </a:r>
          </a:p>
          <a:p>
            <a:pPr marL="457200" indent="-457200">
              <a:buClr>
                <a:schemeClr val="bg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/>
                </a:solidFill>
              </a:rPr>
              <a:t>Interval: </a:t>
            </a:r>
            <a:r>
              <a:rPr lang="en-US" sz="2400" dirty="0"/>
              <a:t>Quantitative but without a true zero</a:t>
            </a:r>
          </a:p>
          <a:p>
            <a:pPr marL="457200" indent="-457200">
              <a:buClr>
                <a:schemeClr val="bg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/>
                </a:solidFill>
              </a:rPr>
              <a:t>Ratio: </a:t>
            </a:r>
            <a:r>
              <a:rPr lang="en-US" sz="2400" dirty="0"/>
              <a:t>Quantitative and divisible</a:t>
            </a:r>
          </a:p>
        </p:txBody>
      </p:sp>
    </p:spTree>
    <p:extLst>
      <p:ext uri="{BB962C8B-B14F-4D97-AF65-F5344CB8AC3E}">
        <p14:creationId xmlns:p14="http://schemas.microsoft.com/office/powerpoint/2010/main" val="687627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4367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Descriptive statistics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B19BFF-48DA-42BF-9128-606189495B83}"/>
              </a:ext>
            </a:extLst>
          </p:cNvPr>
          <p:cNvSpPr/>
          <p:nvPr/>
        </p:nvSpPr>
        <p:spPr>
          <a:xfrm>
            <a:off x="494951" y="1096753"/>
            <a:ext cx="4764381" cy="3970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Measures of central tendency: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Mean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Median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dirty="0"/>
              <a:t>Measures of distribution: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Standard deviation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Interquartile range (IQR)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Coefficient of variation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1ABD5B-DC46-4D46-8162-9550E0B7D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816" y="1096753"/>
            <a:ext cx="5461233" cy="390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902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114873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Which measure of central tendency should we use for the number of UGA football games we have attended? (And how should we wrangle this data before doing so?)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85093D-1213-4909-A42B-481245116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540907"/>
              </p:ext>
            </p:extLst>
          </p:nvPr>
        </p:nvGraphicFramePr>
        <p:xfrm>
          <a:off x="1371600" y="2171324"/>
          <a:ext cx="9609221" cy="3419321"/>
        </p:xfrm>
        <a:graphic>
          <a:graphicData uri="http://schemas.openxmlformats.org/drawingml/2006/table">
            <a:tbl>
              <a:tblPr/>
              <a:tblGrid>
                <a:gridCol w="4539916">
                  <a:extLst>
                    <a:ext uri="{9D8B030D-6E8A-4147-A177-3AD203B41FA5}">
                      <a16:colId xmlns:a16="http://schemas.microsoft.com/office/drawing/2014/main" val="2221963998"/>
                    </a:ext>
                  </a:extLst>
                </a:gridCol>
                <a:gridCol w="5069305">
                  <a:extLst>
                    <a:ext uri="{9D8B030D-6E8A-4147-A177-3AD203B41FA5}">
                      <a16:colId xmlns:a16="http://schemas.microsoft.com/office/drawing/2014/main" val="837344462"/>
                    </a:ext>
                  </a:extLst>
                </a:gridCol>
              </a:tblGrid>
              <a:tr h="177429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7720896"/>
                  </a:ext>
                </a:extLst>
              </a:tr>
              <a:tr h="177429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dirty="0">
                          <a:effectLst/>
                        </a:rPr>
                        <a:t>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794946"/>
                  </a:ext>
                </a:extLst>
              </a:tr>
              <a:tr h="177429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dirty="0">
                          <a:effectLst/>
                        </a:rPr>
                        <a:t>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336603"/>
                  </a:ext>
                </a:extLst>
              </a:tr>
              <a:tr h="33322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dirty="0">
                          <a:effectLst/>
                        </a:rPr>
                        <a:t>0.5 (I left at halftime)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0605941"/>
                  </a:ext>
                </a:extLst>
              </a:tr>
              <a:tr h="177429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dirty="0">
                          <a:effectLst/>
                        </a:rPr>
                        <a:t>Seven home games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336813"/>
                  </a:ext>
                </a:extLst>
              </a:tr>
              <a:tr h="177429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6230879"/>
                  </a:ext>
                </a:extLst>
              </a:tr>
              <a:tr h="177429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dirty="0">
                          <a:effectLst/>
                        </a:rPr>
                        <a:t>13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324096"/>
                  </a:ext>
                </a:extLst>
              </a:tr>
              <a:tr h="177429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dirty="0">
                          <a:effectLst/>
                        </a:rPr>
                        <a:t>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374689"/>
                  </a:ext>
                </a:extLst>
              </a:tr>
              <a:tr h="177429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dirty="0">
                          <a:effectLst/>
                        </a:rPr>
                        <a:t>Almost all home games since 2005, plus 3 or 4 bowl games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dirty="0">
                          <a:effectLst/>
                        </a:rPr>
                        <a:t>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6324535"/>
                  </a:ext>
                </a:extLst>
              </a:tr>
              <a:tr h="177429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7266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490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114873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What’s a related question we could ask for which </a:t>
            </a:r>
            <a:r>
              <a:rPr lang="en-US" sz="3600" i="1" u="sng" dirty="0"/>
              <a:t>mode </a:t>
            </a:r>
            <a:r>
              <a:rPr lang="en-US" sz="3600" dirty="0"/>
              <a:t>would be the appropriate measure of central </a:t>
            </a:r>
            <a:r>
              <a:rPr lang="en-US" sz="3600" dirty="0" err="1"/>
              <a:t>tendancy</a:t>
            </a:r>
            <a:r>
              <a:rPr lang="en-US" sz="3600" dirty="0"/>
              <a:t>?</a:t>
            </a:r>
            <a:endParaRPr lang="en-US" sz="36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8A852-C55F-42BC-BD21-63B3D06C1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770" y="1858296"/>
            <a:ext cx="6944844" cy="462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478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5120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Coefficient of variation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B55F2B-4640-4FD4-89F4-CDCFF44056EB}"/>
                  </a:ext>
                </a:extLst>
              </p:cNvPr>
              <p:cNvSpPr txBox="1"/>
              <p:nvPr/>
            </p:nvSpPr>
            <p:spPr>
              <a:xfrm>
                <a:off x="4476786" y="4120713"/>
                <a:ext cx="2352887" cy="14228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lang="en-US" sz="5400" b="0" i="1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5400" b="0" i="1" smtClean="0">
                              <a:solidFill>
                                <a:schemeClr val="accent2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0" i="1" smtClean="0">
                              <a:solidFill>
                                <a:schemeClr val="accent2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sz="5400" b="0" i="1" smtClean="0">
                                  <a:solidFill>
                                    <a:schemeClr val="accent2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5400" b="0" i="1" smtClean="0">
                                  <a:solidFill>
                                    <a:schemeClr val="accent2">
                                      <a:lumMod val="20000"/>
                                      <a:lumOff val="8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US" sz="5400" dirty="0">
                  <a:solidFill>
                    <a:schemeClr val="accent2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B55F2B-4640-4FD4-89F4-CDCFF4405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786" y="4120713"/>
                <a:ext cx="2352887" cy="14228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64A7C8DA-076B-479B-91E6-549D2D57D9AC}"/>
              </a:ext>
            </a:extLst>
          </p:cNvPr>
          <p:cNvSpPr/>
          <p:nvPr/>
        </p:nvSpPr>
        <p:spPr>
          <a:xfrm>
            <a:off x="494951" y="1096753"/>
            <a:ext cx="1074629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Standard deviation divided by the mean</a:t>
            </a:r>
          </a:p>
          <a:p>
            <a:endParaRPr lang="en-US" sz="2800" dirty="0"/>
          </a:p>
          <a:p>
            <a:r>
              <a:rPr lang="en-US" sz="2800" dirty="0"/>
              <a:t>Useful when means vary across groups or measures</a:t>
            </a:r>
          </a:p>
        </p:txBody>
      </p:sp>
    </p:spTree>
    <p:extLst>
      <p:ext uri="{BB962C8B-B14F-4D97-AF65-F5344CB8AC3E}">
        <p14:creationId xmlns:p14="http://schemas.microsoft.com/office/powerpoint/2010/main" val="313489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06">
            <a:extLst>
              <a:ext uri="{FF2B5EF4-FFF2-40B4-BE49-F238E27FC236}">
                <a16:creationId xmlns:a16="http://schemas.microsoft.com/office/drawing/2014/main" id="{51D852A2-68CA-4C50-B054-D5F3B086FC32}"/>
              </a:ext>
            </a:extLst>
          </p:cNvPr>
          <p:cNvSpPr txBox="1"/>
          <p:nvPr/>
        </p:nvSpPr>
        <p:spPr>
          <a:xfrm>
            <a:off x="361149" y="335560"/>
            <a:ext cx="5898538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000" b="1" dirty="0">
                <a:ea typeface="Calibri"/>
                <a:cs typeface="Calibri"/>
                <a:sym typeface="Calibri"/>
              </a:rPr>
              <a:t>R challenge!</a:t>
            </a:r>
          </a:p>
        </p:txBody>
      </p:sp>
      <p:sp>
        <p:nvSpPr>
          <p:cNvPr id="9" name="Shape 310">
            <a:extLst>
              <a:ext uri="{FF2B5EF4-FFF2-40B4-BE49-F238E27FC236}">
                <a16:creationId xmlns:a16="http://schemas.microsoft.com/office/drawing/2014/main" id="{B23FF25C-C4DA-4A14-B209-2953D9C5CAD7}"/>
              </a:ext>
            </a:extLst>
          </p:cNvPr>
          <p:cNvSpPr txBox="1"/>
          <p:nvPr/>
        </p:nvSpPr>
        <p:spPr>
          <a:xfrm>
            <a:off x="398319" y="1043446"/>
            <a:ext cx="11271795" cy="46166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ea typeface="Calibri"/>
                <a:cs typeface="Calibri"/>
                <a:sym typeface="Calibri"/>
              </a:rPr>
              <a:t>Load the </a:t>
            </a:r>
            <a:r>
              <a:rPr lang="en-US" sz="3200" dirty="0" err="1">
                <a:ea typeface="Calibri"/>
                <a:cs typeface="Calibri"/>
                <a:sym typeface="Calibri"/>
              </a:rPr>
              <a:t>Daymet</a:t>
            </a:r>
            <a:r>
              <a:rPr lang="en-US" sz="3200" dirty="0">
                <a:ea typeface="Calibri"/>
                <a:cs typeface="Calibri"/>
                <a:sym typeface="Calibri"/>
              </a:rPr>
              <a:t> data in the class repo: daymet_monthly_median_2010-2021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3200" dirty="0"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ea typeface="Calibri"/>
                <a:cs typeface="Calibri"/>
                <a:sym typeface="Calibri"/>
              </a:rPr>
              <a:t>Calculate the </a:t>
            </a:r>
            <a:r>
              <a:rPr lang="en-US" sz="3200" b="1" u="sng" dirty="0">
                <a:ea typeface="Calibri"/>
                <a:cs typeface="Calibri"/>
                <a:sym typeface="Calibri"/>
              </a:rPr>
              <a:t>mean, median, standard deviation (</a:t>
            </a:r>
            <a:r>
              <a:rPr lang="en-US" sz="3200" b="1" u="sng" dirty="0" err="1">
                <a:ea typeface="Calibri"/>
                <a:cs typeface="Calibri"/>
                <a:sym typeface="Calibri"/>
              </a:rPr>
              <a:t>sd</a:t>
            </a:r>
            <a:r>
              <a:rPr lang="en-US" sz="3200" b="1" u="sng" dirty="0">
                <a:ea typeface="Calibri"/>
                <a:cs typeface="Calibri"/>
                <a:sym typeface="Calibri"/>
              </a:rPr>
              <a:t>), and cv </a:t>
            </a:r>
            <a:r>
              <a:rPr lang="en-US" sz="3200" dirty="0">
                <a:ea typeface="Calibri"/>
                <a:cs typeface="Calibri"/>
                <a:sym typeface="Calibri"/>
              </a:rPr>
              <a:t>for </a:t>
            </a:r>
            <a:r>
              <a:rPr lang="en-US" sz="3200" dirty="0" err="1">
                <a:ea typeface="Calibri"/>
                <a:cs typeface="Calibri"/>
                <a:sym typeface="Calibri"/>
              </a:rPr>
              <a:t>prcp</a:t>
            </a:r>
            <a:r>
              <a:rPr lang="en-US" sz="3200" dirty="0">
                <a:ea typeface="Calibri"/>
                <a:cs typeface="Calibri"/>
                <a:sym typeface="Calibri"/>
              </a:rPr>
              <a:t> by county. You’ll need to use </a:t>
            </a:r>
            <a:r>
              <a:rPr lang="en-US" sz="3200" dirty="0" err="1">
                <a:ea typeface="Calibri"/>
                <a:cs typeface="Calibri"/>
                <a:sym typeface="Calibri"/>
              </a:rPr>
              <a:t>group_by</a:t>
            </a:r>
            <a:r>
              <a:rPr lang="en-US" sz="3200" dirty="0">
                <a:ea typeface="Calibri"/>
                <a:cs typeface="Calibri"/>
                <a:sym typeface="Calibri"/>
              </a:rPr>
              <a:t>, </a:t>
            </a:r>
            <a:r>
              <a:rPr lang="en-US" sz="3200" dirty="0" err="1">
                <a:ea typeface="Calibri"/>
                <a:cs typeface="Calibri"/>
                <a:sym typeface="Calibri"/>
              </a:rPr>
              <a:t>summarise</a:t>
            </a:r>
            <a:r>
              <a:rPr lang="en-US" sz="3200" dirty="0">
                <a:ea typeface="Calibri"/>
                <a:cs typeface="Calibri"/>
                <a:sym typeface="Calibri"/>
              </a:rPr>
              <a:t>, and mutate. Which counties have the highest cv? How does that compare to standard deviation?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17A6DD-FF8F-4454-8DCA-62A14EAB1457}"/>
                  </a:ext>
                </a:extLst>
              </p:cNvPr>
              <p:cNvSpPr txBox="1"/>
              <p:nvPr/>
            </p:nvSpPr>
            <p:spPr>
              <a:xfrm>
                <a:off x="3743113" y="4936949"/>
                <a:ext cx="2352887" cy="14228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lang="en-US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sz="5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5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US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17A6DD-FF8F-4454-8DCA-62A14EAB1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113" y="4936949"/>
                <a:ext cx="2352887" cy="14228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DB17E9F-C62D-41AE-9526-4783F1A1A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444" y="4480488"/>
            <a:ext cx="2249277" cy="224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633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06">
            <a:extLst>
              <a:ext uri="{FF2B5EF4-FFF2-40B4-BE49-F238E27FC236}">
                <a16:creationId xmlns:a16="http://schemas.microsoft.com/office/drawing/2014/main" id="{51D852A2-68CA-4C50-B054-D5F3B086FC32}"/>
              </a:ext>
            </a:extLst>
          </p:cNvPr>
          <p:cNvSpPr txBox="1"/>
          <p:nvPr/>
        </p:nvSpPr>
        <p:spPr>
          <a:xfrm>
            <a:off x="361148" y="335560"/>
            <a:ext cx="10611651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000" b="1" dirty="0">
                <a:ea typeface="Calibri"/>
                <a:cs typeface="Calibri"/>
                <a:sym typeface="Calibri"/>
              </a:rPr>
              <a:t>What is exploratory data analysis?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6F97FE-5ADE-4E57-B950-C25938D7A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129" y="1183436"/>
            <a:ext cx="6947742" cy="555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097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06">
            <a:extLst>
              <a:ext uri="{FF2B5EF4-FFF2-40B4-BE49-F238E27FC236}">
                <a16:creationId xmlns:a16="http://schemas.microsoft.com/office/drawing/2014/main" id="{51D852A2-68CA-4C50-B054-D5F3B086FC32}"/>
              </a:ext>
            </a:extLst>
          </p:cNvPr>
          <p:cNvSpPr txBox="1"/>
          <p:nvPr/>
        </p:nvSpPr>
        <p:spPr>
          <a:xfrm>
            <a:off x="361148" y="335560"/>
            <a:ext cx="10611651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000" b="1" dirty="0">
                <a:ea typeface="Calibri"/>
                <a:cs typeface="Calibri"/>
                <a:sym typeface="Calibri"/>
              </a:rPr>
              <a:t>What is exploratory data analysis?</a:t>
            </a:r>
          </a:p>
        </p:txBody>
      </p:sp>
      <p:pic>
        <p:nvPicPr>
          <p:cNvPr id="4" name="Shape 271" descr="http://upload.wikimedia.org/wikipedia/en/e/e9/John_Tukey.jpg">
            <a:extLst>
              <a:ext uri="{FF2B5EF4-FFF2-40B4-BE49-F238E27FC236}">
                <a16:creationId xmlns:a16="http://schemas.microsoft.com/office/drawing/2014/main" id="{A1A27A65-B91F-4796-AA04-18C7EDF8B5F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3400" y="1619249"/>
            <a:ext cx="2819400" cy="342956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hape 272">
            <a:extLst>
              <a:ext uri="{FF2B5EF4-FFF2-40B4-BE49-F238E27FC236}">
                <a16:creationId xmlns:a16="http://schemas.microsoft.com/office/drawing/2014/main" id="{8611DA83-3054-4405-9537-E6A316353D8A}"/>
              </a:ext>
            </a:extLst>
          </p:cNvPr>
          <p:cNvSpPr txBox="1"/>
          <p:nvPr/>
        </p:nvSpPr>
        <p:spPr>
          <a:xfrm>
            <a:off x="3429000" y="1676400"/>
            <a:ext cx="4003646" cy="58477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solidFill>
                  <a:schemeClr val="bg2">
                    <a:lumMod val="10000"/>
                    <a:lumOff val="90000"/>
                  </a:schemeClr>
                </a:solidFill>
                <a:latin typeface="Calisto MT" panose="02040603050505030304" pitchFamily="18" charset="0"/>
                <a:ea typeface="Calibri"/>
                <a:cs typeface="Calibri"/>
                <a:sym typeface="Calibri"/>
              </a:rPr>
              <a:t>John Tukey</a:t>
            </a:r>
          </a:p>
        </p:txBody>
      </p:sp>
      <p:sp>
        <p:nvSpPr>
          <p:cNvPr id="7" name="Shape 273">
            <a:extLst>
              <a:ext uri="{FF2B5EF4-FFF2-40B4-BE49-F238E27FC236}">
                <a16:creationId xmlns:a16="http://schemas.microsoft.com/office/drawing/2014/main" id="{A6B960B4-9FDA-4AA1-9C0B-07D346C50449}"/>
              </a:ext>
            </a:extLst>
          </p:cNvPr>
          <p:cNvSpPr/>
          <p:nvPr/>
        </p:nvSpPr>
        <p:spPr>
          <a:xfrm>
            <a:off x="3425537" y="2986715"/>
            <a:ext cx="8014217" cy="206210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solidFill>
                  <a:schemeClr val="bg2">
                    <a:lumMod val="10000"/>
                    <a:lumOff val="90000"/>
                  </a:schemeClr>
                </a:solidFill>
                <a:latin typeface="Calisto MT" panose="02040603050505030304" pitchFamily="18" charset="0"/>
                <a:ea typeface="Calibri"/>
                <a:cs typeface="Calibri"/>
                <a:sym typeface="Calibri"/>
              </a:rPr>
              <a:t>“Numerical quantities focus on expected values, graphical summaries on unexpected values.”</a:t>
            </a:r>
          </a:p>
        </p:txBody>
      </p:sp>
    </p:spTree>
    <p:extLst>
      <p:ext uri="{BB962C8B-B14F-4D97-AF65-F5344CB8AC3E}">
        <p14:creationId xmlns:p14="http://schemas.microsoft.com/office/powerpoint/2010/main" val="818984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B480F9-BFC1-4B4D-A0D9-0DE4E4731A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002" y="0"/>
            <a:ext cx="959199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28992C-20FB-47CE-924A-A03E3EAE72B0}"/>
              </a:ext>
            </a:extLst>
          </p:cNvPr>
          <p:cNvSpPr txBox="1"/>
          <p:nvPr/>
        </p:nvSpPr>
        <p:spPr>
          <a:xfrm>
            <a:off x="5415792" y="6488668"/>
            <a:ext cx="6776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  <a:lumOff val="25000"/>
                  </a:schemeClr>
                </a:solidFill>
              </a:rPr>
              <a:t>https://www.geeksforgeeks.org/what-is-exploratory-data-analysis/</a:t>
            </a:r>
          </a:p>
        </p:txBody>
      </p:sp>
    </p:spTree>
    <p:extLst>
      <p:ext uri="{BB962C8B-B14F-4D97-AF65-F5344CB8AC3E}">
        <p14:creationId xmlns:p14="http://schemas.microsoft.com/office/powerpoint/2010/main" val="4215650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20">
            <a:extLst>
              <a:ext uri="{FF2B5EF4-FFF2-40B4-BE49-F238E27FC236}">
                <a16:creationId xmlns:a16="http://schemas.microsoft.com/office/drawing/2014/main" id="{40EC573B-C7E2-4CA8-8C16-EB7E1E421CDE}"/>
              </a:ext>
            </a:extLst>
          </p:cNvPr>
          <p:cNvSpPr txBox="1"/>
          <p:nvPr/>
        </p:nvSpPr>
        <p:spPr>
          <a:xfrm>
            <a:off x="307652" y="164839"/>
            <a:ext cx="11414366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Calibri"/>
                <a:sym typeface="Calibri"/>
              </a:rPr>
              <a:t>Tukey and Wickham on Exploratory Data Analysis</a:t>
            </a:r>
          </a:p>
        </p:txBody>
      </p:sp>
      <p:pic>
        <p:nvPicPr>
          <p:cNvPr id="4" name="Picture 3">
            <a:hlinkClick r:id="rId3"/>
            <a:extLst>
              <a:ext uri="{FF2B5EF4-FFF2-40B4-BE49-F238E27FC236}">
                <a16:creationId xmlns:a16="http://schemas.microsoft.com/office/drawing/2014/main" id="{47274A80-E6F1-4EEC-866D-461B285D87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44" y="1822901"/>
            <a:ext cx="5618385" cy="4235736"/>
          </a:xfrm>
          <a:prstGeom prst="rect">
            <a:avLst/>
          </a:prstGeom>
        </p:spPr>
      </p:pic>
      <p:pic>
        <p:nvPicPr>
          <p:cNvPr id="6" name="Picture 5">
            <a:hlinkClick r:id="rId5"/>
            <a:extLst>
              <a:ext uri="{FF2B5EF4-FFF2-40B4-BE49-F238E27FC236}">
                <a16:creationId xmlns:a16="http://schemas.microsoft.com/office/drawing/2014/main" id="{1822356D-1B40-4158-84E5-5214A2C895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719" y="2937721"/>
            <a:ext cx="5962281" cy="366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4751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355</TotalTime>
  <Words>612</Words>
  <Application>Microsoft Macintosh PowerPoint</Application>
  <PresentationFormat>Widescreen</PresentationFormat>
  <Paragraphs>95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Calisto MT</vt:lpstr>
      <vt:lpstr>Cambria Math</vt:lpstr>
      <vt:lpstr>Wingdings 2</vt:lpstr>
      <vt:lpstr>Slate</vt:lpstr>
      <vt:lpstr>Week 4: Descriptive statistics/Exploratory Data Analysis</vt:lpstr>
      <vt:lpstr>Where are we?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Descriptive statistics</dc:title>
  <dc:creator>Jerry Shannon</dc:creator>
  <cp:lastModifiedBy>Anna Harper</cp:lastModifiedBy>
  <cp:revision>73</cp:revision>
  <dcterms:created xsi:type="dcterms:W3CDTF">2021-09-02T15:10:57Z</dcterms:created>
  <dcterms:modified xsi:type="dcterms:W3CDTF">2025-09-09T19:42:27Z</dcterms:modified>
</cp:coreProperties>
</file>