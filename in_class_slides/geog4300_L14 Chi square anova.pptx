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17"/>
  </p:notesMasterIdLst>
  <p:sldIdLst>
    <p:sldId id="256" r:id="rId2"/>
    <p:sldId id="257" r:id="rId3"/>
    <p:sldId id="301" r:id="rId4"/>
    <p:sldId id="302" r:id="rId5"/>
    <p:sldId id="303" r:id="rId6"/>
    <p:sldId id="309" r:id="rId7"/>
    <p:sldId id="305" r:id="rId8"/>
    <p:sldId id="306" r:id="rId9"/>
    <p:sldId id="307" r:id="rId10"/>
    <p:sldId id="314" r:id="rId11"/>
    <p:sldId id="315" r:id="rId12"/>
    <p:sldId id="316" r:id="rId13"/>
    <p:sldId id="308" r:id="rId14"/>
    <p:sldId id="317" r:id="rId15"/>
    <p:sldId id="31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1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T-test: independent variable vs dependent variable, work when you have a categorical variable and nominal or ratio data.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3764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0662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3369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9E4CA04-717E-3B15-DA1D-4C9C598F7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>
            <a:extLst>
              <a:ext uri="{FF2B5EF4-FFF2-40B4-BE49-F238E27FC236}">
                <a16:creationId xmlns:a16="http://schemas.microsoft.com/office/drawing/2014/main" id="{7250B2C7-F14D-5474-08E8-60BD2E1E4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>
            <a:extLst>
              <a:ext uri="{FF2B5EF4-FFF2-40B4-BE49-F238E27FC236}">
                <a16:creationId xmlns:a16="http://schemas.microsoft.com/office/drawing/2014/main" id="{326CC8A0-21E3-774E-ECA3-C5B5B02DE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>
            <a:extLst>
              <a:ext uri="{FF2B5EF4-FFF2-40B4-BE49-F238E27FC236}">
                <a16:creationId xmlns:a16="http://schemas.microsoft.com/office/drawing/2014/main" id="{8CCE53A3-C5CF-8E8A-A18F-CCFB02AFF1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3347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8995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2684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6306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8182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20364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0529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4354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9275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2310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40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22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1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294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84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34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19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68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561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165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41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79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</a:schemeClr>
          </a:solidFill>
          <a:latin typeface="Sitka Display Semibold" pitchFamily="2" charset="0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>
            <a:lumMod val="75000"/>
          </a:schemeClr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367" y="3429000"/>
            <a:ext cx="9440034" cy="719032"/>
          </a:xfrm>
        </p:spPr>
        <p:txBody>
          <a:bodyPr>
            <a:noAutofit/>
          </a:bodyPr>
          <a:lstStyle/>
          <a:p>
            <a:r>
              <a:rPr lang="en-US" sz="4400" dirty="0"/>
              <a:t>Chi-square tests and ANOVA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D1488-58DF-4A33-AC86-D6B690A68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867" y="4419007"/>
            <a:ext cx="9440034" cy="1049867"/>
          </a:xfrm>
        </p:spPr>
        <p:txBody>
          <a:bodyPr>
            <a:normAutofit/>
          </a:bodyPr>
          <a:lstStyle/>
          <a:p>
            <a:r>
              <a:rPr lang="en-US" sz="3200" dirty="0"/>
              <a:t>Geog4/6300</a:t>
            </a:r>
          </a:p>
        </p:txBody>
      </p:sp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C8E80-D35E-F129-E5B5-DB657DB43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2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" name="Shape 126">
            <a:extLst>
              <a:ext uri="{FF2B5EF4-FFF2-40B4-BE49-F238E27FC236}">
                <a16:creationId xmlns:a16="http://schemas.microsoft.com/office/drawing/2014/main" id="{6D7ABA19-C933-F90B-777A-A1528B25E5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0938704"/>
              </p:ext>
            </p:extLst>
          </p:nvPr>
        </p:nvGraphicFramePr>
        <p:xfrm>
          <a:off x="908050" y="262126"/>
          <a:ext cx="10579100" cy="588271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888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1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3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2000" u="none" strike="noStrike" cap="none">
                          <a:latin typeface="+mn-lt"/>
                        </a:rPr>
                        <a:t>Dependent Variable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2000" u="none" strike="noStrike" cap="none">
                          <a:latin typeface="+mn-lt"/>
                        </a:rPr>
                        <a:t>Independent  Variable(s)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2000" u="none" strike="noStrike" cap="none">
                          <a:latin typeface="+mn-lt"/>
                        </a:rPr>
                        <a:t>Test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2000" u="none" strike="noStrike" cap="none">
                          <a:latin typeface="+mn-lt"/>
                        </a:rPr>
                        <a:t>Example hypotheses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525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 dirty="0">
                          <a:latin typeface="+mn-lt"/>
                        </a:rPr>
                        <a:t>Quantitative / ratio</a:t>
                      </a:r>
                    </a:p>
                  </a:txBody>
                  <a:tcPr marL="91450" marR="91450" marT="45725" marB="45725" anchor="ctr"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Categorical/ nominal (2 values)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(n &gt; 30): t-test for independent samples;</a:t>
                      </a:r>
                    </a:p>
                  </a:txBody>
                  <a:tcPr marL="91450" marR="91450" marT="45725" marB="45725" anchor="ctr"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“The average speed of cars has changed between the times that speed cameras were operating and the times that they were not.”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 dirty="0">
                          <a:latin typeface="+mn-lt"/>
                        </a:rPr>
                        <a:t>(n &lt; 30): Wilcoxon rank sum (non-parametric)</a:t>
                      </a:r>
                    </a:p>
                  </a:txBody>
                  <a:tcPr marL="91450" marR="91450" marT="45725" marB="45725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7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 dirty="0">
                          <a:latin typeface="+mn-lt"/>
                        </a:rPr>
                        <a:t>Categorical/ nominal (more than 2 values)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 dirty="0">
                          <a:latin typeface="+mn-lt"/>
                        </a:rPr>
                        <a:t>ANOVA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“The amount the average household gives to charity each year depends on whether the resident lives in the East, the Midwest, the South, or the West.”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Categorical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Categorical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n-lt"/>
                        </a:rPr>
                        <a:t>Chi-squared test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“The typical denomination of churches depends on the state (Utah has more LDS churches, New York has more Roman Catholic churches)”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Quantitative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Quantitative (1 variable)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Correlation/ regression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“The median household income of a census tract is a good indicator of the voter turnout percentage at primary elections.”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Quantitative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 dirty="0">
                          <a:latin typeface="+mn-lt"/>
                        </a:rPr>
                        <a:t>Quantitative (more than one variable)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 dirty="0">
                          <a:latin typeface="+mn-lt"/>
                        </a:rPr>
                        <a:t> Multiple regression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 dirty="0">
                          <a:latin typeface="+mn-lt"/>
                        </a:rPr>
                        <a:t>“Student test scores are a function of the median income, amount spent per capita on education, and average number of years of schooling of teachers in a census tract.”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8199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1155365" y="1031970"/>
            <a:ext cx="4359609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Chi-square tests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29D20A-6DD2-49E0-B8E8-C5F34B628C04}"/>
              </a:ext>
            </a:extLst>
          </p:cNvPr>
          <p:cNvSpPr txBox="1"/>
          <p:nvPr/>
        </p:nvSpPr>
        <p:spPr>
          <a:xfrm>
            <a:off x="1183941" y="1718366"/>
            <a:ext cx="66358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For two </a:t>
            </a:r>
            <a:r>
              <a:rPr lang="en-US" sz="2400" b="1" i="1" dirty="0"/>
              <a:t>categorical</a:t>
            </a:r>
            <a:r>
              <a:rPr lang="en-US" sz="2400" dirty="0"/>
              <a:t> variables</a:t>
            </a:r>
            <a:endParaRPr lang="en-US" sz="2400" dirty="0">
              <a:solidFill>
                <a:srgbClr val="FFC000"/>
              </a:solidFill>
            </a:endParaRPr>
          </a:p>
        </p:txBody>
      </p:sp>
      <p:pic>
        <p:nvPicPr>
          <p:cNvPr id="13" name="Shape 149" descr="http://2012books.lardbucket.org/books/beginning-statistics/section_15/5a0c7bbacb4242555e8a85c9767c03ee.jpg">
            <a:extLst>
              <a:ext uri="{FF2B5EF4-FFF2-40B4-BE49-F238E27FC236}">
                <a16:creationId xmlns:a16="http://schemas.microsoft.com/office/drawing/2014/main" id="{D06C83D4-AAC6-47AD-B56A-4463301FDA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141" y="2546349"/>
            <a:ext cx="4404059" cy="3576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Shape 156">
            <a:extLst>
              <a:ext uri="{FF2B5EF4-FFF2-40B4-BE49-F238E27FC236}">
                <a16:creationId xmlns:a16="http://schemas.microsoft.com/office/drawing/2014/main" id="{37608350-C507-42CF-893F-2DE9CF02B4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79302" y="2281727"/>
            <a:ext cx="4284000" cy="16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5" name="Shape 157">
            <a:extLst>
              <a:ext uri="{FF2B5EF4-FFF2-40B4-BE49-F238E27FC236}">
                <a16:creationId xmlns:a16="http://schemas.microsoft.com/office/drawing/2014/main" id="{C9600478-D462-43BD-99F8-5FB9B36E6B00}"/>
              </a:ext>
            </a:extLst>
          </p:cNvPr>
          <p:cNvSpPr txBox="1"/>
          <p:nvPr/>
        </p:nvSpPr>
        <p:spPr>
          <a:xfrm>
            <a:off x="5991072" y="4198322"/>
            <a:ext cx="6200928" cy="13849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O</a:t>
            </a:r>
            <a:r>
              <a:rPr lang="en-US" sz="2400" baseline="-25000" dirty="0">
                <a:ea typeface="Gill Sans MT"/>
                <a:cs typeface="Gill Sans MT"/>
                <a:sym typeface="Gill Sans MT"/>
              </a:rPr>
              <a:t>i</a:t>
            </a:r>
            <a:r>
              <a:rPr lang="en-US" sz="2400" dirty="0">
                <a:ea typeface="Gill Sans MT"/>
                <a:cs typeface="Gill Sans MT"/>
                <a:sym typeface="Gill Sans MT"/>
              </a:rPr>
              <a:t> = Observed value for observation </a:t>
            </a:r>
            <a:r>
              <a:rPr lang="en-US" sz="2400" dirty="0" err="1">
                <a:ea typeface="Gill Sans MT"/>
                <a:cs typeface="Gill Sans MT"/>
                <a:sym typeface="Gill Sans MT"/>
              </a:rPr>
              <a:t>i</a:t>
            </a:r>
            <a:endParaRPr lang="en-US" sz="2400" dirty="0">
              <a:ea typeface="Gill Sans MT"/>
              <a:cs typeface="Gill Sans MT"/>
              <a:sym typeface="Gill Sans MT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400" dirty="0" err="1">
                <a:ea typeface="Gill Sans MT"/>
                <a:cs typeface="Gill Sans MT"/>
                <a:sym typeface="Gill Sans MT"/>
              </a:rPr>
              <a:t>E</a:t>
            </a:r>
            <a:r>
              <a:rPr lang="en-US" sz="2400" baseline="-25000" dirty="0" err="1">
                <a:ea typeface="Gill Sans MT"/>
                <a:cs typeface="Gill Sans MT"/>
                <a:sym typeface="Gill Sans MT"/>
              </a:rPr>
              <a:t>i</a:t>
            </a:r>
            <a:r>
              <a:rPr lang="en-US" sz="2400" dirty="0">
                <a:ea typeface="Gill Sans MT"/>
                <a:cs typeface="Gill Sans MT"/>
                <a:sym typeface="Gill Sans MT"/>
              </a:rPr>
              <a:t> = Expected value for observation </a:t>
            </a:r>
            <a:r>
              <a:rPr lang="en-US" sz="2400" dirty="0" err="1">
                <a:ea typeface="Gill Sans MT"/>
                <a:cs typeface="Gill Sans MT"/>
                <a:sym typeface="Gill Sans MT"/>
              </a:rPr>
              <a:t>i</a:t>
            </a:r>
            <a:endParaRPr lang="en-US" sz="2400" dirty="0">
              <a:ea typeface="Gill Sans MT"/>
              <a:cs typeface="Gill Sans MT"/>
              <a:sym typeface="Gill Sans MT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k = Number of observations in all groups</a:t>
            </a:r>
          </a:p>
        </p:txBody>
      </p:sp>
    </p:spTree>
    <p:extLst>
      <p:ext uri="{BB962C8B-B14F-4D97-AF65-F5344CB8AC3E}">
        <p14:creationId xmlns:p14="http://schemas.microsoft.com/office/powerpoint/2010/main" val="3845185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9">
            <a:extLst>
              <a:ext uri="{FF2B5EF4-FFF2-40B4-BE49-F238E27FC236}">
                <a16:creationId xmlns:a16="http://schemas.microsoft.com/office/drawing/2014/main" id="{344AE155-1CAA-4412-96BB-163D67027CE3}"/>
              </a:ext>
            </a:extLst>
          </p:cNvPr>
          <p:cNvSpPr txBox="1"/>
          <p:nvPr/>
        </p:nvSpPr>
        <p:spPr>
          <a:xfrm>
            <a:off x="160360" y="457200"/>
            <a:ext cx="11299550" cy="679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Example: Sports fans and Thanksgiving dinner</a:t>
            </a:r>
          </a:p>
        </p:txBody>
      </p:sp>
      <p:sp>
        <p:nvSpPr>
          <p:cNvPr id="9" name="Shape 140">
            <a:extLst>
              <a:ext uri="{FF2B5EF4-FFF2-40B4-BE49-F238E27FC236}">
                <a16:creationId xmlns:a16="http://schemas.microsoft.com/office/drawing/2014/main" id="{D064FC92-29CF-439B-98CE-C6ADF3C5B51E}"/>
              </a:ext>
            </a:extLst>
          </p:cNvPr>
          <p:cNvSpPr txBox="1"/>
          <p:nvPr/>
        </p:nvSpPr>
        <p:spPr>
          <a:xfrm>
            <a:off x="1193798" y="3797300"/>
            <a:ext cx="6686374" cy="20891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What are the independent and dependent variable?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Independent: Football team (Nominal)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Dependent: Meal choice (Nominal)</a:t>
            </a:r>
          </a:p>
        </p:txBody>
      </p:sp>
      <p:pic>
        <p:nvPicPr>
          <p:cNvPr id="10" name="Shape 141" descr="http://2.bp.blogspot.com/__84RWZp_rjE/SQVR1Z6dLNI/AAAAAAAAA7g/QDvFisxHfrY/s400/tofurkey.jpg">
            <a:extLst>
              <a:ext uri="{FF2B5EF4-FFF2-40B4-BE49-F238E27FC236}">
                <a16:creationId xmlns:a16="http://schemas.microsoft.com/office/drawing/2014/main" id="{E6183EAF-5CBB-4560-810D-C75A6C8B9B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21700" y="2927350"/>
            <a:ext cx="3289302" cy="327517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46B638-1096-45CA-168B-8738EAC9F72F}"/>
              </a:ext>
            </a:extLst>
          </p:cNvPr>
          <p:cNvSpPr txBox="1"/>
          <p:nvPr/>
        </p:nvSpPr>
        <p:spPr>
          <a:xfrm>
            <a:off x="806450" y="1944985"/>
            <a:ext cx="76517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	Does your football team tell you something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	about your Thanksgiving meal preference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	(dark/white meat or tofurkey)?</a:t>
            </a:r>
          </a:p>
        </p:txBody>
      </p:sp>
    </p:spTree>
    <p:extLst>
      <p:ext uri="{BB962C8B-B14F-4D97-AF65-F5344CB8AC3E}">
        <p14:creationId xmlns:p14="http://schemas.microsoft.com/office/powerpoint/2010/main" val="3703719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1">
            <a:extLst>
              <a:ext uri="{FF2B5EF4-FFF2-40B4-BE49-F238E27FC236}">
                <a16:creationId xmlns:a16="http://schemas.microsoft.com/office/drawing/2014/main" id="{8A3B6F64-11C4-455A-B76C-CD664D9487E4}"/>
              </a:ext>
            </a:extLst>
          </p:cNvPr>
          <p:cNvSpPr txBox="1"/>
          <p:nvPr/>
        </p:nvSpPr>
        <p:spPr>
          <a:xfrm>
            <a:off x="1154216" y="979959"/>
            <a:ext cx="8229600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600" b="1">
                <a:ea typeface="Gill Sans MT"/>
                <a:cs typeface="Gill Sans MT"/>
                <a:sym typeface="Gill Sans MT"/>
              </a:rPr>
              <a:t>ESPN surveyed 85 football fans…</a:t>
            </a:r>
          </a:p>
        </p:txBody>
      </p:sp>
      <p:sp>
        <p:nvSpPr>
          <p:cNvPr id="7" name="Shape 173">
            <a:extLst>
              <a:ext uri="{FF2B5EF4-FFF2-40B4-BE49-F238E27FC236}">
                <a16:creationId xmlns:a16="http://schemas.microsoft.com/office/drawing/2014/main" id="{EED0EF40-CE6C-42B3-BC16-FA49A288A106}"/>
              </a:ext>
            </a:extLst>
          </p:cNvPr>
          <p:cNvSpPr/>
          <p:nvPr/>
        </p:nvSpPr>
        <p:spPr>
          <a:xfrm>
            <a:off x="1255816" y="4625552"/>
            <a:ext cx="10402785" cy="15696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This </a:t>
            </a:r>
            <a:r>
              <a:rPr lang="en-US" sz="2400" b="1" dirty="0">
                <a:ea typeface="Gill Sans MT"/>
                <a:cs typeface="Gill Sans MT"/>
                <a:sym typeface="Gill Sans MT"/>
              </a:rPr>
              <a:t>contingency table</a:t>
            </a:r>
            <a:r>
              <a:rPr lang="en-US" sz="2400" dirty="0">
                <a:ea typeface="Gill Sans MT"/>
                <a:cs typeface="Gill Sans MT"/>
                <a:sym typeface="Gill Sans MT"/>
              </a:rPr>
              <a:t> shows turkey preference as a function of (“contingent upon”) team preference.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2400" dirty="0"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Degrees of freedom = (#rows -1)*(#cols-1) = (2-1)(3-1) = 2</a:t>
            </a:r>
          </a:p>
        </p:txBody>
      </p:sp>
      <p:graphicFrame>
        <p:nvGraphicFramePr>
          <p:cNvPr id="11" name="Shape 172">
            <a:extLst>
              <a:ext uri="{FF2B5EF4-FFF2-40B4-BE49-F238E27FC236}">
                <a16:creationId xmlns:a16="http://schemas.microsoft.com/office/drawing/2014/main" id="{94462A5F-1A56-4BFD-A24F-142FFA968F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3263911"/>
              </p:ext>
            </p:extLst>
          </p:nvPr>
        </p:nvGraphicFramePr>
        <p:xfrm>
          <a:off x="1255816" y="1784801"/>
          <a:ext cx="8534400" cy="2682240"/>
        </p:xfrm>
        <a:graphic>
          <a:graphicData uri="http://schemas.openxmlformats.org/drawingml/2006/table">
            <a:tbl>
              <a:tblPr firstRow="1" firstCol="1" lastRow="1" lastCol="1">
                <a:tableStyleId>{C4B1156A-380E-4F78-BDF5-A606A8083BF9}</a:tableStyleId>
              </a:tblPr>
              <a:tblGrid>
                <a:gridCol w="166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White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Dark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Tofu-</a:t>
                      </a:r>
                      <a:r>
                        <a:rPr lang="en-US" sz="2400" u="none" strike="noStrike" cap="none" dirty="0" err="1"/>
                        <a:t>rkey</a:t>
                      </a:r>
                      <a:endParaRPr lang="en-US" sz="2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TOTAL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Lions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43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Cowboys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42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TOTAL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35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10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85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0870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2F6CC12-EBF2-164E-6EF6-284330C8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1">
            <a:extLst>
              <a:ext uri="{FF2B5EF4-FFF2-40B4-BE49-F238E27FC236}">
                <a16:creationId xmlns:a16="http://schemas.microsoft.com/office/drawing/2014/main" id="{D23F8C19-55D7-76E8-279E-E2D6F59CB369}"/>
              </a:ext>
            </a:extLst>
          </p:cNvPr>
          <p:cNvSpPr txBox="1"/>
          <p:nvPr/>
        </p:nvSpPr>
        <p:spPr>
          <a:xfrm>
            <a:off x="1161278" y="976179"/>
            <a:ext cx="8229600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b="1" dirty="0">
                <a:ea typeface="Gill Sans MT"/>
                <a:cs typeface="Gill Sans MT"/>
                <a:sym typeface="Gill Sans MT"/>
              </a:rPr>
              <a:t>Calculating expected values</a:t>
            </a:r>
          </a:p>
        </p:txBody>
      </p:sp>
      <p:graphicFrame>
        <p:nvGraphicFramePr>
          <p:cNvPr id="11" name="Shape 172">
            <a:extLst>
              <a:ext uri="{FF2B5EF4-FFF2-40B4-BE49-F238E27FC236}">
                <a16:creationId xmlns:a16="http://schemas.microsoft.com/office/drawing/2014/main" id="{2BEDFD2E-D96B-2F6A-EB7E-DA1014FEA7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9739009"/>
              </p:ext>
            </p:extLst>
          </p:nvPr>
        </p:nvGraphicFramePr>
        <p:xfrm>
          <a:off x="1161278" y="1969011"/>
          <a:ext cx="9875022" cy="3383300"/>
        </p:xfrm>
        <a:graphic>
          <a:graphicData uri="http://schemas.openxmlformats.org/drawingml/2006/table">
            <a:tbl>
              <a:tblPr firstRow="1" firstCol="1" lastRow="1" lastCol="1">
                <a:tableStyleId>{22838BEF-8BB2-4498-84A7-C5851F593DF1}</a:tableStyleId>
              </a:tblPr>
              <a:tblGrid>
                <a:gridCol w="166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4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White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Dark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Tofu-</a:t>
                      </a:r>
                      <a:r>
                        <a:rPr lang="en-US" sz="2800" u="none" strike="noStrike" cap="none" dirty="0" err="1"/>
                        <a:t>rkey</a:t>
                      </a:r>
                      <a:endParaRPr lang="en-US" sz="28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TOTAL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Lions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= 0.47 * 43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= 20.2</a:t>
                      </a: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= 0.41 * 43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= 17.7</a:t>
                      </a: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= 0.12 * 43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= 5.1</a:t>
                      </a: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43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Cowboys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= 0.47 * 42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= 19.8</a:t>
                      </a: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= 0.41 * 42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= 17.3</a:t>
                      </a: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= 0.12 * 42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= 4.9</a:t>
                      </a: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42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TOTAL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40 (47%)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35 (41%)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10 (12%)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85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98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1">
            <a:extLst>
              <a:ext uri="{FF2B5EF4-FFF2-40B4-BE49-F238E27FC236}">
                <a16:creationId xmlns:a16="http://schemas.microsoft.com/office/drawing/2014/main" id="{8A3B6F64-11C4-455A-B76C-CD664D9487E4}"/>
              </a:ext>
            </a:extLst>
          </p:cNvPr>
          <p:cNvSpPr txBox="1"/>
          <p:nvPr/>
        </p:nvSpPr>
        <p:spPr>
          <a:xfrm>
            <a:off x="220766" y="195129"/>
            <a:ext cx="8229600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What’s the chi-square statistic?</a:t>
            </a:r>
          </a:p>
        </p:txBody>
      </p:sp>
      <p:graphicFrame>
        <p:nvGraphicFramePr>
          <p:cNvPr id="11" name="Shape 172">
            <a:extLst>
              <a:ext uri="{FF2B5EF4-FFF2-40B4-BE49-F238E27FC236}">
                <a16:creationId xmlns:a16="http://schemas.microsoft.com/office/drawing/2014/main" id="{94462A5F-1A56-4BFD-A24F-142FFA968F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0873636"/>
              </p:ext>
            </p:extLst>
          </p:nvPr>
        </p:nvGraphicFramePr>
        <p:xfrm>
          <a:off x="450078" y="902211"/>
          <a:ext cx="8534400" cy="3383300"/>
        </p:xfrm>
        <a:graphic>
          <a:graphicData uri="http://schemas.openxmlformats.org/drawingml/2006/table">
            <a:tbl>
              <a:tblPr firstRow="1" firstCol="1" lastRow="1" lastCol="1">
                <a:tableStyleId>{22838BEF-8BB2-4498-84A7-C5851F593DF1}</a:tableStyleId>
              </a:tblPr>
              <a:tblGrid>
                <a:gridCol w="166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White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Dark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Tofu-rkey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TOTAL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Lions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O = 15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E = 20.2</a:t>
                      </a: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O = 25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E = 17.7</a:t>
                      </a: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>
                          <a:solidFill>
                            <a:schemeClr val="dk1"/>
                          </a:solidFill>
                          <a:sym typeface="Times New Roman"/>
                        </a:rPr>
                        <a:t>O = 3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>
                          <a:solidFill>
                            <a:schemeClr val="dk1"/>
                          </a:solidFill>
                          <a:sym typeface="Times New Roman"/>
                        </a:rPr>
                        <a:t>E = 5.1</a:t>
                      </a:r>
                      <a:endParaRPr lang="en-US" sz="28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43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Cowboys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>
                          <a:solidFill>
                            <a:schemeClr val="dk1"/>
                          </a:solidFill>
                          <a:sym typeface="Times New Roman"/>
                        </a:rPr>
                        <a:t>O = 25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>
                          <a:solidFill>
                            <a:schemeClr val="dk1"/>
                          </a:solidFill>
                          <a:sym typeface="Times New Roman"/>
                        </a:rPr>
                        <a:t>E = 19.8</a:t>
                      </a:r>
                      <a:endParaRPr lang="en-US" sz="28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>
                          <a:solidFill>
                            <a:schemeClr val="dk1"/>
                          </a:solidFill>
                          <a:sym typeface="Times New Roman"/>
                        </a:rPr>
                        <a:t>O = 10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>
                          <a:solidFill>
                            <a:schemeClr val="dk1"/>
                          </a:solidFill>
                          <a:sym typeface="Times New Roman"/>
                        </a:rPr>
                        <a:t>E = 17.3</a:t>
                      </a:r>
                      <a:endParaRPr lang="en-US" sz="28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O = 7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u="none" strike="noStrike" cap="none" dirty="0">
                          <a:solidFill>
                            <a:schemeClr val="dk1"/>
                          </a:solidFill>
                          <a:sym typeface="Times New Roman"/>
                        </a:rPr>
                        <a:t>E = 4.9</a:t>
                      </a: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42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TOTAL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40 (47%)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35 (41%)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10 (12%)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85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Shape 218">
            <a:extLst>
              <a:ext uri="{FF2B5EF4-FFF2-40B4-BE49-F238E27FC236}">
                <a16:creationId xmlns:a16="http://schemas.microsoft.com/office/drawing/2014/main" id="{978D0765-4852-4AC1-928E-D514B39B55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23348" y="902211"/>
            <a:ext cx="2913062" cy="113975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6515BC-E81E-4987-8F9D-174C21220A7E}"/>
              </a:ext>
            </a:extLst>
          </p:cNvPr>
          <p:cNvSpPr txBox="1"/>
          <p:nvPr/>
        </p:nvSpPr>
        <p:spPr>
          <a:xfrm>
            <a:off x="655889" y="4569006"/>
            <a:ext cx="10359640" cy="153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a typeface="Noto Sans Symbols"/>
                <a:cs typeface="Noto Sans Symbols"/>
                <a:sym typeface="Noto Sans Symbols"/>
              </a:rPr>
              <a:t>χ</a:t>
            </a:r>
            <a:r>
              <a:rPr lang="en-US" sz="3600" baseline="30000" dirty="0">
                <a:ea typeface="Gill Sans MT"/>
                <a:cs typeface="Gill Sans MT"/>
                <a:sym typeface="Gill Sans MT"/>
              </a:rPr>
              <a:t>2</a:t>
            </a:r>
            <a:r>
              <a:rPr lang="en-US" sz="3600" b="1" baseline="30000" dirty="0">
                <a:ea typeface="Gill Sans MT"/>
                <a:cs typeface="Gill Sans MT"/>
                <a:sym typeface="Gill Sans MT"/>
              </a:rPr>
              <a:t>  </a:t>
            </a:r>
            <a:r>
              <a:rPr lang="en-US" sz="3200" dirty="0">
                <a:ea typeface="Gill Sans MT"/>
                <a:cs typeface="Gill Sans MT"/>
                <a:sym typeface="Gill Sans MT"/>
              </a:rPr>
              <a:t>= (15-20.2)</a:t>
            </a:r>
            <a:r>
              <a:rPr lang="en-US" sz="3200" baseline="30000" dirty="0">
                <a:ea typeface="Gill Sans MT"/>
                <a:cs typeface="Gill Sans MT"/>
                <a:sym typeface="Gill Sans MT"/>
              </a:rPr>
              <a:t>2</a:t>
            </a:r>
            <a:r>
              <a:rPr lang="en-US" sz="3200" dirty="0">
                <a:ea typeface="Gill Sans MT"/>
                <a:cs typeface="Gill Sans MT"/>
                <a:sym typeface="Gill Sans MT"/>
              </a:rPr>
              <a:t> / 20.2  + … (7-4.9)</a:t>
            </a:r>
            <a:r>
              <a:rPr lang="en-US" sz="3200" baseline="30000" dirty="0">
                <a:ea typeface="Gill Sans MT"/>
                <a:cs typeface="Gill Sans MT"/>
                <a:sym typeface="Gill Sans MT"/>
              </a:rPr>
              <a:t>2 </a:t>
            </a:r>
            <a:r>
              <a:rPr lang="en-US" sz="3200" dirty="0">
                <a:ea typeface="Gill Sans MT"/>
                <a:cs typeface="Gill Sans MT"/>
                <a:sym typeface="Gill Sans MT"/>
              </a:rPr>
              <a:t>/ 4.9</a:t>
            </a:r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ea typeface="Gill Sans MT"/>
              <a:cs typeface="Gill Sans MT"/>
              <a:sym typeface="Gill Sans MT"/>
            </a:endParaRPr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Critical value for 2 degrees of freedom is </a:t>
            </a:r>
            <a:r>
              <a:rPr lang="en-US" sz="3200" b="1" u="sng" dirty="0">
                <a:ea typeface="Gill Sans MT"/>
                <a:cs typeface="Gill Sans MT"/>
                <a:sym typeface="Gill Sans MT"/>
              </a:rPr>
              <a:t>5.99</a:t>
            </a:r>
          </a:p>
        </p:txBody>
      </p:sp>
    </p:spTree>
    <p:extLst>
      <p:ext uri="{BB962C8B-B14F-4D97-AF65-F5344CB8AC3E}">
        <p14:creationId xmlns:p14="http://schemas.microsoft.com/office/powerpoint/2010/main" val="3903051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1">
            <a:extLst>
              <a:ext uri="{FF2B5EF4-FFF2-40B4-BE49-F238E27FC236}">
                <a16:creationId xmlns:a16="http://schemas.microsoft.com/office/drawing/2014/main" id="{8A3B6F64-11C4-455A-B76C-CD664D9487E4}"/>
              </a:ext>
            </a:extLst>
          </p:cNvPr>
          <p:cNvSpPr txBox="1"/>
          <p:nvPr/>
        </p:nvSpPr>
        <p:spPr>
          <a:xfrm>
            <a:off x="220766" y="195129"/>
            <a:ext cx="8229600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You try it!</a:t>
            </a:r>
          </a:p>
        </p:txBody>
      </p:sp>
      <p:pic>
        <p:nvPicPr>
          <p:cNvPr id="4" name="Shape 218">
            <a:extLst>
              <a:ext uri="{FF2B5EF4-FFF2-40B4-BE49-F238E27FC236}">
                <a16:creationId xmlns:a16="http://schemas.microsoft.com/office/drawing/2014/main" id="{978D0765-4852-4AC1-928E-D514B39B55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365" y="518294"/>
            <a:ext cx="3550436" cy="147828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E0FEC4-1E70-4ADE-AC9A-9421713F282E}"/>
              </a:ext>
            </a:extLst>
          </p:cNvPr>
          <p:cNvSpPr txBox="1"/>
          <p:nvPr/>
        </p:nvSpPr>
        <p:spPr>
          <a:xfrm>
            <a:off x="510610" y="1010422"/>
            <a:ext cx="79397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 survey was done of Manhattan residents to see if their most common transportation method was related to their income. Here are the results:</a:t>
            </a:r>
            <a:endParaRPr lang="en-US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534626-7365-46E3-85DD-961D2AEA0843}"/>
              </a:ext>
            </a:extLst>
          </p:cNvPr>
          <p:cNvGraphicFramePr>
            <a:graphicFrameLocks noGrp="1"/>
          </p:cNvGraphicFramePr>
          <p:nvPr/>
        </p:nvGraphicFramePr>
        <p:xfrm>
          <a:off x="510610" y="2575061"/>
          <a:ext cx="9223050" cy="19699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2624">
                  <a:extLst>
                    <a:ext uri="{9D8B030D-6E8A-4147-A177-3AD203B41FA5}">
                      <a16:colId xmlns:a16="http://schemas.microsoft.com/office/drawing/2014/main" val="927456705"/>
                    </a:ext>
                  </a:extLst>
                </a:gridCol>
                <a:gridCol w="1205335">
                  <a:extLst>
                    <a:ext uri="{9D8B030D-6E8A-4147-A177-3AD203B41FA5}">
                      <a16:colId xmlns:a16="http://schemas.microsoft.com/office/drawing/2014/main" val="2659888996"/>
                    </a:ext>
                  </a:extLst>
                </a:gridCol>
                <a:gridCol w="1607115">
                  <a:extLst>
                    <a:ext uri="{9D8B030D-6E8A-4147-A177-3AD203B41FA5}">
                      <a16:colId xmlns:a16="http://schemas.microsoft.com/office/drawing/2014/main" val="2190423655"/>
                    </a:ext>
                  </a:extLst>
                </a:gridCol>
                <a:gridCol w="1735550">
                  <a:extLst>
                    <a:ext uri="{9D8B030D-6E8A-4147-A177-3AD203B41FA5}">
                      <a16:colId xmlns:a16="http://schemas.microsoft.com/office/drawing/2014/main" val="280440688"/>
                    </a:ext>
                  </a:extLst>
                </a:gridCol>
                <a:gridCol w="1572426">
                  <a:extLst>
                    <a:ext uri="{9D8B030D-6E8A-4147-A177-3AD203B41FA5}">
                      <a16:colId xmlns:a16="http://schemas.microsoft.com/office/drawing/2014/main" val="7365877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Car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Transit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Walk/bike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Total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908571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Low income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58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115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012372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Moderate income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199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49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64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312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647899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High income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205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29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266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020395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Total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462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102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129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693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1118246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4AAD804-16C1-4977-ACFC-49C7BAFB885F}"/>
              </a:ext>
            </a:extLst>
          </p:cNvPr>
          <p:cNvSpPr txBox="1"/>
          <p:nvPr/>
        </p:nvSpPr>
        <p:spPr>
          <a:xfrm>
            <a:off x="510609" y="4712813"/>
            <a:ext cx="101887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Using a chi-square test, check to see if these results show a difference between these groups. You may want to enter this table in Excel to run this analysis.</a:t>
            </a:r>
            <a:endParaRPr lang="en-US" sz="24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103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1">
            <a:extLst>
              <a:ext uri="{FF2B5EF4-FFF2-40B4-BE49-F238E27FC236}">
                <a16:creationId xmlns:a16="http://schemas.microsoft.com/office/drawing/2014/main" id="{8A3B6F64-11C4-455A-B76C-CD664D9487E4}"/>
              </a:ext>
            </a:extLst>
          </p:cNvPr>
          <p:cNvSpPr txBox="1"/>
          <p:nvPr/>
        </p:nvSpPr>
        <p:spPr>
          <a:xfrm>
            <a:off x="220766" y="195129"/>
            <a:ext cx="8229600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Writing up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E0FEC4-1E70-4ADE-AC9A-9421713F282E}"/>
              </a:ext>
            </a:extLst>
          </p:cNvPr>
          <p:cNvSpPr txBox="1"/>
          <p:nvPr/>
        </p:nvSpPr>
        <p:spPr>
          <a:xfrm>
            <a:off x="510609" y="841460"/>
            <a:ext cx="1114585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  <a:cs typeface="Arial" panose="020B0604020202020204" pitchFamily="34" charset="0"/>
              </a:rPr>
              <a:t>Results of statistical analysis generally focus on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direction, magnitude, and significance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  <a:cs typeface="Arial" panose="020B0604020202020204" pitchFamily="34" charset="0"/>
              </a:rPr>
              <a:t>For a chi-square test, calculate the percentage of each income group in each transit type. Then write a paragraph that summarizes your findings. What pattern do you see of higher or lower rates? What is the magnitude of the key differences? Is it statistically significant? </a:t>
            </a:r>
            <a:endParaRPr lang="en-US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534626-7365-46E3-85DD-961D2AEA0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259008"/>
              </p:ext>
            </p:extLst>
          </p:nvPr>
        </p:nvGraphicFramePr>
        <p:xfrm>
          <a:off x="961458" y="3771175"/>
          <a:ext cx="10309790" cy="22980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68202">
                  <a:extLst>
                    <a:ext uri="{9D8B030D-6E8A-4147-A177-3AD203B41FA5}">
                      <a16:colId xmlns:a16="http://schemas.microsoft.com/office/drawing/2014/main" val="927456705"/>
                    </a:ext>
                  </a:extLst>
                </a:gridCol>
                <a:gridCol w="1347358">
                  <a:extLst>
                    <a:ext uri="{9D8B030D-6E8A-4147-A177-3AD203B41FA5}">
                      <a16:colId xmlns:a16="http://schemas.microsoft.com/office/drawing/2014/main" val="2659888996"/>
                    </a:ext>
                  </a:extLst>
                </a:gridCol>
                <a:gridCol w="1796479">
                  <a:extLst>
                    <a:ext uri="{9D8B030D-6E8A-4147-A177-3AD203B41FA5}">
                      <a16:colId xmlns:a16="http://schemas.microsoft.com/office/drawing/2014/main" val="2190423655"/>
                    </a:ext>
                  </a:extLst>
                </a:gridCol>
                <a:gridCol w="1940048">
                  <a:extLst>
                    <a:ext uri="{9D8B030D-6E8A-4147-A177-3AD203B41FA5}">
                      <a16:colId xmlns:a16="http://schemas.microsoft.com/office/drawing/2014/main" val="280440688"/>
                    </a:ext>
                  </a:extLst>
                </a:gridCol>
                <a:gridCol w="1757703">
                  <a:extLst>
                    <a:ext uri="{9D8B030D-6E8A-4147-A177-3AD203B41FA5}">
                      <a16:colId xmlns:a16="http://schemas.microsoft.com/office/drawing/2014/main" val="7365877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8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Car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Transit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Walk/bike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Total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908571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Low income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58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21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36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115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012372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Moderate income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199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49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64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312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647899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High income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205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32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29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266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020395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Total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462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102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129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693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11182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690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01">
            <a:extLst>
              <a:ext uri="{FF2B5EF4-FFF2-40B4-BE49-F238E27FC236}">
                <a16:creationId xmlns:a16="http://schemas.microsoft.com/office/drawing/2014/main" id="{B9886DBE-B7EC-461C-8E11-AEB4B910E254}"/>
              </a:ext>
            </a:extLst>
          </p:cNvPr>
          <p:cNvSpPr txBox="1"/>
          <p:nvPr/>
        </p:nvSpPr>
        <p:spPr>
          <a:xfrm>
            <a:off x="748018" y="451475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ANOVA: 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Gill Sans MT"/>
                <a:cs typeface="Gill Sans MT"/>
                <a:sym typeface="Gill Sans MT"/>
              </a:rPr>
              <a:t>An</a:t>
            </a: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alysis 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Gill Sans MT"/>
                <a:cs typeface="Gill Sans MT"/>
                <a:sym typeface="Gill Sans MT"/>
              </a:rPr>
              <a:t>o</a:t>
            </a: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f 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Gill Sans MT"/>
                <a:cs typeface="Gill Sans MT"/>
                <a:sym typeface="Gill Sans MT"/>
              </a:rPr>
              <a:t>Va</a:t>
            </a: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riance</a:t>
            </a:r>
            <a:endParaRPr lang="en-US" sz="4000" dirty="0">
              <a:latin typeface="+mj-lt"/>
              <a:ea typeface="Gill Sans MT"/>
              <a:cs typeface="Gill Sans MT"/>
              <a:sym typeface="Gill Sans MT"/>
            </a:endParaRPr>
          </a:p>
        </p:txBody>
      </p:sp>
      <p:pic>
        <p:nvPicPr>
          <p:cNvPr id="5" name="Shape 134">
            <a:extLst>
              <a:ext uri="{FF2B5EF4-FFF2-40B4-BE49-F238E27FC236}">
                <a16:creationId xmlns:a16="http://schemas.microsoft.com/office/drawing/2014/main" id="{A8A24143-4009-48EA-9AD0-96D47ED0CFC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0714" y="1404738"/>
            <a:ext cx="7712656" cy="45560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3808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01">
            <a:extLst>
              <a:ext uri="{FF2B5EF4-FFF2-40B4-BE49-F238E27FC236}">
                <a16:creationId xmlns:a16="http://schemas.microsoft.com/office/drawing/2014/main" id="{B9886DBE-B7EC-461C-8E11-AEB4B910E254}"/>
              </a:ext>
            </a:extLst>
          </p:cNvPr>
          <p:cNvSpPr txBox="1"/>
          <p:nvPr/>
        </p:nvSpPr>
        <p:spPr>
          <a:xfrm>
            <a:off x="536895" y="25376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ANOVA: </a:t>
            </a:r>
            <a:r>
              <a:rPr lang="en-US" sz="4000" b="1" dirty="0">
                <a:solidFill>
                  <a:srgbClr val="FFC000"/>
                </a:solidFill>
                <a:latin typeface="+mj-lt"/>
                <a:ea typeface="Gill Sans MT"/>
                <a:cs typeface="Gill Sans MT"/>
                <a:sym typeface="Gill Sans MT"/>
              </a:rPr>
              <a:t>An</a:t>
            </a: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alysis </a:t>
            </a:r>
            <a:r>
              <a:rPr lang="en-US" sz="4000" b="1" dirty="0">
                <a:solidFill>
                  <a:srgbClr val="FFC000"/>
                </a:solidFill>
                <a:latin typeface="+mj-lt"/>
                <a:ea typeface="Gill Sans MT"/>
                <a:cs typeface="Gill Sans MT"/>
                <a:sym typeface="Gill Sans MT"/>
              </a:rPr>
              <a:t>o</a:t>
            </a: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f </a:t>
            </a:r>
            <a:r>
              <a:rPr lang="en-US" sz="4000" b="1" dirty="0">
                <a:solidFill>
                  <a:srgbClr val="FFC000"/>
                </a:solidFill>
                <a:latin typeface="+mj-lt"/>
                <a:ea typeface="Gill Sans MT"/>
                <a:cs typeface="Gill Sans MT"/>
                <a:sym typeface="Gill Sans MT"/>
              </a:rPr>
              <a:t>Va</a:t>
            </a: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riance</a:t>
            </a:r>
            <a:endParaRPr lang="en-US" sz="4000" dirty="0">
              <a:latin typeface="+mj-lt"/>
              <a:ea typeface="Gill Sans MT"/>
              <a:cs typeface="Gill Sans MT"/>
              <a:sym typeface="Gill Sans MT"/>
            </a:endParaRPr>
          </a:p>
        </p:txBody>
      </p:sp>
      <p:pic>
        <p:nvPicPr>
          <p:cNvPr id="6" name="Shape 159" descr="http://www.bexcellence.org/image-files/anova.jpg">
            <a:extLst>
              <a:ext uri="{FF2B5EF4-FFF2-40B4-BE49-F238E27FC236}">
                <a16:creationId xmlns:a16="http://schemas.microsoft.com/office/drawing/2014/main" id="{9B53A9D9-A5FE-4EAA-9B92-D43758A656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4361" y="1267438"/>
            <a:ext cx="7661386" cy="533679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162">
            <a:extLst>
              <a:ext uri="{FF2B5EF4-FFF2-40B4-BE49-F238E27FC236}">
                <a16:creationId xmlns:a16="http://schemas.microsoft.com/office/drawing/2014/main" id="{0B843921-00F2-40B7-900D-DCC600787030}"/>
              </a:ext>
            </a:extLst>
          </p:cNvPr>
          <p:cNvSpPr txBox="1"/>
          <p:nvPr/>
        </p:nvSpPr>
        <p:spPr>
          <a:xfrm>
            <a:off x="2198643" y="4257669"/>
            <a:ext cx="2375962" cy="48805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dirty="0">
                <a:solidFill>
                  <a:srgbClr val="FF0000"/>
                </a:solidFill>
                <a:latin typeface="Gill Sans MT"/>
                <a:ea typeface="Gill Sans MT"/>
                <a:cs typeface="Gill Sans MT"/>
                <a:sym typeface="Gill Sans MT"/>
              </a:rPr>
              <a:t>One observation</a:t>
            </a:r>
          </a:p>
        </p:txBody>
      </p:sp>
      <p:cxnSp>
        <p:nvCxnSpPr>
          <p:cNvPr id="10" name="Shape 164">
            <a:extLst>
              <a:ext uri="{FF2B5EF4-FFF2-40B4-BE49-F238E27FC236}">
                <a16:creationId xmlns:a16="http://schemas.microsoft.com/office/drawing/2014/main" id="{A0431F35-BEF7-4317-B33D-825EA7C2E407}"/>
              </a:ext>
            </a:extLst>
          </p:cNvPr>
          <p:cNvCxnSpPr>
            <a:cxnSpLocks/>
          </p:cNvCxnSpPr>
          <p:nvPr/>
        </p:nvCxnSpPr>
        <p:spPr>
          <a:xfrm>
            <a:off x="5904870" y="1550840"/>
            <a:ext cx="0" cy="269357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Shape 166">
            <a:extLst>
              <a:ext uri="{FF2B5EF4-FFF2-40B4-BE49-F238E27FC236}">
                <a16:creationId xmlns:a16="http://schemas.microsoft.com/office/drawing/2014/main" id="{39D643E8-DA7A-4A1F-B64C-4ED2D24FFD1C}"/>
              </a:ext>
            </a:extLst>
          </p:cNvPr>
          <p:cNvCxnSpPr>
            <a:cxnSpLocks/>
          </p:cNvCxnSpPr>
          <p:nvPr/>
        </p:nvCxnSpPr>
        <p:spPr>
          <a:xfrm flipV="1">
            <a:off x="4769446" y="3856526"/>
            <a:ext cx="252532" cy="522527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12" name="Shape 167">
            <a:extLst>
              <a:ext uri="{FF2B5EF4-FFF2-40B4-BE49-F238E27FC236}">
                <a16:creationId xmlns:a16="http://schemas.microsoft.com/office/drawing/2014/main" id="{4C810B0F-D444-4738-BB63-E78C5FA2530E}"/>
              </a:ext>
            </a:extLst>
          </p:cNvPr>
          <p:cNvCxnSpPr>
            <a:cxnSpLocks/>
          </p:cNvCxnSpPr>
          <p:nvPr/>
        </p:nvCxnSpPr>
        <p:spPr>
          <a:xfrm>
            <a:off x="4273058" y="3487724"/>
            <a:ext cx="531037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stealth" w="lg" len="lg"/>
            <a:tailEnd type="stealth" w="lg" len="lg"/>
          </a:ln>
        </p:spPr>
      </p:cxnSp>
      <p:cxnSp>
        <p:nvCxnSpPr>
          <p:cNvPr id="13" name="Shape 168">
            <a:extLst>
              <a:ext uri="{FF2B5EF4-FFF2-40B4-BE49-F238E27FC236}">
                <a16:creationId xmlns:a16="http://schemas.microsoft.com/office/drawing/2014/main" id="{9008353B-0CC9-4B83-94A7-367E1360D3DC}"/>
              </a:ext>
            </a:extLst>
          </p:cNvPr>
          <p:cNvCxnSpPr>
            <a:cxnSpLocks/>
          </p:cNvCxnSpPr>
          <p:nvPr/>
        </p:nvCxnSpPr>
        <p:spPr>
          <a:xfrm>
            <a:off x="4273058" y="3806441"/>
            <a:ext cx="1534829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stealth" w="lg" len="lg"/>
            <a:tailEnd type="stealth" w="lg" len="lg"/>
          </a:ln>
        </p:spPr>
      </p:cxnSp>
      <p:sp>
        <p:nvSpPr>
          <p:cNvPr id="14" name="Shape 169">
            <a:extLst>
              <a:ext uri="{FF2B5EF4-FFF2-40B4-BE49-F238E27FC236}">
                <a16:creationId xmlns:a16="http://schemas.microsoft.com/office/drawing/2014/main" id="{1C5EDBDA-47B6-417B-8DC6-16A36A25D877}"/>
              </a:ext>
            </a:extLst>
          </p:cNvPr>
          <p:cNvSpPr txBox="1"/>
          <p:nvPr/>
        </p:nvSpPr>
        <p:spPr>
          <a:xfrm>
            <a:off x="2397268" y="2059771"/>
            <a:ext cx="1939413" cy="4880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dirty="0">
                <a:solidFill>
                  <a:srgbClr val="FF0000"/>
                </a:solidFill>
                <a:latin typeface="Gill Sans MT"/>
                <a:ea typeface="Gill Sans MT"/>
                <a:cs typeface="Gill Sans MT"/>
                <a:sym typeface="Gill Sans MT"/>
              </a:rPr>
              <a:t>Within group variance</a:t>
            </a:r>
          </a:p>
        </p:txBody>
      </p:sp>
      <p:cxnSp>
        <p:nvCxnSpPr>
          <p:cNvPr id="15" name="Shape 170">
            <a:extLst>
              <a:ext uri="{FF2B5EF4-FFF2-40B4-BE49-F238E27FC236}">
                <a16:creationId xmlns:a16="http://schemas.microsoft.com/office/drawing/2014/main" id="{F5056FC9-A685-4AF5-A106-0CC496D2F57A}"/>
              </a:ext>
            </a:extLst>
          </p:cNvPr>
          <p:cNvCxnSpPr>
            <a:cxnSpLocks/>
          </p:cNvCxnSpPr>
          <p:nvPr/>
        </p:nvCxnSpPr>
        <p:spPr>
          <a:xfrm>
            <a:off x="3633159" y="2476014"/>
            <a:ext cx="901581" cy="921666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6" name="Shape 171">
            <a:extLst>
              <a:ext uri="{FF2B5EF4-FFF2-40B4-BE49-F238E27FC236}">
                <a16:creationId xmlns:a16="http://schemas.microsoft.com/office/drawing/2014/main" id="{10C39E7D-D6AB-4343-829E-64A8ABA485D7}"/>
              </a:ext>
            </a:extLst>
          </p:cNvPr>
          <p:cNvSpPr txBox="1"/>
          <p:nvPr/>
        </p:nvSpPr>
        <p:spPr>
          <a:xfrm>
            <a:off x="4160390" y="4375202"/>
            <a:ext cx="2434966" cy="3967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dirty="0">
                <a:solidFill>
                  <a:srgbClr val="FF0000"/>
                </a:solidFill>
                <a:latin typeface="Gill Sans MT"/>
                <a:ea typeface="Gill Sans MT"/>
                <a:cs typeface="Gill Sans MT"/>
                <a:sym typeface="Gill Sans MT"/>
              </a:rPr>
              <a:t>Between group variance</a:t>
            </a:r>
          </a:p>
        </p:txBody>
      </p:sp>
      <p:sp>
        <p:nvSpPr>
          <p:cNvPr id="22" name="Shape 161">
            <a:extLst>
              <a:ext uri="{FF2B5EF4-FFF2-40B4-BE49-F238E27FC236}">
                <a16:creationId xmlns:a16="http://schemas.microsoft.com/office/drawing/2014/main" id="{CD1A89B4-6303-4623-B922-C578F116BF04}"/>
              </a:ext>
            </a:extLst>
          </p:cNvPr>
          <p:cNvSpPr/>
          <p:nvPr/>
        </p:nvSpPr>
        <p:spPr>
          <a:xfrm>
            <a:off x="4096300" y="3431221"/>
            <a:ext cx="128181" cy="151041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cxnSp>
        <p:nvCxnSpPr>
          <p:cNvPr id="23" name="Shape 163">
            <a:extLst>
              <a:ext uri="{FF2B5EF4-FFF2-40B4-BE49-F238E27FC236}">
                <a16:creationId xmlns:a16="http://schemas.microsoft.com/office/drawing/2014/main" id="{863349B3-BE78-491B-9ED6-E294EFE30512}"/>
              </a:ext>
            </a:extLst>
          </p:cNvPr>
          <p:cNvCxnSpPr>
            <a:cxnSpLocks/>
          </p:cNvCxnSpPr>
          <p:nvPr/>
        </p:nvCxnSpPr>
        <p:spPr>
          <a:xfrm flipV="1">
            <a:off x="3147325" y="3582263"/>
            <a:ext cx="981380" cy="675406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27" name="Shape 165">
            <a:extLst>
              <a:ext uri="{FF2B5EF4-FFF2-40B4-BE49-F238E27FC236}">
                <a16:creationId xmlns:a16="http://schemas.microsoft.com/office/drawing/2014/main" id="{A6234C67-F2C1-4522-AB23-C029EB92466E}"/>
              </a:ext>
            </a:extLst>
          </p:cNvPr>
          <p:cNvSpPr txBox="1"/>
          <p:nvPr/>
        </p:nvSpPr>
        <p:spPr>
          <a:xfrm>
            <a:off x="6897806" y="4260769"/>
            <a:ext cx="2808258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dirty="0">
                <a:solidFill>
                  <a:srgbClr val="FF0000"/>
                </a:solidFill>
                <a:latin typeface="Gill Sans MT"/>
                <a:ea typeface="Gill Sans MT"/>
                <a:cs typeface="Gill Sans MT"/>
                <a:sym typeface="Gill Sans MT"/>
              </a:rPr>
              <a:t>Mean of ALL observations-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dirty="0">
                <a:solidFill>
                  <a:srgbClr val="FF0000"/>
                </a:solidFill>
                <a:latin typeface="Gill Sans MT"/>
                <a:ea typeface="Gill Sans MT"/>
                <a:cs typeface="Gill Sans MT"/>
                <a:sym typeface="Gill Sans MT"/>
              </a:rPr>
              <a:t>the “grand mean”</a:t>
            </a:r>
          </a:p>
        </p:txBody>
      </p:sp>
      <p:cxnSp>
        <p:nvCxnSpPr>
          <p:cNvPr id="28" name="Shape 166">
            <a:extLst>
              <a:ext uri="{FF2B5EF4-FFF2-40B4-BE49-F238E27FC236}">
                <a16:creationId xmlns:a16="http://schemas.microsoft.com/office/drawing/2014/main" id="{98840663-9FA1-4D2F-AD98-F139F40493E9}"/>
              </a:ext>
            </a:extLst>
          </p:cNvPr>
          <p:cNvCxnSpPr>
            <a:cxnSpLocks/>
          </p:cNvCxnSpPr>
          <p:nvPr/>
        </p:nvCxnSpPr>
        <p:spPr>
          <a:xfrm flipH="1" flipV="1">
            <a:off x="5944735" y="3212983"/>
            <a:ext cx="1142391" cy="1031428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</p:spPr>
      </p:cxnSp>
    </p:spTree>
    <p:extLst>
      <p:ext uri="{BB962C8B-B14F-4D97-AF65-F5344CB8AC3E}">
        <p14:creationId xmlns:p14="http://schemas.microsoft.com/office/powerpoint/2010/main" val="3407636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hape 141" descr="groupmeans">
            <a:extLst>
              <a:ext uri="{FF2B5EF4-FFF2-40B4-BE49-F238E27FC236}">
                <a16:creationId xmlns:a16="http://schemas.microsoft.com/office/drawing/2014/main" id="{A91E96F8-9DBB-4406-84E9-A79EBD27CC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9903" y="2452816"/>
            <a:ext cx="6334897" cy="40708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Shape 142">
            <a:extLst>
              <a:ext uri="{FF2B5EF4-FFF2-40B4-BE49-F238E27FC236}">
                <a16:creationId xmlns:a16="http://schemas.microsoft.com/office/drawing/2014/main" id="{2DD675ED-FDCE-464D-BA00-C9D07357474C}"/>
              </a:ext>
            </a:extLst>
          </p:cNvPr>
          <p:cNvCxnSpPr>
            <a:cxnSpLocks/>
          </p:cNvCxnSpPr>
          <p:nvPr/>
        </p:nvCxnSpPr>
        <p:spPr>
          <a:xfrm flipH="1">
            <a:off x="7203989" y="1950951"/>
            <a:ext cx="384230" cy="929408"/>
          </a:xfrm>
          <a:prstGeom prst="straightConnector1">
            <a:avLst/>
          </a:prstGeom>
          <a:solidFill>
            <a:schemeClr val="accent1"/>
          </a:solidFill>
          <a:ln w="38100" cap="flat" cmpd="sng">
            <a:solidFill>
              <a:srgbClr val="FFC000"/>
            </a:solidFill>
            <a:prstDash val="solid"/>
            <a:round/>
            <a:headEnd type="none" w="med" len="med"/>
            <a:tailEnd type="stealth" w="lg" len="lg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</p:cxnSp>
      <p:sp>
        <p:nvSpPr>
          <p:cNvPr id="19" name="Shape 143">
            <a:extLst>
              <a:ext uri="{FF2B5EF4-FFF2-40B4-BE49-F238E27FC236}">
                <a16:creationId xmlns:a16="http://schemas.microsoft.com/office/drawing/2014/main" id="{D82E4DEE-23BB-4BF0-8BB4-29E8D436D80F}"/>
              </a:ext>
            </a:extLst>
          </p:cNvPr>
          <p:cNvSpPr txBox="1"/>
          <p:nvPr/>
        </p:nvSpPr>
        <p:spPr>
          <a:xfrm>
            <a:off x="7588219" y="261853"/>
            <a:ext cx="3700568" cy="168909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400" dirty="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The ANOVA test would be significant in finding a difference for all of these cases except for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0A109B-B039-DDF5-9A0E-6190C378E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A1533C-8E2D-8522-97EE-90158EE83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Detects differences, but does NOT tell you what’s different.</a:t>
            </a:r>
          </a:p>
        </p:txBody>
      </p:sp>
    </p:spTree>
    <p:extLst>
      <p:ext uri="{BB962C8B-B14F-4D97-AF65-F5344CB8AC3E}">
        <p14:creationId xmlns:p14="http://schemas.microsoft.com/office/powerpoint/2010/main" val="2544887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01">
            <a:extLst>
              <a:ext uri="{FF2B5EF4-FFF2-40B4-BE49-F238E27FC236}">
                <a16:creationId xmlns:a16="http://schemas.microsoft.com/office/drawing/2014/main" id="{B9886DBE-B7EC-461C-8E11-AEB4B910E254}"/>
              </a:ext>
            </a:extLst>
          </p:cNvPr>
          <p:cNvSpPr txBox="1"/>
          <p:nvPr/>
        </p:nvSpPr>
        <p:spPr>
          <a:xfrm>
            <a:off x="1259766" y="994586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Post-hoc tests</a:t>
            </a:r>
          </a:p>
        </p:txBody>
      </p:sp>
      <p:pic>
        <p:nvPicPr>
          <p:cNvPr id="6" name="Shape 124">
            <a:extLst>
              <a:ext uri="{FF2B5EF4-FFF2-40B4-BE49-F238E27FC236}">
                <a16:creationId xmlns:a16="http://schemas.microsoft.com/office/drawing/2014/main" id="{51F14781-330D-4F79-8F7C-6BB37D7144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101" y="2524125"/>
            <a:ext cx="5248275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Shape 125">
            <a:extLst>
              <a:ext uri="{FF2B5EF4-FFF2-40B4-BE49-F238E27FC236}">
                <a16:creationId xmlns:a16="http://schemas.microsoft.com/office/drawing/2014/main" id="{6BAD5BE9-C657-49E7-86E8-98366C56884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5997" y="3596550"/>
            <a:ext cx="5143499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Shape 126">
            <a:extLst>
              <a:ext uri="{FF2B5EF4-FFF2-40B4-BE49-F238E27FC236}">
                <a16:creationId xmlns:a16="http://schemas.microsoft.com/office/drawing/2014/main" id="{B8206151-6B33-4656-9343-0CE6AC2DD4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5117" y="4803188"/>
            <a:ext cx="5257799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32BE50-5BB1-16FD-555F-8B72F92AB182}"/>
              </a:ext>
            </a:extLst>
          </p:cNvPr>
          <p:cNvSpPr txBox="1"/>
          <p:nvPr/>
        </p:nvSpPr>
        <p:spPr>
          <a:xfrm>
            <a:off x="1165575" y="1899672"/>
            <a:ext cx="10147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25000"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Repeated t-tests between all groups to identify </a:t>
            </a:r>
            <a:r>
              <a:rPr lang="en-US" sz="2400" b="1" i="1" dirty="0">
                <a:solidFill>
                  <a:srgbClr val="FFC000"/>
                </a:solidFill>
                <a:ea typeface="Gill Sans MT"/>
                <a:cs typeface="Gill Sans MT"/>
                <a:sym typeface="Gill Sans MT"/>
              </a:rPr>
              <a:t>where</a:t>
            </a:r>
            <a:r>
              <a:rPr lang="en-US" sz="2400" dirty="0">
                <a:ea typeface="Gill Sans MT"/>
                <a:cs typeface="Gill Sans MT"/>
                <a:sym typeface="Gill Sans MT"/>
              </a:rPr>
              <a:t> the difference is.</a:t>
            </a:r>
          </a:p>
        </p:txBody>
      </p:sp>
    </p:spTree>
    <p:extLst>
      <p:ext uri="{BB962C8B-B14F-4D97-AF65-F5344CB8AC3E}">
        <p14:creationId xmlns:p14="http://schemas.microsoft.com/office/powerpoint/2010/main" val="989847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01">
            <a:extLst>
              <a:ext uri="{FF2B5EF4-FFF2-40B4-BE49-F238E27FC236}">
                <a16:creationId xmlns:a16="http://schemas.microsoft.com/office/drawing/2014/main" id="{B9886DBE-B7EC-461C-8E11-AEB4B910E254}"/>
              </a:ext>
            </a:extLst>
          </p:cNvPr>
          <p:cNvSpPr txBox="1"/>
          <p:nvPr/>
        </p:nvSpPr>
        <p:spPr>
          <a:xfrm>
            <a:off x="1154732" y="951924"/>
            <a:ext cx="3670582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Post-hoc tests</a:t>
            </a:r>
          </a:p>
        </p:txBody>
      </p:sp>
      <p:pic>
        <p:nvPicPr>
          <p:cNvPr id="9" name="Shape 162">
            <a:extLst>
              <a:ext uri="{FF2B5EF4-FFF2-40B4-BE49-F238E27FC236}">
                <a16:creationId xmlns:a16="http://schemas.microsoft.com/office/drawing/2014/main" id="{DCCB33D5-72F2-41A3-BDD2-2B666BE7EA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64434" r="52487"/>
          <a:stretch/>
        </p:blipFill>
        <p:spPr>
          <a:xfrm>
            <a:off x="1578206" y="4429898"/>
            <a:ext cx="4631064" cy="142899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34B1D11-0202-4153-94D5-575FB46C5F61}"/>
              </a:ext>
            </a:extLst>
          </p:cNvPr>
          <p:cNvSpPr/>
          <p:nvPr/>
        </p:nvSpPr>
        <p:spPr>
          <a:xfrm>
            <a:off x="7160371" y="4532797"/>
            <a:ext cx="370513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3 * 0.0018 = 0.0054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3 * 0.2055 = 0.6165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3 * 0.00003 = 0.00009 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A182D-049C-487A-C01C-946C5556EAE0}"/>
              </a:ext>
            </a:extLst>
          </p:cNvPr>
          <p:cNvSpPr txBox="1"/>
          <p:nvPr/>
        </p:nvSpPr>
        <p:spPr>
          <a:xfrm>
            <a:off x="1244574" y="1829099"/>
            <a:ext cx="60949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To control for potential false positives, post hoc tests use statistical </a:t>
            </a:r>
            <a:r>
              <a:rPr lang="en-US" sz="2400" b="1" i="1" dirty="0">
                <a:ea typeface="Gill Sans MT"/>
                <a:cs typeface="Gill Sans MT"/>
                <a:sym typeface="Gill Sans MT"/>
              </a:rPr>
              <a:t>corrections.</a:t>
            </a:r>
          </a:p>
          <a:p>
            <a:pPr lvl="0">
              <a:buSzPct val="25000"/>
            </a:pPr>
            <a:endParaRPr lang="en-US" sz="2400" b="1" i="1" dirty="0">
              <a:ea typeface="Gill Sans MT"/>
              <a:cs typeface="Gill Sans MT"/>
              <a:sym typeface="Gill Sans MT"/>
            </a:endParaRPr>
          </a:p>
          <a:p>
            <a:pPr lvl="0">
              <a:buSzPct val="25000"/>
            </a:pPr>
            <a:r>
              <a:rPr lang="en-US" sz="2400" b="1" i="1" dirty="0">
                <a:ea typeface="Gill Sans MT"/>
                <a:cs typeface="Gill Sans MT"/>
                <a:sym typeface="Gill Sans MT"/>
              </a:rPr>
              <a:t>Bonferroni correction:</a:t>
            </a:r>
          </a:p>
          <a:p>
            <a:pPr lvl="0">
              <a:buSzPct val="25000"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Multiple the p-value by the number of tests</a:t>
            </a:r>
          </a:p>
          <a:p>
            <a:pPr lvl="0">
              <a:buSzPct val="25000"/>
            </a:pPr>
            <a:endParaRPr lang="en-US" sz="2400" b="1" i="1" dirty="0">
              <a:ea typeface="Gill Sans MT"/>
              <a:cs typeface="Gill Sans MT"/>
              <a:sym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062569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01">
            <a:extLst>
              <a:ext uri="{FF2B5EF4-FFF2-40B4-BE49-F238E27FC236}">
                <a16:creationId xmlns:a16="http://schemas.microsoft.com/office/drawing/2014/main" id="{B9886DBE-B7EC-461C-8E11-AEB4B910E254}"/>
              </a:ext>
            </a:extLst>
          </p:cNvPr>
          <p:cNvSpPr txBox="1"/>
          <p:nvPr/>
        </p:nvSpPr>
        <p:spPr>
          <a:xfrm>
            <a:off x="536895" y="25376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Let’s try it!</a:t>
            </a:r>
          </a:p>
          <a:p>
            <a:pPr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ANOVA with the Midwest pollen data in Excel.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D906F8-A3B5-45A8-8F5B-C2F06DEE0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5676"/>
            <a:ext cx="12192000" cy="462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662286"/>
      </p:ext>
    </p:extLst>
  </p:cSld>
  <p:clrMapOvr>
    <a:masterClrMapping/>
  </p:clrMapOvr>
</p:sld>
</file>

<file path=ppt/theme/theme1.xml><?xml version="1.0" encoding="utf-8"?>
<a:theme xmlns:a="http://schemas.openxmlformats.org/drawingml/2006/main" name="4300 theme">
  <a:themeElements>
    <a:clrScheme name="Custom 5">
      <a:dk1>
        <a:srgbClr val="3F3F3F"/>
      </a:dk1>
      <a:lt1>
        <a:sysClr val="window" lastClr="FFFFFF"/>
      </a:lt1>
      <a:dk2>
        <a:srgbClr val="637052"/>
      </a:dk2>
      <a:lt2>
        <a:srgbClr val="CCDDEA"/>
      </a:lt2>
      <a:accent1>
        <a:srgbClr val="E5A99F"/>
      </a:accent1>
      <a:accent2>
        <a:srgbClr val="B2383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Sitka Display Semibold"/>
        <a:ea typeface=""/>
        <a:cs typeface=""/>
      </a:majorFont>
      <a:minorFont>
        <a:latin typeface="Segoe U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g4300_L01-Introductions" id="{FA51A00F-822B-41B5-AA4A-2C123A5E9355}" vid="{2F9C99DD-B25B-4D9F-92B4-7DCE57BD0F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976</Words>
  <Application>Microsoft Office PowerPoint</Application>
  <PresentationFormat>Widescreen</PresentationFormat>
  <Paragraphs>220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Gill Sans MT</vt:lpstr>
      <vt:lpstr>Noto Sans Symbols</vt:lpstr>
      <vt:lpstr>Segoe UI</vt:lpstr>
      <vt:lpstr>Sitka Display Semibold</vt:lpstr>
      <vt:lpstr>Times New Roman</vt:lpstr>
      <vt:lpstr>4300 theme</vt:lpstr>
      <vt:lpstr>Chi-square tests and ANOVA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ANOVA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data</dc:title>
  <dc:creator>Gerald Shannon</dc:creator>
  <cp:lastModifiedBy>Jerry Shannon</cp:lastModifiedBy>
  <cp:revision>82</cp:revision>
  <dcterms:modified xsi:type="dcterms:W3CDTF">2026-10-29T14:50:59Z</dcterms:modified>
</cp:coreProperties>
</file>