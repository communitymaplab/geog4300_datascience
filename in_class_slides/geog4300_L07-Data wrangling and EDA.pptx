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10"/>
  </p:notesMasterIdLst>
  <p:sldIdLst>
    <p:sldId id="263" r:id="rId2"/>
    <p:sldId id="296" r:id="rId3"/>
    <p:sldId id="297" r:id="rId4"/>
    <p:sldId id="298" r:id="rId5"/>
    <p:sldId id="293" r:id="rId6"/>
    <p:sldId id="294" r:id="rId7"/>
    <p:sldId id="295" r:id="rId8"/>
    <p:sldId id="29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19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Depending your approach, classification methods can paint very different pictures of the same data points.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might we interpret the natural breaks map differently from the quantiles map here?</a:t>
            </a:r>
          </a:p>
        </p:txBody>
      </p:sp>
      <p:sp>
        <p:nvSpPr>
          <p:cNvPr id="117" name="Shape 117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6891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4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22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294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84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3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9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8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61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65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41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9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</a:schemeClr>
          </a:solidFill>
          <a:latin typeface="Sitka Display Semibold" pitchFamily="2" charset="0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>
            <a:lumMod val="75000"/>
          </a:schemeClr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B7XoW2qiFUA?si=nCUEGM3MfvDWYk-g&amp;t=27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hyperlink" Target="https://www.youtube.com/watch?v=ZdPNBF6GWBw" TargetMode="Externa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6248" y="2984156"/>
            <a:ext cx="10812163" cy="1099527"/>
          </a:xfrm>
        </p:spPr>
        <p:txBody>
          <a:bodyPr>
            <a:noAutofit/>
          </a:bodyPr>
          <a:lstStyle/>
          <a:p>
            <a:r>
              <a:rPr lang="en-US" sz="4400" dirty="0"/>
              <a:t>Data wrangling &amp; exploratory data analysis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A25A50-E1E4-4126-B9CC-C52512D3D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GEOG4300 /6300: Intro to data science</a:t>
            </a:r>
          </a:p>
          <a:p>
            <a:r>
              <a:rPr lang="en-US" dirty="0"/>
              <a:t>Prof. Jerry Shannon</a:t>
            </a:r>
          </a:p>
        </p:txBody>
      </p:sp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D5AB4A3-3BEB-4367-BCF1-B6171BA5C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wrangling: steps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1DE464-DE41-410B-98C1-4FAEFB1B6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293" y="1910818"/>
            <a:ext cx="3233706" cy="3958276"/>
          </a:xfrm>
        </p:spPr>
        <p:txBody>
          <a:bodyPr/>
          <a:lstStyle/>
          <a:p>
            <a:r>
              <a:rPr lang="en-US" dirty="0"/>
              <a:t>Data discovery</a:t>
            </a:r>
          </a:p>
          <a:p>
            <a:r>
              <a:rPr lang="en-US" dirty="0"/>
              <a:t>Data structuring</a:t>
            </a:r>
          </a:p>
          <a:p>
            <a:r>
              <a:rPr lang="en-US" dirty="0"/>
              <a:t>Data cleaning</a:t>
            </a:r>
          </a:p>
          <a:p>
            <a:r>
              <a:rPr lang="en-US" dirty="0"/>
              <a:t>Data transformation</a:t>
            </a:r>
          </a:p>
          <a:p>
            <a:r>
              <a:rPr lang="en-US" dirty="0"/>
              <a:t>Data enrichment</a:t>
            </a:r>
          </a:p>
          <a:p>
            <a:r>
              <a:rPr lang="en-US" dirty="0"/>
              <a:t>Data validation</a:t>
            </a:r>
          </a:p>
          <a:p>
            <a:r>
              <a:rPr lang="en-US" dirty="0"/>
              <a:t>Data publishing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C9CF7-400E-45D7-A787-8DE0D78F2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2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Step-by-step data wrangling process">
            <a:extLst>
              <a:ext uri="{FF2B5EF4-FFF2-40B4-BE49-F238E27FC236}">
                <a16:creationId xmlns:a16="http://schemas.microsoft.com/office/drawing/2014/main" id="{5CF664BA-025E-4FC4-82AF-A96DAB178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967" y="2002885"/>
            <a:ext cx="5934516" cy="3958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926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D5AB4A3-3BEB-4367-BCF1-B6171BA5C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think about </a:t>
            </a:r>
            <a:r>
              <a:rPr lang="en-US" dirty="0" err="1"/>
              <a:t>Daymet</a:t>
            </a:r>
            <a:r>
              <a:rPr lang="en-US" dirty="0"/>
              <a:t> data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1DE464-DE41-410B-98C1-4FAEFB1B6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9293" y="1910818"/>
            <a:ext cx="3233706" cy="3958276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Data discovery</a:t>
            </a:r>
          </a:p>
          <a:p>
            <a:r>
              <a:rPr lang="en-US" b="1" dirty="0">
                <a:solidFill>
                  <a:schemeClr val="accent2"/>
                </a:solidFill>
              </a:rPr>
              <a:t>Data structuring</a:t>
            </a:r>
          </a:p>
          <a:p>
            <a:r>
              <a:rPr lang="en-US" b="1" dirty="0">
                <a:solidFill>
                  <a:schemeClr val="accent2"/>
                </a:solidFill>
              </a:rPr>
              <a:t>Data cleaning</a:t>
            </a:r>
          </a:p>
          <a:p>
            <a:r>
              <a:rPr lang="en-US" b="1" dirty="0">
                <a:solidFill>
                  <a:schemeClr val="accent2"/>
                </a:solidFill>
              </a:rPr>
              <a:t>Data transformation</a:t>
            </a:r>
          </a:p>
          <a:p>
            <a:r>
              <a:rPr lang="en-US" b="1" dirty="0">
                <a:solidFill>
                  <a:schemeClr val="accent2"/>
                </a:solidFill>
              </a:rPr>
              <a:t>Data enrichment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Data validation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Data publishing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C9CF7-400E-45D7-A787-8DE0D78F2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3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9157C1-3617-4250-B669-2EDC0932CD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859"/>
          <a:stretch/>
        </p:blipFill>
        <p:spPr>
          <a:xfrm>
            <a:off x="4965615" y="1859078"/>
            <a:ext cx="7120351" cy="3658543"/>
          </a:xfrm>
          <a:prstGeom prst="rect">
            <a:avLst/>
          </a:prstGeom>
          <a:ln>
            <a:solidFill>
              <a:schemeClr val="tx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A38A41-256E-4BFE-9D50-9B1D85172D52}"/>
              </a:ext>
            </a:extLst>
          </p:cNvPr>
          <p:cNvSpPr txBox="1"/>
          <p:nvPr/>
        </p:nvSpPr>
        <p:spPr>
          <a:xfrm>
            <a:off x="4258622" y="5757870"/>
            <a:ext cx="68231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What would the highlighted steps look like?</a:t>
            </a:r>
          </a:p>
        </p:txBody>
      </p:sp>
    </p:spTree>
    <p:extLst>
      <p:ext uri="{BB962C8B-B14F-4D97-AF65-F5344CB8AC3E}">
        <p14:creationId xmlns:p14="http://schemas.microsoft.com/office/powerpoint/2010/main" val="2261013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D5AB4A3-3BEB-4367-BCF1-B6171BA5C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the tidyverse: the </a:t>
            </a:r>
            <a:r>
              <a:rPr lang="en-US" i="1" dirty="0" err="1"/>
              <a:t>dplyr</a:t>
            </a:r>
            <a:r>
              <a:rPr lang="en-US" dirty="0"/>
              <a:t> package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DE41C75-1E8A-4FF2-B0F3-DD54C1F87D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5708" y="1660860"/>
            <a:ext cx="7465481" cy="3536280"/>
          </a:xfrm>
          <a:ln>
            <a:solidFill>
              <a:schemeClr val="tx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78E02B-C03C-4A90-9D6F-006B79435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348762"/>
            <a:ext cx="3200400" cy="2956441"/>
          </a:xfrm>
        </p:spPr>
        <p:txBody>
          <a:bodyPr>
            <a:normAutofit/>
          </a:bodyPr>
          <a:lstStyle/>
          <a:p>
            <a:r>
              <a:rPr lang="en-US" sz="1800" dirty="0"/>
              <a:t>The posit </a:t>
            </a:r>
            <a:r>
              <a:rPr lang="en-US" sz="1800" dirty="0" err="1"/>
              <a:t>cheatsheet</a:t>
            </a:r>
            <a:r>
              <a:rPr lang="en-US" sz="1800" dirty="0"/>
              <a:t> is linked on the Module 3 page. </a:t>
            </a:r>
          </a:p>
          <a:p>
            <a:r>
              <a:rPr lang="en-US" sz="1800" dirty="0"/>
              <a:t>Pick two functions: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What do they do?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Why would you use them?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C9CF7-400E-45D7-A787-8DE0D78F2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4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5992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6F97FE-5ADE-4E57-B950-C25938D7A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539" y="329592"/>
            <a:ext cx="7478116" cy="59756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6C0D7D-ED28-4018-A309-524BDA26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ea typeface="Calibri"/>
                <a:cs typeface="Calibri"/>
                <a:sym typeface="Calibri"/>
              </a:rPr>
              <a:t>What is exploratory data analysis?</a:t>
            </a:r>
            <a:br>
              <a:rPr lang="en-US" sz="3600" b="1" dirty="0">
                <a:ea typeface="Calibri"/>
                <a:cs typeface="Calibri"/>
                <a:sym typeface="Calibri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097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06">
            <a:extLst>
              <a:ext uri="{FF2B5EF4-FFF2-40B4-BE49-F238E27FC236}">
                <a16:creationId xmlns:a16="http://schemas.microsoft.com/office/drawing/2014/main" id="{51D852A2-68CA-4C50-B054-D5F3B086FC32}"/>
              </a:ext>
            </a:extLst>
          </p:cNvPr>
          <p:cNvSpPr txBox="1"/>
          <p:nvPr/>
        </p:nvSpPr>
        <p:spPr>
          <a:xfrm>
            <a:off x="1172603" y="914581"/>
            <a:ext cx="10611651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b="1" dirty="0">
                <a:ea typeface="Calibri"/>
                <a:cs typeface="Calibri"/>
                <a:sym typeface="Calibri"/>
              </a:rPr>
              <a:t>What is exploratory data analysis?</a:t>
            </a:r>
          </a:p>
        </p:txBody>
      </p:sp>
      <p:pic>
        <p:nvPicPr>
          <p:cNvPr id="4" name="Shape 271" descr="http://upload.wikimedia.org/wikipedia/en/e/e9/John_Tukey.jpg">
            <a:extLst>
              <a:ext uri="{FF2B5EF4-FFF2-40B4-BE49-F238E27FC236}">
                <a16:creationId xmlns:a16="http://schemas.microsoft.com/office/drawing/2014/main" id="{A1A27A65-B91F-4796-AA04-18C7EDF8B5F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17687" y="1928086"/>
            <a:ext cx="2819400" cy="342956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hape 272">
            <a:extLst>
              <a:ext uri="{FF2B5EF4-FFF2-40B4-BE49-F238E27FC236}">
                <a16:creationId xmlns:a16="http://schemas.microsoft.com/office/drawing/2014/main" id="{8611DA83-3054-4405-9537-E6A316353D8A}"/>
              </a:ext>
            </a:extLst>
          </p:cNvPr>
          <p:cNvSpPr txBox="1"/>
          <p:nvPr/>
        </p:nvSpPr>
        <p:spPr>
          <a:xfrm>
            <a:off x="4355512" y="1985237"/>
            <a:ext cx="4003646" cy="58477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John Tukey</a:t>
            </a:r>
          </a:p>
        </p:txBody>
      </p:sp>
      <p:sp>
        <p:nvSpPr>
          <p:cNvPr id="7" name="Shape 273">
            <a:extLst>
              <a:ext uri="{FF2B5EF4-FFF2-40B4-BE49-F238E27FC236}">
                <a16:creationId xmlns:a16="http://schemas.microsoft.com/office/drawing/2014/main" id="{A6B960B4-9FDA-4AA1-9C0B-07D346C50449}"/>
              </a:ext>
            </a:extLst>
          </p:cNvPr>
          <p:cNvSpPr/>
          <p:nvPr/>
        </p:nvSpPr>
        <p:spPr>
          <a:xfrm>
            <a:off x="4352049" y="3295552"/>
            <a:ext cx="8014217" cy="206210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latin typeface="Calisto MT" panose="02040603050505030304" pitchFamily="18" charset="0"/>
                <a:ea typeface="Calibri"/>
                <a:cs typeface="Calibri"/>
                <a:sym typeface="Calibri"/>
              </a:rPr>
              <a:t>“Numerical quantities focus on expected values, graphical summaries on unexpected values.”</a:t>
            </a:r>
          </a:p>
        </p:txBody>
      </p:sp>
    </p:spTree>
    <p:extLst>
      <p:ext uri="{BB962C8B-B14F-4D97-AF65-F5344CB8AC3E}">
        <p14:creationId xmlns:p14="http://schemas.microsoft.com/office/powerpoint/2010/main" val="818984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B480F9-BFC1-4B4D-A0D9-0DE4E4731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002" y="0"/>
            <a:ext cx="959199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28992C-20FB-47CE-924A-A03E3EAE72B0}"/>
              </a:ext>
            </a:extLst>
          </p:cNvPr>
          <p:cNvSpPr txBox="1"/>
          <p:nvPr/>
        </p:nvSpPr>
        <p:spPr>
          <a:xfrm>
            <a:off x="3548599" y="6391778"/>
            <a:ext cx="7535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https://www.geeksforgeeks.org/what-is-exploratory-data-analysis/</a:t>
            </a:r>
          </a:p>
        </p:txBody>
      </p:sp>
    </p:spTree>
    <p:extLst>
      <p:ext uri="{BB962C8B-B14F-4D97-AF65-F5344CB8AC3E}">
        <p14:creationId xmlns:p14="http://schemas.microsoft.com/office/powerpoint/2010/main" val="4215650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20">
            <a:extLst>
              <a:ext uri="{FF2B5EF4-FFF2-40B4-BE49-F238E27FC236}">
                <a16:creationId xmlns:a16="http://schemas.microsoft.com/office/drawing/2014/main" id="{40EC573B-C7E2-4CA8-8C16-EB7E1E421CDE}"/>
              </a:ext>
            </a:extLst>
          </p:cNvPr>
          <p:cNvSpPr txBox="1"/>
          <p:nvPr/>
        </p:nvSpPr>
        <p:spPr>
          <a:xfrm>
            <a:off x="1137274" y="1006572"/>
            <a:ext cx="11414366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ea typeface="Calibri"/>
                <a:cs typeface="Calibri"/>
                <a:sym typeface="Calibri"/>
              </a:rPr>
              <a:t>Tukey and Wickham on Exploratory Data Analysis</a:t>
            </a:r>
          </a:p>
        </p:txBody>
      </p:sp>
      <p:pic>
        <p:nvPicPr>
          <p:cNvPr id="4" name="Picture 3">
            <a:hlinkClick r:id="rId3"/>
            <a:extLst>
              <a:ext uri="{FF2B5EF4-FFF2-40B4-BE49-F238E27FC236}">
                <a16:creationId xmlns:a16="http://schemas.microsoft.com/office/drawing/2014/main" id="{47274A80-E6F1-4EEC-866D-461B285D87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97" y="1871346"/>
            <a:ext cx="5618385" cy="4235736"/>
          </a:xfrm>
          <a:prstGeom prst="rect">
            <a:avLst/>
          </a:prstGeom>
        </p:spPr>
      </p:pic>
      <p:pic>
        <p:nvPicPr>
          <p:cNvPr id="6" name="Picture 5">
            <a:hlinkClick r:id="rId5"/>
            <a:extLst>
              <a:ext uri="{FF2B5EF4-FFF2-40B4-BE49-F238E27FC236}">
                <a16:creationId xmlns:a16="http://schemas.microsoft.com/office/drawing/2014/main" id="{1822356D-1B40-4158-84E5-5214A2C895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50405"/>
            <a:ext cx="5962281" cy="36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475185"/>
      </p:ext>
    </p:extLst>
  </p:cSld>
  <p:clrMapOvr>
    <a:masterClrMapping/>
  </p:clrMapOvr>
</p:sld>
</file>

<file path=ppt/theme/theme1.xml><?xml version="1.0" encoding="utf-8"?>
<a:theme xmlns:a="http://schemas.openxmlformats.org/drawingml/2006/main" name="4300 theme">
  <a:themeElements>
    <a:clrScheme name="Custom 5">
      <a:dk1>
        <a:srgbClr val="3F3F3F"/>
      </a:dk1>
      <a:lt1>
        <a:sysClr val="window" lastClr="FFFFFF"/>
      </a:lt1>
      <a:dk2>
        <a:srgbClr val="637052"/>
      </a:dk2>
      <a:lt2>
        <a:srgbClr val="CCDDEA"/>
      </a:lt2>
      <a:accent1>
        <a:srgbClr val="E5A99F"/>
      </a:accent1>
      <a:accent2>
        <a:srgbClr val="B2383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itka Display Semibold"/>
        <a:ea typeface=""/>
        <a:cs typeface=""/>
      </a:majorFont>
      <a:minorFont>
        <a:latin typeface="Segoe U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g4300_L01-Introductions" id="{FA51A00F-822B-41B5-AA4A-2C123A5E9355}" vid="{2F9C99DD-B25B-4D9F-92B4-7DCE57BD0F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178</Words>
  <Application>Microsoft Office PowerPoint</Application>
  <PresentationFormat>Widescreen</PresentationFormat>
  <Paragraphs>38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Calisto MT</vt:lpstr>
      <vt:lpstr>Segoe UI</vt:lpstr>
      <vt:lpstr>Sitka Display Semibold</vt:lpstr>
      <vt:lpstr>4300 theme</vt:lpstr>
      <vt:lpstr>Data wrangling &amp; exploratory data analysis</vt:lpstr>
      <vt:lpstr>Data wrangling: steps</vt:lpstr>
      <vt:lpstr>Let’s think about Daymet data</vt:lpstr>
      <vt:lpstr>In the tidyverse: the dplyr package</vt:lpstr>
      <vt:lpstr>What is exploratory data analysis?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data</dc:title>
  <dc:creator>Gerald Shannon</dc:creator>
  <cp:lastModifiedBy>Jerry Shannon</cp:lastModifiedBy>
  <cp:revision>23</cp:revision>
  <dcterms:modified xsi:type="dcterms:W3CDTF">2026-08-27T21:03:54Z</dcterms:modified>
</cp:coreProperties>
</file>