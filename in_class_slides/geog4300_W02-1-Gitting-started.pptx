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sldIdLst>
    <p:sldId id="256" r:id="rId2"/>
    <p:sldId id="262" r:id="rId3"/>
    <p:sldId id="257" r:id="rId4"/>
    <p:sldId id="258" r:id="rId5"/>
    <p:sldId id="259" r:id="rId6"/>
    <p:sldId id="260" r:id="rId7"/>
    <p:sldId id="261"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58"/>
  </p:normalViewPr>
  <p:slideViewPr>
    <p:cSldViewPr snapToGrid="0">
      <p:cViewPr varScale="1">
        <p:scale>
          <a:sx n="83" d="100"/>
          <a:sy n="83" d="100"/>
        </p:scale>
        <p:origin x="224" y="8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135C24-EB33-6645-B51A-6348BD58F2AA}"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963749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0135C24-EB33-6645-B51A-6348BD58F2AA}"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281689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4000939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135C24-EB33-6645-B51A-6348BD58F2AA}" type="datetimeFigureOut">
              <a:rPr lang="en-US" smtClean="0"/>
              <a:t>8/19/25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843529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135C24-EB33-6645-B51A-6348BD58F2AA}" type="datetimeFigureOut">
              <a:rPr lang="en-US" smtClean="0"/>
              <a:t>8/19/25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983036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0135C24-EB33-6645-B51A-6348BD58F2AA}" type="datetimeFigureOut">
              <a:rPr lang="en-US" smtClean="0"/>
              <a:t>8/19/25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399908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0135C24-EB33-6645-B51A-6348BD58F2AA}" type="datetimeFigureOut">
              <a:rPr lang="en-US" smtClean="0"/>
              <a:t>8/19/25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218330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0135C24-EB33-6645-B51A-6348BD58F2AA}" type="datetimeFigureOut">
              <a:rPr lang="en-US" smtClean="0"/>
              <a:t>8/19/25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71445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135C24-EB33-6645-B51A-6348BD58F2AA}" type="datetimeFigureOut">
              <a:rPr lang="en-US" smtClean="0"/>
              <a:t>8/19/25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745621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135C24-EB33-6645-B51A-6348BD58F2AA}" type="datetimeFigureOut">
              <a:rPr lang="en-US" smtClean="0"/>
              <a:t>8/19/25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944156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513506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1244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135C24-EB33-6645-B51A-6348BD58F2AA}"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248200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135C24-EB33-6645-B51A-6348BD58F2AA}" type="datetimeFigureOut">
              <a:rPr lang="en-US" smtClean="0"/>
              <a:t>8/19/25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2070553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0135C24-EB33-6645-B51A-6348BD58F2AA}" type="datetimeFigureOut">
              <a:rPr lang="en-US" smtClean="0"/>
              <a:t>8/19/25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0501862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5C24-EB33-6645-B51A-6348BD58F2AA}"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39944404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5C24-EB33-6645-B51A-6348BD58F2AA}" type="datetimeFigureOut">
              <a:rPr lang="en-US" smtClean="0"/>
              <a:t>8/19/25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2730AB-017E-7B48-BDF2-98302496DA1B}" type="slidenum">
              <a:rPr lang="en-US" smtClean="0"/>
              <a:t>‹#›</a:t>
            </a:fld>
            <a:endParaRPr lang="en-US"/>
          </a:p>
        </p:txBody>
      </p:sp>
    </p:spTree>
    <p:extLst>
      <p:ext uri="{BB962C8B-B14F-4D97-AF65-F5344CB8AC3E}">
        <p14:creationId xmlns:p14="http://schemas.microsoft.com/office/powerpoint/2010/main" val="1172433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0135C24-EB33-6645-B51A-6348BD58F2AA}" type="datetimeFigureOut">
              <a:rPr lang="en-US" smtClean="0"/>
              <a:t>8/19/25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92730AB-017E-7B48-BDF2-98302496DA1B}" type="slidenum">
              <a:rPr lang="en-US" smtClean="0"/>
              <a:t>‹#›</a:t>
            </a:fld>
            <a:endParaRPr lang="en-US"/>
          </a:p>
        </p:txBody>
      </p:sp>
    </p:spTree>
    <p:extLst>
      <p:ext uri="{BB962C8B-B14F-4D97-AF65-F5344CB8AC3E}">
        <p14:creationId xmlns:p14="http://schemas.microsoft.com/office/powerpoint/2010/main" val="2982794753"/>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beingtechnicalwriter.com/sacred-timeline-git/"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beingtechnicalwriter.com/sacred-timeline-git/"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beingtechnicalwriter.com/sacred-timeline-git/"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63C4-13EF-D49B-BFA7-7F975EFBC10B}"/>
              </a:ext>
            </a:extLst>
          </p:cNvPr>
          <p:cNvSpPr>
            <a:spLocks noGrp="1"/>
          </p:cNvSpPr>
          <p:nvPr>
            <p:ph type="ctrTitle"/>
          </p:nvPr>
        </p:nvSpPr>
        <p:spPr/>
        <p:txBody>
          <a:bodyPr/>
          <a:lstStyle/>
          <a:p>
            <a:r>
              <a:rPr lang="en-US" dirty="0"/>
              <a:t>Getting started with Git and R</a:t>
            </a:r>
          </a:p>
        </p:txBody>
      </p:sp>
      <p:sp>
        <p:nvSpPr>
          <p:cNvPr id="3" name="Subtitle 2">
            <a:extLst>
              <a:ext uri="{FF2B5EF4-FFF2-40B4-BE49-F238E27FC236}">
                <a16:creationId xmlns:a16="http://schemas.microsoft.com/office/drawing/2014/main" id="{F7D0352E-39EB-2697-F62C-A8F0E3F55A9A}"/>
              </a:ext>
            </a:extLst>
          </p:cNvPr>
          <p:cNvSpPr>
            <a:spLocks noGrp="1"/>
          </p:cNvSpPr>
          <p:nvPr>
            <p:ph type="subTitle" idx="1"/>
          </p:nvPr>
        </p:nvSpPr>
        <p:spPr>
          <a:xfrm>
            <a:off x="1154955" y="4777379"/>
            <a:ext cx="8825658" cy="1475139"/>
          </a:xfrm>
        </p:spPr>
        <p:txBody>
          <a:bodyPr>
            <a:normAutofit/>
          </a:bodyPr>
          <a:lstStyle/>
          <a:p>
            <a:r>
              <a:rPr lang="en-US" dirty="0"/>
              <a:t>GEOG4300 /6300: Intro to data science</a:t>
            </a:r>
          </a:p>
          <a:p>
            <a:r>
              <a:rPr lang="en-US" dirty="0"/>
              <a:t>Tuesday August 19, 2025</a:t>
            </a:r>
          </a:p>
          <a:p>
            <a:r>
              <a:rPr lang="en-US" dirty="0"/>
              <a:t>Prof. Anna Harper</a:t>
            </a:r>
          </a:p>
        </p:txBody>
      </p:sp>
    </p:spTree>
    <p:extLst>
      <p:ext uri="{BB962C8B-B14F-4D97-AF65-F5344CB8AC3E}">
        <p14:creationId xmlns:p14="http://schemas.microsoft.com/office/powerpoint/2010/main" val="4157565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32254-4A0C-5998-C72F-381AF98A531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0120EED-E368-D3A5-6DC2-EECF90CC1E9A}"/>
              </a:ext>
            </a:extLst>
          </p:cNvPr>
          <p:cNvSpPr>
            <a:spLocks noGrp="1"/>
          </p:cNvSpPr>
          <p:nvPr>
            <p:ph idx="1"/>
          </p:nvPr>
        </p:nvSpPr>
        <p:spPr/>
        <p:txBody>
          <a:bodyPr/>
          <a:lstStyle/>
          <a:p>
            <a:r>
              <a:rPr lang="en-US" dirty="0"/>
              <a:t>This week: Read </a:t>
            </a:r>
            <a:r>
              <a:rPr lang="en-US" b="1" dirty="0"/>
              <a:t>R for Data Science</a:t>
            </a:r>
            <a:r>
              <a:rPr lang="en-US" dirty="0"/>
              <a:t>, Chapter 21 (Datasets) and Chapter 2 (Workflow Basics).</a:t>
            </a:r>
          </a:p>
          <a:p>
            <a:r>
              <a:rPr lang="en-US" dirty="0"/>
              <a:t>Concepts: Methods of importing data.</a:t>
            </a:r>
          </a:p>
          <a:p>
            <a:r>
              <a:rPr lang="en-US" dirty="0"/>
              <a:t>Hands-on: importing and manipulating data in R, web repositories, APIs, using GitHub.</a:t>
            </a:r>
          </a:p>
          <a:p>
            <a:r>
              <a:rPr lang="en-US" dirty="0"/>
              <a:t>Intro Survey and ‘What does an A look like to you’ are due on Thursday.</a:t>
            </a:r>
          </a:p>
          <a:p>
            <a:endParaRPr lang="en-US" dirty="0"/>
          </a:p>
        </p:txBody>
      </p:sp>
    </p:spTree>
    <p:extLst>
      <p:ext uri="{BB962C8B-B14F-4D97-AF65-F5344CB8AC3E}">
        <p14:creationId xmlns:p14="http://schemas.microsoft.com/office/powerpoint/2010/main" val="3562903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0B3D7-7B75-EB6E-DBCA-059EE9893D25}"/>
              </a:ext>
            </a:extLst>
          </p:cNvPr>
          <p:cNvSpPr>
            <a:spLocks noGrp="1"/>
          </p:cNvSpPr>
          <p:nvPr>
            <p:ph type="title"/>
          </p:nvPr>
        </p:nvSpPr>
        <p:spPr/>
        <p:txBody>
          <a:bodyPr/>
          <a:lstStyle/>
          <a:p>
            <a:r>
              <a:rPr lang="en-US" dirty="0"/>
              <a:t>Git language</a:t>
            </a:r>
          </a:p>
        </p:txBody>
      </p:sp>
      <p:sp>
        <p:nvSpPr>
          <p:cNvPr id="3" name="Content Placeholder 2">
            <a:extLst>
              <a:ext uri="{FF2B5EF4-FFF2-40B4-BE49-F238E27FC236}">
                <a16:creationId xmlns:a16="http://schemas.microsoft.com/office/drawing/2014/main" id="{C305DC70-C48B-C51E-846C-5AF00C7AE6BF}"/>
              </a:ext>
            </a:extLst>
          </p:cNvPr>
          <p:cNvSpPr>
            <a:spLocks noGrp="1"/>
          </p:cNvSpPr>
          <p:nvPr>
            <p:ph idx="1"/>
          </p:nvPr>
        </p:nvSpPr>
        <p:spPr>
          <a:xfrm>
            <a:off x="1104293" y="1463982"/>
            <a:ext cx="8946541" cy="4195481"/>
          </a:xfrm>
        </p:spPr>
        <p:txBody>
          <a:bodyPr/>
          <a:lstStyle/>
          <a:p>
            <a:r>
              <a:rPr lang="en-US" b="1" dirty="0"/>
              <a:t>Repository: </a:t>
            </a:r>
            <a:r>
              <a:rPr lang="en-US" dirty="0"/>
              <a:t>Central location for storing code and/or data. For us, it’s in </a:t>
            </a:r>
            <a:r>
              <a:rPr lang="en-US" dirty="0" err="1"/>
              <a:t>jshannon</a:t>
            </a:r>
            <a:r>
              <a:rPr lang="en-US" dirty="0"/>
              <a:t>/geog4300 and the Google classroom.</a:t>
            </a:r>
            <a:endParaRPr lang="en-US" b="1" dirty="0"/>
          </a:p>
          <a:p>
            <a:r>
              <a:rPr lang="en-US" b="1" dirty="0"/>
              <a:t>Branch: </a:t>
            </a:r>
            <a:r>
              <a:rPr lang="en-US" dirty="0"/>
              <a:t>think of the main code as the trunk. Branches are derived from the trunk, but can be changed over time.</a:t>
            </a:r>
            <a:endParaRPr lang="en-US" b="1" dirty="0"/>
          </a:p>
        </p:txBody>
      </p:sp>
      <p:sp>
        <p:nvSpPr>
          <p:cNvPr id="5" name="TextBox 4">
            <a:extLst>
              <a:ext uri="{FF2B5EF4-FFF2-40B4-BE49-F238E27FC236}">
                <a16:creationId xmlns:a16="http://schemas.microsoft.com/office/drawing/2014/main" id="{FCF2A8E3-6D5B-0EAB-73B7-90994C3815BB}"/>
              </a:ext>
            </a:extLst>
          </p:cNvPr>
          <p:cNvSpPr txBox="1"/>
          <p:nvPr/>
        </p:nvSpPr>
        <p:spPr>
          <a:xfrm>
            <a:off x="357808" y="6220616"/>
            <a:ext cx="10906539" cy="369332"/>
          </a:xfrm>
          <a:prstGeom prst="rect">
            <a:avLst/>
          </a:prstGeom>
          <a:noFill/>
        </p:spPr>
        <p:txBody>
          <a:bodyPr wrap="square">
            <a:spAutoFit/>
          </a:bodyPr>
          <a:lstStyle/>
          <a:p>
            <a:r>
              <a:rPr lang="en-US" dirty="0"/>
              <a:t>https://</a:t>
            </a:r>
            <a:r>
              <a:rPr lang="en-US" dirty="0" err="1"/>
              <a:t>docs.github.com</a:t>
            </a:r>
            <a:r>
              <a:rPr lang="en-US" dirty="0"/>
              <a:t>/</a:t>
            </a:r>
            <a:r>
              <a:rPr lang="en-US" dirty="0" err="1"/>
              <a:t>en</a:t>
            </a:r>
            <a:r>
              <a:rPr lang="en-US" dirty="0"/>
              <a:t>/get-started/start-your-journey/about-</a:t>
            </a:r>
            <a:r>
              <a:rPr lang="en-US" dirty="0" err="1"/>
              <a:t>github</a:t>
            </a:r>
            <a:r>
              <a:rPr lang="en-US" dirty="0"/>
              <a:t>-and-git</a:t>
            </a:r>
          </a:p>
        </p:txBody>
      </p:sp>
    </p:spTree>
    <p:extLst>
      <p:ext uri="{BB962C8B-B14F-4D97-AF65-F5344CB8AC3E}">
        <p14:creationId xmlns:p14="http://schemas.microsoft.com/office/powerpoint/2010/main" val="422740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E82E5-D81D-2801-813A-84974F11C82E}"/>
              </a:ext>
            </a:extLst>
          </p:cNvPr>
          <p:cNvSpPr>
            <a:spLocks noGrp="1"/>
          </p:cNvSpPr>
          <p:nvPr>
            <p:ph type="title"/>
          </p:nvPr>
        </p:nvSpPr>
        <p:spPr/>
        <p:txBody>
          <a:bodyPr/>
          <a:lstStyle/>
          <a:p>
            <a:r>
              <a:rPr lang="en-US" dirty="0"/>
              <a:t>Introducing … The Sacred Timeline</a:t>
            </a:r>
          </a:p>
        </p:txBody>
      </p:sp>
      <p:pic>
        <p:nvPicPr>
          <p:cNvPr id="5" name="Picture 4" descr="A close-up of lightning&#10;&#10;AI-generated content may be incorrect.">
            <a:extLst>
              <a:ext uri="{FF2B5EF4-FFF2-40B4-BE49-F238E27FC236}">
                <a16:creationId xmlns:a16="http://schemas.microsoft.com/office/drawing/2014/main" id="{FDD728D6-C9DE-BD85-252E-C0D30E1801C7}"/>
              </a:ext>
            </a:extLst>
          </p:cNvPr>
          <p:cNvPicPr>
            <a:picLocks noChangeAspect="1"/>
          </p:cNvPicPr>
          <p:nvPr/>
        </p:nvPicPr>
        <p:blipFill>
          <a:blip r:embed="rId2"/>
          <a:stretch>
            <a:fillRect/>
          </a:stretch>
        </p:blipFill>
        <p:spPr>
          <a:xfrm>
            <a:off x="2141166" y="1404731"/>
            <a:ext cx="7772400" cy="4371975"/>
          </a:xfrm>
          <a:prstGeom prst="rect">
            <a:avLst/>
          </a:prstGeom>
        </p:spPr>
      </p:pic>
      <p:grpSp>
        <p:nvGrpSpPr>
          <p:cNvPr id="17" name="Group 16">
            <a:extLst>
              <a:ext uri="{FF2B5EF4-FFF2-40B4-BE49-F238E27FC236}">
                <a16:creationId xmlns:a16="http://schemas.microsoft.com/office/drawing/2014/main" id="{622F06BA-2DC4-A648-7A88-CC7A88DA2AC9}"/>
              </a:ext>
            </a:extLst>
          </p:cNvPr>
          <p:cNvGrpSpPr/>
          <p:nvPr/>
        </p:nvGrpSpPr>
        <p:grpSpPr>
          <a:xfrm>
            <a:off x="1139687" y="1001803"/>
            <a:ext cx="10983679" cy="5643189"/>
            <a:chOff x="1139687" y="1001803"/>
            <a:chExt cx="10983679" cy="5643189"/>
          </a:xfrm>
        </p:grpSpPr>
        <p:sp>
          <p:nvSpPr>
            <p:cNvPr id="6" name="TextBox 5">
              <a:extLst>
                <a:ext uri="{FF2B5EF4-FFF2-40B4-BE49-F238E27FC236}">
                  <a16:creationId xmlns:a16="http://schemas.microsoft.com/office/drawing/2014/main" id="{3762B394-AAFB-C923-50F1-227C1AE360F6}"/>
                </a:ext>
              </a:extLst>
            </p:cNvPr>
            <p:cNvSpPr txBox="1"/>
            <p:nvPr/>
          </p:nvSpPr>
          <p:spPr>
            <a:xfrm>
              <a:off x="1139687" y="4081670"/>
              <a:ext cx="768626" cy="369332"/>
            </a:xfrm>
            <a:prstGeom prst="rect">
              <a:avLst/>
            </a:prstGeom>
            <a:noFill/>
          </p:spPr>
          <p:txBody>
            <a:bodyPr wrap="square" rtlCol="0">
              <a:spAutoFit/>
            </a:bodyPr>
            <a:lstStyle/>
            <a:p>
              <a:r>
                <a:rPr lang="en-US" b="1" dirty="0">
                  <a:solidFill>
                    <a:schemeClr val="accent3">
                      <a:lumMod val="60000"/>
                      <a:lumOff val="40000"/>
                    </a:schemeClr>
                  </a:solidFill>
                </a:rPr>
                <a:t>Trunk</a:t>
              </a:r>
            </a:p>
          </p:txBody>
        </p:sp>
        <p:sp>
          <p:nvSpPr>
            <p:cNvPr id="7" name="TextBox 6">
              <a:extLst>
                <a:ext uri="{FF2B5EF4-FFF2-40B4-BE49-F238E27FC236}">
                  <a16:creationId xmlns:a16="http://schemas.microsoft.com/office/drawing/2014/main" id="{A80E72B9-6DAB-252E-C9B9-E751C6CF8316}"/>
                </a:ext>
              </a:extLst>
            </p:cNvPr>
            <p:cNvSpPr txBox="1"/>
            <p:nvPr/>
          </p:nvSpPr>
          <p:spPr>
            <a:xfrm>
              <a:off x="3253408" y="2805261"/>
              <a:ext cx="1265583" cy="369332"/>
            </a:xfrm>
            <a:prstGeom prst="rect">
              <a:avLst/>
            </a:prstGeom>
            <a:noFill/>
          </p:spPr>
          <p:txBody>
            <a:bodyPr wrap="square" rtlCol="0">
              <a:spAutoFit/>
            </a:bodyPr>
            <a:lstStyle/>
            <a:p>
              <a:r>
                <a:rPr lang="en-US" b="1" dirty="0">
                  <a:solidFill>
                    <a:schemeClr val="accent3">
                      <a:lumMod val="60000"/>
                      <a:lumOff val="40000"/>
                    </a:schemeClr>
                  </a:solidFill>
                </a:rPr>
                <a:t>Branches</a:t>
              </a:r>
            </a:p>
          </p:txBody>
        </p:sp>
        <p:sp>
          <p:nvSpPr>
            <p:cNvPr id="8" name="TextBox 7">
              <a:extLst>
                <a:ext uri="{FF2B5EF4-FFF2-40B4-BE49-F238E27FC236}">
                  <a16:creationId xmlns:a16="http://schemas.microsoft.com/office/drawing/2014/main" id="{DCE799B1-7873-0D3A-7CD2-168EE27FD7A2}"/>
                </a:ext>
              </a:extLst>
            </p:cNvPr>
            <p:cNvSpPr txBox="1"/>
            <p:nvPr/>
          </p:nvSpPr>
          <p:spPr>
            <a:xfrm>
              <a:off x="2192519" y="1405754"/>
              <a:ext cx="5883965" cy="369332"/>
            </a:xfrm>
            <a:prstGeom prst="rect">
              <a:avLst/>
            </a:prstGeom>
            <a:noFill/>
          </p:spPr>
          <p:txBody>
            <a:bodyPr wrap="square" rtlCol="0">
              <a:spAutoFit/>
            </a:bodyPr>
            <a:lstStyle/>
            <a:p>
              <a:r>
                <a:rPr lang="en-US" b="1" dirty="0"/>
                <a:t>Branches are the result of a “pull” request</a:t>
              </a:r>
            </a:p>
          </p:txBody>
        </p:sp>
        <p:sp>
          <p:nvSpPr>
            <p:cNvPr id="10" name="TextBox 9">
              <a:extLst>
                <a:ext uri="{FF2B5EF4-FFF2-40B4-BE49-F238E27FC236}">
                  <a16:creationId xmlns:a16="http://schemas.microsoft.com/office/drawing/2014/main" id="{FE9A0696-2F21-EA20-B8D6-D180E182DFA7}"/>
                </a:ext>
              </a:extLst>
            </p:cNvPr>
            <p:cNvSpPr txBox="1"/>
            <p:nvPr/>
          </p:nvSpPr>
          <p:spPr>
            <a:xfrm>
              <a:off x="6027366" y="5167664"/>
              <a:ext cx="6096000" cy="1477328"/>
            </a:xfrm>
            <a:prstGeom prst="rect">
              <a:avLst/>
            </a:prstGeom>
            <a:solidFill>
              <a:schemeClr val="accent3"/>
            </a:solidFill>
          </p:spPr>
          <p:txBody>
            <a:bodyPr wrap="square">
              <a:spAutoFit/>
            </a:bodyPr>
            <a:lstStyle/>
            <a:p>
              <a:r>
                <a:rPr lang="en-US" b="0" i="0" dirty="0">
                  <a:solidFill>
                    <a:srgbClr val="555555"/>
                  </a:solidFill>
                  <a:effectLst/>
                  <a:latin typeface="Open Sans" panose="020F0502020204030204" pitchFamily="34" charset="0"/>
                </a:rPr>
                <a:t>Git branches … intentionally diverge from the main timeline, allowing developers to experiment without disrupting the stability of the main codebase. Once changes are deemed stable, they can be seamlessly merged back into the master branch.</a:t>
              </a:r>
              <a:endParaRPr lang="en-US" dirty="0"/>
            </a:p>
          </p:txBody>
        </p:sp>
        <p:sp>
          <p:nvSpPr>
            <p:cNvPr id="11" name="TextBox 10">
              <a:extLst>
                <a:ext uri="{FF2B5EF4-FFF2-40B4-BE49-F238E27FC236}">
                  <a16:creationId xmlns:a16="http://schemas.microsoft.com/office/drawing/2014/main" id="{E3AA9769-896A-5CEA-A519-C0491E68AB4E}"/>
                </a:ext>
              </a:extLst>
            </p:cNvPr>
            <p:cNvSpPr txBox="1"/>
            <p:nvPr/>
          </p:nvSpPr>
          <p:spPr>
            <a:xfrm>
              <a:off x="10360603" y="1404731"/>
              <a:ext cx="1590261" cy="646331"/>
            </a:xfrm>
            <a:prstGeom prst="rect">
              <a:avLst/>
            </a:prstGeom>
            <a:noFill/>
          </p:spPr>
          <p:txBody>
            <a:bodyPr wrap="square" rtlCol="0">
              <a:spAutoFit/>
            </a:bodyPr>
            <a:lstStyle/>
            <a:p>
              <a:r>
                <a:rPr lang="en-US" dirty="0">
                  <a:solidFill>
                    <a:schemeClr val="accent3">
                      <a:lumMod val="60000"/>
                      <a:lumOff val="40000"/>
                    </a:schemeClr>
                  </a:solidFill>
                </a:rPr>
                <a:t>A Git repository</a:t>
              </a:r>
            </a:p>
          </p:txBody>
        </p:sp>
        <p:cxnSp>
          <p:nvCxnSpPr>
            <p:cNvPr id="13" name="Straight Arrow Connector 12">
              <a:extLst>
                <a:ext uri="{FF2B5EF4-FFF2-40B4-BE49-F238E27FC236}">
                  <a16:creationId xmlns:a16="http://schemas.microsoft.com/office/drawing/2014/main" id="{8ADF3D22-3C87-516C-A85D-B13EED19B886}"/>
                </a:ext>
              </a:extLst>
            </p:cNvPr>
            <p:cNvCxnSpPr>
              <a:cxnSpLocks/>
            </p:cNvCxnSpPr>
            <p:nvPr/>
          </p:nvCxnSpPr>
          <p:spPr>
            <a:xfrm flipH="1" flipV="1">
              <a:off x="9694905" y="1001803"/>
              <a:ext cx="665698" cy="508945"/>
            </a:xfrm>
            <a:prstGeom prst="straightConnector1">
              <a:avLst/>
            </a:prstGeom>
            <a:ln w="38100">
              <a:solidFill>
                <a:schemeClr val="accent3"/>
              </a:solidFill>
              <a:tailEnd type="triangle"/>
            </a:ln>
          </p:spPr>
          <p:style>
            <a:lnRef idx="1">
              <a:schemeClr val="accent2"/>
            </a:lnRef>
            <a:fillRef idx="0">
              <a:schemeClr val="accent2"/>
            </a:fillRef>
            <a:effectRef idx="0">
              <a:schemeClr val="accent2"/>
            </a:effectRef>
            <a:fontRef idx="minor">
              <a:schemeClr val="tx1"/>
            </a:fontRef>
          </p:style>
        </p:cxnSp>
      </p:grpSp>
      <p:sp>
        <p:nvSpPr>
          <p:cNvPr id="16" name="TextBox 15">
            <a:extLst>
              <a:ext uri="{FF2B5EF4-FFF2-40B4-BE49-F238E27FC236}">
                <a16:creationId xmlns:a16="http://schemas.microsoft.com/office/drawing/2014/main" id="{86BA9E3A-1598-66A2-BEF7-7FB5ED769385}"/>
              </a:ext>
            </a:extLst>
          </p:cNvPr>
          <p:cNvSpPr txBox="1"/>
          <p:nvPr/>
        </p:nvSpPr>
        <p:spPr>
          <a:xfrm>
            <a:off x="68634" y="5829530"/>
            <a:ext cx="6096000" cy="923330"/>
          </a:xfrm>
          <a:prstGeom prst="rect">
            <a:avLst/>
          </a:prstGeom>
          <a:noFill/>
        </p:spPr>
        <p:txBody>
          <a:bodyPr wrap="square">
            <a:spAutoFit/>
          </a:bodyPr>
          <a:lstStyle/>
          <a:p>
            <a:r>
              <a:rPr lang="en-US" dirty="0"/>
              <a:t>Thanks Gaurav Trivedi </a:t>
            </a:r>
            <a:r>
              <a:rPr lang="en-US" dirty="0">
                <a:hlinkClick r:id="rId3"/>
              </a:rPr>
              <a:t>https://beingtechnicalwriter.com/sacred-timeline-git/</a:t>
            </a:r>
            <a:r>
              <a:rPr lang="en-US" dirty="0"/>
              <a:t> for this nerdy interpretation of Git repos</a:t>
            </a:r>
          </a:p>
        </p:txBody>
      </p:sp>
    </p:spTree>
    <p:extLst>
      <p:ext uri="{BB962C8B-B14F-4D97-AF65-F5344CB8AC3E}">
        <p14:creationId xmlns:p14="http://schemas.microsoft.com/office/powerpoint/2010/main" val="1815656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106A5-3846-C92E-8351-3B6C9D7AE8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10E3ED-91BE-2163-EFA7-A51F6C7D62BC}"/>
              </a:ext>
            </a:extLst>
          </p:cNvPr>
          <p:cNvSpPr>
            <a:spLocks noGrp="1"/>
          </p:cNvSpPr>
          <p:nvPr>
            <p:ph type="title"/>
          </p:nvPr>
        </p:nvSpPr>
        <p:spPr/>
        <p:txBody>
          <a:bodyPr/>
          <a:lstStyle/>
          <a:p>
            <a:r>
              <a:rPr lang="en-US" dirty="0"/>
              <a:t>Introducing … The Sacred Timeline</a:t>
            </a:r>
          </a:p>
        </p:txBody>
      </p:sp>
      <p:pic>
        <p:nvPicPr>
          <p:cNvPr id="5" name="Picture 4" descr="A close-up of lightning&#10;&#10;AI-generated content may be incorrect.">
            <a:extLst>
              <a:ext uri="{FF2B5EF4-FFF2-40B4-BE49-F238E27FC236}">
                <a16:creationId xmlns:a16="http://schemas.microsoft.com/office/drawing/2014/main" id="{22AF7ED3-0CDD-3FF2-0270-C3D5407C83C4}"/>
              </a:ext>
            </a:extLst>
          </p:cNvPr>
          <p:cNvPicPr>
            <a:picLocks noChangeAspect="1"/>
          </p:cNvPicPr>
          <p:nvPr/>
        </p:nvPicPr>
        <p:blipFill>
          <a:blip r:embed="rId2"/>
          <a:stretch>
            <a:fillRect/>
          </a:stretch>
        </p:blipFill>
        <p:spPr>
          <a:xfrm>
            <a:off x="2141166" y="1404731"/>
            <a:ext cx="7772400" cy="4371975"/>
          </a:xfrm>
          <a:prstGeom prst="rect">
            <a:avLst/>
          </a:prstGeom>
        </p:spPr>
      </p:pic>
      <p:sp>
        <p:nvSpPr>
          <p:cNvPr id="6" name="TextBox 5">
            <a:extLst>
              <a:ext uri="{FF2B5EF4-FFF2-40B4-BE49-F238E27FC236}">
                <a16:creationId xmlns:a16="http://schemas.microsoft.com/office/drawing/2014/main" id="{7714B686-E7A3-1938-5DC8-8D6338C263B7}"/>
              </a:ext>
            </a:extLst>
          </p:cNvPr>
          <p:cNvSpPr txBox="1"/>
          <p:nvPr/>
        </p:nvSpPr>
        <p:spPr>
          <a:xfrm>
            <a:off x="1139687" y="4081670"/>
            <a:ext cx="768626" cy="369332"/>
          </a:xfrm>
          <a:prstGeom prst="rect">
            <a:avLst/>
          </a:prstGeom>
          <a:noFill/>
        </p:spPr>
        <p:txBody>
          <a:bodyPr wrap="square" rtlCol="0">
            <a:spAutoFit/>
          </a:bodyPr>
          <a:lstStyle/>
          <a:p>
            <a:r>
              <a:rPr lang="en-US" b="1" dirty="0">
                <a:solidFill>
                  <a:schemeClr val="accent3">
                    <a:lumMod val="60000"/>
                    <a:lumOff val="40000"/>
                  </a:schemeClr>
                </a:solidFill>
              </a:rPr>
              <a:t>Trunk</a:t>
            </a:r>
          </a:p>
        </p:txBody>
      </p:sp>
      <p:sp>
        <p:nvSpPr>
          <p:cNvPr id="7" name="TextBox 6">
            <a:extLst>
              <a:ext uri="{FF2B5EF4-FFF2-40B4-BE49-F238E27FC236}">
                <a16:creationId xmlns:a16="http://schemas.microsoft.com/office/drawing/2014/main" id="{7FFCD76D-3AF9-6511-E790-686F585C6173}"/>
              </a:ext>
            </a:extLst>
          </p:cNvPr>
          <p:cNvSpPr txBox="1"/>
          <p:nvPr/>
        </p:nvSpPr>
        <p:spPr>
          <a:xfrm>
            <a:off x="3253408" y="2805261"/>
            <a:ext cx="1265583" cy="369332"/>
          </a:xfrm>
          <a:prstGeom prst="rect">
            <a:avLst/>
          </a:prstGeom>
          <a:noFill/>
        </p:spPr>
        <p:txBody>
          <a:bodyPr wrap="square" rtlCol="0">
            <a:spAutoFit/>
          </a:bodyPr>
          <a:lstStyle/>
          <a:p>
            <a:r>
              <a:rPr lang="en-US" b="1" dirty="0">
                <a:solidFill>
                  <a:schemeClr val="accent3">
                    <a:lumMod val="60000"/>
                    <a:lumOff val="40000"/>
                  </a:schemeClr>
                </a:solidFill>
              </a:rPr>
              <a:t>Branches</a:t>
            </a:r>
          </a:p>
        </p:txBody>
      </p:sp>
      <p:sp>
        <p:nvSpPr>
          <p:cNvPr id="8" name="TextBox 7">
            <a:extLst>
              <a:ext uri="{FF2B5EF4-FFF2-40B4-BE49-F238E27FC236}">
                <a16:creationId xmlns:a16="http://schemas.microsoft.com/office/drawing/2014/main" id="{6F202759-C5A8-F3A6-34C1-A2CEACE74D57}"/>
              </a:ext>
            </a:extLst>
          </p:cNvPr>
          <p:cNvSpPr txBox="1"/>
          <p:nvPr/>
        </p:nvSpPr>
        <p:spPr>
          <a:xfrm>
            <a:off x="2192519" y="1405754"/>
            <a:ext cx="5883965" cy="369332"/>
          </a:xfrm>
          <a:prstGeom prst="rect">
            <a:avLst/>
          </a:prstGeom>
          <a:noFill/>
        </p:spPr>
        <p:txBody>
          <a:bodyPr wrap="square" rtlCol="0">
            <a:spAutoFit/>
          </a:bodyPr>
          <a:lstStyle/>
          <a:p>
            <a:r>
              <a:rPr lang="en-US" b="1" dirty="0"/>
              <a:t>Branches are the result of a “pull” request</a:t>
            </a:r>
          </a:p>
        </p:txBody>
      </p:sp>
      <p:sp>
        <p:nvSpPr>
          <p:cNvPr id="10" name="TextBox 9">
            <a:extLst>
              <a:ext uri="{FF2B5EF4-FFF2-40B4-BE49-F238E27FC236}">
                <a16:creationId xmlns:a16="http://schemas.microsoft.com/office/drawing/2014/main" id="{0B0753F7-5260-3628-39E4-3D35B222708E}"/>
              </a:ext>
            </a:extLst>
          </p:cNvPr>
          <p:cNvSpPr txBox="1"/>
          <p:nvPr/>
        </p:nvSpPr>
        <p:spPr>
          <a:xfrm>
            <a:off x="6027366" y="4974393"/>
            <a:ext cx="6096000" cy="1754326"/>
          </a:xfrm>
          <a:prstGeom prst="rect">
            <a:avLst/>
          </a:prstGeom>
          <a:solidFill>
            <a:schemeClr val="accent3"/>
          </a:solidFill>
        </p:spPr>
        <p:txBody>
          <a:bodyPr wrap="square">
            <a:spAutoFit/>
          </a:bodyPr>
          <a:lstStyle/>
          <a:p>
            <a:r>
              <a:rPr lang="en-US" dirty="0">
                <a:solidFill>
                  <a:srgbClr val="555555"/>
                </a:solidFill>
                <a:latin typeface="Open Sans" panose="020F0502020204030204" pitchFamily="34" charset="0"/>
              </a:rPr>
              <a:t>A ‘push’ happens when you commit your changes back into the sacred timeline (/Git Repo).</a:t>
            </a:r>
          </a:p>
          <a:p>
            <a:endParaRPr lang="en-US" dirty="0">
              <a:solidFill>
                <a:srgbClr val="555555"/>
              </a:solidFill>
              <a:latin typeface="Open Sans" panose="020F0502020204030204" pitchFamily="34" charset="0"/>
            </a:endParaRPr>
          </a:p>
          <a:p>
            <a:r>
              <a:rPr lang="en-US" dirty="0">
                <a:solidFill>
                  <a:srgbClr val="555555"/>
                </a:solidFill>
                <a:latin typeface="Open Sans" panose="020F0502020204030204" pitchFamily="34" charset="0"/>
              </a:rPr>
              <a:t>In this class, you’ll create a branch for your </a:t>
            </a:r>
            <a:r>
              <a:rPr lang="en-US" dirty="0" err="1">
                <a:solidFill>
                  <a:srgbClr val="555555"/>
                </a:solidFill>
                <a:latin typeface="Open Sans" panose="020F0502020204030204" pitchFamily="34" charset="0"/>
              </a:rPr>
              <a:t>homeworks</a:t>
            </a:r>
            <a:r>
              <a:rPr lang="en-US" dirty="0">
                <a:solidFill>
                  <a:srgbClr val="555555"/>
                </a:solidFill>
                <a:latin typeface="Open Sans" panose="020F0502020204030204" pitchFamily="34" charset="0"/>
              </a:rPr>
              <a:t>, and push to your own branch repo when you’re ready to turn it in.</a:t>
            </a:r>
            <a:endParaRPr lang="en-US" dirty="0"/>
          </a:p>
        </p:txBody>
      </p:sp>
      <p:sp>
        <p:nvSpPr>
          <p:cNvPr id="11" name="TextBox 10">
            <a:extLst>
              <a:ext uri="{FF2B5EF4-FFF2-40B4-BE49-F238E27FC236}">
                <a16:creationId xmlns:a16="http://schemas.microsoft.com/office/drawing/2014/main" id="{A551648F-5C89-5E86-C07E-92AB11498E99}"/>
              </a:ext>
            </a:extLst>
          </p:cNvPr>
          <p:cNvSpPr txBox="1"/>
          <p:nvPr/>
        </p:nvSpPr>
        <p:spPr>
          <a:xfrm>
            <a:off x="10360603" y="1404731"/>
            <a:ext cx="1590261" cy="646331"/>
          </a:xfrm>
          <a:prstGeom prst="rect">
            <a:avLst/>
          </a:prstGeom>
          <a:noFill/>
        </p:spPr>
        <p:txBody>
          <a:bodyPr wrap="square" rtlCol="0">
            <a:spAutoFit/>
          </a:bodyPr>
          <a:lstStyle/>
          <a:p>
            <a:r>
              <a:rPr lang="en-US" dirty="0">
                <a:solidFill>
                  <a:schemeClr val="accent3">
                    <a:lumMod val="60000"/>
                    <a:lumOff val="40000"/>
                  </a:schemeClr>
                </a:solidFill>
              </a:rPr>
              <a:t>A Git repository</a:t>
            </a:r>
          </a:p>
        </p:txBody>
      </p:sp>
      <p:cxnSp>
        <p:nvCxnSpPr>
          <p:cNvPr id="13" name="Straight Arrow Connector 12">
            <a:extLst>
              <a:ext uri="{FF2B5EF4-FFF2-40B4-BE49-F238E27FC236}">
                <a16:creationId xmlns:a16="http://schemas.microsoft.com/office/drawing/2014/main" id="{83BF925B-4ACA-A585-BFE6-EAF86143FE10}"/>
              </a:ext>
            </a:extLst>
          </p:cNvPr>
          <p:cNvCxnSpPr>
            <a:cxnSpLocks/>
          </p:cNvCxnSpPr>
          <p:nvPr/>
        </p:nvCxnSpPr>
        <p:spPr>
          <a:xfrm flipH="1" flipV="1">
            <a:off x="9694905" y="1001803"/>
            <a:ext cx="665698" cy="508945"/>
          </a:xfrm>
          <a:prstGeom prst="straightConnector1">
            <a:avLst/>
          </a:prstGeom>
          <a:ln w="38100">
            <a:solidFill>
              <a:schemeClr val="accent3"/>
            </a:solidFill>
            <a:tailEnd type="triangle"/>
          </a:ln>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1886EBD6-1974-81AB-F02D-12272EC959D0}"/>
              </a:ext>
            </a:extLst>
          </p:cNvPr>
          <p:cNvSpPr txBox="1"/>
          <p:nvPr/>
        </p:nvSpPr>
        <p:spPr>
          <a:xfrm>
            <a:off x="68634" y="5829530"/>
            <a:ext cx="6096000" cy="923330"/>
          </a:xfrm>
          <a:prstGeom prst="rect">
            <a:avLst/>
          </a:prstGeom>
          <a:noFill/>
        </p:spPr>
        <p:txBody>
          <a:bodyPr wrap="square">
            <a:spAutoFit/>
          </a:bodyPr>
          <a:lstStyle/>
          <a:p>
            <a:r>
              <a:rPr lang="en-US" dirty="0"/>
              <a:t>Thanks Gaurav Trivedi </a:t>
            </a:r>
            <a:r>
              <a:rPr lang="en-US" dirty="0">
                <a:hlinkClick r:id="rId3"/>
              </a:rPr>
              <a:t>https://beingtechnicalwriter.com/sacred-timeline-git/</a:t>
            </a:r>
            <a:r>
              <a:rPr lang="en-US" dirty="0"/>
              <a:t> for this nerdy interpretation of Git repos</a:t>
            </a:r>
          </a:p>
        </p:txBody>
      </p:sp>
    </p:spTree>
    <p:extLst>
      <p:ext uri="{BB962C8B-B14F-4D97-AF65-F5344CB8AC3E}">
        <p14:creationId xmlns:p14="http://schemas.microsoft.com/office/powerpoint/2010/main" val="1500496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AC56F-8B62-ABD0-4FD7-5C8F1A2DB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3BA7E-D64F-6840-937E-B6D73DD78710}"/>
              </a:ext>
            </a:extLst>
          </p:cNvPr>
          <p:cNvSpPr>
            <a:spLocks noGrp="1"/>
          </p:cNvSpPr>
          <p:nvPr>
            <p:ph type="title"/>
          </p:nvPr>
        </p:nvSpPr>
        <p:spPr/>
        <p:txBody>
          <a:bodyPr/>
          <a:lstStyle/>
          <a:p>
            <a:r>
              <a:rPr lang="en-US" dirty="0"/>
              <a:t>But beware of the god of mischief!</a:t>
            </a:r>
          </a:p>
        </p:txBody>
      </p:sp>
      <p:pic>
        <p:nvPicPr>
          <p:cNvPr id="5" name="Picture 4" descr="A close-up of lightning&#10;&#10;AI-generated content may be incorrect.">
            <a:extLst>
              <a:ext uri="{FF2B5EF4-FFF2-40B4-BE49-F238E27FC236}">
                <a16:creationId xmlns:a16="http://schemas.microsoft.com/office/drawing/2014/main" id="{B532EB83-D515-5FBE-1874-CCD75590C517}"/>
              </a:ext>
            </a:extLst>
          </p:cNvPr>
          <p:cNvPicPr>
            <a:picLocks noChangeAspect="1"/>
          </p:cNvPicPr>
          <p:nvPr/>
        </p:nvPicPr>
        <p:blipFill>
          <a:blip r:embed="rId2"/>
          <a:stretch>
            <a:fillRect/>
          </a:stretch>
        </p:blipFill>
        <p:spPr>
          <a:xfrm>
            <a:off x="2141166" y="1404731"/>
            <a:ext cx="7772400" cy="4371975"/>
          </a:xfrm>
          <a:prstGeom prst="rect">
            <a:avLst/>
          </a:prstGeom>
        </p:spPr>
      </p:pic>
      <p:sp>
        <p:nvSpPr>
          <p:cNvPr id="6" name="TextBox 5">
            <a:extLst>
              <a:ext uri="{FF2B5EF4-FFF2-40B4-BE49-F238E27FC236}">
                <a16:creationId xmlns:a16="http://schemas.microsoft.com/office/drawing/2014/main" id="{01A933E1-2AF3-CBCF-DA99-BA625203B37B}"/>
              </a:ext>
            </a:extLst>
          </p:cNvPr>
          <p:cNvSpPr txBox="1"/>
          <p:nvPr/>
        </p:nvSpPr>
        <p:spPr>
          <a:xfrm>
            <a:off x="1139687" y="4081670"/>
            <a:ext cx="768626" cy="369332"/>
          </a:xfrm>
          <a:prstGeom prst="rect">
            <a:avLst/>
          </a:prstGeom>
          <a:noFill/>
        </p:spPr>
        <p:txBody>
          <a:bodyPr wrap="square" rtlCol="0">
            <a:spAutoFit/>
          </a:bodyPr>
          <a:lstStyle/>
          <a:p>
            <a:r>
              <a:rPr lang="en-US" b="1" dirty="0">
                <a:solidFill>
                  <a:schemeClr val="accent3">
                    <a:lumMod val="60000"/>
                    <a:lumOff val="40000"/>
                  </a:schemeClr>
                </a:solidFill>
              </a:rPr>
              <a:t>Trunk</a:t>
            </a:r>
          </a:p>
        </p:txBody>
      </p:sp>
      <p:sp>
        <p:nvSpPr>
          <p:cNvPr id="7" name="TextBox 6">
            <a:extLst>
              <a:ext uri="{FF2B5EF4-FFF2-40B4-BE49-F238E27FC236}">
                <a16:creationId xmlns:a16="http://schemas.microsoft.com/office/drawing/2014/main" id="{68809B23-0528-A611-CBA8-74B58202DAB9}"/>
              </a:ext>
            </a:extLst>
          </p:cNvPr>
          <p:cNvSpPr txBox="1"/>
          <p:nvPr/>
        </p:nvSpPr>
        <p:spPr>
          <a:xfrm>
            <a:off x="3253408" y="2805261"/>
            <a:ext cx="1265583" cy="369332"/>
          </a:xfrm>
          <a:prstGeom prst="rect">
            <a:avLst/>
          </a:prstGeom>
          <a:noFill/>
        </p:spPr>
        <p:txBody>
          <a:bodyPr wrap="square" rtlCol="0">
            <a:spAutoFit/>
          </a:bodyPr>
          <a:lstStyle/>
          <a:p>
            <a:r>
              <a:rPr lang="en-US" b="1" dirty="0">
                <a:solidFill>
                  <a:schemeClr val="accent3">
                    <a:lumMod val="60000"/>
                    <a:lumOff val="40000"/>
                  </a:schemeClr>
                </a:solidFill>
              </a:rPr>
              <a:t>Branches</a:t>
            </a:r>
          </a:p>
        </p:txBody>
      </p:sp>
      <p:sp>
        <p:nvSpPr>
          <p:cNvPr id="10" name="TextBox 9">
            <a:extLst>
              <a:ext uri="{FF2B5EF4-FFF2-40B4-BE49-F238E27FC236}">
                <a16:creationId xmlns:a16="http://schemas.microsoft.com/office/drawing/2014/main" id="{1FB295F7-2030-ADF9-D031-79E8028121C7}"/>
              </a:ext>
            </a:extLst>
          </p:cNvPr>
          <p:cNvSpPr txBox="1"/>
          <p:nvPr/>
        </p:nvSpPr>
        <p:spPr>
          <a:xfrm>
            <a:off x="6015054" y="4713039"/>
            <a:ext cx="6096000" cy="2031325"/>
          </a:xfrm>
          <a:prstGeom prst="rect">
            <a:avLst/>
          </a:prstGeom>
          <a:solidFill>
            <a:schemeClr val="accent3"/>
          </a:solidFill>
        </p:spPr>
        <p:txBody>
          <a:bodyPr wrap="square">
            <a:spAutoFit/>
          </a:bodyPr>
          <a:lstStyle/>
          <a:p>
            <a:r>
              <a:rPr lang="en-US" dirty="0">
                <a:solidFill>
                  <a:srgbClr val="555555"/>
                </a:solidFill>
                <a:latin typeface="Open Sans" panose="020F0502020204030204" pitchFamily="34" charset="0"/>
              </a:rPr>
              <a:t>In the Sacred Timeline, Nexus Events arise from deviations from the predetermined course of history, potentially altering the entire timeline. </a:t>
            </a:r>
          </a:p>
          <a:p>
            <a:endParaRPr lang="en-US" dirty="0">
              <a:solidFill>
                <a:srgbClr val="555555"/>
              </a:solidFill>
              <a:latin typeface="Open Sans" panose="020F0502020204030204" pitchFamily="34" charset="0"/>
            </a:endParaRPr>
          </a:p>
          <a:p>
            <a:r>
              <a:rPr lang="en-US" dirty="0">
                <a:solidFill>
                  <a:srgbClr val="555555"/>
                </a:solidFill>
                <a:latin typeface="Open Sans" panose="020F0502020204030204" pitchFamily="34" charset="0"/>
              </a:rPr>
              <a:t>In Git, merge conflicts occur when changes on different branches attempt to modify the same file, requiring manual resolution. We’ll work on best practice in Lab0.</a:t>
            </a:r>
            <a:endParaRPr lang="en-US" dirty="0"/>
          </a:p>
        </p:txBody>
      </p:sp>
      <p:sp>
        <p:nvSpPr>
          <p:cNvPr id="16" name="TextBox 15">
            <a:extLst>
              <a:ext uri="{FF2B5EF4-FFF2-40B4-BE49-F238E27FC236}">
                <a16:creationId xmlns:a16="http://schemas.microsoft.com/office/drawing/2014/main" id="{87A7B1D0-AF05-A6BD-4BCB-BFF201016438}"/>
              </a:ext>
            </a:extLst>
          </p:cNvPr>
          <p:cNvSpPr txBox="1"/>
          <p:nvPr/>
        </p:nvSpPr>
        <p:spPr>
          <a:xfrm>
            <a:off x="68634" y="5829530"/>
            <a:ext cx="6096000" cy="923330"/>
          </a:xfrm>
          <a:prstGeom prst="rect">
            <a:avLst/>
          </a:prstGeom>
          <a:noFill/>
        </p:spPr>
        <p:txBody>
          <a:bodyPr wrap="square">
            <a:spAutoFit/>
          </a:bodyPr>
          <a:lstStyle/>
          <a:p>
            <a:r>
              <a:rPr lang="en-US" dirty="0"/>
              <a:t>Thanks Gaurav Trivedi </a:t>
            </a:r>
            <a:r>
              <a:rPr lang="en-US" dirty="0">
                <a:hlinkClick r:id="rId3"/>
              </a:rPr>
              <a:t>https://beingtechnicalwriter.com/sacred-timeline-git/</a:t>
            </a:r>
            <a:r>
              <a:rPr lang="en-US" dirty="0"/>
              <a:t> for this nerdy interpretation of Git repos</a:t>
            </a:r>
          </a:p>
        </p:txBody>
      </p:sp>
      <p:pic>
        <p:nvPicPr>
          <p:cNvPr id="12" name="Picture 11" descr="A group of people in clothing&#10;&#10;AI-generated content may be incorrect.">
            <a:extLst>
              <a:ext uri="{FF2B5EF4-FFF2-40B4-BE49-F238E27FC236}">
                <a16:creationId xmlns:a16="http://schemas.microsoft.com/office/drawing/2014/main" id="{C2BC7EEA-3067-7043-C7A9-220A4D541DA7}"/>
              </a:ext>
            </a:extLst>
          </p:cNvPr>
          <p:cNvPicPr>
            <a:picLocks noChangeAspect="1"/>
          </p:cNvPicPr>
          <p:nvPr/>
        </p:nvPicPr>
        <p:blipFill>
          <a:blip r:embed="rId4"/>
          <a:stretch>
            <a:fillRect/>
          </a:stretch>
        </p:blipFill>
        <p:spPr>
          <a:xfrm>
            <a:off x="7121137" y="1429679"/>
            <a:ext cx="4287484" cy="2411710"/>
          </a:xfrm>
          <a:prstGeom prst="rect">
            <a:avLst/>
          </a:prstGeom>
        </p:spPr>
      </p:pic>
    </p:spTree>
    <p:extLst>
      <p:ext uri="{BB962C8B-B14F-4D97-AF65-F5344CB8AC3E}">
        <p14:creationId xmlns:p14="http://schemas.microsoft.com/office/powerpoint/2010/main" val="2422657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13153-1ABD-F865-C937-98C012544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3E8FD-0EAB-047C-00CD-E2F59C3D3D74}"/>
              </a:ext>
            </a:extLst>
          </p:cNvPr>
          <p:cNvSpPr>
            <a:spLocks noGrp="1"/>
          </p:cNvSpPr>
          <p:nvPr>
            <p:ph type="title"/>
          </p:nvPr>
        </p:nvSpPr>
        <p:spPr/>
        <p:txBody>
          <a:bodyPr/>
          <a:lstStyle/>
          <a:p>
            <a:r>
              <a:rPr lang="en-US" dirty="0"/>
              <a:t>Git language</a:t>
            </a:r>
          </a:p>
        </p:txBody>
      </p:sp>
      <p:sp>
        <p:nvSpPr>
          <p:cNvPr id="3" name="Content Placeholder 2">
            <a:extLst>
              <a:ext uri="{FF2B5EF4-FFF2-40B4-BE49-F238E27FC236}">
                <a16:creationId xmlns:a16="http://schemas.microsoft.com/office/drawing/2014/main" id="{93834DF4-F603-F4E0-536D-C175017384D1}"/>
              </a:ext>
            </a:extLst>
          </p:cNvPr>
          <p:cNvSpPr>
            <a:spLocks noGrp="1"/>
          </p:cNvSpPr>
          <p:nvPr>
            <p:ph idx="1"/>
          </p:nvPr>
        </p:nvSpPr>
        <p:spPr>
          <a:xfrm>
            <a:off x="357809" y="1341804"/>
            <a:ext cx="11188080" cy="4516556"/>
          </a:xfrm>
        </p:spPr>
        <p:txBody>
          <a:bodyPr>
            <a:noAutofit/>
          </a:bodyPr>
          <a:lstStyle/>
          <a:p>
            <a:r>
              <a:rPr lang="en-US" b="1" dirty="0"/>
              <a:t>Repository: </a:t>
            </a:r>
            <a:r>
              <a:rPr lang="en-US" dirty="0"/>
              <a:t>Central location for storing code and/or data. For us, it’s in </a:t>
            </a:r>
            <a:r>
              <a:rPr lang="en-US" dirty="0" err="1"/>
              <a:t>jshannon</a:t>
            </a:r>
            <a:r>
              <a:rPr lang="en-US" dirty="0"/>
              <a:t>/geog4300 and the Google classroom.</a:t>
            </a:r>
            <a:endParaRPr lang="en-US" b="1" dirty="0"/>
          </a:p>
          <a:p>
            <a:r>
              <a:rPr lang="en-US" b="1" dirty="0"/>
              <a:t>Branch: </a:t>
            </a:r>
            <a:r>
              <a:rPr lang="en-US" dirty="0"/>
              <a:t>think of the main code as the trunk. Branches are derived from the trunk, but can be changed over time.</a:t>
            </a:r>
          </a:p>
          <a:p>
            <a:r>
              <a:rPr lang="en-US" b="1" dirty="0"/>
              <a:t>Local copy</a:t>
            </a:r>
            <a:r>
              <a:rPr lang="en-US" dirty="0"/>
              <a:t>: the version of code on your computer.</a:t>
            </a:r>
            <a:endParaRPr lang="en-US" b="1" dirty="0"/>
          </a:p>
          <a:p>
            <a:r>
              <a:rPr lang="en-US" b="1" dirty="0"/>
              <a:t>Commit: </a:t>
            </a:r>
            <a:r>
              <a:rPr lang="en-US" dirty="0"/>
              <a:t>When you move your changes from your local copy to the repo, you are ‘committing’ the changes. After you make a commit, Git can track and manage your changes.</a:t>
            </a:r>
          </a:p>
          <a:p>
            <a:r>
              <a:rPr lang="en-US" dirty="0"/>
              <a:t>You can add and delete files on a repository if you have edit access.</a:t>
            </a:r>
          </a:p>
          <a:p>
            <a:r>
              <a:rPr lang="en-US" b="1" dirty="0"/>
              <a:t>Pull: </a:t>
            </a:r>
            <a:r>
              <a:rPr lang="en-US" dirty="0"/>
              <a:t>When you take all the changes from the remote repo on GitHub to your local machine. (We put in a pull request when we started a new project in </a:t>
            </a:r>
            <a:r>
              <a:rPr lang="en-US" dirty="0" err="1"/>
              <a:t>Rstudio</a:t>
            </a:r>
            <a:r>
              <a:rPr lang="en-US" dirty="0"/>
              <a:t>)</a:t>
            </a:r>
          </a:p>
          <a:p>
            <a:r>
              <a:rPr lang="en-US" b="1" dirty="0"/>
              <a:t>Push: </a:t>
            </a:r>
            <a:r>
              <a:rPr lang="en-US" dirty="0"/>
              <a:t>When you commit your changes to the repo (You’ll push your changes to your own HW repo in the Labs)</a:t>
            </a:r>
            <a:endParaRPr lang="en-US" b="1" dirty="0"/>
          </a:p>
          <a:p>
            <a:endParaRPr lang="en-US" dirty="0"/>
          </a:p>
          <a:p>
            <a:endParaRPr lang="en-US" b="1" dirty="0"/>
          </a:p>
        </p:txBody>
      </p:sp>
      <p:sp>
        <p:nvSpPr>
          <p:cNvPr id="5" name="TextBox 4">
            <a:extLst>
              <a:ext uri="{FF2B5EF4-FFF2-40B4-BE49-F238E27FC236}">
                <a16:creationId xmlns:a16="http://schemas.microsoft.com/office/drawing/2014/main" id="{271DB877-521D-6FE5-081D-01FC097E3AAF}"/>
              </a:ext>
            </a:extLst>
          </p:cNvPr>
          <p:cNvSpPr txBox="1"/>
          <p:nvPr/>
        </p:nvSpPr>
        <p:spPr>
          <a:xfrm>
            <a:off x="249320" y="6378114"/>
            <a:ext cx="10906539" cy="369332"/>
          </a:xfrm>
          <a:prstGeom prst="rect">
            <a:avLst/>
          </a:prstGeom>
          <a:noFill/>
        </p:spPr>
        <p:txBody>
          <a:bodyPr wrap="square">
            <a:spAutoFit/>
          </a:bodyPr>
          <a:lstStyle/>
          <a:p>
            <a:r>
              <a:rPr lang="en-US" dirty="0"/>
              <a:t>https://</a:t>
            </a:r>
            <a:r>
              <a:rPr lang="en-US" dirty="0" err="1"/>
              <a:t>docs.github.com</a:t>
            </a:r>
            <a:r>
              <a:rPr lang="en-US" dirty="0"/>
              <a:t>/</a:t>
            </a:r>
            <a:r>
              <a:rPr lang="en-US" dirty="0" err="1"/>
              <a:t>en</a:t>
            </a:r>
            <a:r>
              <a:rPr lang="en-US" dirty="0"/>
              <a:t>/get-started/start-your-journey/about-</a:t>
            </a:r>
            <a:r>
              <a:rPr lang="en-US" dirty="0" err="1"/>
              <a:t>github</a:t>
            </a:r>
            <a:r>
              <a:rPr lang="en-US" dirty="0"/>
              <a:t>-and-git</a:t>
            </a:r>
          </a:p>
        </p:txBody>
      </p:sp>
    </p:spTree>
    <p:extLst>
      <p:ext uri="{BB962C8B-B14F-4D97-AF65-F5344CB8AC3E}">
        <p14:creationId xmlns:p14="http://schemas.microsoft.com/office/powerpoint/2010/main" val="3765121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46D0C-9AC8-FE03-E647-25D1C443FD2B}"/>
              </a:ext>
            </a:extLst>
          </p:cNvPr>
          <p:cNvSpPr>
            <a:spLocks noGrp="1"/>
          </p:cNvSpPr>
          <p:nvPr>
            <p:ph type="title"/>
          </p:nvPr>
        </p:nvSpPr>
        <p:spPr/>
        <p:txBody>
          <a:bodyPr/>
          <a:lstStyle/>
          <a:p>
            <a:r>
              <a:rPr lang="en-US" dirty="0"/>
              <a:t>R language</a:t>
            </a:r>
          </a:p>
        </p:txBody>
      </p:sp>
      <p:sp>
        <p:nvSpPr>
          <p:cNvPr id="3" name="Content Placeholder 2">
            <a:extLst>
              <a:ext uri="{FF2B5EF4-FFF2-40B4-BE49-F238E27FC236}">
                <a16:creationId xmlns:a16="http://schemas.microsoft.com/office/drawing/2014/main" id="{F6D5B12A-90DC-DB5C-B3FB-F0F5D451C386}"/>
              </a:ext>
            </a:extLst>
          </p:cNvPr>
          <p:cNvSpPr>
            <a:spLocks noGrp="1"/>
          </p:cNvSpPr>
          <p:nvPr>
            <p:ph idx="1"/>
          </p:nvPr>
        </p:nvSpPr>
        <p:spPr/>
        <p:txBody>
          <a:bodyPr/>
          <a:lstStyle/>
          <a:p>
            <a:r>
              <a:rPr lang="en-US" b="1" dirty="0"/>
              <a:t>Objects</a:t>
            </a:r>
          </a:p>
          <a:p>
            <a:r>
              <a:rPr lang="en-US" b="1" dirty="0"/>
              <a:t>Vectors</a:t>
            </a:r>
          </a:p>
          <a:p>
            <a:r>
              <a:rPr lang="en-US" b="1" dirty="0"/>
              <a:t>Data frames </a:t>
            </a:r>
          </a:p>
          <a:p>
            <a:r>
              <a:rPr lang="en-US" b="1" dirty="0" err="1"/>
              <a:t>Tidyverse</a:t>
            </a:r>
            <a:endParaRPr lang="en-US" b="1" dirty="0"/>
          </a:p>
          <a:p>
            <a:r>
              <a:rPr lang="en-US" b="1" dirty="0"/>
              <a:t>Packages</a:t>
            </a:r>
          </a:p>
        </p:txBody>
      </p:sp>
    </p:spTree>
    <p:extLst>
      <p:ext uri="{BB962C8B-B14F-4D97-AF65-F5344CB8AC3E}">
        <p14:creationId xmlns:p14="http://schemas.microsoft.com/office/powerpoint/2010/main" val="2382548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703D-4A67-A8C5-3A92-1DC5E52D7D2F}"/>
              </a:ext>
            </a:extLst>
          </p:cNvPr>
          <p:cNvSpPr>
            <a:spLocks noGrp="1"/>
          </p:cNvSpPr>
          <p:nvPr>
            <p:ph type="title"/>
          </p:nvPr>
        </p:nvSpPr>
        <p:spPr/>
        <p:txBody>
          <a:bodyPr/>
          <a:lstStyle/>
          <a:p>
            <a:r>
              <a:rPr lang="en-US" dirty="0"/>
              <a:t>Objects</a:t>
            </a:r>
          </a:p>
        </p:txBody>
      </p:sp>
      <p:sp>
        <p:nvSpPr>
          <p:cNvPr id="3" name="Content Placeholder 2">
            <a:extLst>
              <a:ext uri="{FF2B5EF4-FFF2-40B4-BE49-F238E27FC236}">
                <a16:creationId xmlns:a16="http://schemas.microsoft.com/office/drawing/2014/main" id="{6DE1E95F-CDE1-D532-613E-A0ED05553255}"/>
              </a:ext>
            </a:extLst>
          </p:cNvPr>
          <p:cNvSpPr>
            <a:spLocks noGrp="1"/>
          </p:cNvSpPr>
          <p:nvPr>
            <p:ph idx="1"/>
          </p:nvPr>
        </p:nvSpPr>
        <p:spPr/>
        <p:txBody>
          <a:bodyPr/>
          <a:lstStyle/>
          <a:p>
            <a:r>
              <a:rPr lang="en-US" dirty="0"/>
              <a:t>Store stuff (data)</a:t>
            </a:r>
          </a:p>
          <a:p>
            <a:r>
              <a:rPr lang="en-US" dirty="0"/>
              <a:t>They can be single values: numbers, string, dates, logical</a:t>
            </a:r>
          </a:p>
          <a:p>
            <a:r>
              <a:rPr lang="en-US" dirty="0"/>
              <a:t>Or many values: data frame, list, matrix</a:t>
            </a:r>
          </a:p>
          <a:p>
            <a:r>
              <a:rPr lang="en-US" dirty="0"/>
              <a:t>&lt;- or = used to assign a value to an object</a:t>
            </a:r>
          </a:p>
          <a:p>
            <a:r>
              <a:rPr lang="en-US" dirty="0"/>
              <a:t>When an object is a group of values, it’s a </a:t>
            </a:r>
            <a:r>
              <a:rPr lang="en-US" b="1" dirty="0"/>
              <a:t>vector.</a:t>
            </a:r>
          </a:p>
          <a:p>
            <a:r>
              <a:rPr lang="en-US" dirty="0"/>
              <a:t>A group of vectors can be combined into a </a:t>
            </a:r>
            <a:r>
              <a:rPr lang="en-US" b="1" dirty="0"/>
              <a:t>data frame.</a:t>
            </a:r>
            <a:endParaRPr lang="en-US" dirty="0"/>
          </a:p>
        </p:txBody>
      </p:sp>
    </p:spTree>
    <p:extLst>
      <p:ext uri="{BB962C8B-B14F-4D97-AF65-F5344CB8AC3E}">
        <p14:creationId xmlns:p14="http://schemas.microsoft.com/office/powerpoint/2010/main" val="2626983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6D798-3257-F260-81AA-8D4ED1FE4827}"/>
              </a:ext>
            </a:extLst>
          </p:cNvPr>
          <p:cNvSpPr>
            <a:spLocks noGrp="1"/>
          </p:cNvSpPr>
          <p:nvPr>
            <p:ph type="title"/>
          </p:nvPr>
        </p:nvSpPr>
        <p:spPr/>
        <p:txBody>
          <a:bodyPr/>
          <a:lstStyle/>
          <a:p>
            <a:r>
              <a:rPr lang="en-US" dirty="0"/>
              <a:t>Data frames</a:t>
            </a:r>
          </a:p>
        </p:txBody>
      </p:sp>
      <p:graphicFrame>
        <p:nvGraphicFramePr>
          <p:cNvPr id="4" name="Content Placeholder 3">
            <a:extLst>
              <a:ext uri="{FF2B5EF4-FFF2-40B4-BE49-F238E27FC236}">
                <a16:creationId xmlns:a16="http://schemas.microsoft.com/office/drawing/2014/main" id="{B0739E14-1DD1-33B2-C577-E42A50B1BF39}"/>
              </a:ext>
            </a:extLst>
          </p:cNvPr>
          <p:cNvGraphicFramePr>
            <a:graphicFrameLocks noGrp="1"/>
          </p:cNvGraphicFramePr>
          <p:nvPr>
            <p:ph idx="1"/>
            <p:extLst>
              <p:ext uri="{D42A27DB-BD31-4B8C-83A1-F6EECF244321}">
                <p14:modId xmlns:p14="http://schemas.microsoft.com/office/powerpoint/2010/main" val="3605895054"/>
              </p:ext>
            </p:extLst>
          </p:nvPr>
        </p:nvGraphicFramePr>
        <p:xfrm>
          <a:off x="343896" y="2564082"/>
          <a:ext cx="8947150" cy="1483360"/>
        </p:xfrm>
        <a:graphic>
          <a:graphicData uri="http://schemas.openxmlformats.org/drawingml/2006/table">
            <a:tbl>
              <a:tblPr firstRow="1" bandRow="1">
                <a:tableStyleId>{5C22544A-7EE6-4342-B048-85BDC9FD1C3A}</a:tableStyleId>
              </a:tblPr>
              <a:tblGrid>
                <a:gridCol w="1789430">
                  <a:extLst>
                    <a:ext uri="{9D8B030D-6E8A-4147-A177-3AD203B41FA5}">
                      <a16:colId xmlns:a16="http://schemas.microsoft.com/office/drawing/2014/main" val="149785160"/>
                    </a:ext>
                  </a:extLst>
                </a:gridCol>
                <a:gridCol w="1789430">
                  <a:extLst>
                    <a:ext uri="{9D8B030D-6E8A-4147-A177-3AD203B41FA5}">
                      <a16:colId xmlns:a16="http://schemas.microsoft.com/office/drawing/2014/main" val="709811181"/>
                    </a:ext>
                  </a:extLst>
                </a:gridCol>
                <a:gridCol w="1789430">
                  <a:extLst>
                    <a:ext uri="{9D8B030D-6E8A-4147-A177-3AD203B41FA5}">
                      <a16:colId xmlns:a16="http://schemas.microsoft.com/office/drawing/2014/main" val="3305840024"/>
                    </a:ext>
                  </a:extLst>
                </a:gridCol>
                <a:gridCol w="1789430">
                  <a:extLst>
                    <a:ext uri="{9D8B030D-6E8A-4147-A177-3AD203B41FA5}">
                      <a16:colId xmlns:a16="http://schemas.microsoft.com/office/drawing/2014/main" val="1524263940"/>
                    </a:ext>
                  </a:extLst>
                </a:gridCol>
                <a:gridCol w="1789430">
                  <a:extLst>
                    <a:ext uri="{9D8B030D-6E8A-4147-A177-3AD203B41FA5}">
                      <a16:colId xmlns:a16="http://schemas.microsoft.com/office/drawing/2014/main" val="1797097197"/>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130474979"/>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96665663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4166785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84344717"/>
                  </a:ext>
                </a:extLst>
              </a:tr>
            </a:tbl>
          </a:graphicData>
        </a:graphic>
      </p:graphicFrame>
      <p:sp>
        <p:nvSpPr>
          <p:cNvPr id="5" name="TextBox 4">
            <a:extLst>
              <a:ext uri="{FF2B5EF4-FFF2-40B4-BE49-F238E27FC236}">
                <a16:creationId xmlns:a16="http://schemas.microsoft.com/office/drawing/2014/main" id="{C5457FA4-87AA-F9AB-F14C-25EDAB61E2AA}"/>
              </a:ext>
            </a:extLst>
          </p:cNvPr>
          <p:cNvSpPr txBox="1"/>
          <p:nvPr/>
        </p:nvSpPr>
        <p:spPr>
          <a:xfrm>
            <a:off x="343896" y="4111945"/>
            <a:ext cx="1686382" cy="1754326"/>
          </a:xfrm>
          <a:prstGeom prst="rect">
            <a:avLst/>
          </a:prstGeom>
          <a:noFill/>
        </p:spPr>
        <p:txBody>
          <a:bodyPr wrap="square" rtlCol="0">
            <a:spAutoFit/>
          </a:bodyPr>
          <a:lstStyle/>
          <a:p>
            <a:r>
              <a:rPr lang="en-US" dirty="0"/>
              <a:t>Each column is a vector: a group of values all of the same type.</a:t>
            </a:r>
          </a:p>
        </p:txBody>
      </p:sp>
      <p:sp>
        <p:nvSpPr>
          <p:cNvPr id="6" name="TextBox 5">
            <a:extLst>
              <a:ext uri="{FF2B5EF4-FFF2-40B4-BE49-F238E27FC236}">
                <a16:creationId xmlns:a16="http://schemas.microsoft.com/office/drawing/2014/main" id="{F8EA5181-2B04-8439-9079-00E41FF34134}"/>
              </a:ext>
            </a:extLst>
          </p:cNvPr>
          <p:cNvSpPr txBox="1"/>
          <p:nvPr/>
        </p:nvSpPr>
        <p:spPr>
          <a:xfrm>
            <a:off x="2355742" y="4158111"/>
            <a:ext cx="1686382" cy="1200329"/>
          </a:xfrm>
          <a:prstGeom prst="rect">
            <a:avLst/>
          </a:prstGeom>
          <a:noFill/>
        </p:spPr>
        <p:txBody>
          <a:bodyPr wrap="square" rtlCol="0">
            <a:spAutoFit/>
          </a:bodyPr>
          <a:lstStyle/>
          <a:p>
            <a:r>
              <a:rPr lang="en-US" dirty="0"/>
              <a:t>Each column can be a different data type.</a:t>
            </a:r>
          </a:p>
        </p:txBody>
      </p:sp>
      <p:sp>
        <p:nvSpPr>
          <p:cNvPr id="7" name="TextBox 6">
            <a:extLst>
              <a:ext uri="{FF2B5EF4-FFF2-40B4-BE49-F238E27FC236}">
                <a16:creationId xmlns:a16="http://schemas.microsoft.com/office/drawing/2014/main" id="{6CBDD40A-50C1-D6E4-D403-876E66FB9095}"/>
              </a:ext>
            </a:extLst>
          </p:cNvPr>
          <p:cNvSpPr txBox="1"/>
          <p:nvPr/>
        </p:nvSpPr>
        <p:spPr>
          <a:xfrm>
            <a:off x="9291046" y="2879364"/>
            <a:ext cx="2017363" cy="1200329"/>
          </a:xfrm>
          <a:prstGeom prst="rect">
            <a:avLst/>
          </a:prstGeom>
          <a:noFill/>
        </p:spPr>
        <p:txBody>
          <a:bodyPr wrap="square" rtlCol="0">
            <a:spAutoFit/>
          </a:bodyPr>
          <a:lstStyle/>
          <a:p>
            <a:r>
              <a:rPr lang="en-US" dirty="0"/>
              <a:t>Rows are the ‘observations’ of each variable.</a:t>
            </a:r>
          </a:p>
        </p:txBody>
      </p:sp>
    </p:spTree>
    <p:extLst>
      <p:ext uri="{BB962C8B-B14F-4D97-AF65-F5344CB8AC3E}">
        <p14:creationId xmlns:p14="http://schemas.microsoft.com/office/powerpoint/2010/main" val="24193590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282</TotalTime>
  <Words>695</Words>
  <Application>Microsoft Macintosh PowerPoint</Application>
  <PresentationFormat>Widescreen</PresentationFormat>
  <Paragraphs>61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Century Gothic</vt:lpstr>
      <vt:lpstr>Open Sans</vt:lpstr>
      <vt:lpstr>Wingdings 3</vt:lpstr>
      <vt:lpstr>Ion</vt:lpstr>
      <vt:lpstr>Getting started with Git and R</vt:lpstr>
      <vt:lpstr>PowerPoint Presentation</vt:lpstr>
      <vt:lpstr>Git language</vt:lpstr>
      <vt:lpstr>Introducing … The Sacred Timeline</vt:lpstr>
      <vt:lpstr>Introducing … The Sacred Timeline</vt:lpstr>
      <vt:lpstr>But beware of the god of mischief!</vt:lpstr>
      <vt:lpstr>Git language</vt:lpstr>
      <vt:lpstr>R language</vt:lpstr>
      <vt:lpstr>Objects</vt:lpstr>
      <vt:lpstr>Data frames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Harper</dc:creator>
  <cp:lastModifiedBy>Anna Harper</cp:lastModifiedBy>
  <cp:revision>4</cp:revision>
  <dcterms:created xsi:type="dcterms:W3CDTF">2025-08-19T16:26:14Z</dcterms:created>
  <dcterms:modified xsi:type="dcterms:W3CDTF">2025-08-19T21:09:02Z</dcterms:modified>
</cp:coreProperties>
</file>