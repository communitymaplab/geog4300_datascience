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2" r:id="rId1"/>
  </p:sldMasterIdLst>
  <p:notesMasterIdLst>
    <p:notesMasterId r:id="rId13"/>
  </p:notesMasterIdLst>
  <p:sldIdLst>
    <p:sldId id="256" r:id="rId2"/>
    <p:sldId id="314" r:id="rId3"/>
    <p:sldId id="316" r:id="rId4"/>
    <p:sldId id="317" r:id="rId5"/>
    <p:sldId id="301" r:id="rId6"/>
    <p:sldId id="303" r:id="rId7"/>
    <p:sldId id="304" r:id="rId8"/>
    <p:sldId id="311" r:id="rId9"/>
    <p:sldId id="318" r:id="rId10"/>
    <p:sldId id="319" r:id="rId11"/>
    <p:sldId id="32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39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9943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4330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3286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5781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400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4221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41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2942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684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8348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6197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682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561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1650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2414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79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</a:schemeClr>
          </a:solidFill>
          <a:latin typeface="Sitka Display Semibold" pitchFamily="2" charset="0"/>
          <a:ea typeface="+mj-ea"/>
          <a:cs typeface="+mj-cs"/>
        </a:defRPr>
      </a:lvl1pPr>
    </p:titleStyle>
    <p:bodyStyle>
      <a:lvl1pPr marL="233363" indent="-233363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>
            <a:lumMod val="75000"/>
          </a:schemeClr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intechprofessor.com/2018/03/05/export-high-quality-table-correlations-stata-ms-word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fintechprofessor.com/2018/03/05/export-high-quality-table-correlations-stata-ms-word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A1E6-0A9B-4FAD-9E42-B37B3CA5D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4338573"/>
            <a:ext cx="9440034" cy="774700"/>
          </a:xfrm>
        </p:spPr>
        <p:txBody>
          <a:bodyPr>
            <a:noAutofit/>
          </a:bodyPr>
          <a:lstStyle/>
          <a:p>
            <a:r>
              <a:rPr lang="en-US" sz="4400" dirty="0"/>
              <a:t>Correlation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D1488-58DF-4A33-AC86-D6B690A68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8717" y="5049840"/>
            <a:ext cx="9440034" cy="1049867"/>
          </a:xfrm>
        </p:spPr>
        <p:txBody>
          <a:bodyPr>
            <a:normAutofit/>
          </a:bodyPr>
          <a:lstStyle/>
          <a:p>
            <a:r>
              <a:rPr lang="en-US" sz="3200" dirty="0"/>
              <a:t>Geog4/6300</a:t>
            </a:r>
          </a:p>
        </p:txBody>
      </p:sp>
      <p:pic>
        <p:nvPicPr>
          <p:cNvPr id="4" name="Shape 433" descr="http://wcr.sonoma.edu/v07n1/20/tab2.gif">
            <a:extLst>
              <a:ext uri="{FF2B5EF4-FFF2-40B4-BE49-F238E27FC236}">
                <a16:creationId xmlns:a16="http://schemas.microsoft.com/office/drawing/2014/main" id="{09905C6B-D843-9576-8103-4BB490CCA48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98198" y="123212"/>
            <a:ext cx="5795604" cy="40628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464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C064F-5485-FC6D-77EF-C8995110C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Pearson’s correlation coefficient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B8BD657-1D2F-1731-00E0-B173850C08DB}"/>
                  </a:ext>
                </a:extLst>
              </p:cNvPr>
              <p:cNvSpPr txBox="1"/>
              <p:nvPr/>
            </p:nvSpPr>
            <p:spPr>
              <a:xfrm>
                <a:off x="1387981" y="1971513"/>
                <a:ext cx="4597156" cy="10680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d>
                                <m:d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B8BD657-1D2F-1731-00E0-B173850C0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981" y="1971513"/>
                <a:ext cx="4597156" cy="10680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FC7E32C-E9A8-B21B-89D7-5009B328F099}"/>
              </a:ext>
            </a:extLst>
          </p:cNvPr>
          <p:cNvSpPr txBox="1"/>
          <p:nvPr/>
        </p:nvSpPr>
        <p:spPr>
          <a:xfrm>
            <a:off x="1097280" y="3429000"/>
            <a:ext cx="856332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r</a:t>
            </a:r>
            <a:r>
              <a:rPr lang="en-US" sz="2000" dirty="0"/>
              <a:t>=Pearson’s correlation coefficient</a:t>
            </a:r>
          </a:p>
          <a:p>
            <a:endParaRPr lang="en-US" sz="2000" i="1" dirty="0"/>
          </a:p>
          <a:p>
            <a:r>
              <a:rPr lang="en-US" sz="2000" dirty="0"/>
              <a:t>X and Y are two variables</a:t>
            </a:r>
          </a:p>
          <a:p>
            <a:endParaRPr lang="en-US" sz="2000" dirty="0"/>
          </a:p>
          <a:p>
            <a:r>
              <a:rPr lang="en-US" sz="2000" dirty="0"/>
              <a:t>N= number of paired data values</a:t>
            </a:r>
          </a:p>
          <a:p>
            <a:endParaRPr lang="en-US" sz="2000" dirty="0"/>
          </a:p>
          <a:p>
            <a:r>
              <a:rPr lang="en-US" sz="2000" dirty="0"/>
              <a:t>S</a:t>
            </a:r>
            <a:r>
              <a:rPr lang="en-US" sz="2000" baseline="-25000" dirty="0"/>
              <a:t>X</a:t>
            </a:r>
            <a:r>
              <a:rPr lang="en-US" sz="2000" dirty="0"/>
              <a:t> and S</a:t>
            </a:r>
            <a:r>
              <a:rPr lang="en-US" sz="2000" baseline="-25000" dirty="0"/>
              <a:t>Y</a:t>
            </a:r>
            <a:r>
              <a:rPr lang="en-US" sz="2000" dirty="0"/>
              <a:t> = standard deviations of X and Y, respectively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CFA56-1A47-B365-14B4-4C451DCFB288}"/>
              </a:ext>
            </a:extLst>
          </p:cNvPr>
          <p:cNvSpPr txBox="1"/>
          <p:nvPr/>
        </p:nvSpPr>
        <p:spPr>
          <a:xfrm>
            <a:off x="6613124" y="2029182"/>
            <a:ext cx="52552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Average product of the deviations from the mean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226E7D-4914-B648-C87D-6C672D25B086}"/>
              </a:ext>
            </a:extLst>
          </p:cNvPr>
          <p:cNvSpPr txBox="1"/>
          <p:nvPr/>
        </p:nvSpPr>
        <p:spPr>
          <a:xfrm>
            <a:off x="6613124" y="2731144"/>
            <a:ext cx="52552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Standard deviations standardize those deviations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FCA72D0-AF2E-F5A9-ADB8-D2DD7F0AD4E9}"/>
              </a:ext>
            </a:extLst>
          </p:cNvPr>
          <p:cNvCxnSpPr>
            <a:stCxn id="6" idx="1"/>
          </p:cNvCxnSpPr>
          <p:nvPr/>
        </p:nvCxnSpPr>
        <p:spPr>
          <a:xfrm flipH="1">
            <a:off x="5985137" y="2213848"/>
            <a:ext cx="627987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9388CB-AB17-7C5A-8C09-05455FFC87C5}"/>
              </a:ext>
            </a:extLst>
          </p:cNvPr>
          <p:cNvCxnSpPr>
            <a:cxnSpLocks/>
          </p:cNvCxnSpPr>
          <p:nvPr/>
        </p:nvCxnSpPr>
        <p:spPr>
          <a:xfrm flipH="1">
            <a:off x="4559474" y="2914639"/>
            <a:ext cx="2053650" cy="1171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390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B5939-5E80-B561-4510-78B7A113D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3CAA5-1172-0C8B-7A1F-0DD066F42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r </a:t>
            </a:r>
            <a:r>
              <a:rPr lang="en-US" dirty="0"/>
              <a:t> is a useful descriptive statistic indicating the strength of relationship between two variables.</a:t>
            </a:r>
          </a:p>
          <a:p>
            <a:r>
              <a:rPr lang="en-US" dirty="0"/>
              <a:t>Question: Are two datasets correlated?</a:t>
            </a:r>
          </a:p>
          <a:p>
            <a:r>
              <a:rPr lang="en-US" dirty="0"/>
              <a:t>Null Hypothesis: No correlation between the population of two variables. X and Y are independent.</a:t>
            </a:r>
          </a:p>
          <a:p>
            <a:r>
              <a:rPr lang="en-US" dirty="0"/>
              <a:t>Alternative Hypothesis: directional (one-tailed) or non-directional (two-tailed).</a:t>
            </a:r>
          </a:p>
          <a:p>
            <a:pPr lvl="1"/>
            <a:r>
              <a:rPr lang="en-US" dirty="0"/>
              <a:t>One tailed: You have a logical expectation of the correlation being positive or negative.</a:t>
            </a:r>
          </a:p>
          <a:p>
            <a:pPr lvl="1"/>
            <a:r>
              <a:rPr lang="en-US" dirty="0"/>
              <a:t>Two-tailed: No rationale exists to expect positive or negative correlation.</a:t>
            </a:r>
          </a:p>
        </p:txBody>
      </p:sp>
    </p:spTree>
    <p:extLst>
      <p:ext uri="{BB962C8B-B14F-4D97-AF65-F5344CB8AC3E}">
        <p14:creationId xmlns:p14="http://schemas.microsoft.com/office/powerpoint/2010/main" val="1774922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8ACBE-7485-1FBA-BB73-851F69748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Measuring significance in correlation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46A2B4-4F89-6D8C-2B43-BAE337A451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6592570" cy="4023360"/>
              </a:xfrm>
            </p:spPr>
            <p:txBody>
              <a:bodyPr/>
              <a:lstStyle/>
              <a:p>
                <a:r>
                  <a:rPr lang="en-US" dirty="0"/>
                  <a:t>Standard error </a:t>
                </a:r>
                <a:r>
                  <a:rPr lang="en-US" i="1" dirty="0"/>
                  <a:t>(</a:t>
                </a:r>
                <a:r>
                  <a:rPr lang="en-US" i="1" dirty="0" err="1"/>
                  <a:t>s</a:t>
                </a:r>
                <a:r>
                  <a:rPr lang="en-US" baseline="-25000" dirty="0" err="1"/>
                  <a:t>r</a:t>
                </a:r>
                <a:r>
                  <a:rPr lang="en-US" i="1" dirty="0"/>
                  <a:t>)</a:t>
                </a:r>
                <a:r>
                  <a:rPr lang="en-US" dirty="0"/>
                  <a:t> of the correlation estimate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N is the sample size, and </a:t>
                </a:r>
                <a:r>
                  <a:rPr lang="en-US" i="1" dirty="0"/>
                  <a:t>r </a:t>
                </a:r>
                <a:r>
                  <a:rPr lang="en-US" dirty="0"/>
                  <a:t>is the correlation coefficient</a:t>
                </a: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Testing significance is just a t-test: 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46A2B4-4F89-6D8C-2B43-BAE337A451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6592570" cy="4023360"/>
              </a:xfrm>
              <a:blipFill>
                <a:blip r:embed="rId2"/>
                <a:stretch>
                  <a:fillRect l="-2590" t="-1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0C47EFF-4740-AB04-6A32-657243C2EFEA}"/>
                  </a:ext>
                </a:extLst>
              </p:cNvPr>
              <p:cNvSpPr txBox="1"/>
              <p:nvPr/>
            </p:nvSpPr>
            <p:spPr>
              <a:xfrm>
                <a:off x="7461250" y="1845734"/>
                <a:ext cx="3302000" cy="15473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0C47EFF-4740-AB04-6A32-657243C2E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1250" y="1845734"/>
                <a:ext cx="3302000" cy="1547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533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01">
            <a:extLst>
              <a:ext uri="{FF2B5EF4-FFF2-40B4-BE49-F238E27FC236}">
                <a16:creationId xmlns:a16="http://schemas.microsoft.com/office/drawing/2014/main" id="{B9886DBE-B7EC-461C-8E11-AEB4B910E254}"/>
              </a:ext>
            </a:extLst>
          </p:cNvPr>
          <p:cNvSpPr txBox="1"/>
          <p:nvPr/>
        </p:nvSpPr>
        <p:spPr>
          <a:xfrm>
            <a:off x="1079500" y="895117"/>
            <a:ext cx="3460458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Correlation</a:t>
            </a:r>
            <a:endParaRPr lang="en-US" sz="3200" dirty="0">
              <a:latin typeface="+mj-lt"/>
              <a:ea typeface="Gill Sans MT"/>
              <a:cs typeface="Gill Sans MT"/>
              <a:sym typeface="Gill Sans M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EF4C0B-690A-4998-BB1C-4C728423CD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053" y="2811630"/>
            <a:ext cx="10073547" cy="348262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E91231-91E0-4682-A895-D782CA770B7F}"/>
              </a:ext>
            </a:extLst>
          </p:cNvPr>
          <p:cNvSpPr/>
          <p:nvPr/>
        </p:nvSpPr>
        <p:spPr>
          <a:xfrm>
            <a:off x="1034641" y="6482403"/>
            <a:ext cx="104750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https://fintechprofessor.com/2018/03/05/export-high-quality-table-correlations-stata-ms-word/</a:t>
            </a:r>
            <a:r>
              <a:rPr 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40E8BD-26CC-E0E1-B04A-6F21F2804E7F}"/>
              </a:ext>
            </a:extLst>
          </p:cNvPr>
          <p:cNvSpPr txBox="1"/>
          <p:nvPr/>
        </p:nvSpPr>
        <p:spPr>
          <a:xfrm>
            <a:off x="1079500" y="1825978"/>
            <a:ext cx="92265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25000"/>
            </a:pPr>
            <a:r>
              <a:rPr lang="en-US" sz="2400" dirty="0">
                <a:ea typeface="Gill Sans MT"/>
                <a:cs typeface="Gill Sans MT"/>
                <a:sym typeface="Gill Sans MT"/>
              </a:rPr>
              <a:t>How do variables </a:t>
            </a:r>
            <a:r>
              <a:rPr lang="en-US" sz="2400" b="1" i="1" dirty="0">
                <a:solidFill>
                  <a:schemeClr val="accent2"/>
                </a:solidFill>
                <a:ea typeface="Gill Sans MT"/>
                <a:cs typeface="Gill Sans MT"/>
                <a:sym typeface="Gill Sans MT"/>
              </a:rPr>
              <a:t>co-vary</a:t>
            </a:r>
            <a:r>
              <a:rPr lang="en-US" sz="2400" dirty="0">
                <a:solidFill>
                  <a:schemeClr val="accent2"/>
                </a:solidFill>
                <a:ea typeface="Gill Sans MT"/>
                <a:cs typeface="Gill Sans MT"/>
                <a:sym typeface="Gill Sans MT"/>
              </a:rPr>
              <a:t> </a:t>
            </a:r>
            <a:r>
              <a:rPr lang="en-US" sz="2400" dirty="0">
                <a:ea typeface="Gill Sans MT"/>
                <a:cs typeface="Gill Sans MT"/>
                <a:sym typeface="Gill Sans MT"/>
              </a:rPr>
              <a:t>with one another?</a:t>
            </a:r>
          </a:p>
          <a:p>
            <a:pPr>
              <a:buSzPct val="25000"/>
            </a:pPr>
            <a:r>
              <a:rPr lang="en-US" sz="2400" dirty="0">
                <a:ea typeface="Gill Sans MT"/>
                <a:cs typeface="Gill Sans MT"/>
                <a:sym typeface="Gill Sans MT"/>
              </a:rPr>
              <a:t>Range of -1 (inversely correlated) to 1 (positively correlated)</a:t>
            </a:r>
          </a:p>
        </p:txBody>
      </p:sp>
    </p:spTree>
    <p:extLst>
      <p:ext uri="{BB962C8B-B14F-4D97-AF65-F5344CB8AC3E}">
        <p14:creationId xmlns:p14="http://schemas.microsoft.com/office/powerpoint/2010/main" val="644668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01">
            <a:extLst>
              <a:ext uri="{FF2B5EF4-FFF2-40B4-BE49-F238E27FC236}">
                <a16:creationId xmlns:a16="http://schemas.microsoft.com/office/drawing/2014/main" id="{B9886DBE-B7EC-461C-8E11-AEB4B910E254}"/>
              </a:ext>
            </a:extLst>
          </p:cNvPr>
          <p:cNvSpPr txBox="1"/>
          <p:nvPr/>
        </p:nvSpPr>
        <p:spPr>
          <a:xfrm>
            <a:off x="1034641" y="933217"/>
            <a:ext cx="5000305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Summarizing patterns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DA92E4-DC54-48DE-A3BF-85236FE9F60D}"/>
              </a:ext>
            </a:extLst>
          </p:cNvPr>
          <p:cNvSpPr/>
          <p:nvPr/>
        </p:nvSpPr>
        <p:spPr>
          <a:xfrm>
            <a:off x="1034641" y="6482403"/>
            <a:ext cx="104750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https://fintechprofessor.com/2018/03/05/export-high-quality-table-correlations-stata-ms-word/</a:t>
            </a:r>
            <a:r>
              <a:rPr lang="en-US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AAF3CA-7084-43D4-87E3-1B6BAE1A28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601095"/>
            <a:ext cx="10934700" cy="37803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051C8F-6BBF-395B-1FFC-01D61E311F91}"/>
              </a:ext>
            </a:extLst>
          </p:cNvPr>
          <p:cNvSpPr txBox="1"/>
          <p:nvPr/>
        </p:nvSpPr>
        <p:spPr>
          <a:xfrm>
            <a:off x="1111250" y="1792246"/>
            <a:ext cx="93027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25000"/>
            </a:pPr>
            <a:r>
              <a:rPr lang="en-US" sz="2000" dirty="0">
                <a:ea typeface="Gill Sans MT"/>
                <a:cs typeface="Gill Sans MT"/>
                <a:sym typeface="Gill Sans MT"/>
              </a:rPr>
              <a:t>What trends do you see in this table? How would you group these variables based on direction and magnitude?</a:t>
            </a:r>
            <a:endParaRPr lang="en-US" sz="1600" dirty="0">
              <a:ea typeface="Gill Sans MT"/>
              <a:cs typeface="Gill Sans MT"/>
              <a:sym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10197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01">
            <a:extLst>
              <a:ext uri="{FF2B5EF4-FFF2-40B4-BE49-F238E27FC236}">
                <a16:creationId xmlns:a16="http://schemas.microsoft.com/office/drawing/2014/main" id="{B9886DBE-B7EC-461C-8E11-AEB4B910E254}"/>
              </a:ext>
            </a:extLst>
          </p:cNvPr>
          <p:cNvSpPr txBox="1"/>
          <p:nvPr/>
        </p:nvSpPr>
        <p:spPr>
          <a:xfrm>
            <a:off x="1184595" y="259867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b="1" dirty="0">
                <a:latin typeface="+mj-lt"/>
                <a:ea typeface="Gill Sans MT"/>
                <a:cs typeface="Gill Sans MT"/>
                <a:sym typeface="Gill Sans MT"/>
              </a:rPr>
              <a:t>Let’s try it!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D906F8-A3B5-45A8-8F5B-C2F06DEE0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901" y="1990151"/>
            <a:ext cx="10598434" cy="4023282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F9BE3D-17CD-D21B-ED15-1FFE500474FD}"/>
              </a:ext>
            </a:extLst>
          </p:cNvPr>
          <p:cNvSpPr txBox="1"/>
          <p:nvPr/>
        </p:nvSpPr>
        <p:spPr>
          <a:xfrm>
            <a:off x="1184594" y="844567"/>
            <a:ext cx="97755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25000"/>
            </a:pPr>
            <a:r>
              <a:rPr lang="en-US" sz="2400" dirty="0">
                <a:ea typeface="Gill Sans MT"/>
                <a:cs typeface="Gill Sans MT"/>
                <a:sym typeface="Gill Sans MT"/>
              </a:rPr>
              <a:t>Correlation of Midwest pollen data in Excel.</a:t>
            </a:r>
          </a:p>
          <a:p>
            <a:pPr>
              <a:buSzPct val="25000"/>
            </a:pPr>
            <a:r>
              <a:rPr lang="en-US" sz="2400" dirty="0">
                <a:ea typeface="Gill Sans MT"/>
                <a:cs typeface="Gill Sans MT"/>
                <a:sym typeface="Gill Sans MT"/>
              </a:rPr>
              <a:t>How are species related to one another and </a:t>
            </a:r>
            <a:r>
              <a:rPr lang="en-US" sz="2400" dirty="0" err="1">
                <a:ea typeface="Gill Sans MT"/>
                <a:cs typeface="Gill Sans MT"/>
                <a:sym typeface="Gill Sans MT"/>
              </a:rPr>
              <a:t>lat</a:t>
            </a:r>
            <a:r>
              <a:rPr lang="en-US" sz="2400" dirty="0">
                <a:ea typeface="Gill Sans MT"/>
                <a:cs typeface="Gill Sans MT"/>
                <a:sym typeface="Gill Sans MT"/>
              </a:rPr>
              <a:t>/long?</a:t>
            </a:r>
          </a:p>
        </p:txBody>
      </p:sp>
    </p:spTree>
    <p:extLst>
      <p:ext uri="{BB962C8B-B14F-4D97-AF65-F5344CB8AC3E}">
        <p14:creationId xmlns:p14="http://schemas.microsoft.com/office/powerpoint/2010/main" val="1434834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01">
            <a:extLst>
              <a:ext uri="{FF2B5EF4-FFF2-40B4-BE49-F238E27FC236}">
                <a16:creationId xmlns:a16="http://schemas.microsoft.com/office/drawing/2014/main" id="{B9886DBE-B7EC-461C-8E11-AEB4B910E254}"/>
              </a:ext>
            </a:extLst>
          </p:cNvPr>
          <p:cNvSpPr txBox="1"/>
          <p:nvPr/>
        </p:nvSpPr>
        <p:spPr>
          <a:xfrm>
            <a:off x="1114745" y="990367"/>
            <a:ext cx="5120955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Write up your results!</a:t>
            </a:r>
            <a:endParaRPr lang="en-US" sz="4000" dirty="0">
              <a:latin typeface="+mj-lt"/>
              <a:ea typeface="Gill Sans MT"/>
              <a:cs typeface="Gill Sans MT"/>
              <a:sym typeface="Gill Sans M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DD6C92-8035-46D9-8C8E-B501F70046C5}"/>
              </a:ext>
            </a:extLst>
          </p:cNvPr>
          <p:cNvSpPr/>
          <p:nvPr/>
        </p:nvSpPr>
        <p:spPr>
          <a:xfrm>
            <a:off x="1222636" y="1888033"/>
            <a:ext cx="1069596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What variables have the strongest positive/negative correlations?</a:t>
            </a:r>
          </a:p>
          <a:p>
            <a:pPr marL="45720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Are there exceptions that stand out?</a:t>
            </a:r>
          </a:p>
          <a:p>
            <a:pPr marL="457200" indent="-45720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What examples illustrate the trends you identified? Exceptions to those trends?</a:t>
            </a:r>
          </a:p>
        </p:txBody>
      </p:sp>
    </p:spTree>
    <p:extLst>
      <p:ext uri="{BB962C8B-B14F-4D97-AF65-F5344CB8AC3E}">
        <p14:creationId xmlns:p14="http://schemas.microsoft.com/office/powerpoint/2010/main" val="4290142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A0F2E78-DC0F-9C53-324B-E51F46084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is NOT causation!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9332DD-AAD8-D071-168A-E36DE03EA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86B97-5A44-FDD6-6CCB-45C513979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9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Correlation is not causation">
            <a:extLst>
              <a:ext uri="{FF2B5EF4-FFF2-40B4-BE49-F238E27FC236}">
                <a16:creationId xmlns:a16="http://schemas.microsoft.com/office/drawing/2014/main" id="{E89D014E-253A-8E81-ED89-0EC3CCFDC0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6"/>
          <a:stretch/>
        </p:blipFill>
        <p:spPr bwMode="auto">
          <a:xfrm>
            <a:off x="4335642" y="102562"/>
            <a:ext cx="6684044" cy="2823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ketch_causalities">
            <a:extLst>
              <a:ext uri="{FF2B5EF4-FFF2-40B4-BE49-F238E27FC236}">
                <a16:creationId xmlns:a16="http://schemas.microsoft.com/office/drawing/2014/main" id="{DEB814D5-22CD-27FD-07EE-0561C29B76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31"/>
          <a:stretch/>
        </p:blipFill>
        <p:spPr bwMode="auto">
          <a:xfrm>
            <a:off x="4812957" y="3021227"/>
            <a:ext cx="6549768" cy="3564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3A7066-2A31-920B-87B6-002AE223024D}"/>
              </a:ext>
            </a:extLst>
          </p:cNvPr>
          <p:cNvSpPr txBox="1"/>
          <p:nvPr/>
        </p:nvSpPr>
        <p:spPr>
          <a:xfrm>
            <a:off x="4382015" y="6575658"/>
            <a:ext cx="60949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/>
              <a:t>https://florian-huber.github.io/data_science_course/notebooks/11_correlation_analysis.html</a:t>
            </a:r>
          </a:p>
        </p:txBody>
      </p:sp>
    </p:spTree>
    <p:extLst>
      <p:ext uri="{BB962C8B-B14F-4D97-AF65-F5344CB8AC3E}">
        <p14:creationId xmlns:p14="http://schemas.microsoft.com/office/powerpoint/2010/main" val="3908528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A0F2E78-DC0F-9C53-324B-E51F46084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C0rrelation also has blind spots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9332DD-AAD8-D071-168A-E36DE03EA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86B97-5A44-FDD6-6CCB-45C513979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10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3A7066-2A31-920B-87B6-002AE223024D}"/>
              </a:ext>
            </a:extLst>
          </p:cNvPr>
          <p:cNvSpPr txBox="1"/>
          <p:nvPr/>
        </p:nvSpPr>
        <p:spPr>
          <a:xfrm>
            <a:off x="4382015" y="6575658"/>
            <a:ext cx="60949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/>
              <a:t>https://florian-huber.github.io/data_science_course/notebooks/11_correlation_analysis.html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96EDDA4-C0CF-7AF6-B033-FEC146616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2015" y="1254210"/>
            <a:ext cx="7511568" cy="474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8839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A0F2E78-DC0F-9C53-324B-E51F46084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Spearman’s rho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9332DD-AAD8-D071-168A-E36DE03EA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For non-linear relationships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86B97-5A44-FDD6-6CCB-45C513979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11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4" name="Picture 2" descr="Fair Lending Math - FairPlay">
            <a:extLst>
              <a:ext uri="{FF2B5EF4-FFF2-40B4-BE49-F238E27FC236}">
                <a16:creationId xmlns:a16="http://schemas.microsoft.com/office/drawing/2014/main" id="{970A8F27-58BE-66C1-83B2-31EBBC94A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112" y="1804085"/>
            <a:ext cx="7423643" cy="3560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918505"/>
      </p:ext>
    </p:extLst>
  </p:cSld>
  <p:clrMapOvr>
    <a:masterClrMapping/>
  </p:clrMapOvr>
</p:sld>
</file>

<file path=ppt/theme/theme1.xml><?xml version="1.0" encoding="utf-8"?>
<a:theme xmlns:a="http://schemas.openxmlformats.org/drawingml/2006/main" name="4300 theme">
  <a:themeElements>
    <a:clrScheme name="Custom 5">
      <a:dk1>
        <a:srgbClr val="3F3F3F"/>
      </a:dk1>
      <a:lt1>
        <a:sysClr val="window" lastClr="FFFFFF"/>
      </a:lt1>
      <a:dk2>
        <a:srgbClr val="637052"/>
      </a:dk2>
      <a:lt2>
        <a:srgbClr val="CCDDEA"/>
      </a:lt2>
      <a:accent1>
        <a:srgbClr val="E5A99F"/>
      </a:accent1>
      <a:accent2>
        <a:srgbClr val="B23838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1">
      <a:majorFont>
        <a:latin typeface="Sitka Display Semibold"/>
        <a:ea typeface=""/>
        <a:cs typeface=""/>
      </a:majorFont>
      <a:minorFont>
        <a:latin typeface="Segoe UI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g4300_L01-Introductions" id="{FA51A00F-822B-41B5-AA4A-2C123A5E9355}" vid="{2F9C99DD-B25B-4D9F-92B4-7DCE57BD0F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406</Words>
  <Application>Microsoft Office PowerPoint</Application>
  <PresentationFormat>Widescreen</PresentationFormat>
  <Paragraphs>57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Cambria Math</vt:lpstr>
      <vt:lpstr>Gill Sans MT</vt:lpstr>
      <vt:lpstr>Segoe UI</vt:lpstr>
      <vt:lpstr>Sitka Display Semibold</vt:lpstr>
      <vt:lpstr>4300 theme</vt:lpstr>
      <vt:lpstr>Correlation</vt:lpstr>
      <vt:lpstr>Pearson’s correlation coefficient</vt:lpstr>
      <vt:lpstr>Correlation</vt:lpstr>
      <vt:lpstr>Measuring significance in correlation</vt:lpstr>
      <vt:lpstr>PowerPoint Presentation</vt:lpstr>
      <vt:lpstr>PowerPoint Presentation</vt:lpstr>
      <vt:lpstr>PowerPoint Presentation</vt:lpstr>
      <vt:lpstr>PowerPoint Presentation</vt:lpstr>
      <vt:lpstr>Correlation is NOT causation!</vt:lpstr>
      <vt:lpstr>C0rrelation also has blind spots</vt:lpstr>
      <vt:lpstr>Spearman’s rho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Spatial data</dc:title>
  <dc:creator>Gerald Shannon</dc:creator>
  <cp:lastModifiedBy>Jerry Shannon</cp:lastModifiedBy>
  <cp:revision>81</cp:revision>
  <dcterms:modified xsi:type="dcterms:W3CDTF">2026-10-29T15:25:09Z</dcterms:modified>
</cp:coreProperties>
</file>