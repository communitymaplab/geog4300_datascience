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32" r:id="rId1"/>
  </p:sldMasterIdLst>
  <p:notesMasterIdLst>
    <p:notesMasterId r:id="rId19"/>
  </p:notesMasterIdLst>
  <p:sldIdLst>
    <p:sldId id="263" r:id="rId2"/>
    <p:sldId id="257" r:id="rId3"/>
    <p:sldId id="284" r:id="rId4"/>
    <p:sldId id="266" r:id="rId5"/>
    <p:sldId id="280" r:id="rId6"/>
    <p:sldId id="267" r:id="rId7"/>
    <p:sldId id="269" r:id="rId8"/>
    <p:sldId id="279" r:id="rId9"/>
    <p:sldId id="285" r:id="rId10"/>
    <p:sldId id="260" r:id="rId11"/>
    <p:sldId id="288" r:id="rId12"/>
    <p:sldId id="281" r:id="rId13"/>
    <p:sldId id="273" r:id="rId14"/>
    <p:sldId id="286" r:id="rId15"/>
    <p:sldId id="274" r:id="rId16"/>
    <p:sldId id="275" r:id="rId17"/>
    <p:sldId id="28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505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A4D0076E-A3EB-55A5-D31C-F6C03D6F4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>
            <a:extLst>
              <a:ext uri="{FF2B5EF4-FFF2-40B4-BE49-F238E27FC236}">
                <a16:creationId xmlns:a16="http://schemas.microsoft.com/office/drawing/2014/main" id="{F6641BD6-93A1-2197-3C7B-0E44B49DA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A05A6197-3FEA-2B36-D2E8-D7E9D81AF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>
            <a:extLst>
              <a:ext uri="{FF2B5EF4-FFF2-40B4-BE49-F238E27FC236}">
                <a16:creationId xmlns:a16="http://schemas.microsoft.com/office/drawing/2014/main" id="{AD3F6525-590B-FCAC-02EE-BFE2ED45C9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86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4A6D56F9-800B-89CA-F548-C422E31C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>
            <a:extLst>
              <a:ext uri="{FF2B5EF4-FFF2-40B4-BE49-F238E27FC236}">
                <a16:creationId xmlns:a16="http://schemas.microsoft.com/office/drawing/2014/main" id="{DB3E423B-DB85-8712-1A4C-0E95D5CD9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60A86119-AC18-5113-5916-78ECD3492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>
            <a:extLst>
              <a:ext uri="{FF2B5EF4-FFF2-40B4-BE49-F238E27FC236}">
                <a16:creationId xmlns:a16="http://schemas.microsoft.com/office/drawing/2014/main" id="{F6FECE10-0A6B-3AF9-1D7B-2F4409586D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157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847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856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BED5919D-5B4E-570F-E0EE-EDE0E3DD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>
            <a:extLst>
              <a:ext uri="{FF2B5EF4-FFF2-40B4-BE49-F238E27FC236}">
                <a16:creationId xmlns:a16="http://schemas.microsoft.com/office/drawing/2014/main" id="{974A13C2-BBB0-0DF9-6D2F-C571C2371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>
            <a:extLst>
              <a:ext uri="{FF2B5EF4-FFF2-40B4-BE49-F238E27FC236}">
                <a16:creationId xmlns:a16="http://schemas.microsoft.com/office/drawing/2014/main" id="{BB3C3E35-ADC2-3B0C-98CC-A0483D2B7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>
            <a:extLst>
              <a:ext uri="{FF2B5EF4-FFF2-40B4-BE49-F238E27FC236}">
                <a16:creationId xmlns:a16="http://schemas.microsoft.com/office/drawing/2014/main" id="{30A69691-0522-D6A6-15D3-8467C012B9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5368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1674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9144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1740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40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22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294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843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348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619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68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61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1650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2414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bg1"/>
                </a:solidFill>
              </a:defRPr>
            </a:lvl1pPr>
          </a:lstStyle>
          <a:p>
            <a:pPr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buSzPct val="25000"/>
              </a:pPr>
              <a:t>‹#›</a:t>
            </a:fld>
            <a:endParaRPr lang="en-US"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79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</a:schemeClr>
          </a:solidFill>
          <a:latin typeface="Sitka Display Semibold" pitchFamily="2" charset="0"/>
          <a:ea typeface="+mj-ea"/>
          <a:cs typeface="+mj-cs"/>
        </a:defRPr>
      </a:lvl1pPr>
    </p:titleStyle>
    <p:bodyStyle>
      <a:lvl1pPr marL="233363" indent="-2333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>
            <a:lumMod val="75000"/>
          </a:schemeClr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</a:schemeClr>
          </a:solidFill>
          <a:latin typeface="Segoe UI" panose="020B0502040204020203" pitchFamily="34" charset="0"/>
          <a:ea typeface="Open Sans Medium" pitchFamily="2" charset="0"/>
          <a:cs typeface="Segoe UI" panose="020B0502040204020203" pitchFamily="34" charset="0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248" y="2984156"/>
            <a:ext cx="10812163" cy="1099527"/>
          </a:xfrm>
        </p:spPr>
        <p:txBody>
          <a:bodyPr>
            <a:noAutofit/>
          </a:bodyPr>
          <a:lstStyle/>
          <a:p>
            <a:r>
              <a:rPr lang="en-US" sz="4400" dirty="0"/>
              <a:t>Central limit theorem and confidence intervals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A25A50-E1E4-4126-B9CC-C52512D3D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GEOG4300 /6300: Intro to data science</a:t>
            </a:r>
          </a:p>
          <a:p>
            <a:r>
              <a:rPr lang="en-US" dirty="0"/>
              <a:t>Prof. Jerry Shannon</a:t>
            </a:r>
          </a:p>
        </p:txBody>
      </p:sp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056418" y="1041719"/>
            <a:ext cx="225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This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1056418" y="1905506"/>
            <a:ext cx="108872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Z/t scores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Central limit theorem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Confidence intervals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Sampling</a:t>
            </a:r>
          </a:p>
        </p:txBody>
      </p:sp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D3D0-B962-CF92-4A6F-54366B42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759B9A3D-EE0A-7027-C68B-D069921DF92B}"/>
              </a:ext>
            </a:extLst>
          </p:cNvPr>
          <p:cNvSpPr txBox="1"/>
          <p:nvPr/>
        </p:nvSpPr>
        <p:spPr>
          <a:xfrm>
            <a:off x="1047081" y="955900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5F603DCC-752C-87BD-7578-AEA7626D67CD}"/>
              </a:ext>
            </a:extLst>
          </p:cNvPr>
          <p:cNvSpPr txBox="1"/>
          <p:nvPr/>
        </p:nvSpPr>
        <p:spPr>
          <a:xfrm>
            <a:off x="1013845" y="1866805"/>
            <a:ext cx="11212330" cy="91090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>
                <a:sym typeface="Arial"/>
              </a:rPr>
              <a:t>How many </a:t>
            </a:r>
            <a:r>
              <a:rPr lang="en-US" sz="2400" b="1" u="sng" dirty="0">
                <a:sym typeface="Arial"/>
              </a:rPr>
              <a:t>standard deviations</a:t>
            </a:r>
            <a:r>
              <a:rPr lang="en-US" sz="2400" b="1" dirty="0">
                <a:sym typeface="Arial"/>
              </a:rPr>
              <a:t> </a:t>
            </a:r>
            <a:r>
              <a:rPr lang="en-US" sz="2400" dirty="0">
                <a:sym typeface="Arial"/>
              </a:rPr>
              <a:t>is an observation from the </a:t>
            </a:r>
            <a:r>
              <a:rPr lang="en-US" sz="2400" b="1" u="sng" dirty="0">
                <a:sym typeface="Arial"/>
              </a:rPr>
              <a:t>mean</a:t>
            </a:r>
            <a:r>
              <a:rPr lang="en-US" sz="2400" dirty="0">
                <a:sym typeface="Arial"/>
              </a:rPr>
              <a:t>?</a:t>
            </a:r>
          </a:p>
        </p:txBody>
      </p:sp>
      <p:sp>
        <p:nvSpPr>
          <p:cNvPr id="11" name="Shape 121">
            <a:extLst>
              <a:ext uri="{FF2B5EF4-FFF2-40B4-BE49-F238E27FC236}">
                <a16:creationId xmlns:a16="http://schemas.microsoft.com/office/drawing/2014/main" id="{A8EBE025-4DCF-7F2E-11F5-DDBB99FC8030}"/>
              </a:ext>
            </a:extLst>
          </p:cNvPr>
          <p:cNvSpPr txBox="1"/>
          <p:nvPr/>
        </p:nvSpPr>
        <p:spPr>
          <a:xfrm>
            <a:off x="2048568" y="2465156"/>
            <a:ext cx="2849810" cy="106390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>
                <a:latin typeface="Gill Sans MT"/>
                <a:ea typeface="Gill Sans MT"/>
                <a:cs typeface="Gill Sans MT"/>
                <a:sym typeface="Gill Sans MT"/>
              </a:rPr>
              <a:t> </a:t>
            </a:r>
          </a:p>
        </p:txBody>
      </p:sp>
      <p:sp>
        <p:nvSpPr>
          <p:cNvPr id="12" name="Shape 339">
            <a:extLst>
              <a:ext uri="{FF2B5EF4-FFF2-40B4-BE49-F238E27FC236}">
                <a16:creationId xmlns:a16="http://schemas.microsoft.com/office/drawing/2014/main" id="{F0BAFF20-AC03-C310-B584-A203F4A5F812}"/>
              </a:ext>
            </a:extLst>
          </p:cNvPr>
          <p:cNvSpPr txBox="1"/>
          <p:nvPr/>
        </p:nvSpPr>
        <p:spPr>
          <a:xfrm>
            <a:off x="1013845" y="3529064"/>
            <a:ext cx="1071738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600" dirty="0">
                <a:sym typeface="Arial"/>
              </a:rPr>
              <a:t>These can also be called </a:t>
            </a:r>
            <a:r>
              <a:rPr lang="en-US" sz="2600" b="1" u="sng" dirty="0">
                <a:sym typeface="Arial"/>
              </a:rPr>
              <a:t>standardized anomalies</a:t>
            </a:r>
            <a:r>
              <a:rPr lang="en-US" sz="2600" dirty="0">
                <a:sym typeface="Arial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DB87-8C59-6695-1202-9320CAD92578}"/>
                  </a:ext>
                </a:extLst>
              </p:cNvPr>
              <p:cNvSpPr txBox="1"/>
              <p:nvPr/>
            </p:nvSpPr>
            <p:spPr>
              <a:xfrm>
                <a:off x="2048568" y="4206437"/>
                <a:ext cx="1500411" cy="984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&lt; -1</a:t>
                </a:r>
                <a:endParaRPr lang="en-US" sz="3200" b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DB87-8C59-6695-1202-9320CAD92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568" y="4206437"/>
                <a:ext cx="1500411" cy="984885"/>
              </a:xfrm>
              <a:prstGeom prst="rect">
                <a:avLst/>
              </a:prstGeom>
              <a:blipFill>
                <a:blip r:embed="rId3"/>
                <a:stretch>
                  <a:fillRect r="-8943" b="-2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290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941884" y="834408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 in practice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1030028" y="1745313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</a:t>
            </a:r>
            <a:r>
              <a:rPr lang="en-US" sz="2800" b="1" u="sng" dirty="0">
                <a:sym typeface="Arial"/>
              </a:rPr>
              <a:t>standard deviations</a:t>
            </a:r>
            <a:r>
              <a:rPr lang="en-US" sz="2800" b="1" dirty="0">
                <a:sym typeface="Arial"/>
              </a:rPr>
              <a:t> </a:t>
            </a:r>
            <a:r>
              <a:rPr lang="en-US" sz="2800" dirty="0">
                <a:sym typeface="Arial"/>
              </a:rPr>
              <a:t>is an observation from the </a:t>
            </a:r>
            <a:r>
              <a:rPr lang="en-US" sz="2800" b="1" u="sng" dirty="0">
                <a:sym typeface="Arial"/>
              </a:rPr>
              <a:t>mean</a:t>
            </a:r>
            <a:r>
              <a:rPr lang="en-US" sz="2800" dirty="0">
                <a:sym typeface="Arial"/>
              </a:rPr>
              <a:t>?</a:t>
            </a:r>
          </a:p>
        </p:txBody>
      </p:sp>
      <p:sp>
        <p:nvSpPr>
          <p:cNvPr id="11" name="Shape 121">
            <a:extLst>
              <a:ext uri="{FF2B5EF4-FFF2-40B4-BE49-F238E27FC236}">
                <a16:creationId xmlns:a16="http://schemas.microsoft.com/office/drawing/2014/main" id="{2D894076-B6BE-4ECC-AFE4-C67DBDA43C08}"/>
              </a:ext>
            </a:extLst>
          </p:cNvPr>
          <p:cNvSpPr txBox="1"/>
          <p:nvPr/>
        </p:nvSpPr>
        <p:spPr>
          <a:xfrm>
            <a:off x="3246190" y="2348990"/>
            <a:ext cx="2849810" cy="106390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>
                <a:latin typeface="Gill Sans MT"/>
                <a:ea typeface="Gill Sans MT"/>
                <a:cs typeface="Gill Sans MT"/>
                <a:sym typeface="Gill Sans MT"/>
              </a:rPr>
              <a:t> </a:t>
            </a:r>
          </a:p>
        </p:txBody>
      </p:sp>
      <p:sp>
        <p:nvSpPr>
          <p:cNvPr id="12" name="Shape 339">
            <a:extLst>
              <a:ext uri="{FF2B5EF4-FFF2-40B4-BE49-F238E27FC236}">
                <a16:creationId xmlns:a16="http://schemas.microsoft.com/office/drawing/2014/main" id="{167DD115-6235-4CC4-977A-0E0211C7BD01}"/>
              </a:ext>
            </a:extLst>
          </p:cNvPr>
          <p:cNvSpPr txBox="1"/>
          <p:nvPr/>
        </p:nvSpPr>
        <p:spPr>
          <a:xfrm>
            <a:off x="1030028" y="3412898"/>
            <a:ext cx="1071738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For a variable with a mean of 23 and a </a:t>
            </a:r>
            <a:r>
              <a:rPr lang="en-US" sz="2800" dirty="0" err="1">
                <a:sym typeface="Arial"/>
              </a:rPr>
              <a:t>s.d.</a:t>
            </a:r>
            <a:r>
              <a:rPr lang="en-US" sz="2800" dirty="0">
                <a:sym typeface="Arial"/>
              </a:rPr>
              <a:t> of 4, the z-score for 30 would be: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775D7-B7C4-4FCC-9388-BAD68252DA43}"/>
                  </a:ext>
                </a:extLst>
              </p:cNvPr>
              <p:cNvSpPr txBox="1"/>
              <p:nvPr/>
            </p:nvSpPr>
            <p:spPr>
              <a:xfrm>
                <a:off x="4004230" y="4232160"/>
                <a:ext cx="2895023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30 −23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=1.75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775D7-B7C4-4FCC-9388-BAD68252D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230" y="4232160"/>
                <a:ext cx="2895023" cy="921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F756198-E2B2-46A3-BB01-FE2F7E185AA9}"/>
              </a:ext>
            </a:extLst>
          </p:cNvPr>
          <p:cNvSpPr/>
          <p:nvPr/>
        </p:nvSpPr>
        <p:spPr>
          <a:xfrm>
            <a:off x="1030028" y="5346084"/>
            <a:ext cx="10844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ym typeface="Arial"/>
              </a:rPr>
              <a:t>What value would produce a z-score of negative 2?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078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1215762" y="934475"/>
            <a:ext cx="10646271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scores: Why do they matter?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1215761" y="1828800"/>
            <a:ext cx="10646271" cy="428068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400" dirty="0">
                <a:sym typeface="Arial"/>
              </a:rPr>
              <a:t>They provide an easy way to compare data from different distributions (e.g. daytime and nighttime temperatures)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400" dirty="0">
                <a:sym typeface="Arial"/>
              </a:rPr>
              <a:t>In a normal distribution, we can identify what percentage of observations fall within given range of Z scores.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endParaRPr lang="en-US" sz="2400" dirty="0">
              <a:sym typeface="Arial"/>
            </a:endParaRP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400" dirty="0">
                <a:sym typeface="Arial"/>
              </a:rPr>
              <a:t>Z scores of </a:t>
            </a:r>
            <a:r>
              <a:rPr lang="en-US" sz="2400" b="1" dirty="0">
                <a:solidFill>
                  <a:schemeClr val="accent2"/>
                </a:solidFill>
                <a:sym typeface="Arial"/>
              </a:rPr>
              <a:t>-1 to 1</a:t>
            </a:r>
            <a:r>
              <a:rPr lang="en-US" sz="2400" dirty="0">
                <a:sym typeface="Arial"/>
              </a:rPr>
              <a:t>: </a:t>
            </a:r>
            <a:r>
              <a:rPr lang="en-US" sz="2400" u="sng" dirty="0">
                <a:sym typeface="Arial"/>
              </a:rPr>
              <a:t>68% </a:t>
            </a:r>
            <a:r>
              <a:rPr lang="en-US" sz="2400" dirty="0">
                <a:sym typeface="Arial"/>
              </a:rPr>
              <a:t>of observations</a:t>
            </a: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400" dirty="0">
                <a:sym typeface="Arial"/>
              </a:rPr>
              <a:t>Z score of </a:t>
            </a:r>
            <a:r>
              <a:rPr lang="en-US" sz="2400" b="1" dirty="0">
                <a:solidFill>
                  <a:schemeClr val="accent2"/>
                </a:solidFill>
                <a:sym typeface="Arial"/>
              </a:rPr>
              <a:t>-1.75 to 1.75</a:t>
            </a:r>
            <a:r>
              <a:rPr lang="en-US" sz="2400" dirty="0">
                <a:sym typeface="Arial"/>
              </a:rPr>
              <a:t>: </a:t>
            </a:r>
            <a:r>
              <a:rPr lang="en-US" sz="2400" u="sng" dirty="0">
                <a:sym typeface="Arial"/>
              </a:rPr>
              <a:t>90%</a:t>
            </a:r>
            <a:r>
              <a:rPr lang="en-US" sz="2400" dirty="0">
                <a:sym typeface="Arial"/>
              </a:rPr>
              <a:t> of observations</a:t>
            </a: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400" dirty="0">
                <a:sym typeface="Arial"/>
              </a:rPr>
              <a:t>Z score of </a:t>
            </a:r>
            <a:r>
              <a:rPr lang="en-US" sz="2400" b="1" dirty="0">
                <a:solidFill>
                  <a:schemeClr val="accent2"/>
                </a:solidFill>
                <a:sym typeface="Arial"/>
              </a:rPr>
              <a:t>-1.96 to 1.96</a:t>
            </a:r>
            <a:r>
              <a:rPr lang="en-US" sz="2400" dirty="0">
                <a:sym typeface="Arial"/>
              </a:rPr>
              <a:t>: </a:t>
            </a:r>
            <a:r>
              <a:rPr lang="en-US" sz="2400" u="sng" dirty="0">
                <a:sym typeface="Arial"/>
              </a:rPr>
              <a:t>95%</a:t>
            </a:r>
            <a:r>
              <a:rPr lang="en-US" sz="2400" dirty="0">
                <a:sym typeface="Arial"/>
              </a:rPr>
              <a:t> of observations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64EBE-AA6A-45FA-BDB8-3AF3310AB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698" y="3269182"/>
            <a:ext cx="4098334" cy="2977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674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415902" y="465137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Data challenge!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979670" y="1878026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Pick a variable from our county census dataset. Transform its values to z-scores in Excel. You’ll need to: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Calculate the mean and standard deviation for all observations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Subtract the mean and divide by standard deviation for all observations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800" dirty="0"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counties are above 2? How many below -2? In what states/regions are these located?</a:t>
            </a:r>
          </a:p>
        </p:txBody>
      </p:sp>
    </p:spTree>
    <p:extLst>
      <p:ext uri="{BB962C8B-B14F-4D97-AF65-F5344CB8AC3E}">
        <p14:creationId xmlns:p14="http://schemas.microsoft.com/office/powerpoint/2010/main" val="88128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32173" y="107069"/>
            <a:ext cx="4328607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482B32-828E-F146-B1B9-17097C07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spcBef>
                <a:spcPts val="560"/>
              </a:spcBef>
            </a:pPr>
            <a:r>
              <a:rPr lang="en-US" sz="4000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  <a:t>The </a:t>
            </a:r>
            <a:r>
              <a:rPr lang="en-US" sz="4000" b="1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  <a:t>central limit theorem</a:t>
            </a:r>
            <a:br>
              <a:rPr lang="en-US" sz="2400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</a:br>
            <a:br>
              <a:rPr lang="en-US" sz="2000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</a:b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162B0-48CD-D1FA-89BD-458D3285F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  <a:t>What’s the relationship between </a:t>
            </a:r>
            <a:r>
              <a:rPr lang="en-US" sz="2400" b="1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  <a:t>the mean</a:t>
            </a:r>
            <a:r>
              <a:rPr lang="en-US" sz="2400" b="1" i="1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  <a:t> </a:t>
            </a:r>
            <a:r>
              <a:rPr lang="en-US" sz="2400" dirty="0">
                <a:solidFill>
                  <a:schemeClr val="bg1"/>
                </a:solidFill>
                <a:ea typeface="Gill Sans MT"/>
                <a:cs typeface="Gill Sans MT"/>
                <a:sym typeface="Gill Sans MT"/>
              </a:rPr>
              <a:t>of the sample population and the actual population?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92A2076-C336-4480-B722-8667F2C236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93" b="10587"/>
          <a:stretch/>
        </p:blipFill>
        <p:spPr>
          <a:xfrm>
            <a:off x="4417094" y="150175"/>
            <a:ext cx="6332256" cy="3772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B6193-0DBE-4E57-AED0-74B9BAFFC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030" y="4140174"/>
            <a:ext cx="3338252" cy="250368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C3EB27-B3BA-4CE0-811A-37CB85D2F519}"/>
              </a:ext>
            </a:extLst>
          </p:cNvPr>
          <p:cNvSpPr/>
          <p:nvPr/>
        </p:nvSpPr>
        <p:spPr>
          <a:xfrm>
            <a:off x="4417094" y="4140174"/>
            <a:ext cx="43636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/>
              <a:t>The actual mean is here </a:t>
            </a:r>
            <a:r>
              <a:rPr lang="en-US" sz="2000" b="1" i="1" dirty="0"/>
              <a:t>somewhere!</a:t>
            </a:r>
            <a:endParaRPr lang="en-US" sz="2000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98B781-9BB8-D52D-E951-41DC840DC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5776"/>
            <a:ext cx="3200400" cy="2286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Central limit theorem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32876C-FF99-25FB-EF76-8B089A1BB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distribution of </a:t>
            </a:r>
            <a:r>
              <a:rPr lang="en-US" sz="2400" b="1" u="sng" dirty="0">
                <a:solidFill>
                  <a:schemeClr val="bg1"/>
                </a:solidFill>
              </a:rPr>
              <a:t>sample means </a:t>
            </a:r>
            <a:r>
              <a:rPr lang="en-US" sz="2400" dirty="0">
                <a:solidFill>
                  <a:schemeClr val="bg1"/>
                </a:solidFill>
              </a:rPr>
              <a:t>is </a:t>
            </a:r>
            <a:r>
              <a:rPr lang="en-US" sz="2400" b="1" i="1" dirty="0">
                <a:solidFill>
                  <a:schemeClr val="bg1"/>
                </a:solidFill>
              </a:rPr>
              <a:t>normally distributed</a:t>
            </a:r>
            <a:r>
              <a:rPr lang="en-US" sz="2400" dirty="0">
                <a:solidFill>
                  <a:schemeClr val="bg1"/>
                </a:solidFill>
              </a:rPr>
              <a:t> and centers around the </a:t>
            </a:r>
            <a:r>
              <a:rPr lang="en-US" sz="2400" b="1" i="1" dirty="0">
                <a:solidFill>
                  <a:schemeClr val="bg1"/>
                </a:solidFill>
              </a:rPr>
              <a:t>population mean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9818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4131566D-0A7F-5B42-44F2-BCD308D0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9D5627-B797-D890-B8B4-0528B7EB0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/>
              <a:t>Statistics is MAGIC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CB0E2-29F0-C94E-1C5E-B1913BE1C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2573" y="1845734"/>
            <a:ext cx="482246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will roll our dice 10 times. For ~95% of us, the mean value of those rolls will be between </a:t>
            </a:r>
            <a:r>
              <a:rPr lang="en-US" b="1" dirty="0"/>
              <a:t>5.5 </a:t>
            </a:r>
            <a:r>
              <a:rPr lang="en-US" dirty="0"/>
              <a:t>and </a:t>
            </a:r>
            <a:r>
              <a:rPr lang="en-US" b="1" dirty="0"/>
              <a:t>8.5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For the whole class, the mean of all the dice rolls will be between </a:t>
            </a:r>
            <a:r>
              <a:rPr lang="en-US" b="1" dirty="0"/>
              <a:t>6.5</a:t>
            </a:r>
            <a:r>
              <a:rPr lang="en-US" dirty="0"/>
              <a:t> and </a:t>
            </a:r>
            <a:r>
              <a:rPr lang="en-US" b="1" dirty="0"/>
              <a:t>7.5.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3A53BA05-6BF2-1AA7-21A6-E6EEDF51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9</a:t>
            </a:fld>
            <a:endParaRPr lang="en-US"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 descr="Magician Showing Trick with Playing Cards Stock Image - Image of ...">
            <a:extLst>
              <a:ext uri="{FF2B5EF4-FFF2-40B4-BE49-F238E27FC236}">
                <a16:creationId xmlns:a16="http://schemas.microsoft.com/office/drawing/2014/main" id="{CAD5AA59-1095-BC6C-86B5-9C1CE7C3BA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93" r="19986"/>
          <a:stretch>
            <a:fillRect/>
          </a:stretch>
        </p:blipFill>
        <p:spPr>
          <a:xfrm>
            <a:off x="7305261" y="722558"/>
            <a:ext cx="4174434" cy="514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10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1099622" y="943032"/>
            <a:ext cx="2178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Let’s roll!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1099622" y="1967051"/>
            <a:ext cx="41359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Roll your dice 10 times. Put the results on this page: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2" descr="Image result for craps roll">
            <a:extLst>
              <a:ext uri="{FF2B5EF4-FFF2-40B4-BE49-F238E27FC236}">
                <a16:creationId xmlns:a16="http://schemas.microsoft.com/office/drawing/2014/main" id="{6101027D-E081-FF81-2526-99B191E714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5" b="3"/>
          <a:stretch>
            <a:fillRect/>
          </a:stretch>
        </p:blipFill>
        <p:spPr bwMode="auto">
          <a:xfrm>
            <a:off x="5517198" y="777931"/>
            <a:ext cx="6493618" cy="5291096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FB7F88-1925-7115-2437-6EF534B6D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261" y="3181293"/>
            <a:ext cx="24384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7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32CB5925-41BB-5B68-9839-A74310CC6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>
            <a:extLst>
              <a:ext uri="{FF2B5EF4-FFF2-40B4-BE49-F238E27FC236}">
                <a16:creationId xmlns:a16="http://schemas.microsoft.com/office/drawing/2014/main" id="{FB0E782A-AC5F-FB88-C3DB-7089A6060C73}"/>
              </a:ext>
            </a:extLst>
          </p:cNvPr>
          <p:cNvSpPr txBox="1"/>
          <p:nvPr/>
        </p:nvSpPr>
        <p:spPr>
          <a:xfrm>
            <a:off x="1097280" y="5074920"/>
            <a:ext cx="10113264" cy="540953"/>
          </a:xfrm>
          <a:prstGeom prst="rect">
            <a:avLst/>
          </a:prstGeom>
        </p:spPr>
        <p:txBody>
          <a:bodyPr vert="horz" lIns="91440" tIns="0" rIns="91440" bIns="0" rtlCol="0" anchor="b" anchorCtr="0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>
                <a:srgbClr val="FFFF66"/>
              </a:buClr>
              <a:buSzPct val="25000"/>
            </a:pPr>
            <a:r>
              <a:rPr lang="en-US" sz="3600" b="0" kern="1200" spc="-50" baseline="0" dirty="0">
                <a:solidFill>
                  <a:srgbClr val="FFFFFF"/>
                </a:solidFill>
                <a:effectLst/>
                <a:latin typeface="Sitka Display Semibold" pitchFamily="2" charset="0"/>
                <a:ea typeface="+mj-ea"/>
                <a:cs typeface="+mj-cs"/>
              </a:rPr>
              <a:t>Did our prediction come true?</a:t>
            </a:r>
          </a:p>
        </p:txBody>
      </p:sp>
      <p:pic>
        <p:nvPicPr>
          <p:cNvPr id="5" name="Picture 4" descr="Magician Archetype - Channeling Power in the Light &amp; Shadow">
            <a:extLst>
              <a:ext uri="{FF2B5EF4-FFF2-40B4-BE49-F238E27FC236}">
                <a16:creationId xmlns:a16="http://schemas.microsoft.com/office/drawing/2014/main" id="{47665A19-D3DD-BB16-9B72-72F1E223A9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92" b="35456"/>
          <a:stretch>
            <a:fillRect/>
          </a:stretch>
        </p:blipFill>
        <p:spPr>
          <a:xfrm>
            <a:off x="15" y="10"/>
            <a:ext cx="12191985" cy="4915066"/>
          </a:xfrm>
          <a:prstGeom prst="rect">
            <a:avLst/>
          </a:prstGeom>
          <a:noFill/>
        </p:spPr>
      </p:pic>
      <p:sp>
        <p:nvSpPr>
          <p:cNvPr id="137" name="Text Placeholder 3">
            <a:extLst>
              <a:ext uri="{FF2B5EF4-FFF2-40B4-BE49-F238E27FC236}">
                <a16:creationId xmlns:a16="http://schemas.microsoft.com/office/drawing/2014/main" id="{9DB1344B-098C-452B-02F1-8EEB89AEB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80" y="5696793"/>
            <a:ext cx="10113264" cy="1033190"/>
          </a:xfrm>
        </p:spPr>
        <p:txBody>
          <a:bodyPr>
            <a:normAutofit/>
          </a:bodyPr>
          <a:lstStyle/>
          <a:p>
            <a:r>
              <a:rPr lang="en-US" sz="2000" dirty="0"/>
              <a:t>For ~95% of us, the mean value of those rolls will be between </a:t>
            </a:r>
            <a:r>
              <a:rPr lang="en-US" sz="2000" b="1" dirty="0"/>
              <a:t>5.5 </a:t>
            </a:r>
            <a:r>
              <a:rPr lang="en-US" sz="2000" dirty="0"/>
              <a:t>and </a:t>
            </a:r>
            <a:r>
              <a:rPr lang="en-US" sz="2000" b="1" dirty="0"/>
              <a:t>8.5</a:t>
            </a:r>
            <a:r>
              <a:rPr lang="en-US" sz="2000" dirty="0"/>
              <a:t>.</a:t>
            </a:r>
          </a:p>
          <a:p>
            <a:r>
              <a:rPr lang="en-US" sz="2000" dirty="0"/>
              <a:t>For the whole class, the mean of all the dice rolls will be between </a:t>
            </a:r>
            <a:r>
              <a:rPr lang="en-US" sz="2000" b="1" dirty="0"/>
              <a:t>6.5</a:t>
            </a:r>
            <a:r>
              <a:rPr lang="en-US" sz="2000" dirty="0"/>
              <a:t> and </a:t>
            </a:r>
            <a:r>
              <a:rPr lang="en-US" sz="2000" b="1" dirty="0"/>
              <a:t>7.5.</a:t>
            </a:r>
          </a:p>
        </p:txBody>
      </p:sp>
      <p:sp>
        <p:nvSpPr>
          <p:cNvPr id="139" name="Slide Number Placeholder 4">
            <a:extLst>
              <a:ext uri="{FF2B5EF4-FFF2-40B4-BE49-F238E27FC236}">
                <a16:creationId xmlns:a16="http://schemas.microsoft.com/office/drawing/2014/main" id="{5F0745DE-E747-DE10-DEC5-46DBC91F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pPr>
              <a:spcAft>
                <a:spcPts val="600"/>
              </a:spcAft>
              <a:buSzPct val="25000"/>
            </a:pPr>
            <a:fld id="{00000000-1234-1234-1234-123412341234}" type="slidenum">
              <a:rPr lang="en-US" sz="1200" smtClean="0">
                <a:latin typeface="Calibri"/>
                <a:ea typeface="Calibri"/>
                <a:cs typeface="Calibri"/>
                <a:sym typeface="Calibri"/>
              </a:rPr>
              <a:pPr>
                <a:spcAft>
                  <a:spcPts val="600"/>
                </a:spcAft>
                <a:buSzPct val="25000"/>
              </a:pPr>
              <a:t>11</a:t>
            </a:fld>
            <a:endParaRPr lang="en-US" sz="12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2931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122771" y="2087745"/>
            <a:ext cx="10621816" cy="444621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  <a:latin typeface="+mj-lt"/>
                <a:ea typeface="Gill Sans MT"/>
                <a:cs typeface="Gill Sans MT"/>
                <a:sym typeface="Gill Sans MT"/>
              </a:rPr>
              <a:t>Samples: </a:t>
            </a:r>
            <a:r>
              <a:rPr lang="en-US" sz="2800" dirty="0">
                <a:latin typeface="+mj-lt"/>
                <a:ea typeface="Gill Sans MT"/>
                <a:cs typeface="Gill Sans MT"/>
                <a:sym typeface="Gill Sans MT"/>
              </a:rPr>
              <a:t>Each </a:t>
            </a:r>
            <a:r>
              <a:rPr lang="en-US" sz="2800" u="sng" dirty="0">
                <a:latin typeface="+mj-lt"/>
                <a:ea typeface="Gill Sans MT"/>
                <a:cs typeface="Gill Sans MT"/>
                <a:sym typeface="Gill Sans MT"/>
              </a:rPr>
              <a:t>individual set </a:t>
            </a:r>
            <a:r>
              <a:rPr lang="en-US" sz="2800" dirty="0">
                <a:latin typeface="+mj-lt"/>
                <a:ea typeface="Gill Sans MT"/>
                <a:cs typeface="Gill Sans MT"/>
                <a:sym typeface="Gill Sans MT"/>
              </a:rPr>
              <a:t>of 10 dice rolls</a:t>
            </a: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  <a:latin typeface="+mj-lt"/>
                <a:ea typeface="Gill Sans MT"/>
                <a:cs typeface="Gill Sans MT"/>
                <a:sym typeface="Gill Sans MT"/>
              </a:rPr>
              <a:t>Sample mean distribution: </a:t>
            </a:r>
            <a:r>
              <a:rPr lang="en-US" sz="2800" dirty="0">
                <a:latin typeface="+mj-lt"/>
                <a:ea typeface="Gill Sans MT"/>
                <a:cs typeface="Gill Sans MT"/>
                <a:sym typeface="Gill Sans MT"/>
              </a:rPr>
              <a:t>The </a:t>
            </a:r>
            <a:r>
              <a:rPr lang="en-US" sz="2800" u="sng" dirty="0">
                <a:latin typeface="+mj-lt"/>
                <a:ea typeface="Gill Sans MT"/>
                <a:cs typeface="Gill Sans MT"/>
                <a:sym typeface="Gill Sans MT"/>
              </a:rPr>
              <a:t>mean values </a:t>
            </a:r>
            <a:r>
              <a:rPr lang="en-US" sz="2800" dirty="0">
                <a:latin typeface="+mj-lt"/>
                <a:ea typeface="Gill Sans MT"/>
                <a:cs typeface="Gill Sans MT"/>
                <a:sym typeface="Gill Sans MT"/>
              </a:rPr>
              <a:t>for each sample of 10 dice rolls</a:t>
            </a: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2"/>
                </a:solidFill>
                <a:latin typeface="+mj-lt"/>
                <a:ea typeface="Gill Sans MT"/>
                <a:cs typeface="Gill Sans MT"/>
                <a:sym typeface="Gill Sans MT"/>
              </a:rPr>
              <a:t>Standard error: </a:t>
            </a:r>
            <a:r>
              <a:rPr lang="en-US" sz="2800" dirty="0">
                <a:latin typeface="+mj-lt"/>
                <a:ea typeface="Gill Sans MT"/>
                <a:cs typeface="Gill Sans MT"/>
                <a:sym typeface="Gill Sans MT"/>
              </a:rPr>
              <a:t>The </a:t>
            </a:r>
            <a:r>
              <a:rPr lang="en-US" sz="2800" u="sng" dirty="0">
                <a:latin typeface="+mj-lt"/>
                <a:ea typeface="Gill Sans MT"/>
                <a:cs typeface="Gill Sans MT"/>
                <a:sym typeface="Gill Sans MT"/>
              </a:rPr>
              <a:t>standard deviation </a:t>
            </a:r>
            <a:r>
              <a:rPr lang="en-US" sz="2800" dirty="0">
                <a:latin typeface="+mj-lt"/>
                <a:ea typeface="Gill Sans MT"/>
                <a:cs typeface="Gill Sans MT"/>
                <a:sym typeface="Gill Sans MT"/>
              </a:rPr>
              <a:t>of the sample mean distribution</a:t>
            </a: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2"/>
                </a:solidFill>
                <a:latin typeface="+mj-lt"/>
                <a:ea typeface="Gill Sans MT"/>
                <a:cs typeface="Gill Sans MT"/>
                <a:sym typeface="Gill Sans MT"/>
              </a:rPr>
              <a:t>Population: </a:t>
            </a:r>
            <a:r>
              <a:rPr lang="en-US" sz="2800" u="sng" dirty="0">
                <a:latin typeface="+mj-lt"/>
                <a:ea typeface="Gill Sans MT"/>
                <a:cs typeface="Gill Sans MT"/>
                <a:sym typeface="Gill Sans MT"/>
              </a:rPr>
              <a:t>All</a:t>
            </a:r>
            <a:r>
              <a:rPr lang="en-US" sz="2800" dirty="0">
                <a:latin typeface="+mj-lt"/>
                <a:ea typeface="Gill Sans MT"/>
                <a:cs typeface="Gill Sans MT"/>
                <a:sym typeface="Gill Sans MT"/>
              </a:rPr>
              <a:t> possible means for of 10 dice rolls in the universe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4766B-AFD9-A940-580A-7648053A0318}"/>
              </a:ext>
            </a:extLst>
          </p:cNvPr>
          <p:cNvSpPr txBox="1"/>
          <p:nvPr/>
        </p:nvSpPr>
        <p:spPr>
          <a:xfrm>
            <a:off x="1122770" y="867955"/>
            <a:ext cx="60973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Identifying our terms</a:t>
            </a:r>
          </a:p>
        </p:txBody>
      </p:sp>
    </p:spTree>
    <p:extLst>
      <p:ext uri="{BB962C8B-B14F-4D97-AF65-F5344CB8AC3E}">
        <p14:creationId xmlns:p14="http://schemas.microsoft.com/office/powerpoint/2010/main" val="1871682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1268397" y="787254"/>
            <a:ext cx="4922010" cy="8309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Standard error</a:t>
            </a: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8B244-D561-4B57-B629-4082CA518482}"/>
              </a:ext>
            </a:extLst>
          </p:cNvPr>
          <p:cNvSpPr/>
          <p:nvPr/>
        </p:nvSpPr>
        <p:spPr>
          <a:xfrm>
            <a:off x="5643694" y="227483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How many </a:t>
            </a:r>
            <a:r>
              <a:rPr lang="en-US" sz="2400" b="1" u="sng" dirty="0"/>
              <a:t>sample means</a:t>
            </a:r>
            <a:r>
              <a:rPr lang="en-US" sz="2400" dirty="0"/>
              <a:t> fit within 1 standard error of the mean? Within 2 standard errors?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22A0B2-861B-4AE9-9C08-36F6F14BE3BF}"/>
                  </a:ext>
                </a:extLst>
              </p:cNvPr>
              <p:cNvSpPr txBox="1"/>
              <p:nvPr/>
            </p:nvSpPr>
            <p:spPr>
              <a:xfrm>
                <a:off x="1268397" y="2030925"/>
                <a:ext cx="2363339" cy="1398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22A0B2-861B-4AE9-9C08-36F6F14BE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397" y="2030925"/>
                <a:ext cx="2363339" cy="1398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1C689B-9170-44EF-BEEC-D467D38D63A6}"/>
                  </a:ext>
                </a:extLst>
              </p:cNvPr>
              <p:cNvSpPr/>
              <p:nvPr/>
            </p:nvSpPr>
            <p:spPr>
              <a:xfrm>
                <a:off x="1276271" y="3670088"/>
                <a:ext cx="43674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/>
                  <a:t>=standard deviation of sample or population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1C689B-9170-44EF-BEEC-D467D38D6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271" y="3670088"/>
                <a:ext cx="4367423" cy="830997"/>
              </a:xfrm>
              <a:prstGeom prst="rect">
                <a:avLst/>
              </a:prstGeom>
              <a:blipFill>
                <a:blip r:embed="rId4"/>
                <a:stretch>
                  <a:fillRect l="-2092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53C7F2C-5BF3-356E-E706-58901B887D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5985" y="3670088"/>
            <a:ext cx="3462499" cy="2515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2451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6EBCD4F6-7EFA-A6AC-B442-80D87C53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>
            <a:extLst>
              <a:ext uri="{FF2B5EF4-FFF2-40B4-BE49-F238E27FC236}">
                <a16:creationId xmlns:a16="http://schemas.microsoft.com/office/drawing/2014/main" id="{7C2CBB04-2D25-925A-1C08-E1781E16FD9A}"/>
              </a:ext>
            </a:extLst>
          </p:cNvPr>
          <p:cNvSpPr txBox="1"/>
          <p:nvPr/>
        </p:nvSpPr>
        <p:spPr>
          <a:xfrm>
            <a:off x="1268397" y="787254"/>
            <a:ext cx="8943752" cy="830997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Standard error for dice rolling</a:t>
            </a: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3ABCD5-7706-B7E7-3E05-A9A23C9C1138}"/>
              </a:ext>
            </a:extLst>
          </p:cNvPr>
          <p:cNvSpPr/>
          <p:nvPr/>
        </p:nvSpPr>
        <p:spPr>
          <a:xfrm>
            <a:off x="5643694" y="2274838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The </a:t>
            </a:r>
            <a:r>
              <a:rPr lang="en-US" sz="2400" b="1" i="1" dirty="0"/>
              <a:t>mean</a:t>
            </a:r>
            <a:r>
              <a:rPr lang="en-US" sz="2400" dirty="0"/>
              <a:t> of rolling two dice is 7</a:t>
            </a:r>
          </a:p>
          <a:p>
            <a:r>
              <a:rPr lang="en-US" sz="2400" dirty="0"/>
              <a:t>The </a:t>
            </a:r>
            <a:r>
              <a:rPr lang="en-US" sz="2400" b="1" i="1" dirty="0"/>
              <a:t>standard deviation </a:t>
            </a:r>
            <a:r>
              <a:rPr lang="en-US" sz="2400" dirty="0"/>
              <a:t>of rolling two dice is 2.42.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What’s the standard error for 10 dice rolls?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What’s the standard error for all our dice rolls?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046E68-E243-289A-84C3-224800586196}"/>
                  </a:ext>
                </a:extLst>
              </p:cNvPr>
              <p:cNvSpPr txBox="1"/>
              <p:nvPr/>
            </p:nvSpPr>
            <p:spPr>
              <a:xfrm>
                <a:off x="1268397" y="2030925"/>
                <a:ext cx="2363339" cy="1398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1046E68-E243-289A-84C3-224800586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397" y="2030925"/>
                <a:ext cx="2363339" cy="1398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90006-B7B8-0034-7E09-275902F8ECEA}"/>
                  </a:ext>
                </a:extLst>
              </p:cNvPr>
              <p:cNvSpPr/>
              <p:nvPr/>
            </p:nvSpPr>
            <p:spPr>
              <a:xfrm>
                <a:off x="1276271" y="3670088"/>
                <a:ext cx="43674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400" dirty="0"/>
                  <a:t>=standard deviation of sample or population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90006-B7B8-0034-7E09-275902F8EC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271" y="3670088"/>
                <a:ext cx="4367423" cy="830997"/>
              </a:xfrm>
              <a:prstGeom prst="rect">
                <a:avLst/>
              </a:prstGeom>
              <a:blipFill>
                <a:blip r:embed="rId4"/>
                <a:stretch>
                  <a:fillRect l="-2092" t="-5147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789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53FA78-EEA5-EC03-1334-BCC094645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147" y="228600"/>
            <a:ext cx="6400800" cy="64008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E3E3813-E9F7-21EE-1883-12FB7D78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Gill Sans MT"/>
                <a:cs typeface="Gill Sans MT"/>
                <a:sym typeface="Gill Sans MT"/>
              </a:rPr>
              <a:t>Confidence intervals</a:t>
            </a:r>
            <a:br>
              <a:rPr lang="en-US" sz="2000" b="1" dirty="0">
                <a:ea typeface="Gill Sans MT"/>
                <a:cs typeface="Gill Sans MT"/>
                <a:sym typeface="Gill Sans MT"/>
              </a:rPr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36EC06-A414-8810-B850-637748B4B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Predicts the range that will include the </a:t>
            </a:r>
            <a:r>
              <a:rPr lang="en-US" sz="3200" b="1" i="1" dirty="0"/>
              <a:t>ACTUAL</a:t>
            </a:r>
            <a:r>
              <a:rPr lang="en-US" sz="3200" dirty="0"/>
              <a:t> mean</a:t>
            </a:r>
          </a:p>
        </p:txBody>
      </p:sp>
    </p:spTree>
    <p:extLst>
      <p:ext uri="{BB962C8B-B14F-4D97-AF65-F5344CB8AC3E}">
        <p14:creationId xmlns:p14="http://schemas.microsoft.com/office/powerpoint/2010/main" val="4149517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960808" y="922492"/>
            <a:ext cx="8999937" cy="56381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</a:t>
            </a:r>
            <a:endParaRPr lang="en-US" sz="24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4" name="Shape 172">
            <a:extLst>
              <a:ext uri="{FF2B5EF4-FFF2-40B4-BE49-F238E27FC236}">
                <a16:creationId xmlns:a16="http://schemas.microsoft.com/office/drawing/2014/main" id="{D0114048-46AB-4E82-A685-F0CF46805DA3}"/>
              </a:ext>
            </a:extLst>
          </p:cNvPr>
          <p:cNvSpPr txBox="1"/>
          <p:nvPr/>
        </p:nvSpPr>
        <p:spPr>
          <a:xfrm>
            <a:off x="1102800" y="1823201"/>
            <a:ext cx="7540625" cy="181588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Three ingredients for a confidence interval: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Sample mean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Standard error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Z-score for the confidence interval</a:t>
            </a: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endParaRPr lang="en-US" sz="24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Margin of error = z-score * the standard error</a:t>
            </a: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Subtract and add this MOE to the sample mean</a:t>
            </a: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endParaRPr lang="en-US" sz="24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400" dirty="0">
                <a:ea typeface="Gill Sans MT"/>
                <a:cs typeface="Gill Sans MT"/>
                <a:sym typeface="Gill Sans MT"/>
              </a:rPr>
              <a:t>What’s the confidence interval for each of your three dice roll samples? How many include the actual mean of 7?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A8011-5113-4555-B749-F3416585979D}"/>
                  </a:ext>
                </a:extLst>
              </p:cNvPr>
              <p:cNvSpPr txBox="1"/>
              <p:nvPr/>
            </p:nvSpPr>
            <p:spPr>
              <a:xfrm>
                <a:off x="8867852" y="2940045"/>
                <a:ext cx="2363339" cy="1398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A8011-5113-4555-B749-F34165859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852" y="2940045"/>
                <a:ext cx="2363339" cy="1398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790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701068" y="994300"/>
            <a:ext cx="7148011" cy="76634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 for proportions</a:t>
            </a:r>
            <a:endParaRPr lang="en-US" sz="2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6" name="Shape 255">
            <a:extLst>
              <a:ext uri="{FF2B5EF4-FFF2-40B4-BE49-F238E27FC236}">
                <a16:creationId xmlns:a16="http://schemas.microsoft.com/office/drawing/2014/main" id="{F2EB5C37-FFDF-48E3-B272-2AED3030B44C}"/>
              </a:ext>
            </a:extLst>
          </p:cNvPr>
          <p:cNvSpPr txBox="1"/>
          <p:nvPr/>
        </p:nvSpPr>
        <p:spPr>
          <a:xfrm>
            <a:off x="644589" y="1848969"/>
            <a:ext cx="7010400" cy="224676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You asked 50 households in Athens if they keep chickens on their property. Three said they did. Create a confidence interval for the proportion of chicken owning households in the city.</a:t>
            </a:r>
          </a:p>
        </p:txBody>
      </p:sp>
      <p:pic>
        <p:nvPicPr>
          <p:cNvPr id="7" name="Shape 256" descr="http://modernsurvivalonline.com/wp-content/uploads/2014/01/Chicken1.jpg">
            <a:extLst>
              <a:ext uri="{FF2B5EF4-FFF2-40B4-BE49-F238E27FC236}">
                <a16:creationId xmlns:a16="http://schemas.microsoft.com/office/drawing/2014/main" id="{29D31E35-1870-405C-B672-D6B446804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0399" y="4377792"/>
            <a:ext cx="4032683" cy="2365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Shape 246">
            <a:extLst>
              <a:ext uri="{FF2B5EF4-FFF2-40B4-BE49-F238E27FC236}">
                <a16:creationId xmlns:a16="http://schemas.microsoft.com/office/drawing/2014/main" id="{E284F3ED-4E8B-4EFA-9A73-DD6E0B41A86E}"/>
              </a:ext>
            </a:extLst>
          </p:cNvPr>
          <p:cNvGrpSpPr/>
          <p:nvPr/>
        </p:nvGrpSpPr>
        <p:grpSpPr>
          <a:xfrm>
            <a:off x="8043169" y="994300"/>
            <a:ext cx="3532451" cy="1597979"/>
            <a:chOff x="1245591" y="2667000"/>
            <a:chExt cx="2907308" cy="1371599"/>
          </a:xfrm>
        </p:grpSpPr>
        <p:sp>
          <p:nvSpPr>
            <p:cNvPr id="9" name="Shape 247">
              <a:extLst>
                <a:ext uri="{FF2B5EF4-FFF2-40B4-BE49-F238E27FC236}">
                  <a16:creationId xmlns:a16="http://schemas.microsoft.com/office/drawing/2014/main" id="{1008F3C6-BBF7-49D0-8241-58350E5F11AB}"/>
                </a:ext>
              </a:extLst>
            </p:cNvPr>
            <p:cNvSpPr/>
            <p:nvPr/>
          </p:nvSpPr>
          <p:spPr>
            <a:xfrm>
              <a:off x="1245591" y="2667000"/>
              <a:ext cx="2907308" cy="1371599"/>
            </a:xfrm>
            <a:prstGeom prst="rect">
              <a:avLst/>
            </a:prstGeom>
            <a:solidFill>
              <a:srgbClr val="F2F2F2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Gill Sans MT"/>
                <a:ea typeface="Gill Sans MT"/>
                <a:cs typeface="Gill Sans MT"/>
                <a:sym typeface="Gill Sans MT"/>
              </a:endParaRPr>
            </a:p>
          </p:txBody>
        </p:sp>
        <p:pic>
          <p:nvPicPr>
            <p:cNvPr id="10" name="Shape 248">
              <a:extLst>
                <a:ext uri="{FF2B5EF4-FFF2-40B4-BE49-F238E27FC236}">
                  <a16:creationId xmlns:a16="http://schemas.microsoft.com/office/drawing/2014/main" id="{552E9EC0-FD7F-46D7-9372-80BAB0F5261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45591" y="2743378"/>
              <a:ext cx="2884091" cy="11868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Picture 4" descr="ryan gosling hey girl - Hey girl Check out my confidence interval">
            <a:extLst>
              <a:ext uri="{FF2B5EF4-FFF2-40B4-BE49-F238E27FC236}">
                <a16:creationId xmlns:a16="http://schemas.microsoft.com/office/drawing/2014/main" id="{C1F1758C-3E48-490C-812D-D2E67DB02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620" y="2828523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492810"/>
      </p:ext>
    </p:extLst>
  </p:cSld>
  <p:clrMapOvr>
    <a:masterClrMapping/>
  </p:clrMapOvr>
</p:sld>
</file>

<file path=ppt/theme/theme1.xml><?xml version="1.0" encoding="utf-8"?>
<a:theme xmlns:a="http://schemas.openxmlformats.org/drawingml/2006/main" name="4300 theme">
  <a:themeElements>
    <a:clrScheme name="Custom 5">
      <a:dk1>
        <a:srgbClr val="3F3F3F"/>
      </a:dk1>
      <a:lt1>
        <a:sysClr val="window" lastClr="FFFFFF"/>
      </a:lt1>
      <a:dk2>
        <a:srgbClr val="637052"/>
      </a:dk2>
      <a:lt2>
        <a:srgbClr val="CCDDEA"/>
      </a:lt2>
      <a:accent1>
        <a:srgbClr val="E5A99F"/>
      </a:accent1>
      <a:accent2>
        <a:srgbClr val="B23838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1">
      <a:majorFont>
        <a:latin typeface="Sitka Display Semibold"/>
        <a:ea typeface=""/>
        <a:cs typeface=""/>
      </a:majorFont>
      <a:minorFont>
        <a:latin typeface="Segoe UI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g4300_L01-Introductions" id="{FA51A00F-822B-41B5-AA4A-2C123A5E9355}" vid="{2F9C99DD-B25B-4D9F-92B4-7DCE57BD0F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689</Words>
  <Application>Microsoft Office PowerPoint</Application>
  <PresentationFormat>Widescreen</PresentationFormat>
  <Paragraphs>95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Gill Sans MT</vt:lpstr>
      <vt:lpstr>Segoe UI</vt:lpstr>
      <vt:lpstr>Sitka Display Semibold</vt:lpstr>
      <vt:lpstr>4300 theme</vt:lpstr>
      <vt:lpstr>Central limit theorem and confidence intervals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central limit theorem  </vt:lpstr>
      <vt:lpstr>Central limit theorem</vt:lpstr>
      <vt:lpstr>Statistics is MAGIC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Confidence intervals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data</dc:title>
  <dc:creator>Gerald Shannon</dc:creator>
  <cp:lastModifiedBy>Jerry Shannon</cp:lastModifiedBy>
  <cp:revision>77</cp:revision>
  <dcterms:modified xsi:type="dcterms:W3CDTF">2026-10-15T15:41:03Z</dcterms:modified>
</cp:coreProperties>
</file>