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4" r:id="rId9"/>
    <p:sldId id="325" r:id="rId10"/>
    <p:sldId id="329" r:id="rId11"/>
    <p:sldId id="328" r:id="rId12"/>
    <p:sldId id="314" r:id="rId13"/>
    <p:sldId id="330" r:id="rId14"/>
    <p:sldId id="33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1722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5299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3336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6753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6740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4651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7800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607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1857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524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7073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180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027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_BxZAEPUvZY_Kl-ijvG-0NdT1Hfle4rKTZaJxVvoKQ/edit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451" y="3979334"/>
            <a:ext cx="11073468" cy="1828801"/>
          </a:xfrm>
        </p:spPr>
        <p:txBody>
          <a:bodyPr>
            <a:normAutofit/>
          </a:bodyPr>
          <a:lstStyle/>
          <a:p>
            <a:r>
              <a:rPr lang="en-US" dirty="0"/>
              <a:t>Week 11: Multivariate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808133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Geog4300: Shannon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A49735-1C8B-40BC-8DD5-C08C44825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763" y="171450"/>
            <a:ext cx="6346473" cy="380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01">
            <a:extLst>
              <a:ext uri="{FF2B5EF4-FFF2-40B4-BE49-F238E27FC236}">
                <a16:creationId xmlns:a16="http://schemas.microsoft.com/office/drawing/2014/main" id="{6E82EB7D-8D71-4CFF-A93D-A734763EFEF7}"/>
              </a:ext>
            </a:extLst>
          </p:cNvPr>
          <p:cNvSpPr txBox="1"/>
          <p:nvPr/>
        </p:nvSpPr>
        <p:spPr>
          <a:xfrm>
            <a:off x="177553" y="200501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Multivariate regression: </a:t>
            </a:r>
          </a:p>
          <a:p>
            <a:pPr>
              <a:buSzPct val="25000"/>
            </a:pP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Why to include more variables?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51B92-4161-48C8-A39C-E6863EA9FF89}"/>
              </a:ext>
            </a:extLst>
          </p:cNvPr>
          <p:cNvSpPr/>
          <p:nvPr/>
        </p:nvSpPr>
        <p:spPr>
          <a:xfrm>
            <a:off x="612395" y="1545929"/>
            <a:ext cx="1130878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Because more than one independent variable might be relevant.</a:t>
            </a:r>
          </a:p>
          <a:p>
            <a:pPr marL="514350" indent="-514350">
              <a:buAutoNum type="arabicPeriod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Because you want to rule out (or “control for”) other factors.</a:t>
            </a:r>
          </a:p>
        </p:txBody>
      </p:sp>
    </p:spTree>
    <p:extLst>
      <p:ext uri="{BB962C8B-B14F-4D97-AF65-F5344CB8AC3E}">
        <p14:creationId xmlns:p14="http://schemas.microsoft.com/office/powerpoint/2010/main" val="1817684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01">
            <a:extLst>
              <a:ext uri="{FF2B5EF4-FFF2-40B4-BE49-F238E27FC236}">
                <a16:creationId xmlns:a16="http://schemas.microsoft.com/office/drawing/2014/main" id="{6E82EB7D-8D71-4CFF-A93D-A734763EFEF7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An example: What census variables would be associated with the per capita count of Waffle Houses in a county?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ABAC82-1879-4A83-A082-6F2347AE6D26}"/>
              </a:ext>
            </a:extLst>
          </p:cNvPr>
          <p:cNvSpPr/>
          <p:nvPr/>
        </p:nvSpPr>
        <p:spPr>
          <a:xfrm>
            <a:off x="648747" y="1499099"/>
            <a:ext cx="1026671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Race/Ethnicity</a:t>
            </a:r>
            <a:r>
              <a:rPr lang="en-US" sz="2800" dirty="0">
                <a:solidFill>
                  <a:srgbClr val="FFC000"/>
                </a:solidFill>
              </a:rPr>
              <a:t>: </a:t>
            </a:r>
            <a:r>
              <a:rPr lang="en-US" sz="2800" dirty="0"/>
              <a:t>% classified White, Black, American Indian, Asian, Hispanic, Hawaiian/Pacific Islander,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Educational attainment: </a:t>
            </a:r>
            <a:r>
              <a:rPr lang="en-US" sz="2800" dirty="0"/>
              <a:t>% Less than high school, High school graduate, Some college, BA Degree, Graduate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% in poverty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Nativity: </a:t>
            </a:r>
            <a:r>
              <a:rPr lang="en-US" sz="2800" dirty="0"/>
              <a:t>Naturalized/native citizen, Foreign-born naturalized, Foreign-born/not a citizen</a:t>
            </a: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C2151-3962-42BC-9B15-78535833A4DC}"/>
              </a:ext>
            </a:extLst>
          </p:cNvPr>
          <p:cNvSpPr txBox="1"/>
          <p:nvPr/>
        </p:nvSpPr>
        <p:spPr>
          <a:xfrm>
            <a:off x="440977" y="4918777"/>
            <a:ext cx="104744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ea typeface="Gill Sans MT"/>
                <a:cs typeface="Gill Sans MT"/>
                <a:sym typeface="Gill Sans MT"/>
              </a:rPr>
              <a:t>Think of: </a:t>
            </a:r>
          </a:p>
          <a:p>
            <a:pPr marL="342900" indent="-342900">
              <a:buAutoNum type="arabicParenR"/>
            </a:pPr>
            <a:r>
              <a:rPr lang="en-US" sz="2400" dirty="0">
                <a:latin typeface="+mj-lt"/>
                <a:sym typeface="Gill Sans MT"/>
              </a:rPr>
              <a:t>What research question you would be trying to answer?</a:t>
            </a:r>
          </a:p>
          <a:p>
            <a:pPr marL="342900" indent="-342900">
              <a:buAutoNum type="arabicParenR"/>
            </a:pPr>
            <a:r>
              <a:rPr lang="en-US" sz="2400" dirty="0">
                <a:latin typeface="+mj-lt"/>
                <a:sym typeface="Gill Sans MT"/>
              </a:rPr>
              <a:t>A hypothesized relationship between the variables you chose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30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First check: Normality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BD6622-9198-41BE-8D39-8F6253818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190" y="860559"/>
            <a:ext cx="8247619" cy="5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82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Second check: Multicollinearity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DFB1E-06C3-4F16-9B86-EBFEB664D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428" y="1403457"/>
            <a:ext cx="9257143" cy="52666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2D098A-811B-4F17-B2C8-C40C68C311D0}"/>
              </a:ext>
            </a:extLst>
          </p:cNvPr>
          <p:cNvSpPr txBox="1"/>
          <p:nvPr/>
        </p:nvSpPr>
        <p:spPr>
          <a:xfrm>
            <a:off x="535367" y="818757"/>
            <a:ext cx="11534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sym typeface="Gill Sans MT"/>
              </a:rPr>
              <a:t>Highly correlated variables will cause confusion in the model if included together.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73868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Let’s run a model!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0510D-D5A0-40E7-B3F4-BF0C339FB831}"/>
              </a:ext>
            </a:extLst>
          </p:cNvPr>
          <p:cNvSpPr txBox="1"/>
          <p:nvPr/>
        </p:nvSpPr>
        <p:spPr>
          <a:xfrm>
            <a:off x="535367" y="818757"/>
            <a:ext cx="11534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sym typeface="Gill Sans MT"/>
              </a:rPr>
              <a:t>Using only counties with Waffle Houses. How can we interpret these results?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1FF739-6B37-48AE-8AF1-B2C5DE523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69" y="1403457"/>
            <a:ext cx="7438247" cy="49818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FC57A4-CDF4-4158-A850-F9F83FA34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380" y="3894372"/>
            <a:ext cx="4421243" cy="2823265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55768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Let’s check diagnostics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6C94C-A237-49AE-8949-E9A78F369CE6}"/>
              </a:ext>
            </a:extLst>
          </p:cNvPr>
          <p:cNvSpPr txBox="1"/>
          <p:nvPr/>
        </p:nvSpPr>
        <p:spPr>
          <a:xfrm>
            <a:off x="535367" y="818757"/>
            <a:ext cx="11534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sym typeface="Gill Sans MT"/>
              </a:rPr>
              <a:t>Normality of residuals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396865-0169-4598-A3E0-FF1BD5992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801" y="1591143"/>
            <a:ext cx="7223583" cy="475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90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Let’s check diagnostics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6C94C-A237-49AE-8949-E9A78F369CE6}"/>
              </a:ext>
            </a:extLst>
          </p:cNvPr>
          <p:cNvSpPr txBox="1"/>
          <p:nvPr/>
        </p:nvSpPr>
        <p:spPr>
          <a:xfrm>
            <a:off x="535367" y="818757"/>
            <a:ext cx="11534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sym typeface="Gill Sans MT"/>
              </a:rPr>
              <a:t>Outliers: Cook’s Distance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DB2F3-5ACC-485C-9BA0-C477D5D48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193" y="1495363"/>
            <a:ext cx="7894701" cy="51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4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Let’s check diagnostics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6C94C-A237-49AE-8949-E9A78F369CE6}"/>
              </a:ext>
            </a:extLst>
          </p:cNvPr>
          <p:cNvSpPr txBox="1"/>
          <p:nvPr/>
        </p:nvSpPr>
        <p:spPr>
          <a:xfrm>
            <a:off x="535367" y="818757"/>
            <a:ext cx="115342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sym typeface="Gill Sans MT"/>
              </a:rPr>
              <a:t>Multicollinearity: Variance inflation factor (VIF)</a:t>
            </a:r>
          </a:p>
          <a:p>
            <a:r>
              <a:rPr lang="en-US" sz="2400" dirty="0">
                <a:latin typeface="+mj-lt"/>
                <a:sym typeface="Gill Sans MT"/>
              </a:rPr>
              <a:t>Should be around 3 or less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2F21DD-9271-4D0A-9F41-2ADFF7517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78" y="1704507"/>
            <a:ext cx="3796100" cy="1122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ECCDEF-0A17-46C4-AFA0-E9EFB014F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78" y="3725724"/>
            <a:ext cx="6223343" cy="10890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D297EF-0421-4D6D-93F6-E567F172D08F}"/>
              </a:ext>
            </a:extLst>
          </p:cNvPr>
          <p:cNvSpPr txBox="1"/>
          <p:nvPr/>
        </p:nvSpPr>
        <p:spPr>
          <a:xfrm>
            <a:off x="535367" y="3013501"/>
            <a:ext cx="11534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sym typeface="Gill Sans MT"/>
              </a:rPr>
              <a:t>Example of what you DON’T want to see…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393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9" y="234057"/>
            <a:ext cx="5384348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Categorical variables in </a:t>
            </a:r>
            <a:b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</a:b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OLS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6C94C-A237-49AE-8949-E9A78F369CE6}"/>
              </a:ext>
            </a:extLst>
          </p:cNvPr>
          <p:cNvSpPr txBox="1"/>
          <p:nvPr/>
        </p:nvSpPr>
        <p:spPr>
          <a:xfrm>
            <a:off x="377433" y="1414375"/>
            <a:ext cx="50684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sym typeface="Gill Sans MT"/>
              </a:rPr>
              <a:t>For example, the states that counties are 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sym typeface="Gill Sans MT"/>
              </a:rPr>
              <a:t>R will automatically create dummy variables (0/1) for each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sym typeface="Gill Sans MT"/>
              </a:rPr>
              <a:t>One state/variable is always used as a “reference”—the model coefficients are in comparison to that state. </a:t>
            </a:r>
            <a:r>
              <a:rPr lang="en-US" sz="2400">
                <a:latin typeface="+mj-lt"/>
                <a:sym typeface="Gill Sans MT"/>
              </a:rPr>
              <a:t>(Notice no Alabama)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96464-18FE-4B2D-9437-82B9F4A87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187" y="0"/>
            <a:ext cx="6462813" cy="68580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F9A9CDA-E0D7-4CE5-ABE8-34A93CDEA025}"/>
              </a:ext>
            </a:extLst>
          </p:cNvPr>
          <p:cNvGrpSpPr/>
          <p:nvPr/>
        </p:nvGrpSpPr>
        <p:grpSpPr>
          <a:xfrm>
            <a:off x="1158373" y="4461363"/>
            <a:ext cx="3506597" cy="2197916"/>
            <a:chOff x="302004" y="4555222"/>
            <a:chExt cx="3506597" cy="219791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9EAECEC-6694-4695-9DD9-F42935AF29A4}"/>
                </a:ext>
              </a:extLst>
            </p:cNvPr>
            <p:cNvSpPr/>
            <p:nvPr/>
          </p:nvSpPr>
          <p:spPr>
            <a:xfrm>
              <a:off x="302004" y="4555222"/>
              <a:ext cx="3506597" cy="219791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9C1495E-2CA3-4066-8C95-4370E325D116}"/>
                </a:ext>
              </a:extLst>
            </p:cNvPr>
            <p:cNvCxnSpPr>
              <a:cxnSpLocks/>
            </p:cNvCxnSpPr>
            <p:nvPr/>
          </p:nvCxnSpPr>
          <p:spPr>
            <a:xfrm>
              <a:off x="645952" y="4714613"/>
              <a:ext cx="0" cy="1845578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B7C0DD-251C-4790-A6A1-37674876C4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952" y="6560191"/>
              <a:ext cx="2919369" cy="0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F21DA6-B724-43D8-BDD4-F2E94111E0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952" y="5209563"/>
              <a:ext cx="2608976" cy="8388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C497EB2-8914-434D-B92F-7E146E7B9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951" y="4820692"/>
              <a:ext cx="2608976" cy="838899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62B2E94-AA44-4646-A1D1-3E9B2396DD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951" y="5591263"/>
              <a:ext cx="2608976" cy="838899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6904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What other variables should we consider? Why?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19925C-E011-4FA4-ACAD-6710F576B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962" y="1157244"/>
            <a:ext cx="74580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6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01">
            <a:extLst>
              <a:ext uri="{FF2B5EF4-FFF2-40B4-BE49-F238E27FC236}">
                <a16:creationId xmlns:a16="http://schemas.microsoft.com/office/drawing/2014/main" id="{6E82EB7D-8D71-4CFF-A93D-A734763EFEF7}"/>
              </a:ext>
            </a:extLst>
          </p:cNvPr>
          <p:cNvSpPr txBox="1"/>
          <p:nvPr/>
        </p:nvSpPr>
        <p:spPr>
          <a:xfrm>
            <a:off x="177553" y="200501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What tests have we covered?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D93AC-A0BF-4419-9D84-C794A0CED584}"/>
              </a:ext>
            </a:extLst>
          </p:cNvPr>
          <p:cNvSpPr txBox="1"/>
          <p:nvPr/>
        </p:nvSpPr>
        <p:spPr>
          <a:xfrm>
            <a:off x="687196" y="4326647"/>
            <a:ext cx="10096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Link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4DB503-B607-4748-AECB-493C28C21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40" y="1706707"/>
            <a:ext cx="11182525" cy="226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23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01">
            <a:extLst>
              <a:ext uri="{FF2B5EF4-FFF2-40B4-BE49-F238E27FC236}">
                <a16:creationId xmlns:a16="http://schemas.microsoft.com/office/drawing/2014/main" id="{6E82EB7D-8D71-4CFF-A93D-A734763EFEF7}"/>
              </a:ext>
            </a:extLst>
          </p:cNvPr>
          <p:cNvSpPr txBox="1"/>
          <p:nvPr/>
        </p:nvSpPr>
        <p:spPr>
          <a:xfrm>
            <a:off x="177553" y="200501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What tests have we covered?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51B92-4161-48C8-A39C-E6863EA9FF89}"/>
              </a:ext>
            </a:extLst>
          </p:cNvPr>
          <p:cNvSpPr/>
          <p:nvPr/>
        </p:nvSpPr>
        <p:spPr>
          <a:xfrm>
            <a:off x="595564" y="1115215"/>
            <a:ext cx="1081266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T-tests: One-sample, Two-sample, Paired, non-parametric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Chi-square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ANOVA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r>
              <a:rPr lang="en-US" sz="3600" dirty="0"/>
              <a:t>In pairs or on your own: Come up with a research question that can be answered by one of these tests. </a:t>
            </a:r>
          </a:p>
        </p:txBody>
      </p:sp>
    </p:spTree>
    <p:extLst>
      <p:ext uri="{BB962C8B-B14F-4D97-AF65-F5344CB8AC3E}">
        <p14:creationId xmlns:p14="http://schemas.microsoft.com/office/powerpoint/2010/main" val="2154443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01">
            <a:extLst>
              <a:ext uri="{FF2B5EF4-FFF2-40B4-BE49-F238E27FC236}">
                <a16:creationId xmlns:a16="http://schemas.microsoft.com/office/drawing/2014/main" id="{6E82EB7D-8D71-4CFF-A93D-A734763EFEF7}"/>
              </a:ext>
            </a:extLst>
          </p:cNvPr>
          <p:cNvSpPr txBox="1"/>
          <p:nvPr/>
        </p:nvSpPr>
        <p:spPr>
          <a:xfrm>
            <a:off x="177553" y="200501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What tests have we covered?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51B92-4161-48C8-A39C-E6863EA9FF89}"/>
              </a:ext>
            </a:extLst>
          </p:cNvPr>
          <p:cNvSpPr/>
          <p:nvPr/>
        </p:nvSpPr>
        <p:spPr>
          <a:xfrm>
            <a:off x="595564" y="1115215"/>
            <a:ext cx="1081266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T-tests: One-sample, Two-sample, Paired, non-parametric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Chi-square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ANOVA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r>
              <a:rPr lang="en-US" sz="3600" dirty="0"/>
              <a:t>In pairs or on your own: Come up with a research question that can be answered by one of these tests.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C6B2EC-6DF1-468C-9075-07B42920C672}"/>
              </a:ext>
            </a:extLst>
          </p:cNvPr>
          <p:cNvSpPr/>
          <p:nvPr/>
        </p:nvSpPr>
        <p:spPr>
          <a:xfrm>
            <a:off x="5343787" y="2214695"/>
            <a:ext cx="4118995" cy="2004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Trade with a neighbor! What test should be used?</a:t>
            </a:r>
          </a:p>
        </p:txBody>
      </p:sp>
    </p:spTree>
    <p:extLst>
      <p:ext uri="{BB962C8B-B14F-4D97-AF65-F5344CB8AC3E}">
        <p14:creationId xmlns:p14="http://schemas.microsoft.com/office/powerpoint/2010/main" val="2500931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229</TotalTime>
  <Words>535</Words>
  <Application>Microsoft Office PowerPoint</Application>
  <PresentationFormat>Widescreen</PresentationFormat>
  <Paragraphs>77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Calisto MT</vt:lpstr>
      <vt:lpstr>Wingdings 2</vt:lpstr>
      <vt:lpstr>Slate</vt:lpstr>
      <vt:lpstr>Week 11: Multivariate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Jerry Shannon</cp:lastModifiedBy>
  <cp:revision>206</cp:revision>
  <dcterms:created xsi:type="dcterms:W3CDTF">2021-09-02T15:10:57Z</dcterms:created>
  <dcterms:modified xsi:type="dcterms:W3CDTF">2024-11-14T19:39:27Z</dcterms:modified>
</cp:coreProperties>
</file>