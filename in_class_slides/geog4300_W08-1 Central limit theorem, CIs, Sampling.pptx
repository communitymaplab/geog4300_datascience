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84" r:id="rId4"/>
    <p:sldId id="266" r:id="rId5"/>
    <p:sldId id="280" r:id="rId6"/>
    <p:sldId id="267" r:id="rId7"/>
    <p:sldId id="269" r:id="rId8"/>
    <p:sldId id="279" r:id="rId9"/>
    <p:sldId id="283" r:id="rId10"/>
    <p:sldId id="260" r:id="rId11"/>
    <p:sldId id="281" r:id="rId12"/>
    <p:sldId id="270" r:id="rId13"/>
    <p:sldId id="271" r:id="rId14"/>
    <p:sldId id="273" r:id="rId15"/>
    <p:sldId id="274" r:id="rId16"/>
    <p:sldId id="275" r:id="rId17"/>
    <p:sldId id="282" r:id="rId18"/>
    <p:sldId id="277" r:id="rId19"/>
    <p:sldId id="258" r:id="rId20"/>
    <p:sldId id="259" r:id="rId21"/>
    <p:sldId id="261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28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23026-85D4-48E8-9219-18000F68802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D42E2-8102-4E72-B8DC-BA8209884E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1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7505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507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7847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8197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4829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8568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81674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9144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51740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8" name="Shape 12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Shape 12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85528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Shape 10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Shape 119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Shape 136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0277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71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98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57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79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5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6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066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3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18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391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932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11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9104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54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21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616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3C8B963-0F36-48FC-991E-AA63861DA924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428D1EF-21B1-4D0B-A764-32B3B9A0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790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YAlJCEDH2uY?feature=oembed" TargetMode="Externa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DA1E6-0A9B-4FAD-9E42-B37B3CA5D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4917" y="3979334"/>
            <a:ext cx="9440034" cy="1828801"/>
          </a:xfrm>
        </p:spPr>
        <p:txBody>
          <a:bodyPr>
            <a:normAutofit/>
          </a:bodyPr>
          <a:lstStyle/>
          <a:p>
            <a:r>
              <a:rPr lang="en-US" dirty="0"/>
              <a:t>Week 6: Central limit theorem and confidence intervals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6D1488-58DF-4A33-AC86-D6B690A6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917" y="5808133"/>
            <a:ext cx="9440034" cy="1049867"/>
          </a:xfrm>
        </p:spPr>
        <p:txBody>
          <a:bodyPr>
            <a:normAutofit/>
          </a:bodyPr>
          <a:lstStyle/>
          <a:p>
            <a:r>
              <a:rPr lang="en-US" sz="3200" dirty="0"/>
              <a:t>Geog4300: Shannon</a:t>
            </a:r>
          </a:p>
        </p:txBody>
      </p:sp>
      <p:pic>
        <p:nvPicPr>
          <p:cNvPr id="6" name="Shape 94" descr="C:\Courses\495_Spring2002\0010\samplemeans.jpg">
            <a:extLst>
              <a:ext uri="{FF2B5EF4-FFF2-40B4-BE49-F238E27FC236}">
                <a16:creationId xmlns:a16="http://schemas.microsoft.com/office/drawing/2014/main" id="{B25F6BAD-0C0F-4045-84CF-CE32EA0C32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44384" y="313553"/>
            <a:ext cx="6161099" cy="3531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64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2518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This week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538528" y="814111"/>
            <a:ext cx="1088727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Z/t scores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Central limit theorem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Confidence intervals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Sampling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Lab 3 will be available after class on Thursday. Due date: October 23 (Thursday)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Thoughts/reflections from Lab 2?</a:t>
            </a:r>
          </a:p>
        </p:txBody>
      </p:sp>
    </p:spTree>
    <p:extLst>
      <p:ext uri="{BB962C8B-B14F-4D97-AF65-F5344CB8AC3E}">
        <p14:creationId xmlns:p14="http://schemas.microsoft.com/office/powerpoint/2010/main" val="3926810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4D3D0-B962-CF92-4A6F-54366B42A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759B9A3D-EE0A-7027-C68B-D069921DF92B}"/>
              </a:ext>
            </a:extLst>
          </p:cNvPr>
          <p:cNvSpPr txBox="1"/>
          <p:nvPr/>
        </p:nvSpPr>
        <p:spPr>
          <a:xfrm>
            <a:off x="415902" y="465137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5F603DCC-752C-87BD-7578-AEA7626D67CD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</a:t>
            </a:r>
            <a:r>
              <a:rPr lang="en-US" sz="2800" b="1" u="sng" dirty="0">
                <a:sym typeface="Arial"/>
              </a:rPr>
              <a:t>standard deviations</a:t>
            </a:r>
            <a:r>
              <a:rPr lang="en-US" sz="2800" b="1" dirty="0">
                <a:sym typeface="Arial"/>
              </a:rPr>
              <a:t> </a:t>
            </a:r>
            <a:r>
              <a:rPr lang="en-US" sz="2800" dirty="0">
                <a:sym typeface="Arial"/>
              </a:rPr>
              <a:t>is an observation from the </a:t>
            </a:r>
            <a:r>
              <a:rPr lang="en-US" sz="2800" b="1" u="sng" dirty="0">
                <a:sym typeface="Arial"/>
              </a:rPr>
              <a:t>mean</a:t>
            </a:r>
            <a:r>
              <a:rPr lang="en-US" sz="2800" dirty="0">
                <a:sym typeface="Arial"/>
              </a:rPr>
              <a:t>?</a:t>
            </a:r>
          </a:p>
        </p:txBody>
      </p:sp>
      <p:sp>
        <p:nvSpPr>
          <p:cNvPr id="11" name="Shape 121">
            <a:extLst>
              <a:ext uri="{FF2B5EF4-FFF2-40B4-BE49-F238E27FC236}">
                <a16:creationId xmlns:a16="http://schemas.microsoft.com/office/drawing/2014/main" id="{A8EBE025-4DCF-7F2E-11F5-DDBB99FC8030}"/>
              </a:ext>
            </a:extLst>
          </p:cNvPr>
          <p:cNvSpPr txBox="1"/>
          <p:nvPr/>
        </p:nvSpPr>
        <p:spPr>
          <a:xfrm>
            <a:off x="1417389" y="1925332"/>
            <a:ext cx="2849810" cy="106390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>
                <a:latin typeface="Gill Sans MT"/>
                <a:ea typeface="Gill Sans MT"/>
                <a:cs typeface="Gill Sans MT"/>
                <a:sym typeface="Gill Sans MT"/>
              </a:rPr>
              <a:t> </a:t>
            </a:r>
          </a:p>
        </p:txBody>
      </p:sp>
      <p:sp>
        <p:nvSpPr>
          <p:cNvPr id="12" name="Shape 339">
            <a:extLst>
              <a:ext uri="{FF2B5EF4-FFF2-40B4-BE49-F238E27FC236}">
                <a16:creationId xmlns:a16="http://schemas.microsoft.com/office/drawing/2014/main" id="{F0BAFF20-AC03-C310-B584-A203F4A5F812}"/>
              </a:ext>
            </a:extLst>
          </p:cNvPr>
          <p:cNvSpPr txBox="1"/>
          <p:nvPr/>
        </p:nvSpPr>
        <p:spPr>
          <a:xfrm>
            <a:off x="649703" y="3206405"/>
            <a:ext cx="1071738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These can also be called </a:t>
            </a:r>
            <a:r>
              <a:rPr lang="en-US" sz="2800" b="1" u="sng" dirty="0">
                <a:sym typeface="Arial"/>
              </a:rPr>
              <a:t>standardized anomalies</a:t>
            </a:r>
            <a:r>
              <a:rPr lang="en-US" sz="2800" dirty="0">
                <a:sym typeface="Arial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DB87-8C59-6695-1202-9320CAD92578}"/>
                  </a:ext>
                </a:extLst>
              </p:cNvPr>
              <p:cNvSpPr txBox="1"/>
              <p:nvPr/>
            </p:nvSpPr>
            <p:spPr>
              <a:xfrm>
                <a:off x="1417389" y="3984517"/>
                <a:ext cx="1500411" cy="9848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US" sz="32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&lt; -1</a:t>
                </a:r>
                <a:endParaRPr lang="en-US" sz="3200" b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D7DB87-8C59-6695-1202-9320CAD92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89" y="3984517"/>
                <a:ext cx="1500411" cy="984885"/>
              </a:xfrm>
              <a:prstGeom prst="rect">
                <a:avLst/>
              </a:prstGeom>
              <a:blipFill>
                <a:blip r:embed="rId3"/>
                <a:stretch>
                  <a:fillRect l="-13445" r="-3361" b="-22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E37B94DD-59CD-B01C-8B0A-F0EB60458134}"/>
              </a:ext>
            </a:extLst>
          </p:cNvPr>
          <p:cNvSpPr/>
          <p:nvPr/>
        </p:nvSpPr>
        <p:spPr>
          <a:xfrm>
            <a:off x="522470" y="5605030"/>
            <a:ext cx="10844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ym typeface="Arial"/>
              </a:rPr>
              <a:t>How would you interpret these values?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2901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415902" y="465137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</a:t>
            </a:r>
            <a:r>
              <a:rPr lang="en-US" sz="2800" b="1" u="sng" dirty="0">
                <a:sym typeface="Arial"/>
              </a:rPr>
              <a:t>standard deviations</a:t>
            </a:r>
            <a:r>
              <a:rPr lang="en-US" sz="2800" b="1" dirty="0">
                <a:sym typeface="Arial"/>
              </a:rPr>
              <a:t> </a:t>
            </a:r>
            <a:r>
              <a:rPr lang="en-US" sz="2800" dirty="0">
                <a:sym typeface="Arial"/>
              </a:rPr>
              <a:t>is an observation from the </a:t>
            </a:r>
            <a:r>
              <a:rPr lang="en-US" sz="2800" b="1" u="sng" dirty="0">
                <a:sym typeface="Arial"/>
              </a:rPr>
              <a:t>mean</a:t>
            </a:r>
            <a:r>
              <a:rPr lang="en-US" sz="2800" dirty="0">
                <a:sym typeface="Arial"/>
              </a:rPr>
              <a:t>?</a:t>
            </a:r>
          </a:p>
        </p:txBody>
      </p:sp>
      <p:sp>
        <p:nvSpPr>
          <p:cNvPr id="11" name="Shape 121">
            <a:extLst>
              <a:ext uri="{FF2B5EF4-FFF2-40B4-BE49-F238E27FC236}">
                <a16:creationId xmlns:a16="http://schemas.microsoft.com/office/drawing/2014/main" id="{2D894076-B6BE-4ECC-AFE4-C67DBDA43C08}"/>
              </a:ext>
            </a:extLst>
          </p:cNvPr>
          <p:cNvSpPr txBox="1"/>
          <p:nvPr/>
        </p:nvSpPr>
        <p:spPr>
          <a:xfrm>
            <a:off x="1417389" y="1925332"/>
            <a:ext cx="2849810" cy="1063908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1800">
                <a:latin typeface="Gill Sans MT"/>
                <a:ea typeface="Gill Sans MT"/>
                <a:cs typeface="Gill Sans MT"/>
                <a:sym typeface="Gill Sans MT"/>
              </a:rPr>
              <a:t> </a:t>
            </a:r>
          </a:p>
        </p:txBody>
      </p:sp>
      <p:sp>
        <p:nvSpPr>
          <p:cNvPr id="12" name="Shape 339">
            <a:extLst>
              <a:ext uri="{FF2B5EF4-FFF2-40B4-BE49-F238E27FC236}">
                <a16:creationId xmlns:a16="http://schemas.microsoft.com/office/drawing/2014/main" id="{167DD115-6235-4CC4-977A-0E0211C7BD01}"/>
              </a:ext>
            </a:extLst>
          </p:cNvPr>
          <p:cNvSpPr txBox="1"/>
          <p:nvPr/>
        </p:nvSpPr>
        <p:spPr>
          <a:xfrm>
            <a:off x="649703" y="2989240"/>
            <a:ext cx="1071738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For a variable with a mean of 23 and a </a:t>
            </a:r>
            <a:r>
              <a:rPr lang="en-US" sz="2800" dirty="0" err="1">
                <a:sym typeface="Arial"/>
              </a:rPr>
              <a:t>s.d.</a:t>
            </a:r>
            <a:r>
              <a:rPr lang="en-US" sz="2800" dirty="0">
                <a:sym typeface="Arial"/>
              </a:rPr>
              <a:t> of 4, the z-score for 30 would be: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775D7-B7C4-4FCC-9388-BAD68252DA43}"/>
                  </a:ext>
                </a:extLst>
              </p:cNvPr>
              <p:cNvSpPr txBox="1"/>
              <p:nvPr/>
            </p:nvSpPr>
            <p:spPr>
              <a:xfrm>
                <a:off x="4012323" y="4110756"/>
                <a:ext cx="2895023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30 −23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=1.75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46775D7-B7C4-4FCC-9388-BAD68252D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323" y="4110756"/>
                <a:ext cx="2895023" cy="9219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F756198-E2B2-46A3-BB01-FE2F7E185AA9}"/>
              </a:ext>
            </a:extLst>
          </p:cNvPr>
          <p:cNvSpPr/>
          <p:nvPr/>
        </p:nvSpPr>
        <p:spPr>
          <a:xfrm>
            <a:off x="522470" y="5605030"/>
            <a:ext cx="10844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ym typeface="Arial"/>
              </a:rPr>
              <a:t>What value would produce a z-score of negative 2?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80782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415902" y="465137"/>
            <a:ext cx="11314702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Z (and t) scores: Why do they matter?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They provide an easy way to compare data from different distributions (e.g. daytime and nighttime temperatures)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In a normal distribution, we can identify what percentage of observations fall within given range of Z scores.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endParaRPr lang="en-US" sz="2800" dirty="0">
              <a:sym typeface="Arial"/>
            </a:endParaRP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800" dirty="0">
                <a:sym typeface="Arial"/>
              </a:rPr>
              <a:t>Z scores of </a:t>
            </a:r>
            <a:r>
              <a:rPr lang="en-US" sz="2800" b="1" dirty="0">
                <a:solidFill>
                  <a:srgbClr val="FFC000"/>
                </a:solidFill>
                <a:sym typeface="Arial"/>
              </a:rPr>
              <a:t>-1 to 1</a:t>
            </a:r>
            <a:r>
              <a:rPr lang="en-US" sz="2800" dirty="0">
                <a:sym typeface="Arial"/>
              </a:rPr>
              <a:t>: </a:t>
            </a:r>
            <a:r>
              <a:rPr lang="en-US" sz="2800" u="sng" dirty="0">
                <a:sym typeface="Arial"/>
              </a:rPr>
              <a:t>68% </a:t>
            </a:r>
            <a:r>
              <a:rPr lang="en-US" sz="2800" dirty="0">
                <a:sym typeface="Arial"/>
              </a:rPr>
              <a:t>of observations</a:t>
            </a: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800" dirty="0">
                <a:sym typeface="Arial"/>
              </a:rPr>
              <a:t>Z score of </a:t>
            </a:r>
            <a:r>
              <a:rPr lang="en-US" sz="2800" b="1" dirty="0">
                <a:solidFill>
                  <a:srgbClr val="FFC000"/>
                </a:solidFill>
                <a:sym typeface="Arial"/>
              </a:rPr>
              <a:t>-1.75 to 1.75</a:t>
            </a:r>
            <a:r>
              <a:rPr lang="en-US" sz="2800" dirty="0">
                <a:sym typeface="Arial"/>
              </a:rPr>
              <a:t>: </a:t>
            </a:r>
            <a:r>
              <a:rPr lang="en-US" sz="2800" u="sng" dirty="0">
                <a:sym typeface="Arial"/>
              </a:rPr>
              <a:t>90%</a:t>
            </a:r>
            <a:r>
              <a:rPr lang="en-US" sz="2800" dirty="0">
                <a:sym typeface="Arial"/>
              </a:rPr>
              <a:t> of observations</a:t>
            </a:r>
          </a:p>
          <a:p>
            <a:pPr marR="0" lvl="0" algn="l" rtl="0">
              <a:spcBef>
                <a:spcPts val="0"/>
              </a:spcBef>
              <a:buSzPct val="100000"/>
            </a:pPr>
            <a:r>
              <a:rPr lang="en-US" sz="2800" dirty="0">
                <a:sym typeface="Arial"/>
              </a:rPr>
              <a:t>Z score of </a:t>
            </a:r>
            <a:r>
              <a:rPr lang="en-US" sz="2800" b="1" dirty="0">
                <a:solidFill>
                  <a:srgbClr val="FFC000"/>
                </a:solidFill>
                <a:sym typeface="Arial"/>
              </a:rPr>
              <a:t>-1.96 to 1.96</a:t>
            </a:r>
            <a:r>
              <a:rPr lang="en-US" sz="2800" dirty="0">
                <a:sym typeface="Arial"/>
              </a:rPr>
              <a:t>: </a:t>
            </a:r>
            <a:r>
              <a:rPr lang="en-US" sz="2800" u="sng" dirty="0">
                <a:sym typeface="Arial"/>
              </a:rPr>
              <a:t>95%</a:t>
            </a:r>
            <a:r>
              <a:rPr lang="en-US" sz="2800" dirty="0">
                <a:sym typeface="Arial"/>
              </a:rPr>
              <a:t> of observations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64EBE-AA6A-45FA-BDB8-3AF3310AB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799" y="3429000"/>
            <a:ext cx="3867234" cy="28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4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338">
            <a:extLst>
              <a:ext uri="{FF2B5EF4-FFF2-40B4-BE49-F238E27FC236}">
                <a16:creationId xmlns:a16="http://schemas.microsoft.com/office/drawing/2014/main" id="{C8CF6D31-CFEF-414A-A3C6-C4D4B311EE1D}"/>
              </a:ext>
            </a:extLst>
          </p:cNvPr>
          <p:cNvSpPr txBox="1"/>
          <p:nvPr/>
        </p:nvSpPr>
        <p:spPr>
          <a:xfrm>
            <a:off x="415902" y="465137"/>
            <a:ext cx="7702594" cy="707886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4000" dirty="0">
                <a:latin typeface="+mj-lt"/>
                <a:sym typeface="Arial"/>
              </a:rPr>
              <a:t>Data challenge!</a:t>
            </a:r>
          </a:p>
        </p:txBody>
      </p:sp>
      <p:sp>
        <p:nvSpPr>
          <p:cNvPr id="8" name="Shape 339">
            <a:extLst>
              <a:ext uri="{FF2B5EF4-FFF2-40B4-BE49-F238E27FC236}">
                <a16:creationId xmlns:a16="http://schemas.microsoft.com/office/drawing/2014/main" id="{BEEF42FD-F6CF-4516-A115-7EB2D4873A93}"/>
              </a:ext>
            </a:extLst>
          </p:cNvPr>
          <p:cNvSpPr txBox="1"/>
          <p:nvPr/>
        </p:nvSpPr>
        <p:spPr>
          <a:xfrm>
            <a:off x="649703" y="1295400"/>
            <a:ext cx="11212330" cy="91090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Pick a variable from our county census dataset. Transform its values to z-scores in Excel. You’ll need to: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Calculate the mean and standard deviation for all observations</a:t>
            </a:r>
          </a:p>
          <a:p>
            <a:pPr marL="514350" marR="0" lvl="0" indent="-514350" algn="l" rtl="0">
              <a:spcBef>
                <a:spcPts val="0"/>
              </a:spcBef>
              <a:buSzPct val="100000"/>
              <a:buAutoNum type="arabicParenR"/>
            </a:pPr>
            <a:r>
              <a:rPr lang="en-US" sz="2800" dirty="0">
                <a:sym typeface="Arial"/>
              </a:rPr>
              <a:t>Subtract the mean and divide by standard deviation for all observations</a:t>
            </a: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en-US" sz="2800" dirty="0"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sym typeface="Arial"/>
              </a:rPr>
              <a:t>How many counties are above 2? How many below -2? In what states/regions are these located?</a:t>
            </a:r>
          </a:p>
        </p:txBody>
      </p:sp>
    </p:spTree>
    <p:extLst>
      <p:ext uri="{BB962C8B-B14F-4D97-AF65-F5344CB8AC3E}">
        <p14:creationId xmlns:p14="http://schemas.microsoft.com/office/powerpoint/2010/main" val="88128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raps roll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67" r="8016"/>
          <a:stretch/>
        </p:blipFill>
        <p:spPr bwMode="auto">
          <a:xfrm>
            <a:off x="4660781" y="0"/>
            <a:ext cx="7510509" cy="685799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2" name="Shape 132"/>
          <p:cNvSpPr txBox="1"/>
          <p:nvPr/>
        </p:nvSpPr>
        <p:spPr>
          <a:xfrm>
            <a:off x="332173" y="107069"/>
            <a:ext cx="4328607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The</a:t>
            </a:r>
            <a:r>
              <a:rPr lang="en-US" sz="4800" dirty="0">
                <a:solidFill>
                  <a:schemeClr val="bg1">
                    <a:lumMod val="95000"/>
                    <a:lumOff val="5000"/>
                  </a:schemeClr>
                </a:solidFill>
                <a:effectLst/>
                <a:latin typeface="+mj-lt"/>
                <a:ea typeface="Gill Sans MT"/>
                <a:cs typeface="Gill Sans MT"/>
                <a:sym typeface="Gill Sans MT"/>
              </a:rPr>
              <a:t> </a:t>
            </a:r>
            <a:r>
              <a:rPr lang="en-US" sz="4800" b="1" dirty="0">
                <a:solidFill>
                  <a:srgbClr val="FFC000"/>
                </a:solidFill>
                <a:effectLst/>
                <a:latin typeface="+mj-lt"/>
                <a:ea typeface="Gill Sans MT"/>
                <a:cs typeface="Gill Sans MT"/>
                <a:sym typeface="Gill Sans MT"/>
              </a:rPr>
              <a:t>central limit theorem:</a:t>
            </a:r>
            <a:endParaRPr lang="en-US" sz="3600" dirty="0">
              <a:solidFill>
                <a:srgbClr val="FFC000"/>
              </a:solidFill>
              <a:effectLst/>
              <a:latin typeface="+mj-lt"/>
              <a:ea typeface="Gill Sans MT"/>
              <a:cs typeface="Gill Sans MT"/>
              <a:sym typeface="Gill Sans MT"/>
            </a:endParaRPr>
          </a:p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000" dirty="0">
                <a:effectLst/>
                <a:ea typeface="Gill Sans MT"/>
                <a:cs typeface="Gill Sans MT"/>
                <a:sym typeface="Gill Sans MT"/>
              </a:rPr>
              <a:t>What’s the relationship between </a:t>
            </a:r>
            <a:r>
              <a:rPr lang="en-US" sz="3000" b="1" dirty="0">
                <a:solidFill>
                  <a:srgbClr val="FFC000"/>
                </a:solidFill>
                <a:effectLst/>
                <a:ea typeface="Gill Sans MT"/>
                <a:cs typeface="Gill Sans MT"/>
                <a:sym typeface="Gill Sans MT"/>
              </a:rPr>
              <a:t>the mean</a:t>
            </a:r>
            <a:r>
              <a:rPr lang="en-US" sz="3000" b="1" i="1" dirty="0">
                <a:solidFill>
                  <a:srgbClr val="FFC000"/>
                </a:solidFill>
                <a:effectLst/>
                <a:ea typeface="Gill Sans MT"/>
                <a:cs typeface="Gill Sans MT"/>
                <a:sym typeface="Gill Sans MT"/>
              </a:rPr>
              <a:t> </a:t>
            </a:r>
            <a:r>
              <a:rPr lang="en-US" sz="3000" dirty="0">
                <a:effectLst/>
                <a:ea typeface="Gill Sans MT"/>
                <a:cs typeface="Gill Sans MT"/>
                <a:sym typeface="Gill Sans MT"/>
              </a:rPr>
              <a:t>of the sample population and the actual population?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D6258-A573-4276-86C0-2B70A8C1B91F}"/>
              </a:ext>
            </a:extLst>
          </p:cNvPr>
          <p:cNvSpPr/>
          <p:nvPr/>
        </p:nvSpPr>
        <p:spPr>
          <a:xfrm>
            <a:off x="463359" y="305907"/>
            <a:ext cx="112652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Central limit theorem: The distribution of </a:t>
            </a:r>
            <a:r>
              <a:rPr lang="en-US" sz="3600" b="1" u="sng" dirty="0"/>
              <a:t>sample means </a:t>
            </a:r>
            <a:r>
              <a:rPr lang="en-US" sz="3600" dirty="0"/>
              <a:t>is </a:t>
            </a:r>
            <a:r>
              <a:rPr lang="en-US" sz="3600" b="1" i="1" dirty="0">
                <a:solidFill>
                  <a:srgbClr val="FFC000"/>
                </a:solidFill>
              </a:rPr>
              <a:t>normally distributed</a:t>
            </a:r>
            <a:r>
              <a:rPr lang="en-US" sz="3600" dirty="0">
                <a:solidFill>
                  <a:srgbClr val="FFC000"/>
                </a:solidFill>
              </a:rPr>
              <a:t> </a:t>
            </a:r>
            <a:r>
              <a:rPr lang="en-US" sz="3600" dirty="0"/>
              <a:t>and centers around the </a:t>
            </a:r>
            <a:r>
              <a:rPr lang="en-US" sz="3600" b="1" i="1" dirty="0">
                <a:solidFill>
                  <a:srgbClr val="FFC000"/>
                </a:solidFill>
              </a:rPr>
              <a:t>population mean</a:t>
            </a:r>
            <a:r>
              <a:rPr lang="en-US" sz="3600" dirty="0"/>
              <a:t>.</a:t>
            </a:r>
            <a:endParaRPr lang="en-US" sz="3600" dirty="0">
              <a:solidFill>
                <a:srgbClr val="FFC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2A2076-C336-4480-B722-8667F2C236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193" b="10587"/>
          <a:stretch/>
        </p:blipFill>
        <p:spPr>
          <a:xfrm>
            <a:off x="352461" y="2871024"/>
            <a:ext cx="6332256" cy="3772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2B6193-0DBE-4E57-AED0-74B9BAFFC7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071" y="2763956"/>
            <a:ext cx="5173211" cy="387990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C3EB27-B3BA-4CE0-811A-37CB85D2F519}"/>
              </a:ext>
            </a:extLst>
          </p:cNvPr>
          <p:cNvSpPr/>
          <p:nvPr/>
        </p:nvSpPr>
        <p:spPr>
          <a:xfrm>
            <a:off x="7136413" y="2302291"/>
            <a:ext cx="47797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The actual mean is here </a:t>
            </a:r>
            <a:r>
              <a:rPr lang="en-US" sz="2400" b="1" i="1" dirty="0"/>
              <a:t>somewhere!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8180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The Central Limit Theorem, Clearly Explained!!!">
            <a:hlinkClick r:id="" action="ppaction://media"/>
            <a:extLst>
              <a:ext uri="{FF2B5EF4-FFF2-40B4-BE49-F238E27FC236}">
                <a16:creationId xmlns:a16="http://schemas.microsoft.com/office/drawing/2014/main" id="{E6C8FF22-488F-42E8-BEC1-CF743E9D878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16951" y="276837"/>
            <a:ext cx="11224914" cy="6342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67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12AC8CF-13A3-4593-9053-122027377F90}"/>
              </a:ext>
            </a:extLst>
          </p:cNvPr>
          <p:cNvSpPr txBox="1"/>
          <p:nvPr/>
        </p:nvSpPr>
        <p:spPr>
          <a:xfrm>
            <a:off x="226503" y="167780"/>
            <a:ext cx="2178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Let’s roll!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6F41FE-C35C-4ABD-80FC-79A98E493CED}"/>
              </a:ext>
            </a:extLst>
          </p:cNvPr>
          <p:cNvSpPr/>
          <p:nvPr/>
        </p:nvSpPr>
        <p:spPr>
          <a:xfrm>
            <a:off x="538528" y="814111"/>
            <a:ext cx="1088727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Roll your die 10 times. Put the results on this page: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r>
              <a:rPr lang="en-US" sz="3600" dirty="0"/>
              <a:t>Then do two more sets of 10 rolls (30 total rolls)</a:t>
            </a:r>
          </a:p>
        </p:txBody>
      </p:sp>
      <p:pic>
        <p:nvPicPr>
          <p:cNvPr id="4" name="Picture 3" descr="A qr code with a dinosaur&#10;&#10;AI-generated content may be incorrect.">
            <a:extLst>
              <a:ext uri="{FF2B5EF4-FFF2-40B4-BE49-F238E27FC236}">
                <a16:creationId xmlns:a16="http://schemas.microsoft.com/office/drawing/2014/main" id="{8FE245FE-81F8-C873-9F69-617AD86AF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50" y="1873250"/>
            <a:ext cx="31115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70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32173" y="107069"/>
            <a:ext cx="11412414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Identifying our terms</a:t>
            </a:r>
          </a:p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endParaRPr lang="en-US" sz="4000" b="1" dirty="0">
              <a:latin typeface="+mj-lt"/>
              <a:ea typeface="Gill Sans MT"/>
              <a:cs typeface="Gill Sans MT"/>
              <a:sym typeface="Gill Sans MT"/>
            </a:endParaRP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Samples: 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Each </a:t>
            </a:r>
            <a:r>
              <a:rPr lang="en-US" sz="3200" u="sng" dirty="0">
                <a:latin typeface="+mj-lt"/>
                <a:ea typeface="Gill Sans MT"/>
                <a:cs typeface="Gill Sans MT"/>
                <a:sym typeface="Gill Sans MT"/>
              </a:rPr>
              <a:t>individual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 set of 10 dice rolls</a:t>
            </a: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Sample mean distribution: 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Just the mean values for each set of 10 dice rolls</a:t>
            </a:r>
          </a:p>
          <a:p>
            <a:pPr marL="571500" indent="-571500">
              <a:spcBef>
                <a:spcPts val="56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Gill Sans MT"/>
                <a:cs typeface="Gill Sans MT"/>
                <a:sym typeface="Gill Sans MT"/>
              </a:rPr>
              <a:t>Population: </a:t>
            </a:r>
            <a:r>
              <a:rPr lang="en-US" sz="3200" u="sng" dirty="0">
                <a:latin typeface="+mj-lt"/>
                <a:ea typeface="Gill Sans MT"/>
                <a:cs typeface="Gill Sans MT"/>
                <a:sym typeface="Gill Sans MT"/>
              </a:rPr>
              <a:t>All</a:t>
            </a:r>
            <a:r>
              <a:rPr lang="en-US" sz="3200" dirty="0">
                <a:latin typeface="+mj-lt"/>
                <a:ea typeface="Gill Sans MT"/>
                <a:cs typeface="Gill Sans MT"/>
                <a:sym typeface="Gill Sans MT"/>
              </a:rPr>
              <a:t> possible means for of 10 dice rolls in the universe</a:t>
            </a:r>
          </a:p>
        </p:txBody>
      </p:sp>
    </p:spTree>
    <p:extLst>
      <p:ext uri="{BB962C8B-B14F-4D97-AF65-F5344CB8AC3E}">
        <p14:creationId xmlns:p14="http://schemas.microsoft.com/office/powerpoint/2010/main" val="1871682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298617" y="21555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What’s the mean of the population?</a:t>
            </a:r>
            <a:endParaRPr lang="en-US" sz="24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DD6258-A573-4276-86C0-2B70A8C1B91F}"/>
              </a:ext>
            </a:extLst>
          </p:cNvPr>
          <p:cNvSpPr/>
          <p:nvPr/>
        </p:nvSpPr>
        <p:spPr>
          <a:xfrm>
            <a:off x="594545" y="1069305"/>
            <a:ext cx="57707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Mean of two dice rolls: 3.5</a:t>
            </a:r>
          </a:p>
          <a:p>
            <a:r>
              <a:rPr lang="en-US" sz="2800" dirty="0"/>
              <a:t>Standard deviation: 1.7</a:t>
            </a:r>
          </a:p>
          <a:p>
            <a:endParaRPr lang="en-US" sz="2800" dirty="0"/>
          </a:p>
          <a:p>
            <a:r>
              <a:rPr lang="en-US" sz="2800" dirty="0"/>
              <a:t>How did the means of your three “samples” compare?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16E46-FAA7-47A8-827A-79919615B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737" y="2029378"/>
            <a:ext cx="5687353" cy="454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4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D6258-A573-4276-86C0-2B70A8C1B91F}"/>
              </a:ext>
            </a:extLst>
          </p:cNvPr>
          <p:cNvSpPr/>
          <p:nvPr/>
        </p:nvSpPr>
        <p:spPr>
          <a:xfrm>
            <a:off x="463359" y="245567"/>
            <a:ext cx="112652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/>
              <a:t>What’s the </a:t>
            </a:r>
            <a:r>
              <a:rPr lang="en-US" sz="3600" b="1" dirty="0">
                <a:solidFill>
                  <a:srgbClr val="FFC000"/>
                </a:solidFill>
              </a:rPr>
              <a:t>mean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FFC000"/>
                </a:solidFill>
              </a:rPr>
              <a:t>standard deviation</a:t>
            </a:r>
            <a:r>
              <a:rPr lang="en-US" sz="3600" dirty="0"/>
              <a:t> for our whole class’s rolls (the sample mean distribution)?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1638C-8613-43F8-A99A-532395C9393B}"/>
              </a:ext>
            </a:extLst>
          </p:cNvPr>
          <p:cNvSpPr/>
          <p:nvPr/>
        </p:nvSpPr>
        <p:spPr>
          <a:xfrm>
            <a:off x="-112451" y="518127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2400" dirty="0"/>
              <a:t>Mean of these means: 3.5</a:t>
            </a:r>
          </a:p>
          <a:p>
            <a:pPr algn="r"/>
            <a:r>
              <a:rPr lang="en-US" sz="2400" dirty="0"/>
              <a:t>Standard deviation of these means: 0.5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C435C-09E5-43A9-9EAE-541393A809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25" y="3191552"/>
            <a:ext cx="5543898" cy="3469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77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05540" y="13370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Standard error</a:t>
            </a: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8B244-D561-4B57-B629-4082CA518482}"/>
              </a:ext>
            </a:extLst>
          </p:cNvPr>
          <p:cNvSpPr/>
          <p:nvPr/>
        </p:nvSpPr>
        <p:spPr>
          <a:xfrm>
            <a:off x="5465669" y="1335775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/>
              <a:t>How many 10 dice roll samples did we create? What should our standard error be?</a:t>
            </a:r>
          </a:p>
          <a:p>
            <a:endParaRPr lang="en-US" sz="3200" dirty="0"/>
          </a:p>
          <a:p>
            <a:r>
              <a:rPr lang="en-US" sz="3200" dirty="0"/>
              <a:t>How many </a:t>
            </a:r>
            <a:r>
              <a:rPr lang="en-US" sz="3200" b="1" u="sng" dirty="0"/>
              <a:t>means</a:t>
            </a:r>
            <a:r>
              <a:rPr lang="en-US" sz="3200" dirty="0"/>
              <a:t> fit within 1 standard error of the mean? Within 2 standard errors?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22A0B2-861B-4AE9-9C08-36F6F14BE3BF}"/>
                  </a:ext>
                </a:extLst>
              </p:cNvPr>
              <p:cNvSpPr txBox="1"/>
              <p:nvPr/>
            </p:nvSpPr>
            <p:spPr>
              <a:xfrm>
                <a:off x="1314994" y="1421568"/>
                <a:ext cx="2363339" cy="1398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B22A0B2-861B-4AE9-9C08-36F6F14BE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4994" y="1421568"/>
                <a:ext cx="2363339" cy="1398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1C689B-9170-44EF-BEEC-D467D38D63A6}"/>
                  </a:ext>
                </a:extLst>
              </p:cNvPr>
              <p:cNvSpPr/>
              <p:nvPr/>
            </p:nvSpPr>
            <p:spPr>
              <a:xfrm>
                <a:off x="630331" y="3347149"/>
                <a:ext cx="4367423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200" dirty="0"/>
                  <a:t>=standard deviation of sample or population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31C689B-9170-44EF-BEEC-D467D38D63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31" y="3347149"/>
                <a:ext cx="4367423" cy="1077218"/>
              </a:xfrm>
              <a:prstGeom prst="rect">
                <a:avLst/>
              </a:prstGeom>
              <a:blipFill>
                <a:blip r:embed="rId4"/>
                <a:stretch>
                  <a:fillRect l="-3487" t="-7345" r="-2789" b="-17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2451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05540" y="13370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</a:t>
            </a:r>
            <a:endParaRPr lang="en-US" sz="2400" b="1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EEA105-4EED-4F35-8506-76A1F7DE6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409" y="1212920"/>
            <a:ext cx="8595647" cy="516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517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305540" y="133702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0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</a:t>
            </a:r>
            <a:endParaRPr lang="en-US" sz="24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4" name="Shape 172">
            <a:extLst>
              <a:ext uri="{FF2B5EF4-FFF2-40B4-BE49-F238E27FC236}">
                <a16:creationId xmlns:a16="http://schemas.microsoft.com/office/drawing/2014/main" id="{D0114048-46AB-4E82-A685-F0CF46805DA3}"/>
              </a:ext>
            </a:extLst>
          </p:cNvPr>
          <p:cNvSpPr txBox="1"/>
          <p:nvPr/>
        </p:nvSpPr>
        <p:spPr>
          <a:xfrm>
            <a:off x="487806" y="951297"/>
            <a:ext cx="7540625" cy="1815881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Three ingredients for a confidence interval: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Sample mean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Standard error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Z-score for the confidence interval</a:t>
            </a: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L="457200" marR="0" lvl="0" indent="-457200" algn="l" rtl="0">
              <a:spcBef>
                <a:spcPts val="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Margin of error = z-score * the standard error</a:t>
            </a: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Subtract and add this MOE to the sample mean</a:t>
            </a: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 marR="0" lvl="0" algn="l" rtl="0">
              <a:spcBef>
                <a:spcPts val="0"/>
              </a:spcBef>
              <a:buClr>
                <a:schemeClr val="tx1"/>
              </a:buClr>
              <a:buSzPct val="100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What’s the confidence interval for each of your three dice roll samples? How many include the actual mean of 7?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A8011-5113-4555-B749-F3416585979D}"/>
                  </a:ext>
                </a:extLst>
              </p:cNvPr>
              <p:cNvSpPr txBox="1"/>
              <p:nvPr/>
            </p:nvSpPr>
            <p:spPr>
              <a:xfrm>
                <a:off x="8867852" y="2940045"/>
                <a:ext cx="2363339" cy="13980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acc>
                            <m:accPr>
                              <m:chr m:val="̅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sub>
                      </m:sSub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8A8011-5113-4555-B749-F34165859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852" y="2940045"/>
                <a:ext cx="2363339" cy="13980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8790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296662" y="34771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3600" b="1" dirty="0">
                <a:effectLst/>
                <a:latin typeface="+mj-lt"/>
                <a:ea typeface="Gill Sans MT"/>
                <a:cs typeface="Gill Sans MT"/>
                <a:sym typeface="Gill Sans MT"/>
              </a:rPr>
              <a:t>Confidence intervals for proportions</a:t>
            </a:r>
            <a:endParaRPr lang="en-US" sz="2000" b="1" dirty="0">
              <a:effectLst/>
              <a:ea typeface="Gill Sans MT"/>
              <a:cs typeface="Gill Sans MT"/>
              <a:sym typeface="Gill Sans MT"/>
            </a:endParaRPr>
          </a:p>
        </p:txBody>
      </p:sp>
      <p:sp>
        <p:nvSpPr>
          <p:cNvPr id="6" name="Shape 255">
            <a:extLst>
              <a:ext uri="{FF2B5EF4-FFF2-40B4-BE49-F238E27FC236}">
                <a16:creationId xmlns:a16="http://schemas.microsoft.com/office/drawing/2014/main" id="{F2EB5C37-FFDF-48E3-B272-2AED3030B44C}"/>
              </a:ext>
            </a:extLst>
          </p:cNvPr>
          <p:cNvSpPr txBox="1"/>
          <p:nvPr/>
        </p:nvSpPr>
        <p:spPr>
          <a:xfrm>
            <a:off x="393698" y="824592"/>
            <a:ext cx="7010400" cy="224676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You asked 50 households in Athens if they keep chickens on their property. Three said they did. Create a confidence interval for the proportion of chicken owning households in the city.</a:t>
            </a:r>
          </a:p>
        </p:txBody>
      </p:sp>
      <p:pic>
        <p:nvPicPr>
          <p:cNvPr id="7" name="Shape 256" descr="http://modernsurvivalonline.com/wp-content/uploads/2014/01/Chicken1.jpg">
            <a:extLst>
              <a:ext uri="{FF2B5EF4-FFF2-40B4-BE49-F238E27FC236}">
                <a16:creationId xmlns:a16="http://schemas.microsoft.com/office/drawing/2014/main" id="{29D31E35-1870-405C-B672-D6B4468049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3698" y="3248218"/>
            <a:ext cx="5105399" cy="3390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Shape 246">
            <a:extLst>
              <a:ext uri="{FF2B5EF4-FFF2-40B4-BE49-F238E27FC236}">
                <a16:creationId xmlns:a16="http://schemas.microsoft.com/office/drawing/2014/main" id="{E284F3ED-4E8B-4EFA-9A73-DD6E0B41A86E}"/>
              </a:ext>
            </a:extLst>
          </p:cNvPr>
          <p:cNvGrpSpPr/>
          <p:nvPr/>
        </p:nvGrpSpPr>
        <p:grpSpPr>
          <a:xfrm>
            <a:off x="8043169" y="994300"/>
            <a:ext cx="3532451" cy="1597979"/>
            <a:chOff x="1245591" y="2667000"/>
            <a:chExt cx="2907308" cy="1371599"/>
          </a:xfrm>
        </p:grpSpPr>
        <p:sp>
          <p:nvSpPr>
            <p:cNvPr id="9" name="Shape 247">
              <a:extLst>
                <a:ext uri="{FF2B5EF4-FFF2-40B4-BE49-F238E27FC236}">
                  <a16:creationId xmlns:a16="http://schemas.microsoft.com/office/drawing/2014/main" id="{1008F3C6-BBF7-49D0-8241-58350E5F11AB}"/>
                </a:ext>
              </a:extLst>
            </p:cNvPr>
            <p:cNvSpPr/>
            <p:nvPr/>
          </p:nvSpPr>
          <p:spPr>
            <a:xfrm>
              <a:off x="1245591" y="2667000"/>
              <a:ext cx="2907308" cy="1371599"/>
            </a:xfrm>
            <a:prstGeom prst="rect">
              <a:avLst/>
            </a:prstGeom>
            <a:solidFill>
              <a:srgbClr val="F2F2F2"/>
            </a:solidFill>
            <a:ln w="25400" cap="flat" cmpd="sng">
              <a:solidFill>
                <a:srgbClr val="395E8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buNone/>
              </a:pPr>
              <a:endParaRPr sz="1800">
                <a:solidFill>
                  <a:schemeClr val="lt1"/>
                </a:solidFill>
                <a:latin typeface="Gill Sans MT"/>
                <a:ea typeface="Gill Sans MT"/>
                <a:cs typeface="Gill Sans MT"/>
                <a:sym typeface="Gill Sans MT"/>
              </a:endParaRPr>
            </a:p>
          </p:txBody>
        </p:sp>
        <p:pic>
          <p:nvPicPr>
            <p:cNvPr id="10" name="Shape 248">
              <a:extLst>
                <a:ext uri="{FF2B5EF4-FFF2-40B4-BE49-F238E27FC236}">
                  <a16:creationId xmlns:a16="http://schemas.microsoft.com/office/drawing/2014/main" id="{552E9EC0-FD7F-46D7-9372-80BAB0F5261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245591" y="2743378"/>
              <a:ext cx="2884091" cy="118680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" name="Picture 4" descr="ryan gosling hey girl - Hey girl Check out my confidence interval">
            <a:extLst>
              <a:ext uri="{FF2B5EF4-FFF2-40B4-BE49-F238E27FC236}">
                <a16:creationId xmlns:a16="http://schemas.microsoft.com/office/drawing/2014/main" id="{C1F1758C-3E48-490C-812D-D2E67DB02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620" y="2828523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492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296662" y="34771"/>
            <a:ext cx="9655206" cy="642689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spcBef>
                <a:spcPts val="560"/>
              </a:spcBef>
              <a:buClr>
                <a:srgbClr val="FFFF66"/>
              </a:buClr>
              <a:buSzPct val="25000"/>
            </a:pPr>
            <a:r>
              <a:rPr lang="en-US" sz="4800" dirty="0">
                <a:effectLst/>
                <a:latin typeface="+mj-lt"/>
                <a:ea typeface="Gill Sans MT"/>
                <a:cs typeface="Gill Sans MT"/>
                <a:sym typeface="Gill Sans MT"/>
              </a:rPr>
              <a:t>Let’s talk about sampling!</a:t>
            </a:r>
            <a:endParaRPr lang="en-US" sz="3000" dirty="0">
              <a:effectLst/>
              <a:ea typeface="Gill Sans MT"/>
              <a:cs typeface="Gill Sans MT"/>
              <a:sym typeface="Gill Sans MT"/>
            </a:endParaRPr>
          </a:p>
        </p:txBody>
      </p:sp>
      <p:pic>
        <p:nvPicPr>
          <p:cNvPr id="11" name="Shape 94" descr="http://media.cleveland.com/business_impact/photo/heinens-samples-cheesecake-bites-and-eggnogjpg-18875e4df01fff3c.jpg">
            <a:extLst>
              <a:ext uri="{FF2B5EF4-FFF2-40B4-BE49-F238E27FC236}">
                <a16:creationId xmlns:a16="http://schemas.microsoft.com/office/drawing/2014/main" id="{9C466EF7-F841-4B29-96F5-90608067C4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61850" y="1390279"/>
            <a:ext cx="6468300" cy="463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00697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11730" y="116858"/>
            <a:ext cx="7280297" cy="58477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b="1" dirty="0">
                <a:latin typeface="+mj-lt"/>
                <a:ea typeface="Gill Sans MT"/>
                <a:cs typeface="Gill Sans MT"/>
                <a:sym typeface="Gill Sans MT"/>
              </a:rPr>
              <a:t>Sample research question:</a:t>
            </a:r>
          </a:p>
        </p:txBody>
      </p:sp>
      <p:sp>
        <p:nvSpPr>
          <p:cNvPr id="109" name="Shape 109"/>
          <p:cNvSpPr txBox="1"/>
          <p:nvPr/>
        </p:nvSpPr>
        <p:spPr>
          <a:xfrm>
            <a:off x="511729" y="701632"/>
            <a:ext cx="10704351" cy="44196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FFFF66"/>
              </a:buCl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What are the most significant obstacles homeowners face in maintaining their homes? How does this vary by the homeowners’ age?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62756E-A55D-4542-9478-8DB0D69687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546"/>
          <a:stretch/>
        </p:blipFill>
        <p:spPr>
          <a:xfrm>
            <a:off x="3635934" y="2646715"/>
            <a:ext cx="4920131" cy="343565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F0CA4B-FA1F-4682-854B-60EED4349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2338014"/>
            <a:ext cx="7878274" cy="1381318"/>
          </a:xfrm>
          <a:prstGeom prst="rect">
            <a:avLst/>
          </a:prstGeom>
        </p:spPr>
      </p:pic>
      <p:sp>
        <p:nvSpPr>
          <p:cNvPr id="122" name="Shape 122"/>
          <p:cNvSpPr txBox="1"/>
          <p:nvPr/>
        </p:nvSpPr>
        <p:spPr>
          <a:xfrm>
            <a:off x="1752601" y="268459"/>
            <a:ext cx="8686800" cy="4419599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FFFF66"/>
              </a:buClr>
              <a:buSzPct val="25000"/>
            </a:pPr>
            <a:r>
              <a:rPr lang="en-US" sz="3600" b="1" dirty="0">
                <a:ea typeface="Gill Sans MT"/>
                <a:cs typeface="Gill Sans MT"/>
                <a:sym typeface="Gill Sans MT"/>
              </a:rPr>
              <a:t>Sampling frame: </a:t>
            </a:r>
          </a:p>
          <a:p>
            <a:pPr>
              <a:buClr>
                <a:srgbClr val="FFFF66"/>
              </a:buClr>
              <a:buSzPct val="25000"/>
            </a:pPr>
            <a:r>
              <a:rPr lang="en-US" sz="3600" dirty="0">
                <a:ea typeface="Gill Sans MT"/>
                <a:cs typeface="Gill Sans MT"/>
                <a:sym typeface="Gill Sans MT"/>
              </a:rPr>
              <a:t>List of ALL possible households you could interview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6E219D-3081-41A2-A1B8-6EF7BEE05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975" y="3506680"/>
            <a:ext cx="6421425" cy="32134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1141801" y="1587212"/>
            <a:ext cx="4420800" cy="18159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u="sng" dirty="0">
                <a:ea typeface="Gill Sans MT"/>
                <a:cs typeface="Gill Sans MT"/>
                <a:sym typeface="Gill Sans MT"/>
              </a:rPr>
              <a:t>Non-probability sample</a:t>
            </a:r>
            <a:br>
              <a:rPr lang="en-US" sz="3200" u="sng" dirty="0">
                <a:ea typeface="Gill Sans MT"/>
                <a:cs typeface="Gill Sans MT"/>
                <a:sym typeface="Gill Sans MT"/>
              </a:rPr>
            </a:br>
            <a:r>
              <a:rPr lang="en-US" sz="3200" dirty="0">
                <a:ea typeface="Gill Sans MT"/>
                <a:cs typeface="Gill Sans MT"/>
                <a:sym typeface="Gill Sans MT"/>
              </a:rPr>
              <a:t>Convenience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Snowball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Quota</a:t>
            </a:r>
          </a:p>
        </p:txBody>
      </p:sp>
      <p:sp>
        <p:nvSpPr>
          <p:cNvPr id="139" name="Shape 139"/>
          <p:cNvSpPr txBox="1"/>
          <p:nvPr/>
        </p:nvSpPr>
        <p:spPr>
          <a:xfrm>
            <a:off x="6929253" y="1600604"/>
            <a:ext cx="3618600" cy="2246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3200" u="sng" dirty="0">
                <a:ea typeface="Gill Sans MT"/>
                <a:cs typeface="Gill Sans MT"/>
                <a:sym typeface="Gill Sans MT"/>
              </a:rPr>
              <a:t>Probability sample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Random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Systematic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Stratified</a:t>
            </a:r>
          </a:p>
          <a:p>
            <a:pPr>
              <a:buSzPct val="25000"/>
            </a:pPr>
            <a:r>
              <a:rPr lang="en-US" sz="3200" dirty="0">
                <a:ea typeface="Gill Sans MT"/>
                <a:cs typeface="Gill Sans MT"/>
                <a:sym typeface="Gill Sans MT"/>
              </a:rPr>
              <a:t>Cluster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F7614B-0303-B269-F538-B586834F9F97}"/>
              </a:ext>
            </a:extLst>
          </p:cNvPr>
          <p:cNvSpPr txBox="1"/>
          <p:nvPr/>
        </p:nvSpPr>
        <p:spPr>
          <a:xfrm>
            <a:off x="541035" y="259951"/>
            <a:ext cx="70510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ea typeface="Gill Sans MT"/>
                <a:cs typeface="Gill Sans MT"/>
                <a:sym typeface="Gill Sans MT"/>
              </a:rPr>
              <a:t>Sampling strategy</a:t>
            </a:r>
            <a:endParaRPr lang="en-US" sz="4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 txBox="1"/>
          <p:nvPr/>
        </p:nvSpPr>
        <p:spPr>
          <a:xfrm>
            <a:off x="310393" y="3613011"/>
            <a:ext cx="9550461" cy="156966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We asked 20 homeowners if they were worried about losing their homes in the next year. Four said yes. What’s the confidence interval?</a:t>
            </a:r>
          </a:p>
          <a:p>
            <a:pPr>
              <a:buSzPct val="25000"/>
            </a:pPr>
            <a:endParaRPr lang="en-US" sz="2800" dirty="0">
              <a:ea typeface="Gill Sans MT"/>
              <a:cs typeface="Gill Sans MT"/>
              <a:sym typeface="Gill Sans MT"/>
            </a:endParaRPr>
          </a:p>
          <a:p>
            <a:pPr>
              <a:buSzPct val="25000"/>
            </a:pPr>
            <a:r>
              <a:rPr lang="en-US" sz="2800" dirty="0">
                <a:ea typeface="Gill Sans MT"/>
                <a:cs typeface="Gill Sans MT"/>
                <a:sym typeface="Gill Sans MT"/>
              </a:rPr>
              <a:t>How big a sample would we need to get a margin of error </a:t>
            </a:r>
            <a:r>
              <a:rPr lang="en-US" sz="2800" u="sng" dirty="0">
                <a:ea typeface="Gill Sans MT"/>
                <a:cs typeface="Gill Sans MT"/>
                <a:sym typeface="Gill Sans MT"/>
              </a:rPr>
              <a:t>of less than 1.5%</a:t>
            </a:r>
            <a:r>
              <a:rPr lang="en-US" sz="2800" dirty="0">
                <a:ea typeface="Gill Sans MT"/>
                <a:cs typeface="Gill Sans MT"/>
                <a:sym typeface="Gill Sans MT"/>
              </a:rPr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824DDA-D760-43DD-874B-6B5006E0327E}"/>
              </a:ext>
            </a:extLst>
          </p:cNvPr>
          <p:cNvSpPr/>
          <p:nvPr/>
        </p:nvSpPr>
        <p:spPr>
          <a:xfrm>
            <a:off x="224715" y="127632"/>
            <a:ext cx="281198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ea typeface="Gill Sans MT"/>
                <a:cs typeface="Gill Sans MT"/>
                <a:sym typeface="Gill Sans MT"/>
              </a:rPr>
              <a:t>Sample size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E5B63C-8721-4E18-89B0-B7FF9A58D182}"/>
                  </a:ext>
                </a:extLst>
              </p:cNvPr>
              <p:cNvSpPr txBox="1"/>
              <p:nvPr/>
            </p:nvSpPr>
            <p:spPr>
              <a:xfrm>
                <a:off x="4044392" y="2187327"/>
                <a:ext cx="5274200" cy="1111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𝑀𝑂𝐸</m:t>
                              </m:r>
                            </m:e>
                            <m:sup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∗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E5B63C-8721-4E18-89B0-B7FF9A58D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392" y="2187327"/>
                <a:ext cx="5274200" cy="1111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0C3ABDB-6B49-4397-81D4-8EC880A511F7}"/>
              </a:ext>
            </a:extLst>
          </p:cNvPr>
          <p:cNvSpPr/>
          <p:nvPr/>
        </p:nvSpPr>
        <p:spPr>
          <a:xfrm>
            <a:off x="310393" y="1133520"/>
            <a:ext cx="405188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a typeface="Gill Sans MT"/>
                <a:cs typeface="Gill Sans MT"/>
                <a:sym typeface="Gill Sans MT"/>
              </a:rPr>
              <a:t>If the MOE for proportions is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418F6-A3D4-4E36-BDFB-20E78988BD77}"/>
                  </a:ext>
                </a:extLst>
              </p:cNvPr>
              <p:cNvSpPr txBox="1"/>
              <p:nvPr/>
            </p:nvSpPr>
            <p:spPr>
              <a:xfrm>
                <a:off x="4044392" y="380462"/>
                <a:ext cx="4546566" cy="163685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OE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  <m:rad>
                        <m:radPr>
                          <m:degHide m:val="on"/>
                          <m:ctrlPr>
                            <a:rPr lang="en-US" sz="3600" i="1" smtClean="0">
                              <a:ln w="0"/>
                              <a:solidFill>
                                <a:schemeClr val="tx1"/>
                              </a:solidFill>
                              <a:effectLst>
                                <a:outerShdw blurRad="38100" dist="25400" dir="5400000" algn="ctr" rotWithShape="0">
                                  <a:srgbClr val="6E747A">
                                    <a:alpha val="43000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360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3600" b="0" i="1" smtClean="0">
                                  <a:ln w="0"/>
                                  <a:solidFill>
                                    <a:schemeClr val="tx1"/>
                                  </a:solidFill>
                                  <a:effectLst>
                                    <a:outerShdw blurRad="38100" dist="25400" dir="5400000" algn="ctr" rotWithShape="0">
                                      <a:srgbClr val="6E747A">
                                        <a:alpha val="43000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A5418F6-A3D4-4E36-BDFB-20E78988B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392" y="380462"/>
                <a:ext cx="4546566" cy="1636858"/>
              </a:xfrm>
              <a:prstGeom prst="rect">
                <a:avLst/>
              </a:prstGeom>
              <a:blipFill>
                <a:blip r:embed="rId4"/>
                <a:stretch>
                  <a:fillRect b="-4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03585F4-0730-42C3-8172-4566BBD01898}"/>
              </a:ext>
            </a:extLst>
          </p:cNvPr>
          <p:cNvSpPr/>
          <p:nvPr/>
        </p:nvSpPr>
        <p:spPr>
          <a:xfrm>
            <a:off x="310393" y="2231181"/>
            <a:ext cx="427626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ea typeface="Gill Sans MT"/>
                <a:cs typeface="Gill Sans MT"/>
                <a:sym typeface="Gill Sans MT"/>
              </a:rPr>
              <a:t>Then we can compute sample size as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406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1037</TotalTime>
  <Words>767</Words>
  <Application>Microsoft Macintosh PowerPoint</Application>
  <PresentationFormat>Widescreen</PresentationFormat>
  <Paragraphs>121</Paragraphs>
  <Slides>22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Calisto MT</vt:lpstr>
      <vt:lpstr>Cambria Math</vt:lpstr>
      <vt:lpstr>Gill Sans MT</vt:lpstr>
      <vt:lpstr>Wingdings 2</vt:lpstr>
      <vt:lpstr>Slate</vt:lpstr>
      <vt:lpstr>Week 6: Central limit theorem and confidence intervals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Descriptive statistics</dc:title>
  <dc:creator>Jerry Shannon</dc:creator>
  <cp:lastModifiedBy>Anna Harper</cp:lastModifiedBy>
  <cp:revision>64</cp:revision>
  <dcterms:created xsi:type="dcterms:W3CDTF">2021-09-02T15:10:57Z</dcterms:created>
  <dcterms:modified xsi:type="dcterms:W3CDTF">2025-10-07T21:14:36Z</dcterms:modified>
</cp:coreProperties>
</file>