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0" r:id="rId1"/>
  </p:sldMasterIdLst>
  <p:notesMasterIdLst>
    <p:notesMasterId r:id="rId13"/>
  </p:notesMasterIdLst>
  <p:sldIdLst>
    <p:sldId id="256" r:id="rId2"/>
    <p:sldId id="262" r:id="rId3"/>
    <p:sldId id="270" r:id="rId4"/>
    <p:sldId id="271" r:id="rId5"/>
    <p:sldId id="269" r:id="rId6"/>
    <p:sldId id="272" r:id="rId7"/>
    <p:sldId id="273" r:id="rId8"/>
    <p:sldId id="274" r:id="rId9"/>
    <p:sldId id="268" r:id="rId10"/>
    <p:sldId id="277" r:id="rId11"/>
    <p:sldId id="27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918"/>
    <p:restoredTop sz="79315"/>
  </p:normalViewPr>
  <p:slideViewPr>
    <p:cSldViewPr snapToGrid="0">
      <p:cViewPr varScale="1">
        <p:scale>
          <a:sx n="90" d="100"/>
          <a:sy n="90" d="100"/>
        </p:scale>
        <p:origin x="224" y="2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1EE231-1E25-554B-A8A9-203D2F60356A}" type="datetimeFigureOut">
              <a:rPr lang="en-US" smtClean="0"/>
              <a:t>8/26/25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B84F3F-161C-D647-9920-F983A7A8B541}" type="slidenum">
              <a:rPr lang="en-US" smtClean="0"/>
              <a:t>‹#›</a:t>
            </a:fld>
            <a:endParaRPr lang="en-US"/>
          </a:p>
        </p:txBody>
      </p:sp>
    </p:spTree>
    <p:extLst>
      <p:ext uri="{BB962C8B-B14F-4D97-AF65-F5344CB8AC3E}">
        <p14:creationId xmlns:p14="http://schemas.microsoft.com/office/powerpoint/2010/main" val="22869018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EB84F3F-161C-D647-9920-F983A7A8B541}" type="slidenum">
              <a:rPr lang="en-US" smtClean="0"/>
              <a:t>2</a:t>
            </a:fld>
            <a:endParaRPr lang="en-US"/>
          </a:p>
        </p:txBody>
      </p:sp>
    </p:spTree>
    <p:extLst>
      <p:ext uri="{BB962C8B-B14F-4D97-AF65-F5344CB8AC3E}">
        <p14:creationId xmlns:p14="http://schemas.microsoft.com/office/powerpoint/2010/main" val="21205732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0" i="0" kern="1200" dirty="0">
                <a:solidFill>
                  <a:schemeClr val="tx1"/>
                </a:solidFill>
                <a:effectLst/>
                <a:latin typeface="+mn-lt"/>
                <a:ea typeface="+mn-ea"/>
                <a:cs typeface="+mn-cs"/>
              </a:rPr>
              <a:t>Think of it as a </a:t>
            </a:r>
            <a:r>
              <a:rPr lang="en-US" sz="1200" b="1" i="0" kern="1200" dirty="0">
                <a:solidFill>
                  <a:schemeClr val="tx1"/>
                </a:solidFill>
                <a:effectLst/>
                <a:latin typeface="+mn-lt"/>
                <a:ea typeface="+mn-ea"/>
                <a:cs typeface="+mn-cs"/>
              </a:rPr>
              <a:t>bridge</a:t>
            </a:r>
            <a:r>
              <a:rPr lang="en-US" sz="1200" b="0" i="0" kern="1200" dirty="0">
                <a:solidFill>
                  <a:schemeClr val="tx1"/>
                </a:solidFill>
                <a:effectLst/>
                <a:latin typeface="+mn-lt"/>
                <a:ea typeface="+mn-ea"/>
                <a:cs typeface="+mn-cs"/>
              </a:rPr>
              <a:t> that connects two systems—such as a client and a server—and enables them to work together seamlessly.</a:t>
            </a:r>
          </a:p>
          <a:p>
            <a:pPr rtl="0" fontAlgn="base"/>
            <a:r>
              <a:rPr lang="en-US" sz="1200" b="0" i="0" kern="1200" dirty="0">
                <a:solidFill>
                  <a:schemeClr val="tx1"/>
                </a:solidFill>
                <a:effectLst/>
                <a:latin typeface="+mn-lt"/>
                <a:ea typeface="+mn-ea"/>
                <a:cs typeface="+mn-cs"/>
              </a:rPr>
              <a:t>To understand it better, imagine you're at a restaurant: the </a:t>
            </a:r>
            <a:r>
              <a:rPr lang="en-US" sz="1200" b="1" i="0" kern="1200" dirty="0">
                <a:solidFill>
                  <a:schemeClr val="tx1"/>
                </a:solidFill>
                <a:effectLst/>
                <a:latin typeface="+mn-lt"/>
                <a:ea typeface="+mn-ea"/>
                <a:cs typeface="+mn-cs"/>
              </a:rPr>
              <a:t>waiter</a:t>
            </a:r>
            <a:r>
              <a:rPr lang="en-US" sz="1200" b="0" i="0" kern="1200" dirty="0">
                <a:solidFill>
                  <a:schemeClr val="tx1"/>
                </a:solidFill>
                <a:effectLst/>
                <a:latin typeface="+mn-lt"/>
                <a:ea typeface="+mn-ea"/>
                <a:cs typeface="+mn-cs"/>
              </a:rPr>
              <a:t> (API) takes your order (request), gives it to the </a:t>
            </a:r>
            <a:r>
              <a:rPr lang="en-US" sz="1200" b="1" i="0" kern="1200" dirty="0">
                <a:solidFill>
                  <a:schemeClr val="tx1"/>
                </a:solidFill>
                <a:effectLst/>
                <a:latin typeface="+mn-lt"/>
                <a:ea typeface="+mn-ea"/>
                <a:cs typeface="+mn-cs"/>
              </a:rPr>
              <a:t>chef</a:t>
            </a:r>
            <a:r>
              <a:rPr lang="en-US" sz="1200" b="0" i="0" kern="1200" dirty="0">
                <a:solidFill>
                  <a:schemeClr val="tx1"/>
                </a:solidFill>
                <a:effectLst/>
                <a:latin typeface="+mn-lt"/>
                <a:ea typeface="+mn-ea"/>
                <a:cs typeface="+mn-cs"/>
              </a:rPr>
              <a:t> (server), and then brings the prepared food (response) back to your table. Similarly, when you search for a course on a website, your request goes through an API, which then fetches the data from the database and sends it back as a response.</a:t>
            </a:r>
          </a:p>
          <a:p>
            <a:endParaRPr lang="en-US" dirty="0"/>
          </a:p>
          <a:p>
            <a:pPr rtl="0" fontAlgn="base"/>
            <a:r>
              <a:rPr lang="en-US" sz="1200" b="0" i="0" kern="1200" dirty="0">
                <a:solidFill>
                  <a:schemeClr val="tx1"/>
                </a:solidFill>
                <a:effectLst/>
                <a:latin typeface="+mn-lt"/>
                <a:ea typeface="+mn-ea"/>
                <a:cs typeface="+mn-cs"/>
              </a:rPr>
              <a:t>APIs work in a simple step-by-step process:</a:t>
            </a:r>
          </a:p>
          <a:p>
            <a:pPr fontAlgn="base"/>
            <a:r>
              <a:rPr lang="en-US" sz="1200" b="1" i="0" kern="1200" dirty="0">
                <a:solidFill>
                  <a:schemeClr val="tx1"/>
                </a:solidFill>
                <a:effectLst/>
                <a:latin typeface="+mn-lt"/>
                <a:ea typeface="+mn-ea"/>
                <a:cs typeface="+mn-cs"/>
              </a:rPr>
              <a:t>Request:</a:t>
            </a:r>
            <a:r>
              <a:rPr lang="en-US" sz="1200" b="0" i="0" kern="1200" dirty="0">
                <a:solidFill>
                  <a:schemeClr val="tx1"/>
                </a:solidFill>
                <a:effectLst/>
                <a:latin typeface="+mn-lt"/>
                <a:ea typeface="+mn-ea"/>
                <a:cs typeface="+mn-cs"/>
              </a:rPr>
              <a:t> A client (user) sends a request through the API's URI (Uniform Resource Identifier).</a:t>
            </a:r>
          </a:p>
          <a:p>
            <a:pPr fontAlgn="base"/>
            <a:r>
              <a:rPr lang="en-US" sz="1200" b="1" i="0" kern="1200" dirty="0">
                <a:solidFill>
                  <a:schemeClr val="tx1"/>
                </a:solidFill>
                <a:effectLst/>
                <a:latin typeface="+mn-lt"/>
                <a:ea typeface="+mn-ea"/>
                <a:cs typeface="+mn-cs"/>
              </a:rPr>
              <a:t>Processing:</a:t>
            </a:r>
            <a:r>
              <a:rPr lang="en-US" sz="1200" b="0" i="0" kern="1200" dirty="0">
                <a:solidFill>
                  <a:schemeClr val="tx1"/>
                </a:solidFill>
                <a:effectLst/>
                <a:latin typeface="+mn-lt"/>
                <a:ea typeface="+mn-ea"/>
                <a:cs typeface="+mn-cs"/>
              </a:rPr>
              <a:t> The API forwards the request to the server.</a:t>
            </a:r>
          </a:p>
          <a:p>
            <a:pPr fontAlgn="base"/>
            <a:r>
              <a:rPr lang="en-US" sz="1200" b="1" i="0" kern="1200" dirty="0">
                <a:solidFill>
                  <a:schemeClr val="tx1"/>
                </a:solidFill>
                <a:effectLst/>
                <a:latin typeface="+mn-lt"/>
                <a:ea typeface="+mn-ea"/>
                <a:cs typeface="+mn-cs"/>
              </a:rPr>
              <a:t>Response:</a:t>
            </a:r>
            <a:r>
              <a:rPr lang="en-US" sz="1200" b="0" i="0" kern="1200" dirty="0">
                <a:solidFill>
                  <a:schemeClr val="tx1"/>
                </a:solidFill>
                <a:effectLst/>
                <a:latin typeface="+mn-lt"/>
                <a:ea typeface="+mn-ea"/>
                <a:cs typeface="+mn-cs"/>
              </a:rPr>
              <a:t> The server processes the request and sends the response back to the API.</a:t>
            </a:r>
          </a:p>
          <a:p>
            <a:pPr fontAlgn="base"/>
            <a:r>
              <a:rPr lang="en-US" sz="1200" b="1" i="0" kern="1200" dirty="0">
                <a:solidFill>
                  <a:schemeClr val="tx1"/>
                </a:solidFill>
                <a:effectLst/>
                <a:latin typeface="+mn-lt"/>
                <a:ea typeface="+mn-ea"/>
                <a:cs typeface="+mn-cs"/>
              </a:rPr>
              <a:t>Delivery:</a:t>
            </a:r>
            <a:r>
              <a:rPr lang="en-US" sz="1200" b="0" i="0" kern="1200" dirty="0">
                <a:solidFill>
                  <a:schemeClr val="tx1"/>
                </a:solidFill>
                <a:effectLst/>
                <a:latin typeface="+mn-lt"/>
                <a:ea typeface="+mn-ea"/>
                <a:cs typeface="+mn-cs"/>
              </a:rPr>
              <a:t> The API returns the server's response to the client.</a:t>
            </a:r>
          </a:p>
          <a:p>
            <a:endParaRPr lang="en-US" dirty="0"/>
          </a:p>
        </p:txBody>
      </p:sp>
      <p:sp>
        <p:nvSpPr>
          <p:cNvPr id="4" name="Slide Number Placeholder 3"/>
          <p:cNvSpPr>
            <a:spLocks noGrp="1"/>
          </p:cNvSpPr>
          <p:nvPr>
            <p:ph type="sldNum" sz="quarter" idx="5"/>
          </p:nvPr>
        </p:nvSpPr>
        <p:spPr/>
        <p:txBody>
          <a:bodyPr/>
          <a:lstStyle/>
          <a:p>
            <a:fld id="{1EB84F3F-161C-D647-9920-F983A7A8B541}" type="slidenum">
              <a:rPr lang="en-US" smtClean="0"/>
              <a:t>3</a:t>
            </a:fld>
            <a:endParaRPr lang="en-US"/>
          </a:p>
        </p:txBody>
      </p:sp>
    </p:spTree>
    <p:extLst>
      <p:ext uri="{BB962C8B-B14F-4D97-AF65-F5344CB8AC3E}">
        <p14:creationId xmlns:p14="http://schemas.microsoft.com/office/powerpoint/2010/main" val="24110843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EB84F3F-161C-D647-9920-F983A7A8B541}" type="slidenum">
              <a:rPr lang="en-US" smtClean="0"/>
              <a:t>5</a:t>
            </a:fld>
            <a:endParaRPr lang="en-US"/>
          </a:p>
        </p:txBody>
      </p:sp>
    </p:spTree>
    <p:extLst>
      <p:ext uri="{BB962C8B-B14F-4D97-AF65-F5344CB8AC3E}">
        <p14:creationId xmlns:p14="http://schemas.microsoft.com/office/powerpoint/2010/main" val="33122664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Filter: keep rows that </a:t>
            </a:r>
            <a:r>
              <a:rPr lang="en-US" b="1" dirty="0"/>
              <a:t>match a condition</a:t>
            </a:r>
          </a:p>
          <a:p>
            <a:r>
              <a:rPr lang="en-US" dirty="0"/>
              <a:t>Select: keep or drop columns </a:t>
            </a:r>
            <a:r>
              <a:rPr lang="en-US" b="1" dirty="0"/>
              <a:t>using their names and types</a:t>
            </a:r>
          </a:p>
        </p:txBody>
      </p:sp>
      <p:sp>
        <p:nvSpPr>
          <p:cNvPr id="4" name="Slide Number Placeholder 3"/>
          <p:cNvSpPr>
            <a:spLocks noGrp="1"/>
          </p:cNvSpPr>
          <p:nvPr>
            <p:ph type="sldNum" sz="quarter" idx="5"/>
          </p:nvPr>
        </p:nvSpPr>
        <p:spPr/>
        <p:txBody>
          <a:bodyPr/>
          <a:lstStyle/>
          <a:p>
            <a:fld id="{1EB84F3F-161C-D647-9920-F983A7A8B541}" type="slidenum">
              <a:rPr lang="en-US" smtClean="0"/>
              <a:t>9</a:t>
            </a:fld>
            <a:endParaRPr lang="en-US"/>
          </a:p>
        </p:txBody>
      </p:sp>
    </p:spTree>
    <p:extLst>
      <p:ext uri="{BB962C8B-B14F-4D97-AF65-F5344CB8AC3E}">
        <p14:creationId xmlns:p14="http://schemas.microsoft.com/office/powerpoint/2010/main" val="7091582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haven’t done steps 2-4 yet, let’s keep going, and you’ll need to do it either later today or you can get help on Thursday.</a:t>
            </a:r>
          </a:p>
          <a:p>
            <a:endParaRPr lang="en-US" dirty="0"/>
          </a:p>
        </p:txBody>
      </p:sp>
      <p:sp>
        <p:nvSpPr>
          <p:cNvPr id="4" name="Slide Number Placeholder 3"/>
          <p:cNvSpPr>
            <a:spLocks noGrp="1"/>
          </p:cNvSpPr>
          <p:nvPr>
            <p:ph type="sldNum" sz="quarter" idx="5"/>
          </p:nvPr>
        </p:nvSpPr>
        <p:spPr/>
        <p:txBody>
          <a:bodyPr/>
          <a:lstStyle/>
          <a:p>
            <a:fld id="{1EB84F3F-161C-D647-9920-F983A7A8B541}" type="slidenum">
              <a:rPr lang="en-US" smtClean="0"/>
              <a:t>10</a:t>
            </a:fld>
            <a:endParaRPr lang="en-US"/>
          </a:p>
        </p:txBody>
      </p:sp>
    </p:spTree>
    <p:extLst>
      <p:ext uri="{BB962C8B-B14F-4D97-AF65-F5344CB8AC3E}">
        <p14:creationId xmlns:p14="http://schemas.microsoft.com/office/powerpoint/2010/main" val="18583818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0135C24-EB33-6645-B51A-6348BD58F2AA}" type="datetimeFigureOut">
              <a:rPr lang="en-US" smtClean="0"/>
              <a:t>8/26/25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2963749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60135C24-EB33-6645-B51A-6348BD58F2AA}" type="datetimeFigureOut">
              <a:rPr lang="en-US" smtClean="0"/>
              <a:t>8/26/25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12816898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135C24-EB33-6645-B51A-6348BD58F2AA}" type="datetimeFigureOut">
              <a:rPr lang="en-US" smtClean="0"/>
              <a:t>8/26/25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4000939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0135C24-EB33-6645-B51A-6348BD58F2AA}" type="datetimeFigureOut">
              <a:rPr lang="en-US" smtClean="0"/>
              <a:t>8/26/25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3843529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0135C24-EB33-6645-B51A-6348BD58F2AA}" type="datetimeFigureOut">
              <a:rPr lang="en-US" smtClean="0"/>
              <a:t>8/26/25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39830363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60135C24-EB33-6645-B51A-6348BD58F2AA}" type="datetimeFigureOut">
              <a:rPr lang="en-US" smtClean="0"/>
              <a:t>8/26/25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1399908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60135C24-EB33-6645-B51A-6348BD58F2AA}" type="datetimeFigureOut">
              <a:rPr lang="en-US" smtClean="0"/>
              <a:t>8/26/25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2218330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60135C24-EB33-6645-B51A-6348BD58F2AA}" type="datetimeFigureOut">
              <a:rPr lang="en-US" smtClean="0"/>
              <a:t>8/26/25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371445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135C24-EB33-6645-B51A-6348BD58F2AA}" type="datetimeFigureOut">
              <a:rPr lang="en-US" smtClean="0"/>
              <a:t>8/26/25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3745621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135C24-EB33-6645-B51A-6348BD58F2AA}" type="datetimeFigureOut">
              <a:rPr lang="en-US" smtClean="0"/>
              <a:t>8/26/25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1944156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0135C24-EB33-6645-B51A-6348BD58F2AA}" type="datetimeFigureOut">
              <a:rPr lang="en-US" smtClean="0"/>
              <a:t>8/26/25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25135067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0135C24-EB33-6645-B51A-6348BD58F2AA}" type="datetimeFigureOut">
              <a:rPr lang="en-US" smtClean="0"/>
              <a:t>8/26/25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730AB-017E-7B48-BDF2-98302496DA1B}"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412444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135C24-EB33-6645-B51A-6348BD58F2AA}" type="datetimeFigureOut">
              <a:rPr lang="en-US" smtClean="0"/>
              <a:t>8/26/25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2248200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0135C24-EB33-6645-B51A-6348BD58F2AA}" type="datetimeFigureOut">
              <a:rPr lang="en-US" smtClean="0"/>
              <a:t>8/26/25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20705537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0135C24-EB33-6645-B51A-6348BD58F2AA}" type="datetimeFigureOut">
              <a:rPr lang="en-US" smtClean="0"/>
              <a:t>8/26/25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30501862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135C24-EB33-6645-B51A-6348BD58F2AA}" type="datetimeFigureOut">
              <a:rPr lang="en-US" smtClean="0"/>
              <a:t>8/26/25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39944404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135C24-EB33-6645-B51A-6348BD58F2AA}" type="datetimeFigureOut">
              <a:rPr lang="en-US" smtClean="0"/>
              <a:t>8/26/25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11724330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60135C24-EB33-6645-B51A-6348BD58F2AA}" type="datetimeFigureOut">
              <a:rPr lang="en-US" smtClean="0"/>
              <a:t>8/26/25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292730AB-017E-7B48-BDF2-98302496DA1B}" type="slidenum">
              <a:rPr lang="en-US" smtClean="0"/>
              <a:t>‹#›</a:t>
            </a:fld>
            <a:endParaRPr lang="en-US"/>
          </a:p>
        </p:txBody>
      </p:sp>
    </p:spTree>
    <p:extLst>
      <p:ext uri="{BB962C8B-B14F-4D97-AF65-F5344CB8AC3E}">
        <p14:creationId xmlns:p14="http://schemas.microsoft.com/office/powerpoint/2010/main" val="2982794753"/>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B63C4-13EF-D49B-BFA7-7F975EFBC10B}"/>
              </a:ext>
            </a:extLst>
          </p:cNvPr>
          <p:cNvSpPr>
            <a:spLocks noGrp="1"/>
          </p:cNvSpPr>
          <p:nvPr>
            <p:ph type="ctrTitle"/>
          </p:nvPr>
        </p:nvSpPr>
        <p:spPr/>
        <p:txBody>
          <a:bodyPr/>
          <a:lstStyle/>
          <a:p>
            <a:r>
              <a:rPr lang="en-US" dirty="0"/>
              <a:t>Working with data</a:t>
            </a:r>
          </a:p>
        </p:txBody>
      </p:sp>
      <p:sp>
        <p:nvSpPr>
          <p:cNvPr id="3" name="Subtitle 2">
            <a:extLst>
              <a:ext uri="{FF2B5EF4-FFF2-40B4-BE49-F238E27FC236}">
                <a16:creationId xmlns:a16="http://schemas.microsoft.com/office/drawing/2014/main" id="{F7D0352E-39EB-2697-F62C-A8F0E3F55A9A}"/>
              </a:ext>
            </a:extLst>
          </p:cNvPr>
          <p:cNvSpPr>
            <a:spLocks noGrp="1"/>
          </p:cNvSpPr>
          <p:nvPr>
            <p:ph type="subTitle" idx="1"/>
          </p:nvPr>
        </p:nvSpPr>
        <p:spPr>
          <a:xfrm>
            <a:off x="1154955" y="4777379"/>
            <a:ext cx="8825658" cy="1475139"/>
          </a:xfrm>
        </p:spPr>
        <p:txBody>
          <a:bodyPr>
            <a:normAutofit/>
          </a:bodyPr>
          <a:lstStyle/>
          <a:p>
            <a:r>
              <a:rPr lang="en-US" dirty="0"/>
              <a:t>GEOG4300 /6300: Intro to data science</a:t>
            </a:r>
          </a:p>
          <a:p>
            <a:r>
              <a:rPr lang="en-US" dirty="0"/>
              <a:t>Tuesday August 26, 2025</a:t>
            </a:r>
          </a:p>
          <a:p>
            <a:r>
              <a:rPr lang="en-US" dirty="0"/>
              <a:t>Prof. Anna Harper</a:t>
            </a:r>
          </a:p>
        </p:txBody>
      </p:sp>
    </p:spTree>
    <p:extLst>
      <p:ext uri="{BB962C8B-B14F-4D97-AF65-F5344CB8AC3E}">
        <p14:creationId xmlns:p14="http://schemas.microsoft.com/office/powerpoint/2010/main" val="41575658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32254-4A0C-5998-C72F-381AF98A5312}"/>
              </a:ext>
            </a:extLst>
          </p:cNvPr>
          <p:cNvSpPr>
            <a:spLocks noGrp="1"/>
          </p:cNvSpPr>
          <p:nvPr>
            <p:ph type="title"/>
          </p:nvPr>
        </p:nvSpPr>
        <p:spPr/>
        <p:txBody>
          <a:bodyPr/>
          <a:lstStyle/>
          <a:p>
            <a:r>
              <a:rPr lang="en-US" dirty="0"/>
              <a:t>Plan for the day</a:t>
            </a:r>
          </a:p>
        </p:txBody>
      </p:sp>
      <p:sp>
        <p:nvSpPr>
          <p:cNvPr id="3" name="Content Placeholder 2">
            <a:extLst>
              <a:ext uri="{FF2B5EF4-FFF2-40B4-BE49-F238E27FC236}">
                <a16:creationId xmlns:a16="http://schemas.microsoft.com/office/drawing/2014/main" id="{50120EED-E368-D3A5-6DC2-EECF90CC1E9A}"/>
              </a:ext>
            </a:extLst>
          </p:cNvPr>
          <p:cNvSpPr>
            <a:spLocks noGrp="1"/>
          </p:cNvSpPr>
          <p:nvPr>
            <p:ph idx="1"/>
          </p:nvPr>
        </p:nvSpPr>
        <p:spPr/>
        <p:txBody>
          <a:bodyPr>
            <a:normAutofit/>
          </a:bodyPr>
          <a:lstStyle/>
          <a:p>
            <a:r>
              <a:rPr lang="en-US" dirty="0"/>
              <a:t>This week: Read </a:t>
            </a:r>
            <a:r>
              <a:rPr lang="en-US" b="1" dirty="0"/>
              <a:t>R for Data Science</a:t>
            </a:r>
            <a:r>
              <a:rPr lang="en-US" dirty="0"/>
              <a:t>, Chapter 3 (Data transformation).</a:t>
            </a:r>
          </a:p>
          <a:p>
            <a:r>
              <a:rPr lang="en-US" dirty="0"/>
              <a:t>Concepts: </a:t>
            </a:r>
          </a:p>
          <a:p>
            <a:pPr lvl="1"/>
            <a:r>
              <a:rPr lang="en-US" dirty="0"/>
              <a:t>Working with online datasets</a:t>
            </a:r>
          </a:p>
          <a:p>
            <a:pPr lvl="1"/>
            <a:r>
              <a:rPr lang="en-US" dirty="0"/>
              <a:t>Methods of re-organizing datasets to get them into a desired format for analysis</a:t>
            </a:r>
          </a:p>
          <a:p>
            <a:r>
              <a:rPr lang="en-US" dirty="0"/>
              <a:t>1) Finish S01-3: APIs and online data</a:t>
            </a:r>
          </a:p>
          <a:p>
            <a:r>
              <a:rPr lang="en-US" dirty="0"/>
              <a:t>2) Talk about Lab 0</a:t>
            </a:r>
          </a:p>
          <a:p>
            <a:r>
              <a:rPr lang="en-US" dirty="0"/>
              <a:t>3) Start on S02 scripts: You should continue to work through these on Thursday.</a:t>
            </a:r>
          </a:p>
          <a:p>
            <a:endParaRPr lang="en-US" dirty="0"/>
          </a:p>
          <a:p>
            <a:endParaRPr lang="en-US" b="1" dirty="0"/>
          </a:p>
        </p:txBody>
      </p:sp>
    </p:spTree>
    <p:extLst>
      <p:ext uri="{BB962C8B-B14F-4D97-AF65-F5344CB8AC3E}">
        <p14:creationId xmlns:p14="http://schemas.microsoft.com/office/powerpoint/2010/main" val="35629039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F2124-7DBC-AD03-50A6-D3AC0171D6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094D35-71A6-19A5-3C88-276C261693B9}"/>
              </a:ext>
            </a:extLst>
          </p:cNvPr>
          <p:cNvSpPr>
            <a:spLocks noGrp="1"/>
          </p:cNvSpPr>
          <p:nvPr>
            <p:ph type="title"/>
          </p:nvPr>
        </p:nvSpPr>
        <p:spPr/>
        <p:txBody>
          <a:bodyPr/>
          <a:lstStyle/>
          <a:p>
            <a:r>
              <a:rPr lang="en-US" dirty="0"/>
              <a:t>API</a:t>
            </a:r>
          </a:p>
        </p:txBody>
      </p:sp>
      <p:pic>
        <p:nvPicPr>
          <p:cNvPr id="5" name="Picture 4" descr="A screenshot of a computer&#10;&#10;AI-generated content may be incorrect.">
            <a:extLst>
              <a:ext uri="{FF2B5EF4-FFF2-40B4-BE49-F238E27FC236}">
                <a16:creationId xmlns:a16="http://schemas.microsoft.com/office/drawing/2014/main" id="{A605BA7A-1F5E-705E-72B5-90E0F7E69B78}"/>
              </a:ext>
            </a:extLst>
          </p:cNvPr>
          <p:cNvPicPr>
            <a:picLocks noChangeAspect="1"/>
          </p:cNvPicPr>
          <p:nvPr/>
        </p:nvPicPr>
        <p:blipFill>
          <a:blip r:embed="rId3"/>
          <a:stretch>
            <a:fillRect/>
          </a:stretch>
        </p:blipFill>
        <p:spPr>
          <a:xfrm>
            <a:off x="1851705" y="452718"/>
            <a:ext cx="9793447" cy="6008539"/>
          </a:xfrm>
          <a:prstGeom prst="rect">
            <a:avLst/>
          </a:prstGeom>
        </p:spPr>
      </p:pic>
      <p:sp>
        <p:nvSpPr>
          <p:cNvPr id="7" name="TextBox 6">
            <a:extLst>
              <a:ext uri="{FF2B5EF4-FFF2-40B4-BE49-F238E27FC236}">
                <a16:creationId xmlns:a16="http://schemas.microsoft.com/office/drawing/2014/main" id="{2A4B8C7C-A8CD-E881-068E-D5835A4BE4E8}"/>
              </a:ext>
            </a:extLst>
          </p:cNvPr>
          <p:cNvSpPr txBox="1"/>
          <p:nvPr/>
        </p:nvSpPr>
        <p:spPr>
          <a:xfrm>
            <a:off x="5607424" y="1344706"/>
            <a:ext cx="4732871" cy="369332"/>
          </a:xfrm>
          <a:prstGeom prst="rect">
            <a:avLst/>
          </a:prstGeom>
          <a:noFill/>
        </p:spPr>
        <p:txBody>
          <a:bodyPr wrap="square" rtlCol="0">
            <a:spAutoFit/>
          </a:bodyPr>
          <a:lstStyle/>
          <a:p>
            <a:r>
              <a:rPr lang="en-US" b="1" dirty="0">
                <a:solidFill>
                  <a:schemeClr val="bg2"/>
                </a:solidFill>
              </a:rPr>
              <a:t>Application programming interface</a:t>
            </a:r>
          </a:p>
        </p:txBody>
      </p:sp>
    </p:spTree>
    <p:extLst>
      <p:ext uri="{BB962C8B-B14F-4D97-AF65-F5344CB8AC3E}">
        <p14:creationId xmlns:p14="http://schemas.microsoft.com/office/powerpoint/2010/main" val="1135782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2CD8FC-E007-2392-5465-A4C08813C892}"/>
              </a:ext>
            </a:extLst>
          </p:cNvPr>
          <p:cNvSpPr>
            <a:spLocks noGrp="1"/>
          </p:cNvSpPr>
          <p:nvPr>
            <p:ph idx="1"/>
          </p:nvPr>
        </p:nvSpPr>
        <p:spPr>
          <a:xfrm>
            <a:off x="1103312" y="658906"/>
            <a:ext cx="8946541" cy="5589493"/>
          </a:xfrm>
        </p:spPr>
        <p:txBody>
          <a:bodyPr>
            <a:normAutofit fontScale="92500" lnSpcReduction="10000"/>
          </a:bodyPr>
          <a:lstStyle/>
          <a:p>
            <a:pPr fontAlgn="base"/>
            <a:r>
              <a:rPr lang="en-US" dirty="0"/>
              <a:t>Think of it as a </a:t>
            </a:r>
            <a:r>
              <a:rPr lang="en-US" b="1" dirty="0"/>
              <a:t>bridge</a:t>
            </a:r>
            <a:r>
              <a:rPr lang="en-US" dirty="0"/>
              <a:t> that connects two systems—such as a client and a server—and enables them to work together seamlessly.</a:t>
            </a:r>
          </a:p>
          <a:p>
            <a:pPr fontAlgn="base"/>
            <a:r>
              <a:rPr lang="en-US" dirty="0"/>
              <a:t>To understand it better, imagine you're at a restaurant: the </a:t>
            </a:r>
            <a:r>
              <a:rPr lang="en-US" b="1" dirty="0"/>
              <a:t>waiter</a:t>
            </a:r>
            <a:r>
              <a:rPr lang="en-US" dirty="0"/>
              <a:t> (API) takes your order (request), gives it to the </a:t>
            </a:r>
            <a:r>
              <a:rPr lang="en-US" b="1" dirty="0"/>
              <a:t>chef</a:t>
            </a:r>
            <a:r>
              <a:rPr lang="en-US" dirty="0"/>
              <a:t> (server), and then brings the prepared food (response) back to your table. Similarly, when you search for a course on a website, your request goes through an API, which then fetches the data from the database and sends it back as a response.</a:t>
            </a:r>
          </a:p>
          <a:p>
            <a:endParaRPr lang="en-US" dirty="0"/>
          </a:p>
          <a:p>
            <a:pPr fontAlgn="base"/>
            <a:r>
              <a:rPr lang="en-US" dirty="0"/>
              <a:t>APIs work in a simple step-by-step process:</a:t>
            </a:r>
          </a:p>
          <a:p>
            <a:pPr lvl="1" fontAlgn="base"/>
            <a:r>
              <a:rPr lang="en-US" b="1" dirty="0"/>
              <a:t>Request:</a:t>
            </a:r>
            <a:r>
              <a:rPr lang="en-US" dirty="0"/>
              <a:t> A client (user) sends a request through the API's URI (Uniform Resource Identifier).</a:t>
            </a:r>
          </a:p>
          <a:p>
            <a:pPr lvl="1" fontAlgn="base"/>
            <a:r>
              <a:rPr lang="en-US" b="1" dirty="0"/>
              <a:t>Processing:</a:t>
            </a:r>
            <a:r>
              <a:rPr lang="en-US" dirty="0"/>
              <a:t> The API forwards the request to the server.</a:t>
            </a:r>
          </a:p>
          <a:p>
            <a:pPr lvl="1" fontAlgn="base"/>
            <a:r>
              <a:rPr lang="en-US" b="1" dirty="0"/>
              <a:t>Response:</a:t>
            </a:r>
            <a:r>
              <a:rPr lang="en-US" dirty="0"/>
              <a:t> The server processes the request and sends the response back to the API.</a:t>
            </a:r>
          </a:p>
          <a:p>
            <a:pPr lvl="1" fontAlgn="base"/>
            <a:r>
              <a:rPr lang="en-US" b="1" dirty="0"/>
              <a:t>Delivery:</a:t>
            </a:r>
            <a:r>
              <a:rPr lang="en-US" dirty="0"/>
              <a:t> The API returns the server's response to the client.</a:t>
            </a:r>
          </a:p>
          <a:p>
            <a:r>
              <a:rPr lang="en-US" dirty="0" err="1"/>
              <a:t>Geeksforgeeks.org</a:t>
            </a:r>
            <a:r>
              <a:rPr lang="en-US" dirty="0"/>
              <a:t>: What is an API?</a:t>
            </a:r>
          </a:p>
          <a:p>
            <a:endParaRPr lang="en-US" dirty="0"/>
          </a:p>
        </p:txBody>
      </p:sp>
    </p:spTree>
    <p:extLst>
      <p:ext uri="{BB962C8B-B14F-4D97-AF65-F5344CB8AC3E}">
        <p14:creationId xmlns:p14="http://schemas.microsoft.com/office/powerpoint/2010/main" val="4214687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8B3C7-0FEA-A43A-2542-7685CECE06F1}"/>
              </a:ext>
            </a:extLst>
          </p:cNvPr>
          <p:cNvSpPr>
            <a:spLocks noGrp="1"/>
          </p:cNvSpPr>
          <p:nvPr>
            <p:ph type="title"/>
          </p:nvPr>
        </p:nvSpPr>
        <p:spPr/>
        <p:txBody>
          <a:bodyPr/>
          <a:lstStyle/>
          <a:p>
            <a:r>
              <a:rPr lang="en-US" dirty="0"/>
              <a:t>API</a:t>
            </a:r>
          </a:p>
        </p:txBody>
      </p:sp>
      <p:sp>
        <p:nvSpPr>
          <p:cNvPr id="3" name="Content Placeholder 2">
            <a:extLst>
              <a:ext uri="{FF2B5EF4-FFF2-40B4-BE49-F238E27FC236}">
                <a16:creationId xmlns:a16="http://schemas.microsoft.com/office/drawing/2014/main" id="{C088A11C-44EA-AD3F-B722-5807BBA6D15E}"/>
              </a:ext>
            </a:extLst>
          </p:cNvPr>
          <p:cNvSpPr>
            <a:spLocks noGrp="1"/>
          </p:cNvSpPr>
          <p:nvPr>
            <p:ph idx="1"/>
          </p:nvPr>
        </p:nvSpPr>
        <p:spPr/>
        <p:txBody>
          <a:bodyPr/>
          <a:lstStyle/>
          <a:p>
            <a:r>
              <a:rPr lang="en-US" dirty="0"/>
              <a:t>Sometimes you need to access data from a website, rather than storing it directly on your computer.</a:t>
            </a:r>
          </a:p>
          <a:p>
            <a:r>
              <a:rPr lang="en-US" dirty="0"/>
              <a:t>An API communicates with a server’s backend system, rather than you having to go into that computer yourself.</a:t>
            </a:r>
          </a:p>
          <a:p>
            <a:r>
              <a:rPr lang="en-US" dirty="0" err="1"/>
              <a:t>Daymetr</a:t>
            </a:r>
            <a:r>
              <a:rPr lang="en-US" dirty="0"/>
              <a:t> is an example of an API</a:t>
            </a:r>
          </a:p>
        </p:txBody>
      </p:sp>
    </p:spTree>
    <p:extLst>
      <p:ext uri="{BB962C8B-B14F-4D97-AF65-F5344CB8AC3E}">
        <p14:creationId xmlns:p14="http://schemas.microsoft.com/office/powerpoint/2010/main" val="28306058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F21E7-0761-5E83-3AFC-62D75AF2BC58}"/>
              </a:ext>
            </a:extLst>
          </p:cNvPr>
          <p:cNvSpPr>
            <a:spLocks noGrp="1"/>
          </p:cNvSpPr>
          <p:nvPr>
            <p:ph type="title"/>
          </p:nvPr>
        </p:nvSpPr>
        <p:spPr/>
        <p:txBody>
          <a:bodyPr/>
          <a:lstStyle/>
          <a:p>
            <a:r>
              <a:rPr lang="en-US" dirty="0"/>
              <a:t>Libraries we’ll use today</a:t>
            </a:r>
          </a:p>
        </p:txBody>
      </p:sp>
      <p:sp>
        <p:nvSpPr>
          <p:cNvPr id="3" name="Content Placeholder 2">
            <a:extLst>
              <a:ext uri="{FF2B5EF4-FFF2-40B4-BE49-F238E27FC236}">
                <a16:creationId xmlns:a16="http://schemas.microsoft.com/office/drawing/2014/main" id="{B0565CB8-4168-884D-BDA2-B4008455DC8C}"/>
              </a:ext>
            </a:extLst>
          </p:cNvPr>
          <p:cNvSpPr>
            <a:spLocks noGrp="1"/>
          </p:cNvSpPr>
          <p:nvPr>
            <p:ph idx="1"/>
          </p:nvPr>
        </p:nvSpPr>
        <p:spPr/>
        <p:txBody>
          <a:bodyPr/>
          <a:lstStyle/>
          <a:p>
            <a:r>
              <a:rPr lang="en-US" dirty="0" err="1"/>
              <a:t>daymetr</a:t>
            </a:r>
            <a:r>
              <a:rPr lang="en-US" dirty="0"/>
              <a:t>: used to download and work with </a:t>
            </a:r>
            <a:r>
              <a:rPr lang="en-US" dirty="0" err="1"/>
              <a:t>Daymet</a:t>
            </a:r>
            <a:r>
              <a:rPr lang="en-US" dirty="0"/>
              <a:t> data</a:t>
            </a:r>
          </a:p>
          <a:p>
            <a:r>
              <a:rPr lang="en-US" dirty="0"/>
              <a:t>sf: ‘simple features’ used for reading and working with spatial data</a:t>
            </a:r>
          </a:p>
          <a:p>
            <a:r>
              <a:rPr lang="en-US" dirty="0" err="1"/>
              <a:t>tmap</a:t>
            </a:r>
            <a:r>
              <a:rPr lang="en-US" dirty="0"/>
              <a:t>: used for mapping of spatial data</a:t>
            </a:r>
          </a:p>
          <a:p>
            <a:r>
              <a:rPr lang="en-US" dirty="0" err="1"/>
              <a:t>tidycensus</a:t>
            </a:r>
            <a:r>
              <a:rPr lang="en-US" dirty="0"/>
              <a:t>: working with US census data</a:t>
            </a:r>
          </a:p>
          <a:p>
            <a:pPr lvl="1"/>
            <a:r>
              <a:rPr lang="en-US" dirty="0" err="1"/>
              <a:t>load_variables</a:t>
            </a:r>
            <a:endParaRPr lang="en-US" dirty="0"/>
          </a:p>
          <a:p>
            <a:pPr lvl="1"/>
            <a:r>
              <a:rPr lang="en-US" dirty="0" err="1"/>
              <a:t>get_acs</a:t>
            </a:r>
            <a:endParaRPr lang="en-US" dirty="0"/>
          </a:p>
        </p:txBody>
      </p:sp>
    </p:spTree>
    <p:extLst>
      <p:ext uri="{BB962C8B-B14F-4D97-AF65-F5344CB8AC3E}">
        <p14:creationId xmlns:p14="http://schemas.microsoft.com/office/powerpoint/2010/main" val="1609945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EE862-C478-A748-9DA6-D652E07E1454}"/>
              </a:ext>
            </a:extLst>
          </p:cNvPr>
          <p:cNvSpPr>
            <a:spLocks noGrp="1"/>
          </p:cNvSpPr>
          <p:nvPr>
            <p:ph type="title"/>
          </p:nvPr>
        </p:nvSpPr>
        <p:spPr/>
        <p:txBody>
          <a:bodyPr/>
          <a:lstStyle/>
          <a:p>
            <a:r>
              <a:rPr lang="en-US" dirty="0"/>
              <a:t>FYI about census data: Estimates</a:t>
            </a:r>
          </a:p>
        </p:txBody>
      </p:sp>
      <p:sp>
        <p:nvSpPr>
          <p:cNvPr id="3" name="Content Placeholder 2">
            <a:extLst>
              <a:ext uri="{FF2B5EF4-FFF2-40B4-BE49-F238E27FC236}">
                <a16:creationId xmlns:a16="http://schemas.microsoft.com/office/drawing/2014/main" id="{98941BA0-A930-4858-6E27-3739852788EC}"/>
              </a:ext>
            </a:extLst>
          </p:cNvPr>
          <p:cNvSpPr>
            <a:spLocks noGrp="1"/>
          </p:cNvSpPr>
          <p:nvPr>
            <p:ph idx="1"/>
          </p:nvPr>
        </p:nvSpPr>
        <p:spPr/>
        <p:txBody>
          <a:bodyPr/>
          <a:lstStyle/>
          <a:p>
            <a:r>
              <a:rPr lang="en-US" dirty="0"/>
              <a:t>Every year over 3.5 million housing unit addresses are contacted by the US Census Bureau to participate in the American Community Survey which is also abbreviated as the ACS. The information obtained from this sample is then used to estimate characteristics about the total population in a timely and a cost-effective manner. However, these estimates differ from those that would be obtained in a Census where every household in the nation is contacted. So, in other words, we can't be 100% confident that the sample is truly representative of the entire nation and this results in an element of uncertainty in the data. Users who are interested in more information about the ACS sample design should see the ACS Design and Methodology report. The URL is on the screen and will also be included at the end. </a:t>
            </a:r>
          </a:p>
        </p:txBody>
      </p:sp>
      <p:sp>
        <p:nvSpPr>
          <p:cNvPr id="4" name="TextBox 3">
            <a:extLst>
              <a:ext uri="{FF2B5EF4-FFF2-40B4-BE49-F238E27FC236}">
                <a16:creationId xmlns:a16="http://schemas.microsoft.com/office/drawing/2014/main" id="{D20E1EDE-7793-5104-9003-83BB9C1347EA}"/>
              </a:ext>
            </a:extLst>
          </p:cNvPr>
          <p:cNvSpPr txBox="1"/>
          <p:nvPr/>
        </p:nvSpPr>
        <p:spPr>
          <a:xfrm>
            <a:off x="0" y="6334780"/>
            <a:ext cx="11702303" cy="523220"/>
          </a:xfrm>
          <a:prstGeom prst="rect">
            <a:avLst/>
          </a:prstGeom>
          <a:noFill/>
        </p:spPr>
        <p:txBody>
          <a:bodyPr wrap="square">
            <a:spAutoFit/>
          </a:bodyPr>
          <a:lstStyle/>
          <a:p>
            <a:r>
              <a:rPr lang="en-US" sz="1400" dirty="0"/>
              <a:t>https://</a:t>
            </a:r>
            <a:r>
              <a:rPr lang="en-US" sz="1400" dirty="0" err="1"/>
              <a:t>www.census.gov</a:t>
            </a:r>
            <a:r>
              <a:rPr lang="en-US" sz="1400" dirty="0"/>
              <a:t>/content/dam/Census/programs-surveys/</a:t>
            </a:r>
            <a:r>
              <a:rPr lang="en-US" sz="1400" dirty="0" err="1"/>
              <a:t>acs</a:t>
            </a:r>
            <a:r>
              <a:rPr lang="en-US" sz="1400" dirty="0"/>
              <a:t>/guidance/training-presentations/20180418_MOE_Webinar_Transcript.pdf</a:t>
            </a:r>
          </a:p>
        </p:txBody>
      </p:sp>
    </p:spTree>
    <p:extLst>
      <p:ext uri="{BB962C8B-B14F-4D97-AF65-F5344CB8AC3E}">
        <p14:creationId xmlns:p14="http://schemas.microsoft.com/office/powerpoint/2010/main" val="34862278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7EC3E-ABAE-A9EB-5D96-96B666DBC9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376C6E-C493-A927-1AB2-AEB2744DF4F8}"/>
              </a:ext>
            </a:extLst>
          </p:cNvPr>
          <p:cNvSpPr>
            <a:spLocks noGrp="1"/>
          </p:cNvSpPr>
          <p:nvPr>
            <p:ph type="title"/>
          </p:nvPr>
        </p:nvSpPr>
        <p:spPr/>
        <p:txBody>
          <a:bodyPr/>
          <a:lstStyle/>
          <a:p>
            <a:r>
              <a:rPr lang="en-US" dirty="0"/>
              <a:t>FYI about census data: MOE</a:t>
            </a:r>
          </a:p>
        </p:txBody>
      </p:sp>
      <p:sp>
        <p:nvSpPr>
          <p:cNvPr id="3" name="Content Placeholder 2">
            <a:extLst>
              <a:ext uri="{FF2B5EF4-FFF2-40B4-BE49-F238E27FC236}">
                <a16:creationId xmlns:a16="http://schemas.microsoft.com/office/drawing/2014/main" id="{F1A5386E-8E08-F565-6654-C144EFD630A5}"/>
              </a:ext>
            </a:extLst>
          </p:cNvPr>
          <p:cNvSpPr>
            <a:spLocks noGrp="1"/>
          </p:cNvSpPr>
          <p:nvPr>
            <p:ph idx="1"/>
          </p:nvPr>
        </p:nvSpPr>
        <p:spPr/>
        <p:txBody>
          <a:bodyPr/>
          <a:lstStyle/>
          <a:p>
            <a:r>
              <a:rPr lang="en-US" dirty="0"/>
              <a:t>Put simply, the margin of error or MOE, is a measure of the possible variation of an estimate around the population value. Margins of error allow data users to be certain that at a given level of confidence, the estimate and the actual population value differ by no more than the value of the MOE. The Census Bureau uses a 90% confidence level as its standard. All ACS estimates published on AFF have margins of error calculated at this 90% confidence level. It's also important to note that margins of error provided by the Census Bureau have the same units as their respective estimates. So, for instances, a percent estimate will have a margin of error which is a percent and a median estimate for income will have a margin of error in dollars. </a:t>
            </a:r>
          </a:p>
        </p:txBody>
      </p:sp>
      <p:sp>
        <p:nvSpPr>
          <p:cNvPr id="5" name="TextBox 4">
            <a:extLst>
              <a:ext uri="{FF2B5EF4-FFF2-40B4-BE49-F238E27FC236}">
                <a16:creationId xmlns:a16="http://schemas.microsoft.com/office/drawing/2014/main" id="{31E65F79-2A62-B27E-F5AA-89FEECEFB9C6}"/>
              </a:ext>
            </a:extLst>
          </p:cNvPr>
          <p:cNvSpPr txBox="1"/>
          <p:nvPr/>
        </p:nvSpPr>
        <p:spPr>
          <a:xfrm>
            <a:off x="0" y="6334780"/>
            <a:ext cx="11702303" cy="523220"/>
          </a:xfrm>
          <a:prstGeom prst="rect">
            <a:avLst/>
          </a:prstGeom>
          <a:noFill/>
        </p:spPr>
        <p:txBody>
          <a:bodyPr wrap="square">
            <a:spAutoFit/>
          </a:bodyPr>
          <a:lstStyle/>
          <a:p>
            <a:r>
              <a:rPr lang="en-US" sz="1400" dirty="0"/>
              <a:t>https://</a:t>
            </a:r>
            <a:r>
              <a:rPr lang="en-US" sz="1400" dirty="0" err="1"/>
              <a:t>www.census.gov</a:t>
            </a:r>
            <a:r>
              <a:rPr lang="en-US" sz="1400" dirty="0"/>
              <a:t>/content/dam/Census/programs-surveys/</a:t>
            </a:r>
            <a:r>
              <a:rPr lang="en-US" sz="1400" dirty="0" err="1"/>
              <a:t>acs</a:t>
            </a:r>
            <a:r>
              <a:rPr lang="en-US" sz="1400" dirty="0"/>
              <a:t>/guidance/training-presentations/20180418_MOE_Webinar_Transcript.pdf</a:t>
            </a:r>
          </a:p>
        </p:txBody>
      </p:sp>
    </p:spTree>
    <p:extLst>
      <p:ext uri="{BB962C8B-B14F-4D97-AF65-F5344CB8AC3E}">
        <p14:creationId xmlns:p14="http://schemas.microsoft.com/office/powerpoint/2010/main" val="36968856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70463-0648-AF7A-EE29-3C9CB81E34FF}"/>
              </a:ext>
            </a:extLst>
          </p:cNvPr>
          <p:cNvSpPr>
            <a:spLocks noGrp="1"/>
          </p:cNvSpPr>
          <p:nvPr>
            <p:ph type="title"/>
          </p:nvPr>
        </p:nvSpPr>
        <p:spPr/>
        <p:txBody>
          <a:bodyPr/>
          <a:lstStyle/>
          <a:p>
            <a:r>
              <a:rPr lang="en-US" dirty="0"/>
              <a:t>Review some functions we worked with in S01 scripts</a:t>
            </a:r>
          </a:p>
        </p:txBody>
      </p:sp>
      <p:sp>
        <p:nvSpPr>
          <p:cNvPr id="3" name="Content Placeholder 2">
            <a:extLst>
              <a:ext uri="{FF2B5EF4-FFF2-40B4-BE49-F238E27FC236}">
                <a16:creationId xmlns:a16="http://schemas.microsoft.com/office/drawing/2014/main" id="{5331F139-B04F-5C5F-C78D-F09A356DD74B}"/>
              </a:ext>
            </a:extLst>
          </p:cNvPr>
          <p:cNvSpPr>
            <a:spLocks noGrp="1"/>
          </p:cNvSpPr>
          <p:nvPr>
            <p:ph idx="1"/>
          </p:nvPr>
        </p:nvSpPr>
        <p:spPr/>
        <p:txBody>
          <a:bodyPr>
            <a:normAutofit fontScale="55000" lnSpcReduction="20000"/>
          </a:bodyPr>
          <a:lstStyle/>
          <a:p>
            <a:r>
              <a:rPr lang="en-US" dirty="0"/>
              <a:t>How do you install and then call a package (for ex. </a:t>
            </a:r>
            <a:r>
              <a:rPr lang="en-US" dirty="0" err="1"/>
              <a:t>tidyverse</a:t>
            </a:r>
            <a:r>
              <a:rPr lang="en-US" dirty="0"/>
              <a:t>)?</a:t>
            </a:r>
          </a:p>
          <a:p>
            <a:r>
              <a:rPr lang="en-US" dirty="0" err="1"/>
              <a:t>ggplot</a:t>
            </a:r>
            <a:endParaRPr lang="en-US" dirty="0"/>
          </a:p>
          <a:p>
            <a:r>
              <a:rPr lang="en-US" dirty="0"/>
              <a:t>mutate</a:t>
            </a:r>
          </a:p>
          <a:p>
            <a:r>
              <a:rPr lang="en-US" dirty="0" err="1"/>
              <a:t>group_by</a:t>
            </a:r>
            <a:endParaRPr lang="en-US" dirty="0"/>
          </a:p>
          <a:p>
            <a:r>
              <a:rPr lang="en-US" dirty="0" err="1"/>
              <a:t>summarise</a:t>
            </a:r>
            <a:r>
              <a:rPr lang="en-US" dirty="0"/>
              <a:t> </a:t>
            </a:r>
          </a:p>
          <a:p>
            <a:r>
              <a:rPr lang="en-US" dirty="0" err="1"/>
              <a:t>Read_csv</a:t>
            </a:r>
            <a:endParaRPr lang="en-US" dirty="0"/>
          </a:p>
          <a:p>
            <a:r>
              <a:rPr lang="en-US" dirty="0"/>
              <a:t>?</a:t>
            </a:r>
          </a:p>
          <a:p>
            <a:r>
              <a:rPr lang="en-US" dirty="0"/>
              <a:t>Names, str, head, tail</a:t>
            </a:r>
          </a:p>
          <a:p>
            <a:r>
              <a:rPr lang="en-US" dirty="0"/>
              <a:t>%&gt;%</a:t>
            </a:r>
          </a:p>
          <a:p>
            <a:r>
              <a:rPr lang="en-US" dirty="0"/>
              <a:t>Filter</a:t>
            </a:r>
          </a:p>
          <a:p>
            <a:r>
              <a:rPr lang="en-US" dirty="0"/>
              <a:t>Table, view</a:t>
            </a:r>
          </a:p>
          <a:p>
            <a:r>
              <a:rPr lang="en-US" dirty="0"/>
              <a:t>How are filter and select different?</a:t>
            </a:r>
          </a:p>
          <a:p>
            <a:r>
              <a:rPr lang="en-US" dirty="0"/>
              <a:t>Chunk</a:t>
            </a:r>
          </a:p>
          <a:p>
            <a:r>
              <a:rPr lang="en-US" dirty="0"/>
              <a:t>API</a:t>
            </a:r>
          </a:p>
          <a:p>
            <a:r>
              <a:rPr lang="en-US"/>
              <a:t>What else?</a:t>
            </a:r>
            <a:endParaRPr lang="en-US" dirty="0"/>
          </a:p>
          <a:p>
            <a:endParaRPr lang="en-US" dirty="0"/>
          </a:p>
        </p:txBody>
      </p:sp>
    </p:spTree>
    <p:extLst>
      <p:ext uri="{BB962C8B-B14F-4D97-AF65-F5344CB8AC3E}">
        <p14:creationId xmlns:p14="http://schemas.microsoft.com/office/powerpoint/2010/main" val="22303752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A2558-5D92-6850-B5C2-737A41F9AA04}"/>
              </a:ext>
            </a:extLst>
          </p:cNvPr>
          <p:cNvSpPr>
            <a:spLocks noGrp="1"/>
          </p:cNvSpPr>
          <p:nvPr>
            <p:ph type="title"/>
          </p:nvPr>
        </p:nvSpPr>
        <p:spPr/>
        <p:txBody>
          <a:bodyPr/>
          <a:lstStyle/>
          <a:p>
            <a:r>
              <a:rPr lang="en-US" dirty="0"/>
              <a:t>Lab 0: Basic Instructions</a:t>
            </a:r>
          </a:p>
        </p:txBody>
      </p:sp>
      <p:sp>
        <p:nvSpPr>
          <p:cNvPr id="3" name="Content Placeholder 2">
            <a:extLst>
              <a:ext uri="{FF2B5EF4-FFF2-40B4-BE49-F238E27FC236}">
                <a16:creationId xmlns:a16="http://schemas.microsoft.com/office/drawing/2014/main" id="{013CA3A4-D9DA-C785-8531-13965788C097}"/>
              </a:ext>
            </a:extLst>
          </p:cNvPr>
          <p:cNvSpPr>
            <a:spLocks noGrp="1"/>
          </p:cNvSpPr>
          <p:nvPr>
            <p:ph idx="1"/>
          </p:nvPr>
        </p:nvSpPr>
        <p:spPr/>
        <p:txBody>
          <a:bodyPr>
            <a:normAutofit fontScale="92500" lnSpcReduction="10000"/>
          </a:bodyPr>
          <a:lstStyle/>
          <a:p>
            <a:r>
              <a:rPr lang="en-US" dirty="0"/>
              <a:t>Go to </a:t>
            </a:r>
            <a:r>
              <a:rPr lang="en-US" dirty="0" err="1"/>
              <a:t>github.com</a:t>
            </a:r>
            <a:r>
              <a:rPr lang="en-US" dirty="0"/>
              <a:t> --&gt; jshannon75/geog4300. Click link to Lab 0.</a:t>
            </a:r>
          </a:p>
          <a:p>
            <a:r>
              <a:rPr lang="en-US" dirty="0"/>
              <a:t>Be sure you’ve linked your </a:t>
            </a:r>
            <a:r>
              <a:rPr lang="en-US" dirty="0" err="1"/>
              <a:t>github</a:t>
            </a:r>
            <a:r>
              <a:rPr lang="en-US" dirty="0"/>
              <a:t> account to our classroom.</a:t>
            </a:r>
          </a:p>
          <a:p>
            <a:r>
              <a:rPr lang="en-US" dirty="0"/>
              <a:t>You should have accepted the assignment by now.</a:t>
            </a:r>
          </a:p>
          <a:p>
            <a:r>
              <a:rPr lang="en-US" dirty="0"/>
              <a:t>You need a personal access token.</a:t>
            </a:r>
          </a:p>
          <a:p>
            <a:r>
              <a:rPr lang="en-US" dirty="0"/>
              <a:t>Pull code to your local computer</a:t>
            </a:r>
          </a:p>
          <a:p>
            <a:r>
              <a:rPr lang="en-US" dirty="0"/>
              <a:t>Make some changes (e.g. enter your name)</a:t>
            </a:r>
          </a:p>
          <a:p>
            <a:r>
              <a:rPr lang="en-US" dirty="0"/>
              <a:t>Knit</a:t>
            </a:r>
          </a:p>
          <a:p>
            <a:r>
              <a:rPr lang="en-US" dirty="0"/>
              <a:t>Submitting your changes back to your repository requires:</a:t>
            </a:r>
          </a:p>
          <a:p>
            <a:pPr lvl="1"/>
            <a:r>
              <a:rPr lang="en-US" dirty="0"/>
              <a:t>Stage</a:t>
            </a:r>
          </a:p>
          <a:p>
            <a:pPr lvl="1"/>
            <a:r>
              <a:rPr lang="en-US" dirty="0"/>
              <a:t>Commit</a:t>
            </a:r>
          </a:p>
          <a:p>
            <a:pPr lvl="1"/>
            <a:r>
              <a:rPr lang="en-US" dirty="0"/>
              <a:t>Push</a:t>
            </a:r>
          </a:p>
        </p:txBody>
      </p:sp>
    </p:spTree>
    <p:extLst>
      <p:ext uri="{BB962C8B-B14F-4D97-AF65-F5344CB8AC3E}">
        <p14:creationId xmlns:p14="http://schemas.microsoft.com/office/powerpoint/2010/main" val="3447968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46C17-C9C3-144B-724B-AAAA6623E742}"/>
              </a:ext>
            </a:extLst>
          </p:cNvPr>
          <p:cNvSpPr>
            <a:spLocks noGrp="1"/>
          </p:cNvSpPr>
          <p:nvPr>
            <p:ph type="title"/>
          </p:nvPr>
        </p:nvSpPr>
        <p:spPr/>
        <p:txBody>
          <a:bodyPr/>
          <a:lstStyle/>
          <a:p>
            <a:r>
              <a:rPr lang="en-US" dirty="0"/>
              <a:t>Up next</a:t>
            </a:r>
          </a:p>
        </p:txBody>
      </p:sp>
      <p:sp>
        <p:nvSpPr>
          <p:cNvPr id="3" name="Content Placeholder 2">
            <a:extLst>
              <a:ext uri="{FF2B5EF4-FFF2-40B4-BE49-F238E27FC236}">
                <a16:creationId xmlns:a16="http://schemas.microsoft.com/office/drawing/2014/main" id="{837E09EC-816A-0425-49B7-16DA65B77E5D}"/>
              </a:ext>
            </a:extLst>
          </p:cNvPr>
          <p:cNvSpPr>
            <a:spLocks noGrp="1"/>
          </p:cNvSpPr>
          <p:nvPr>
            <p:ph idx="1"/>
          </p:nvPr>
        </p:nvSpPr>
        <p:spPr>
          <a:xfrm>
            <a:off x="1104293" y="2039471"/>
            <a:ext cx="8946541" cy="4195481"/>
          </a:xfrm>
        </p:spPr>
        <p:txBody>
          <a:bodyPr/>
          <a:lstStyle/>
          <a:p>
            <a:r>
              <a:rPr lang="en-US" b="1" dirty="0"/>
              <a:t>Week 3 (next week): Data cleaning and visualization</a:t>
            </a:r>
          </a:p>
          <a:p>
            <a:pPr lvl="1"/>
            <a:r>
              <a:rPr lang="en-US" dirty="0"/>
              <a:t>Read </a:t>
            </a:r>
            <a:r>
              <a:rPr lang="en-US" b="1" dirty="0"/>
              <a:t>R for Data Science </a:t>
            </a:r>
            <a:r>
              <a:rPr lang="en-US" dirty="0"/>
              <a:t>Ch 1: Data visualization, Ch 5: Data tidying.</a:t>
            </a:r>
          </a:p>
          <a:p>
            <a:pPr lvl="1"/>
            <a:r>
              <a:rPr lang="en-US" dirty="0"/>
              <a:t>Lab 0 due on 9/4</a:t>
            </a:r>
          </a:p>
          <a:p>
            <a:pPr lvl="1"/>
            <a:r>
              <a:rPr lang="en-US" dirty="0"/>
              <a:t>Jerry covering on both days</a:t>
            </a:r>
          </a:p>
          <a:p>
            <a:r>
              <a:rPr lang="en-US" b="1" dirty="0"/>
              <a:t>Week 4 (w/c 9/8): Loading and visualizing vector and raster data in R</a:t>
            </a:r>
          </a:p>
          <a:p>
            <a:pPr lvl="1"/>
            <a:r>
              <a:rPr lang="en-US" dirty="0"/>
              <a:t>Read </a:t>
            </a:r>
            <a:r>
              <a:rPr lang="en-US" b="1" dirty="0"/>
              <a:t>McGrew (Introduction to Statistical Problem Solving in Geography, 4e) Chapter 3.</a:t>
            </a:r>
          </a:p>
          <a:p>
            <a:pPr lvl="1"/>
            <a:r>
              <a:rPr lang="en-US" dirty="0"/>
              <a:t>Lab 1 is due on 9/11</a:t>
            </a:r>
          </a:p>
        </p:txBody>
      </p:sp>
    </p:spTree>
    <p:extLst>
      <p:ext uri="{BB962C8B-B14F-4D97-AF65-F5344CB8AC3E}">
        <p14:creationId xmlns:p14="http://schemas.microsoft.com/office/powerpoint/2010/main" val="314023453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871</TotalTime>
  <Words>1179</Words>
  <Application>Microsoft Macintosh PowerPoint</Application>
  <PresentationFormat>Widescreen</PresentationFormat>
  <Paragraphs>92</Paragraphs>
  <Slides>11</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Century Gothic</vt:lpstr>
      <vt:lpstr>Wingdings 3</vt:lpstr>
      <vt:lpstr>Ion</vt:lpstr>
      <vt:lpstr>Working with data</vt:lpstr>
      <vt:lpstr>Plan for the day</vt:lpstr>
      <vt:lpstr>API</vt:lpstr>
      <vt:lpstr>PowerPoint Presentation</vt:lpstr>
      <vt:lpstr>API</vt:lpstr>
      <vt:lpstr>Libraries we’ll use today</vt:lpstr>
      <vt:lpstr>FYI about census data: Estimates</vt:lpstr>
      <vt:lpstr>FYI about census data: MOE</vt:lpstr>
      <vt:lpstr>Review some functions we worked with in S01 scripts</vt:lpstr>
      <vt:lpstr>Lab 0: Basic Instructions</vt:lpstr>
      <vt:lpstr>Up next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Anna Harper</dc:creator>
  <cp:lastModifiedBy>Anna Harper</cp:lastModifiedBy>
  <cp:revision>10</cp:revision>
  <dcterms:created xsi:type="dcterms:W3CDTF">2025-08-19T16:26:14Z</dcterms:created>
  <dcterms:modified xsi:type="dcterms:W3CDTF">2025-08-26T19:37:59Z</dcterms:modified>
</cp:coreProperties>
</file>