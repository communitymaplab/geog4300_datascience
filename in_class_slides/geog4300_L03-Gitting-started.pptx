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32" r:id="rId1"/>
  </p:sldMasterIdLst>
  <p:notesMasterIdLst>
    <p:notesMasterId r:id="rId8"/>
  </p:notesMasterIdLst>
  <p:sldIdLst>
    <p:sldId id="307" r:id="rId2"/>
    <p:sldId id="257" r:id="rId3"/>
    <p:sldId id="258" r:id="rId4"/>
    <p:sldId id="308" r:id="rId5"/>
    <p:sldId id="309"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72" autoAdjust="0"/>
    <p:restoredTop sz="86396" autoAdjust="0"/>
  </p:normalViewPr>
  <p:slideViewPr>
    <p:cSldViewPr snapToGrid="0">
      <p:cViewPr varScale="1">
        <p:scale>
          <a:sx n="90" d="100"/>
          <a:sy n="90" d="100"/>
        </p:scale>
        <p:origin x="510" y="96"/>
      </p:cViewPr>
      <p:guideLst/>
    </p:cSldViewPr>
  </p:slideViewPr>
  <p:outlineViewPr>
    <p:cViewPr>
      <p:scale>
        <a:sx n="33" d="100"/>
        <a:sy n="33" d="100"/>
      </p:scale>
      <p:origin x="0" y="-280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200" b="0" i="0" u="none" strike="noStrike" cap="none">
                <a:solidFill>
                  <a:schemeClr val="dk1"/>
                </a:solidFill>
                <a:latin typeface="Calibri"/>
                <a:ea typeface="Calibri"/>
                <a:cs typeface="Calibri"/>
                <a:sym typeface="Calibri"/>
              </a:defRPr>
            </a:lvl2pPr>
            <a:lvl3pPr marL="914400" marR="0" lvl="2" indent="0" algn="l" rtl="0">
              <a:spcBef>
                <a:spcPts val="0"/>
              </a:spcBef>
              <a:buNone/>
              <a:defRPr sz="1200" b="0" i="0" u="none" strike="noStrike" cap="none">
                <a:solidFill>
                  <a:schemeClr val="dk1"/>
                </a:solidFill>
                <a:latin typeface="Calibri"/>
                <a:ea typeface="Calibri"/>
                <a:cs typeface="Calibri"/>
                <a:sym typeface="Calibri"/>
              </a:defRPr>
            </a:lvl3pPr>
            <a:lvl4pPr marL="1371600" marR="0" lvl="3" indent="0" algn="l" rtl="0">
              <a:spcBef>
                <a:spcPts val="0"/>
              </a:spcBef>
              <a:buNone/>
              <a:defRPr sz="1200" b="0" i="0" u="none" strike="noStrike" cap="none">
                <a:solidFill>
                  <a:schemeClr val="dk1"/>
                </a:solidFill>
                <a:latin typeface="Calibri"/>
                <a:ea typeface="Calibri"/>
                <a:cs typeface="Calibri"/>
                <a:sym typeface="Calibri"/>
              </a:defRPr>
            </a:lvl4pPr>
            <a:lvl5pPr marL="1828800" marR="0" lvl="4" indent="0" algn="l" rtl="0">
              <a:spcBef>
                <a:spcPts val="0"/>
              </a:spcBef>
              <a:buNone/>
              <a:defRPr sz="1200" b="0" i="0" u="none" strike="noStrike" cap="none">
                <a:solidFill>
                  <a:schemeClr val="dk1"/>
                </a:solidFill>
                <a:latin typeface="Calibri"/>
                <a:ea typeface="Calibri"/>
                <a:cs typeface="Calibri"/>
                <a:sym typeface="Calibri"/>
              </a:defRPr>
            </a:lvl5pPr>
            <a:lvl6pPr marL="2286000" marR="0" lvl="5" indent="0" algn="l" rtl="0">
              <a:spcBef>
                <a:spcPts val="0"/>
              </a:spcBef>
              <a:buNone/>
              <a:defRPr sz="1200" b="0" i="0" u="none" strike="noStrike" cap="none">
                <a:solidFill>
                  <a:schemeClr val="dk1"/>
                </a:solidFill>
                <a:latin typeface="Calibri"/>
                <a:ea typeface="Calibri"/>
                <a:cs typeface="Calibri"/>
                <a:sym typeface="Calibri"/>
              </a:defRPr>
            </a:lvl6pPr>
            <a:lvl7pPr marL="2743200" marR="0" lvl="6" indent="0" algn="l" rtl="0">
              <a:spcBef>
                <a:spcPts val="0"/>
              </a:spcBef>
              <a:buNone/>
              <a:defRPr sz="1200" b="0" i="0" u="none" strike="noStrike" cap="none">
                <a:solidFill>
                  <a:schemeClr val="dk1"/>
                </a:solidFill>
                <a:latin typeface="Calibri"/>
                <a:ea typeface="Calibri"/>
                <a:cs typeface="Calibri"/>
                <a:sym typeface="Calibri"/>
              </a:defRPr>
            </a:lvl7pPr>
            <a:lvl8pPr marL="3200400" marR="0" lvl="7" indent="0" algn="l" rtl="0">
              <a:spcBef>
                <a:spcPts val="0"/>
              </a:spcBef>
              <a:buNone/>
              <a:defRPr sz="1200" b="0" i="0" u="none" strike="noStrike" cap="none">
                <a:solidFill>
                  <a:schemeClr val="dk1"/>
                </a:solidFill>
                <a:latin typeface="Calibri"/>
                <a:ea typeface="Calibri"/>
                <a:cs typeface="Calibri"/>
                <a:sym typeface="Calibri"/>
              </a:defRPr>
            </a:lvl8pPr>
            <a:lvl9pPr marL="3657600" marR="0" lvl="8" indent="0" algn="l" rtl="0">
              <a:spcBef>
                <a:spcPts val="0"/>
              </a:spcBef>
              <a:buNone/>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Calibri"/>
                <a:ea typeface="Calibri"/>
                <a:cs typeface="Calibri"/>
                <a:sym typeface="Calibri"/>
              </a:rPr>
              <a:t>‹#›</a:t>
            </a:fld>
            <a:endParaRPr lang="en-US"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9385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7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400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vl1pPr>
            <a:lvl2pPr>
              <a:defRPr sz="20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spTree>
    <p:extLst>
      <p:ext uri="{BB962C8B-B14F-4D97-AF65-F5344CB8AC3E}">
        <p14:creationId xmlns:p14="http://schemas.microsoft.com/office/powerpoint/2010/main" val="1114221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7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741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spTree>
    <p:extLst>
      <p:ext uri="{BB962C8B-B14F-4D97-AF65-F5344CB8AC3E}">
        <p14:creationId xmlns:p14="http://schemas.microsoft.com/office/powerpoint/2010/main" val="2612942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60684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lumMod val="75000"/>
                  </a:schemeClr>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2258348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spTree>
    <p:extLst>
      <p:ext uri="{BB962C8B-B14F-4D97-AF65-F5344CB8AC3E}">
        <p14:creationId xmlns:p14="http://schemas.microsoft.com/office/powerpoint/2010/main" val="2196197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316682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spTree>
    <p:extLst>
      <p:ext uri="{BB962C8B-B14F-4D97-AF65-F5344CB8AC3E}">
        <p14:creationId xmlns:p14="http://schemas.microsoft.com/office/powerpoint/2010/main" val="515616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spTree>
    <p:extLst>
      <p:ext uri="{BB962C8B-B14F-4D97-AF65-F5344CB8AC3E}">
        <p14:creationId xmlns:p14="http://schemas.microsoft.com/office/powerpoint/2010/main" val="2941650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0"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spTree>
    <p:extLst>
      <p:ext uri="{BB962C8B-B14F-4D97-AF65-F5344CB8AC3E}">
        <p14:creationId xmlns:p14="http://schemas.microsoft.com/office/powerpoint/2010/main" val="942414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solidFill>
                <a:schemeClr val="bg1"/>
              </a:solidFill>
              <a:latin typeface="Calibri"/>
              <a:ea typeface="Calibri"/>
              <a:cs typeface="Calibri"/>
              <a:sym typeface="Calibri"/>
            </a:endParaRP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79430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schemeClr>
          </a:solidFill>
          <a:latin typeface="Sitka Display Semibold" pitchFamily="2" charset="0"/>
          <a:ea typeface="+mj-ea"/>
          <a:cs typeface="+mj-cs"/>
        </a:defRPr>
      </a:lvl1pPr>
    </p:titleStyle>
    <p:bodyStyle>
      <a:lvl1pPr marL="233363" indent="-233363" algn="l" defTabSz="914400" rtl="0" eaLnBrk="1" latinLnBrk="0" hangingPunct="1">
        <a:lnSpc>
          <a:spcPct val="90000"/>
        </a:lnSpc>
        <a:spcBef>
          <a:spcPts val="1200"/>
        </a:spcBef>
        <a:spcAft>
          <a:spcPts val="200"/>
        </a:spcAft>
        <a:buClr>
          <a:schemeClr val="tx1">
            <a:lumMod val="75000"/>
          </a:schemeClr>
        </a:buClr>
        <a:buSzPct val="100000"/>
        <a:buFont typeface="Arial" panose="020B0604020202020204" pitchFamily="34" charset="0"/>
        <a:buChar char="•"/>
        <a:defRPr sz="28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1pPr>
      <a:lvl2pPr marL="384048" indent="-182880" algn="l" defTabSz="914400" rtl="0" eaLnBrk="1" latinLnBrk="0" hangingPunct="1">
        <a:lnSpc>
          <a:spcPct val="90000"/>
        </a:lnSpc>
        <a:spcBef>
          <a:spcPts val="200"/>
        </a:spcBef>
        <a:spcAft>
          <a:spcPts val="400"/>
        </a:spcAft>
        <a:buClr>
          <a:schemeClr val="tx1">
            <a:lumMod val="75000"/>
          </a:schemeClr>
        </a:buClr>
        <a:buFont typeface="Arial" panose="020B0604020202020204" pitchFamily="34" charset="0"/>
        <a:buChar char="•"/>
        <a:defRPr sz="24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2pPr>
      <a:lvl3pPr marL="566928" indent="-182880" algn="l" defTabSz="914400" rtl="0" eaLnBrk="1" latinLnBrk="0" hangingPunct="1">
        <a:lnSpc>
          <a:spcPct val="90000"/>
        </a:lnSpc>
        <a:spcBef>
          <a:spcPts val="200"/>
        </a:spcBef>
        <a:spcAft>
          <a:spcPts val="400"/>
        </a:spcAft>
        <a:buClr>
          <a:schemeClr val="tx1">
            <a:lumMod val="75000"/>
          </a:schemeClr>
        </a:buClr>
        <a:buFont typeface="Arial" panose="020B0604020202020204" pitchFamily="34" charset="0"/>
        <a:buChar char="•"/>
        <a:defRPr sz="18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3pPr>
      <a:lvl4pPr marL="749808" indent="-182880" algn="l" defTabSz="914400" rtl="0" eaLnBrk="1" latinLnBrk="0" hangingPunct="1">
        <a:lnSpc>
          <a:spcPct val="90000"/>
        </a:lnSpc>
        <a:spcBef>
          <a:spcPts val="200"/>
        </a:spcBef>
        <a:spcAft>
          <a:spcPts val="400"/>
        </a:spcAft>
        <a:buClr>
          <a:schemeClr val="tx1">
            <a:lumMod val="75000"/>
          </a:schemeClr>
        </a:buClr>
        <a:buFont typeface="Arial" panose="020B0604020202020204" pitchFamily="34" charset="0"/>
        <a:buChar char="•"/>
        <a:defRPr sz="18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4pPr>
      <a:lvl5pPr marL="932688" indent="-182880" algn="l" defTabSz="914400" rtl="0" eaLnBrk="1" latinLnBrk="0" hangingPunct="1">
        <a:lnSpc>
          <a:spcPct val="90000"/>
        </a:lnSpc>
        <a:spcBef>
          <a:spcPts val="200"/>
        </a:spcBef>
        <a:spcAft>
          <a:spcPts val="400"/>
        </a:spcAft>
        <a:buClr>
          <a:schemeClr val="tx1">
            <a:lumMod val="75000"/>
          </a:schemeClr>
        </a:buClr>
        <a:buFont typeface="Arial" panose="020B0604020202020204" pitchFamily="34" charset="0"/>
        <a:buChar char="•"/>
        <a:defRPr sz="18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cs.github.com/en/get-started/start-your-journey/about-github-and-gi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beingtechnicalwriter.com/sacred-timeline-git/"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beingtechnicalwriter.com/sacred-timeline-git/"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s://beingtechnicalwriter.com/sacred-timeline-gi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63C4-13EF-D49B-BFA7-7F975EFBC10B}"/>
              </a:ext>
            </a:extLst>
          </p:cNvPr>
          <p:cNvSpPr>
            <a:spLocks noGrp="1"/>
          </p:cNvSpPr>
          <p:nvPr>
            <p:ph type="ctrTitle"/>
          </p:nvPr>
        </p:nvSpPr>
        <p:spPr/>
        <p:txBody>
          <a:bodyPr>
            <a:normAutofit/>
          </a:bodyPr>
          <a:lstStyle/>
          <a:p>
            <a:r>
              <a:rPr lang="en-US" sz="4400" dirty="0"/>
              <a:t>“</a:t>
            </a:r>
            <a:r>
              <a:rPr lang="en-US" sz="4400" dirty="0" err="1"/>
              <a:t>Gitting</a:t>
            </a:r>
            <a:r>
              <a:rPr lang="en-US" sz="4400" dirty="0"/>
              <a:t>” started with Git and R</a:t>
            </a:r>
          </a:p>
        </p:txBody>
      </p:sp>
      <p:sp>
        <p:nvSpPr>
          <p:cNvPr id="3" name="Subtitle 2">
            <a:extLst>
              <a:ext uri="{FF2B5EF4-FFF2-40B4-BE49-F238E27FC236}">
                <a16:creationId xmlns:a16="http://schemas.microsoft.com/office/drawing/2014/main" id="{F7D0352E-39EB-2697-F62C-A8F0E3F55A9A}"/>
              </a:ext>
            </a:extLst>
          </p:cNvPr>
          <p:cNvSpPr>
            <a:spLocks noGrp="1"/>
          </p:cNvSpPr>
          <p:nvPr>
            <p:ph type="subTitle" idx="1"/>
          </p:nvPr>
        </p:nvSpPr>
        <p:spPr>
          <a:xfrm>
            <a:off x="1154955" y="4777379"/>
            <a:ext cx="8825658" cy="1475139"/>
          </a:xfrm>
        </p:spPr>
        <p:txBody>
          <a:bodyPr>
            <a:normAutofit/>
          </a:bodyPr>
          <a:lstStyle/>
          <a:p>
            <a:r>
              <a:rPr lang="en-US" dirty="0"/>
              <a:t>GEOG4300 /6300: Intro to data science</a:t>
            </a:r>
          </a:p>
          <a:p>
            <a:r>
              <a:rPr lang="en-US" dirty="0"/>
              <a:t>Prof. Jerry Shannon</a:t>
            </a:r>
          </a:p>
        </p:txBody>
      </p:sp>
    </p:spTree>
    <p:extLst>
      <p:ext uri="{BB962C8B-B14F-4D97-AF65-F5344CB8AC3E}">
        <p14:creationId xmlns:p14="http://schemas.microsoft.com/office/powerpoint/2010/main" val="4157565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0B3D7-7B75-EB6E-DBCA-059EE9893D25}"/>
              </a:ext>
            </a:extLst>
          </p:cNvPr>
          <p:cNvSpPr>
            <a:spLocks noGrp="1"/>
          </p:cNvSpPr>
          <p:nvPr>
            <p:ph type="title"/>
          </p:nvPr>
        </p:nvSpPr>
        <p:spPr/>
        <p:txBody>
          <a:bodyPr/>
          <a:lstStyle/>
          <a:p>
            <a:r>
              <a:rPr lang="en-US" dirty="0"/>
              <a:t>Git language</a:t>
            </a:r>
          </a:p>
        </p:txBody>
      </p:sp>
      <p:sp>
        <p:nvSpPr>
          <p:cNvPr id="3" name="Content Placeholder 2">
            <a:extLst>
              <a:ext uri="{FF2B5EF4-FFF2-40B4-BE49-F238E27FC236}">
                <a16:creationId xmlns:a16="http://schemas.microsoft.com/office/drawing/2014/main" id="{C305DC70-C48B-C51E-846C-5AF00C7AE6BF}"/>
              </a:ext>
            </a:extLst>
          </p:cNvPr>
          <p:cNvSpPr>
            <a:spLocks noGrp="1"/>
          </p:cNvSpPr>
          <p:nvPr>
            <p:ph idx="1"/>
          </p:nvPr>
        </p:nvSpPr>
        <p:spPr>
          <a:xfrm>
            <a:off x="1104293" y="2020186"/>
            <a:ext cx="8946541" cy="3639277"/>
          </a:xfrm>
        </p:spPr>
        <p:txBody>
          <a:bodyPr/>
          <a:lstStyle/>
          <a:p>
            <a:pPr>
              <a:spcBef>
                <a:spcPts val="0"/>
              </a:spcBef>
              <a:spcAft>
                <a:spcPts val="1200"/>
              </a:spcAft>
            </a:pPr>
            <a:r>
              <a:rPr lang="en-US" b="1" dirty="0"/>
              <a:t>Repository: </a:t>
            </a:r>
            <a:r>
              <a:rPr lang="en-US" dirty="0"/>
              <a:t>Central location for storing code and/or data. Click on the Github link in the upper right of the course page to see it.</a:t>
            </a:r>
            <a:endParaRPr lang="en-US" b="1" dirty="0"/>
          </a:p>
          <a:p>
            <a:pPr>
              <a:lnSpc>
                <a:spcPct val="100000"/>
              </a:lnSpc>
              <a:spcBef>
                <a:spcPts val="0"/>
              </a:spcBef>
              <a:spcAft>
                <a:spcPts val="1200"/>
              </a:spcAft>
            </a:pPr>
            <a:r>
              <a:rPr lang="en-US" b="1" dirty="0"/>
              <a:t>Branch: </a:t>
            </a:r>
            <a:r>
              <a:rPr lang="en-US" dirty="0"/>
              <a:t>Think of the main code as the trunk. Branches are derived from the trunk, but can be changed over time.</a:t>
            </a:r>
            <a:endParaRPr lang="en-US" b="1" dirty="0"/>
          </a:p>
        </p:txBody>
      </p:sp>
      <p:sp>
        <p:nvSpPr>
          <p:cNvPr id="5" name="TextBox 4">
            <a:extLst>
              <a:ext uri="{FF2B5EF4-FFF2-40B4-BE49-F238E27FC236}">
                <a16:creationId xmlns:a16="http://schemas.microsoft.com/office/drawing/2014/main" id="{FCF2A8E3-6D5B-0EAB-73B7-90994C3815BB}"/>
              </a:ext>
            </a:extLst>
          </p:cNvPr>
          <p:cNvSpPr txBox="1"/>
          <p:nvPr/>
        </p:nvSpPr>
        <p:spPr>
          <a:xfrm>
            <a:off x="1104293" y="4413082"/>
            <a:ext cx="8730823" cy="1015663"/>
          </a:xfrm>
          <a:prstGeom prst="rect">
            <a:avLst/>
          </a:prstGeom>
          <a:noFill/>
        </p:spPr>
        <p:txBody>
          <a:bodyPr wrap="square">
            <a:spAutoFit/>
          </a:bodyPr>
          <a:lstStyle/>
          <a:p>
            <a:r>
              <a:rPr lang="en-US" sz="2000" dirty="0">
                <a:hlinkClick r:id="rId2"/>
              </a:rPr>
              <a:t>https://docs.github.com/en/get-started/start-your-journey/about-github-and-git</a:t>
            </a:r>
            <a:endParaRPr lang="en-US" sz="2000" dirty="0"/>
          </a:p>
          <a:p>
            <a:endParaRPr lang="en-US" sz="2000" dirty="0"/>
          </a:p>
        </p:txBody>
      </p:sp>
    </p:spTree>
    <p:extLst>
      <p:ext uri="{BB962C8B-B14F-4D97-AF65-F5344CB8AC3E}">
        <p14:creationId xmlns:p14="http://schemas.microsoft.com/office/powerpoint/2010/main" val="4227402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E82E5-D81D-2801-813A-84974F11C82E}"/>
              </a:ext>
            </a:extLst>
          </p:cNvPr>
          <p:cNvSpPr>
            <a:spLocks noGrp="1"/>
          </p:cNvSpPr>
          <p:nvPr>
            <p:ph type="title" idx="4294967295"/>
          </p:nvPr>
        </p:nvSpPr>
        <p:spPr>
          <a:xfrm>
            <a:off x="857694" y="254299"/>
            <a:ext cx="10058400" cy="922337"/>
          </a:xfrm>
        </p:spPr>
        <p:txBody>
          <a:bodyPr/>
          <a:lstStyle/>
          <a:p>
            <a:r>
              <a:rPr lang="en-US" dirty="0"/>
              <a:t>Introducing … The Sacred Timeline</a:t>
            </a:r>
          </a:p>
        </p:txBody>
      </p:sp>
      <p:pic>
        <p:nvPicPr>
          <p:cNvPr id="5" name="Picture 4" descr="A close-up of lightning&#10;&#10;AI-generated content may be incorrect.">
            <a:extLst>
              <a:ext uri="{FF2B5EF4-FFF2-40B4-BE49-F238E27FC236}">
                <a16:creationId xmlns:a16="http://schemas.microsoft.com/office/drawing/2014/main" id="{FDD728D6-C9DE-BD85-252E-C0D30E1801C7}"/>
              </a:ext>
            </a:extLst>
          </p:cNvPr>
          <p:cNvPicPr>
            <a:picLocks noChangeAspect="1"/>
          </p:cNvPicPr>
          <p:nvPr/>
        </p:nvPicPr>
        <p:blipFill>
          <a:blip r:embed="rId2"/>
          <a:stretch>
            <a:fillRect/>
          </a:stretch>
        </p:blipFill>
        <p:spPr>
          <a:xfrm>
            <a:off x="2141166" y="1404731"/>
            <a:ext cx="7772400" cy="4371975"/>
          </a:xfrm>
          <a:prstGeom prst="rect">
            <a:avLst/>
          </a:prstGeom>
        </p:spPr>
      </p:pic>
      <p:grpSp>
        <p:nvGrpSpPr>
          <p:cNvPr id="17" name="Group 16">
            <a:extLst>
              <a:ext uri="{FF2B5EF4-FFF2-40B4-BE49-F238E27FC236}">
                <a16:creationId xmlns:a16="http://schemas.microsoft.com/office/drawing/2014/main" id="{622F06BA-2DC4-A648-7A88-CC7A88DA2AC9}"/>
              </a:ext>
            </a:extLst>
          </p:cNvPr>
          <p:cNvGrpSpPr/>
          <p:nvPr/>
        </p:nvGrpSpPr>
        <p:grpSpPr>
          <a:xfrm>
            <a:off x="1276955" y="1001803"/>
            <a:ext cx="10673909" cy="5601898"/>
            <a:chOff x="1276955" y="1001803"/>
            <a:chExt cx="10673909" cy="5601898"/>
          </a:xfrm>
        </p:grpSpPr>
        <p:sp>
          <p:nvSpPr>
            <p:cNvPr id="6" name="TextBox 5">
              <a:extLst>
                <a:ext uri="{FF2B5EF4-FFF2-40B4-BE49-F238E27FC236}">
                  <a16:creationId xmlns:a16="http://schemas.microsoft.com/office/drawing/2014/main" id="{3762B394-AAFB-C923-50F1-227C1AE360F6}"/>
                </a:ext>
              </a:extLst>
            </p:cNvPr>
            <p:cNvSpPr txBox="1"/>
            <p:nvPr/>
          </p:nvSpPr>
          <p:spPr>
            <a:xfrm>
              <a:off x="1276955" y="4049773"/>
              <a:ext cx="1001479" cy="369332"/>
            </a:xfrm>
            <a:prstGeom prst="rect">
              <a:avLst/>
            </a:prstGeom>
            <a:noFill/>
          </p:spPr>
          <p:txBody>
            <a:bodyPr wrap="square" rtlCol="0">
              <a:spAutoFit/>
            </a:bodyPr>
            <a:lstStyle/>
            <a:p>
              <a:r>
                <a:rPr lang="en-US" b="1" dirty="0">
                  <a:solidFill>
                    <a:schemeClr val="accent3"/>
                  </a:solidFill>
                </a:rPr>
                <a:t>Trunk</a:t>
              </a:r>
            </a:p>
          </p:txBody>
        </p:sp>
        <p:sp>
          <p:nvSpPr>
            <p:cNvPr id="7" name="TextBox 6">
              <a:extLst>
                <a:ext uri="{FF2B5EF4-FFF2-40B4-BE49-F238E27FC236}">
                  <a16:creationId xmlns:a16="http://schemas.microsoft.com/office/drawing/2014/main" id="{A80E72B9-6DAB-252E-C9B9-E751C6CF8316}"/>
                </a:ext>
              </a:extLst>
            </p:cNvPr>
            <p:cNvSpPr txBox="1"/>
            <p:nvPr/>
          </p:nvSpPr>
          <p:spPr>
            <a:xfrm>
              <a:off x="3402264" y="2808114"/>
              <a:ext cx="1265583" cy="369332"/>
            </a:xfrm>
            <a:prstGeom prst="rect">
              <a:avLst/>
            </a:prstGeom>
            <a:noFill/>
          </p:spPr>
          <p:txBody>
            <a:bodyPr wrap="square" rtlCol="0">
              <a:spAutoFit/>
            </a:bodyPr>
            <a:lstStyle/>
            <a:p>
              <a:r>
                <a:rPr lang="en-US" b="1" dirty="0">
                  <a:solidFill>
                    <a:schemeClr val="accent3">
                      <a:lumMod val="20000"/>
                      <a:lumOff val="80000"/>
                    </a:schemeClr>
                  </a:solidFill>
                </a:rPr>
                <a:t>Branches</a:t>
              </a:r>
            </a:p>
          </p:txBody>
        </p:sp>
        <p:sp>
          <p:nvSpPr>
            <p:cNvPr id="8" name="TextBox 7">
              <a:extLst>
                <a:ext uri="{FF2B5EF4-FFF2-40B4-BE49-F238E27FC236}">
                  <a16:creationId xmlns:a16="http://schemas.microsoft.com/office/drawing/2014/main" id="{DCE799B1-7873-0D3A-7CD2-168EE27FD7A2}"/>
                </a:ext>
              </a:extLst>
            </p:cNvPr>
            <p:cNvSpPr txBox="1"/>
            <p:nvPr/>
          </p:nvSpPr>
          <p:spPr>
            <a:xfrm>
              <a:off x="2192519" y="1405754"/>
              <a:ext cx="5883965" cy="369332"/>
            </a:xfrm>
            <a:prstGeom prst="rect">
              <a:avLst/>
            </a:prstGeom>
            <a:noFill/>
          </p:spPr>
          <p:txBody>
            <a:bodyPr wrap="square" rtlCol="0">
              <a:spAutoFit/>
            </a:bodyPr>
            <a:lstStyle/>
            <a:p>
              <a:r>
                <a:rPr lang="en-US" b="1" dirty="0">
                  <a:solidFill>
                    <a:schemeClr val="bg1"/>
                  </a:solidFill>
                </a:rPr>
                <a:t>Branches are the result of a “pull” request</a:t>
              </a:r>
            </a:p>
          </p:txBody>
        </p:sp>
        <p:sp>
          <p:nvSpPr>
            <p:cNvPr id="10" name="TextBox 9">
              <a:extLst>
                <a:ext uri="{FF2B5EF4-FFF2-40B4-BE49-F238E27FC236}">
                  <a16:creationId xmlns:a16="http://schemas.microsoft.com/office/drawing/2014/main" id="{FE9A0696-2F21-EA20-B8D6-D180E182DFA7}"/>
                </a:ext>
              </a:extLst>
            </p:cNvPr>
            <p:cNvSpPr txBox="1"/>
            <p:nvPr/>
          </p:nvSpPr>
          <p:spPr>
            <a:xfrm>
              <a:off x="6293049" y="5126373"/>
              <a:ext cx="5657815" cy="1477328"/>
            </a:xfrm>
            <a:prstGeom prst="rect">
              <a:avLst/>
            </a:prstGeom>
            <a:solidFill>
              <a:schemeClr val="accent4"/>
            </a:solidFill>
          </p:spPr>
          <p:txBody>
            <a:bodyPr wrap="square">
              <a:spAutoFit/>
            </a:bodyPr>
            <a:lstStyle/>
            <a:p>
              <a:r>
                <a:rPr lang="en-US" b="0" i="0" dirty="0">
                  <a:solidFill>
                    <a:schemeClr val="bg1"/>
                  </a:solidFill>
                  <a:effectLst/>
                  <a:latin typeface="Open Sans" panose="020F0502020204030204" pitchFamily="34" charset="0"/>
                </a:rPr>
                <a:t>Git branches … intentionally diverge from the main timeline, allowing developers to experiment without disrupting the stability of the main codebase. Once changes are deemed stable, they can be seamlessly merged back into the master branch.</a:t>
              </a:r>
              <a:endParaRPr lang="en-US" dirty="0">
                <a:solidFill>
                  <a:schemeClr val="bg1"/>
                </a:solidFill>
              </a:endParaRPr>
            </a:p>
          </p:txBody>
        </p:sp>
        <p:sp>
          <p:nvSpPr>
            <p:cNvPr id="11" name="TextBox 10">
              <a:extLst>
                <a:ext uri="{FF2B5EF4-FFF2-40B4-BE49-F238E27FC236}">
                  <a16:creationId xmlns:a16="http://schemas.microsoft.com/office/drawing/2014/main" id="{E3AA9769-896A-5CEA-A519-C0491E68AB4E}"/>
                </a:ext>
              </a:extLst>
            </p:cNvPr>
            <p:cNvSpPr txBox="1"/>
            <p:nvPr/>
          </p:nvSpPr>
          <p:spPr>
            <a:xfrm>
              <a:off x="10360603" y="1404731"/>
              <a:ext cx="1590261" cy="646331"/>
            </a:xfrm>
            <a:prstGeom prst="rect">
              <a:avLst/>
            </a:prstGeom>
            <a:noFill/>
          </p:spPr>
          <p:txBody>
            <a:bodyPr wrap="square" rtlCol="0">
              <a:spAutoFit/>
            </a:bodyPr>
            <a:lstStyle/>
            <a:p>
              <a:r>
                <a:rPr lang="en-US" dirty="0">
                  <a:solidFill>
                    <a:schemeClr val="accent3">
                      <a:lumMod val="60000"/>
                      <a:lumOff val="40000"/>
                    </a:schemeClr>
                  </a:solidFill>
                </a:rPr>
                <a:t>A Git repository</a:t>
              </a:r>
            </a:p>
          </p:txBody>
        </p:sp>
        <p:cxnSp>
          <p:nvCxnSpPr>
            <p:cNvPr id="13" name="Straight Arrow Connector 12">
              <a:extLst>
                <a:ext uri="{FF2B5EF4-FFF2-40B4-BE49-F238E27FC236}">
                  <a16:creationId xmlns:a16="http://schemas.microsoft.com/office/drawing/2014/main" id="{8ADF3D22-3C87-516C-A85D-B13EED19B886}"/>
                </a:ext>
              </a:extLst>
            </p:cNvPr>
            <p:cNvCxnSpPr>
              <a:cxnSpLocks/>
            </p:cNvCxnSpPr>
            <p:nvPr/>
          </p:nvCxnSpPr>
          <p:spPr>
            <a:xfrm flipH="1" flipV="1">
              <a:off x="9694905" y="1001803"/>
              <a:ext cx="665698" cy="508945"/>
            </a:xfrm>
            <a:prstGeom prst="straightConnector1">
              <a:avLst/>
            </a:prstGeom>
            <a:ln w="38100">
              <a:solidFill>
                <a:schemeClr val="accent3"/>
              </a:solidFill>
              <a:tailEnd type="triangle"/>
            </a:ln>
          </p:spPr>
          <p:style>
            <a:lnRef idx="1">
              <a:schemeClr val="accent2"/>
            </a:lnRef>
            <a:fillRef idx="0">
              <a:schemeClr val="accent2"/>
            </a:fillRef>
            <a:effectRef idx="0">
              <a:schemeClr val="accent2"/>
            </a:effectRef>
            <a:fontRef idx="minor">
              <a:schemeClr val="tx1"/>
            </a:fontRef>
          </p:style>
        </p:cxnSp>
      </p:grpSp>
      <p:sp>
        <p:nvSpPr>
          <p:cNvPr id="16" name="TextBox 15">
            <a:extLst>
              <a:ext uri="{FF2B5EF4-FFF2-40B4-BE49-F238E27FC236}">
                <a16:creationId xmlns:a16="http://schemas.microsoft.com/office/drawing/2014/main" id="{86BA9E3A-1598-66A2-BEF7-7FB5ED769385}"/>
              </a:ext>
            </a:extLst>
          </p:cNvPr>
          <p:cNvSpPr txBox="1"/>
          <p:nvPr/>
        </p:nvSpPr>
        <p:spPr>
          <a:xfrm>
            <a:off x="101356" y="5804229"/>
            <a:ext cx="6096000" cy="523220"/>
          </a:xfrm>
          <a:prstGeom prst="rect">
            <a:avLst/>
          </a:prstGeom>
          <a:noFill/>
        </p:spPr>
        <p:txBody>
          <a:bodyPr wrap="square">
            <a:spAutoFit/>
          </a:bodyPr>
          <a:lstStyle/>
          <a:p>
            <a:r>
              <a:rPr lang="en-US" sz="1400" dirty="0"/>
              <a:t>Thanks Gaurav Trivedi </a:t>
            </a:r>
            <a:r>
              <a:rPr lang="en-US" sz="1400" dirty="0">
                <a:hlinkClick r:id="rId3"/>
              </a:rPr>
              <a:t>https://beingtechnicalwriter.com/sacred-timeline-git/</a:t>
            </a:r>
            <a:r>
              <a:rPr lang="en-US" sz="1400" dirty="0"/>
              <a:t> for this nerdy interpretation of Git repos</a:t>
            </a:r>
          </a:p>
        </p:txBody>
      </p:sp>
    </p:spTree>
    <p:extLst>
      <p:ext uri="{BB962C8B-B14F-4D97-AF65-F5344CB8AC3E}">
        <p14:creationId xmlns:p14="http://schemas.microsoft.com/office/powerpoint/2010/main" val="1815656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E82E5-D81D-2801-813A-84974F11C82E}"/>
              </a:ext>
            </a:extLst>
          </p:cNvPr>
          <p:cNvSpPr>
            <a:spLocks noGrp="1"/>
          </p:cNvSpPr>
          <p:nvPr>
            <p:ph type="title" idx="4294967295"/>
          </p:nvPr>
        </p:nvSpPr>
        <p:spPr>
          <a:xfrm>
            <a:off x="857694" y="254299"/>
            <a:ext cx="10058400" cy="922337"/>
          </a:xfrm>
        </p:spPr>
        <p:txBody>
          <a:bodyPr/>
          <a:lstStyle/>
          <a:p>
            <a:r>
              <a:rPr lang="en-US" dirty="0"/>
              <a:t>Introducing … The Sacred Timeline</a:t>
            </a:r>
          </a:p>
        </p:txBody>
      </p:sp>
      <p:pic>
        <p:nvPicPr>
          <p:cNvPr id="5" name="Picture 4" descr="A close-up of lightning&#10;&#10;AI-generated content may be incorrect.">
            <a:extLst>
              <a:ext uri="{FF2B5EF4-FFF2-40B4-BE49-F238E27FC236}">
                <a16:creationId xmlns:a16="http://schemas.microsoft.com/office/drawing/2014/main" id="{FDD728D6-C9DE-BD85-252E-C0D30E1801C7}"/>
              </a:ext>
            </a:extLst>
          </p:cNvPr>
          <p:cNvPicPr>
            <a:picLocks noChangeAspect="1"/>
          </p:cNvPicPr>
          <p:nvPr/>
        </p:nvPicPr>
        <p:blipFill>
          <a:blip r:embed="rId2"/>
          <a:stretch>
            <a:fillRect/>
          </a:stretch>
        </p:blipFill>
        <p:spPr>
          <a:xfrm>
            <a:off x="2141166" y="1404731"/>
            <a:ext cx="7772400" cy="4371975"/>
          </a:xfrm>
          <a:prstGeom prst="rect">
            <a:avLst/>
          </a:prstGeom>
        </p:spPr>
      </p:pic>
      <p:grpSp>
        <p:nvGrpSpPr>
          <p:cNvPr id="17" name="Group 16">
            <a:extLst>
              <a:ext uri="{FF2B5EF4-FFF2-40B4-BE49-F238E27FC236}">
                <a16:creationId xmlns:a16="http://schemas.microsoft.com/office/drawing/2014/main" id="{622F06BA-2DC4-A648-7A88-CC7A88DA2AC9}"/>
              </a:ext>
            </a:extLst>
          </p:cNvPr>
          <p:cNvGrpSpPr/>
          <p:nvPr/>
        </p:nvGrpSpPr>
        <p:grpSpPr>
          <a:xfrm>
            <a:off x="1276955" y="1001803"/>
            <a:ext cx="10673909" cy="5064036"/>
            <a:chOff x="1276955" y="1001803"/>
            <a:chExt cx="10673909" cy="5064036"/>
          </a:xfrm>
        </p:grpSpPr>
        <p:sp>
          <p:nvSpPr>
            <p:cNvPr id="6" name="TextBox 5">
              <a:extLst>
                <a:ext uri="{FF2B5EF4-FFF2-40B4-BE49-F238E27FC236}">
                  <a16:creationId xmlns:a16="http://schemas.microsoft.com/office/drawing/2014/main" id="{3762B394-AAFB-C923-50F1-227C1AE360F6}"/>
                </a:ext>
              </a:extLst>
            </p:cNvPr>
            <p:cNvSpPr txBox="1"/>
            <p:nvPr/>
          </p:nvSpPr>
          <p:spPr>
            <a:xfrm>
              <a:off x="1276955" y="4049773"/>
              <a:ext cx="1001479" cy="369332"/>
            </a:xfrm>
            <a:prstGeom prst="rect">
              <a:avLst/>
            </a:prstGeom>
            <a:noFill/>
          </p:spPr>
          <p:txBody>
            <a:bodyPr wrap="square" rtlCol="0">
              <a:spAutoFit/>
            </a:bodyPr>
            <a:lstStyle/>
            <a:p>
              <a:r>
                <a:rPr lang="en-US" b="1" dirty="0">
                  <a:solidFill>
                    <a:schemeClr val="accent3"/>
                  </a:solidFill>
                </a:rPr>
                <a:t>Trunk</a:t>
              </a:r>
            </a:p>
          </p:txBody>
        </p:sp>
        <p:sp>
          <p:nvSpPr>
            <p:cNvPr id="7" name="TextBox 6">
              <a:extLst>
                <a:ext uri="{FF2B5EF4-FFF2-40B4-BE49-F238E27FC236}">
                  <a16:creationId xmlns:a16="http://schemas.microsoft.com/office/drawing/2014/main" id="{A80E72B9-6DAB-252E-C9B9-E751C6CF8316}"/>
                </a:ext>
              </a:extLst>
            </p:cNvPr>
            <p:cNvSpPr txBox="1"/>
            <p:nvPr/>
          </p:nvSpPr>
          <p:spPr>
            <a:xfrm>
              <a:off x="3402264" y="2808114"/>
              <a:ext cx="1265583" cy="369332"/>
            </a:xfrm>
            <a:prstGeom prst="rect">
              <a:avLst/>
            </a:prstGeom>
            <a:noFill/>
          </p:spPr>
          <p:txBody>
            <a:bodyPr wrap="square" rtlCol="0">
              <a:spAutoFit/>
            </a:bodyPr>
            <a:lstStyle/>
            <a:p>
              <a:r>
                <a:rPr lang="en-US" b="1" dirty="0">
                  <a:solidFill>
                    <a:schemeClr val="accent3">
                      <a:lumMod val="20000"/>
                      <a:lumOff val="80000"/>
                    </a:schemeClr>
                  </a:solidFill>
                </a:rPr>
                <a:t>Branches</a:t>
              </a:r>
            </a:p>
          </p:txBody>
        </p:sp>
        <p:sp>
          <p:nvSpPr>
            <p:cNvPr id="8" name="TextBox 7">
              <a:extLst>
                <a:ext uri="{FF2B5EF4-FFF2-40B4-BE49-F238E27FC236}">
                  <a16:creationId xmlns:a16="http://schemas.microsoft.com/office/drawing/2014/main" id="{DCE799B1-7873-0D3A-7CD2-168EE27FD7A2}"/>
                </a:ext>
              </a:extLst>
            </p:cNvPr>
            <p:cNvSpPr txBox="1"/>
            <p:nvPr/>
          </p:nvSpPr>
          <p:spPr>
            <a:xfrm>
              <a:off x="2192519" y="1405754"/>
              <a:ext cx="5883965" cy="369332"/>
            </a:xfrm>
            <a:prstGeom prst="rect">
              <a:avLst/>
            </a:prstGeom>
            <a:noFill/>
          </p:spPr>
          <p:txBody>
            <a:bodyPr wrap="square" rtlCol="0">
              <a:spAutoFit/>
            </a:bodyPr>
            <a:lstStyle/>
            <a:p>
              <a:r>
                <a:rPr lang="en-US" b="1" dirty="0">
                  <a:solidFill>
                    <a:schemeClr val="bg1"/>
                  </a:solidFill>
                </a:rPr>
                <a:t>Branches are the result of a “pull” request</a:t>
              </a:r>
            </a:p>
          </p:txBody>
        </p:sp>
        <p:sp>
          <p:nvSpPr>
            <p:cNvPr id="10" name="TextBox 9">
              <a:extLst>
                <a:ext uri="{FF2B5EF4-FFF2-40B4-BE49-F238E27FC236}">
                  <a16:creationId xmlns:a16="http://schemas.microsoft.com/office/drawing/2014/main" id="{FE9A0696-2F21-EA20-B8D6-D180E182DFA7}"/>
                </a:ext>
              </a:extLst>
            </p:cNvPr>
            <p:cNvSpPr txBox="1"/>
            <p:nvPr/>
          </p:nvSpPr>
          <p:spPr>
            <a:xfrm>
              <a:off x="6293049" y="5142509"/>
              <a:ext cx="5657815" cy="923330"/>
            </a:xfrm>
            <a:prstGeom prst="rect">
              <a:avLst/>
            </a:prstGeom>
            <a:solidFill>
              <a:schemeClr val="accent4"/>
            </a:solidFill>
          </p:spPr>
          <p:txBody>
            <a:bodyPr wrap="square">
              <a:spAutoFit/>
            </a:bodyPr>
            <a:lstStyle/>
            <a:p>
              <a:r>
                <a:rPr lang="en-US" dirty="0">
                  <a:solidFill>
                    <a:schemeClr val="bg1"/>
                  </a:solidFill>
                  <a:latin typeface="Open Sans" panose="020F0502020204030204" pitchFamily="34" charset="0"/>
                </a:rPr>
                <a:t>In this class, you’ll create a branch of a “master” lab template. You’ll be able to treat that as your own personal multiverse to do with as you please.</a:t>
              </a:r>
              <a:endParaRPr lang="en-US" dirty="0">
                <a:solidFill>
                  <a:schemeClr val="bg1"/>
                </a:solidFill>
              </a:endParaRPr>
            </a:p>
          </p:txBody>
        </p:sp>
        <p:sp>
          <p:nvSpPr>
            <p:cNvPr id="11" name="TextBox 10">
              <a:extLst>
                <a:ext uri="{FF2B5EF4-FFF2-40B4-BE49-F238E27FC236}">
                  <a16:creationId xmlns:a16="http://schemas.microsoft.com/office/drawing/2014/main" id="{E3AA9769-896A-5CEA-A519-C0491E68AB4E}"/>
                </a:ext>
              </a:extLst>
            </p:cNvPr>
            <p:cNvSpPr txBox="1"/>
            <p:nvPr/>
          </p:nvSpPr>
          <p:spPr>
            <a:xfrm>
              <a:off x="10360603" y="1404731"/>
              <a:ext cx="1590261" cy="646331"/>
            </a:xfrm>
            <a:prstGeom prst="rect">
              <a:avLst/>
            </a:prstGeom>
            <a:noFill/>
          </p:spPr>
          <p:txBody>
            <a:bodyPr wrap="square" rtlCol="0">
              <a:spAutoFit/>
            </a:bodyPr>
            <a:lstStyle/>
            <a:p>
              <a:r>
                <a:rPr lang="en-US" dirty="0">
                  <a:solidFill>
                    <a:schemeClr val="accent3">
                      <a:lumMod val="60000"/>
                      <a:lumOff val="40000"/>
                    </a:schemeClr>
                  </a:solidFill>
                </a:rPr>
                <a:t>A Git repository</a:t>
              </a:r>
            </a:p>
          </p:txBody>
        </p:sp>
        <p:cxnSp>
          <p:nvCxnSpPr>
            <p:cNvPr id="13" name="Straight Arrow Connector 12">
              <a:extLst>
                <a:ext uri="{FF2B5EF4-FFF2-40B4-BE49-F238E27FC236}">
                  <a16:creationId xmlns:a16="http://schemas.microsoft.com/office/drawing/2014/main" id="{8ADF3D22-3C87-516C-A85D-B13EED19B886}"/>
                </a:ext>
              </a:extLst>
            </p:cNvPr>
            <p:cNvCxnSpPr>
              <a:cxnSpLocks/>
            </p:cNvCxnSpPr>
            <p:nvPr/>
          </p:nvCxnSpPr>
          <p:spPr>
            <a:xfrm flipH="1" flipV="1">
              <a:off x="9694905" y="1001803"/>
              <a:ext cx="665698" cy="508945"/>
            </a:xfrm>
            <a:prstGeom prst="straightConnector1">
              <a:avLst/>
            </a:prstGeom>
            <a:ln w="38100">
              <a:solidFill>
                <a:schemeClr val="accent3"/>
              </a:solidFill>
              <a:tailEnd type="triangle"/>
            </a:ln>
          </p:spPr>
          <p:style>
            <a:lnRef idx="1">
              <a:schemeClr val="accent2"/>
            </a:lnRef>
            <a:fillRef idx="0">
              <a:schemeClr val="accent2"/>
            </a:fillRef>
            <a:effectRef idx="0">
              <a:schemeClr val="accent2"/>
            </a:effectRef>
            <a:fontRef idx="minor">
              <a:schemeClr val="tx1"/>
            </a:fontRef>
          </p:style>
        </p:cxnSp>
      </p:grpSp>
      <p:sp>
        <p:nvSpPr>
          <p:cNvPr id="16" name="TextBox 15">
            <a:extLst>
              <a:ext uri="{FF2B5EF4-FFF2-40B4-BE49-F238E27FC236}">
                <a16:creationId xmlns:a16="http://schemas.microsoft.com/office/drawing/2014/main" id="{86BA9E3A-1598-66A2-BEF7-7FB5ED769385}"/>
              </a:ext>
            </a:extLst>
          </p:cNvPr>
          <p:cNvSpPr txBox="1"/>
          <p:nvPr/>
        </p:nvSpPr>
        <p:spPr>
          <a:xfrm>
            <a:off x="101356" y="5804229"/>
            <a:ext cx="6096000" cy="523220"/>
          </a:xfrm>
          <a:prstGeom prst="rect">
            <a:avLst/>
          </a:prstGeom>
          <a:noFill/>
        </p:spPr>
        <p:txBody>
          <a:bodyPr wrap="square">
            <a:spAutoFit/>
          </a:bodyPr>
          <a:lstStyle/>
          <a:p>
            <a:r>
              <a:rPr lang="en-US" sz="1400" dirty="0"/>
              <a:t>Thanks Gaurav Trivedi </a:t>
            </a:r>
            <a:r>
              <a:rPr lang="en-US" sz="1400" dirty="0">
                <a:hlinkClick r:id="rId3"/>
              </a:rPr>
              <a:t>https://beingtechnicalwriter.com/sacred-timeline-git/</a:t>
            </a:r>
            <a:r>
              <a:rPr lang="en-US" sz="1400" dirty="0"/>
              <a:t> for this nerdy interpretation of Git repos</a:t>
            </a:r>
          </a:p>
        </p:txBody>
      </p:sp>
    </p:spTree>
    <p:extLst>
      <p:ext uri="{BB962C8B-B14F-4D97-AF65-F5344CB8AC3E}">
        <p14:creationId xmlns:p14="http://schemas.microsoft.com/office/powerpoint/2010/main" val="3200555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E82E5-D81D-2801-813A-84974F11C82E}"/>
              </a:ext>
            </a:extLst>
          </p:cNvPr>
          <p:cNvSpPr>
            <a:spLocks noGrp="1"/>
          </p:cNvSpPr>
          <p:nvPr>
            <p:ph type="title" idx="4294967295"/>
          </p:nvPr>
        </p:nvSpPr>
        <p:spPr>
          <a:xfrm>
            <a:off x="857694" y="254299"/>
            <a:ext cx="10058400" cy="922337"/>
          </a:xfrm>
        </p:spPr>
        <p:txBody>
          <a:bodyPr/>
          <a:lstStyle/>
          <a:p>
            <a:r>
              <a:rPr lang="en-US" dirty="0"/>
              <a:t>But beware of the god of mischief!</a:t>
            </a:r>
          </a:p>
        </p:txBody>
      </p:sp>
      <p:pic>
        <p:nvPicPr>
          <p:cNvPr id="5" name="Picture 4" descr="A close-up of lightning&#10;&#10;AI-generated content may be incorrect.">
            <a:extLst>
              <a:ext uri="{FF2B5EF4-FFF2-40B4-BE49-F238E27FC236}">
                <a16:creationId xmlns:a16="http://schemas.microsoft.com/office/drawing/2014/main" id="{FDD728D6-C9DE-BD85-252E-C0D30E1801C7}"/>
              </a:ext>
            </a:extLst>
          </p:cNvPr>
          <p:cNvPicPr>
            <a:picLocks noChangeAspect="1"/>
          </p:cNvPicPr>
          <p:nvPr/>
        </p:nvPicPr>
        <p:blipFill>
          <a:blip r:embed="rId3"/>
          <a:stretch>
            <a:fillRect/>
          </a:stretch>
        </p:blipFill>
        <p:spPr>
          <a:xfrm>
            <a:off x="2141166" y="1404731"/>
            <a:ext cx="7772400" cy="4371975"/>
          </a:xfrm>
          <a:prstGeom prst="rect">
            <a:avLst/>
          </a:prstGeom>
        </p:spPr>
      </p:pic>
      <p:grpSp>
        <p:nvGrpSpPr>
          <p:cNvPr id="17" name="Group 16">
            <a:extLst>
              <a:ext uri="{FF2B5EF4-FFF2-40B4-BE49-F238E27FC236}">
                <a16:creationId xmlns:a16="http://schemas.microsoft.com/office/drawing/2014/main" id="{622F06BA-2DC4-A648-7A88-CC7A88DA2AC9}"/>
              </a:ext>
            </a:extLst>
          </p:cNvPr>
          <p:cNvGrpSpPr/>
          <p:nvPr/>
        </p:nvGrpSpPr>
        <p:grpSpPr>
          <a:xfrm>
            <a:off x="1276955" y="1405754"/>
            <a:ext cx="10813689" cy="5158785"/>
            <a:chOff x="1276955" y="1405754"/>
            <a:chExt cx="10813689" cy="5158785"/>
          </a:xfrm>
        </p:grpSpPr>
        <p:sp>
          <p:nvSpPr>
            <p:cNvPr id="6" name="TextBox 5">
              <a:extLst>
                <a:ext uri="{FF2B5EF4-FFF2-40B4-BE49-F238E27FC236}">
                  <a16:creationId xmlns:a16="http://schemas.microsoft.com/office/drawing/2014/main" id="{3762B394-AAFB-C923-50F1-227C1AE360F6}"/>
                </a:ext>
              </a:extLst>
            </p:cNvPr>
            <p:cNvSpPr txBox="1"/>
            <p:nvPr/>
          </p:nvSpPr>
          <p:spPr>
            <a:xfrm>
              <a:off x="1276955" y="4049773"/>
              <a:ext cx="1001479" cy="369332"/>
            </a:xfrm>
            <a:prstGeom prst="rect">
              <a:avLst/>
            </a:prstGeom>
            <a:noFill/>
          </p:spPr>
          <p:txBody>
            <a:bodyPr wrap="square" rtlCol="0">
              <a:spAutoFit/>
            </a:bodyPr>
            <a:lstStyle/>
            <a:p>
              <a:r>
                <a:rPr lang="en-US" b="1" dirty="0">
                  <a:solidFill>
                    <a:schemeClr val="accent3"/>
                  </a:solidFill>
                </a:rPr>
                <a:t>Trunk</a:t>
              </a:r>
            </a:p>
          </p:txBody>
        </p:sp>
        <p:sp>
          <p:nvSpPr>
            <p:cNvPr id="7" name="TextBox 6">
              <a:extLst>
                <a:ext uri="{FF2B5EF4-FFF2-40B4-BE49-F238E27FC236}">
                  <a16:creationId xmlns:a16="http://schemas.microsoft.com/office/drawing/2014/main" id="{A80E72B9-6DAB-252E-C9B9-E751C6CF8316}"/>
                </a:ext>
              </a:extLst>
            </p:cNvPr>
            <p:cNvSpPr txBox="1"/>
            <p:nvPr/>
          </p:nvSpPr>
          <p:spPr>
            <a:xfrm>
              <a:off x="3402264" y="2808114"/>
              <a:ext cx="1265583" cy="369332"/>
            </a:xfrm>
            <a:prstGeom prst="rect">
              <a:avLst/>
            </a:prstGeom>
            <a:noFill/>
          </p:spPr>
          <p:txBody>
            <a:bodyPr wrap="square" rtlCol="0">
              <a:spAutoFit/>
            </a:bodyPr>
            <a:lstStyle/>
            <a:p>
              <a:r>
                <a:rPr lang="en-US" b="1" dirty="0">
                  <a:solidFill>
                    <a:schemeClr val="accent3">
                      <a:lumMod val="20000"/>
                      <a:lumOff val="80000"/>
                    </a:schemeClr>
                  </a:solidFill>
                </a:rPr>
                <a:t>Branches</a:t>
              </a:r>
            </a:p>
          </p:txBody>
        </p:sp>
        <p:sp>
          <p:nvSpPr>
            <p:cNvPr id="8" name="TextBox 7">
              <a:extLst>
                <a:ext uri="{FF2B5EF4-FFF2-40B4-BE49-F238E27FC236}">
                  <a16:creationId xmlns:a16="http://schemas.microsoft.com/office/drawing/2014/main" id="{DCE799B1-7873-0D3A-7CD2-168EE27FD7A2}"/>
                </a:ext>
              </a:extLst>
            </p:cNvPr>
            <p:cNvSpPr txBox="1"/>
            <p:nvPr/>
          </p:nvSpPr>
          <p:spPr>
            <a:xfrm>
              <a:off x="2192519" y="1405754"/>
              <a:ext cx="5883965" cy="369332"/>
            </a:xfrm>
            <a:prstGeom prst="rect">
              <a:avLst/>
            </a:prstGeom>
            <a:noFill/>
          </p:spPr>
          <p:txBody>
            <a:bodyPr wrap="square" rtlCol="0">
              <a:spAutoFit/>
            </a:bodyPr>
            <a:lstStyle/>
            <a:p>
              <a:r>
                <a:rPr lang="en-US" b="1" dirty="0">
                  <a:solidFill>
                    <a:schemeClr val="bg1"/>
                  </a:solidFill>
                </a:rPr>
                <a:t>Branches are the result of a “pull” request</a:t>
              </a:r>
            </a:p>
          </p:txBody>
        </p:sp>
        <p:sp>
          <p:nvSpPr>
            <p:cNvPr id="10" name="TextBox 9">
              <a:extLst>
                <a:ext uri="{FF2B5EF4-FFF2-40B4-BE49-F238E27FC236}">
                  <a16:creationId xmlns:a16="http://schemas.microsoft.com/office/drawing/2014/main" id="{FE9A0696-2F21-EA20-B8D6-D180E182DFA7}"/>
                </a:ext>
              </a:extLst>
            </p:cNvPr>
            <p:cNvSpPr txBox="1"/>
            <p:nvPr/>
          </p:nvSpPr>
          <p:spPr>
            <a:xfrm>
              <a:off x="6432829" y="4256215"/>
              <a:ext cx="5657815" cy="2308324"/>
            </a:xfrm>
            <a:prstGeom prst="rect">
              <a:avLst/>
            </a:prstGeom>
            <a:solidFill>
              <a:schemeClr val="accent4"/>
            </a:solidFill>
          </p:spPr>
          <p:txBody>
            <a:bodyPr wrap="square">
              <a:spAutoFit/>
            </a:bodyPr>
            <a:lstStyle/>
            <a:p>
              <a:r>
                <a:rPr lang="en-US" dirty="0">
                  <a:solidFill>
                    <a:schemeClr val="bg1"/>
                  </a:solidFill>
                  <a:latin typeface="Open Sans" panose="020F0502020204030204" pitchFamily="34" charset="0"/>
                </a:rPr>
                <a:t>In the Sacred Timeline, Nexus Events arise from deviations from the predetermined course of history, potentially altering the entire timeline. </a:t>
              </a:r>
            </a:p>
            <a:p>
              <a:endParaRPr lang="en-US" dirty="0">
                <a:solidFill>
                  <a:schemeClr val="bg1"/>
                </a:solidFill>
                <a:latin typeface="Open Sans" panose="020F0502020204030204" pitchFamily="34" charset="0"/>
              </a:endParaRPr>
            </a:p>
            <a:p>
              <a:r>
                <a:rPr lang="en-US" dirty="0">
                  <a:solidFill>
                    <a:schemeClr val="bg1"/>
                  </a:solidFill>
                  <a:latin typeface="Open Sans" panose="020F0502020204030204" pitchFamily="34" charset="0"/>
                </a:rPr>
                <a:t>In Git, merge conflicts occur when users make conflicting changes within a branch or when they merge conflicting branches into the main repo, requiring manual resolution. </a:t>
              </a:r>
              <a:endParaRPr lang="en-US" dirty="0">
                <a:solidFill>
                  <a:schemeClr val="bg1"/>
                </a:solidFill>
              </a:endParaRPr>
            </a:p>
          </p:txBody>
        </p:sp>
      </p:grpSp>
      <p:sp>
        <p:nvSpPr>
          <p:cNvPr id="16" name="TextBox 15">
            <a:extLst>
              <a:ext uri="{FF2B5EF4-FFF2-40B4-BE49-F238E27FC236}">
                <a16:creationId xmlns:a16="http://schemas.microsoft.com/office/drawing/2014/main" id="{86BA9E3A-1598-66A2-BEF7-7FB5ED769385}"/>
              </a:ext>
            </a:extLst>
          </p:cNvPr>
          <p:cNvSpPr txBox="1"/>
          <p:nvPr/>
        </p:nvSpPr>
        <p:spPr>
          <a:xfrm>
            <a:off x="101356" y="5804229"/>
            <a:ext cx="6096000" cy="523220"/>
          </a:xfrm>
          <a:prstGeom prst="rect">
            <a:avLst/>
          </a:prstGeom>
          <a:noFill/>
        </p:spPr>
        <p:txBody>
          <a:bodyPr wrap="square">
            <a:spAutoFit/>
          </a:bodyPr>
          <a:lstStyle/>
          <a:p>
            <a:r>
              <a:rPr lang="en-US" sz="1400" dirty="0"/>
              <a:t>Thanks Gaurav Trivedi </a:t>
            </a:r>
            <a:r>
              <a:rPr lang="en-US" sz="1400" dirty="0">
                <a:hlinkClick r:id="rId4"/>
              </a:rPr>
              <a:t>https://beingtechnicalwriter.com/sacred-timeline-git/</a:t>
            </a:r>
            <a:r>
              <a:rPr lang="en-US" sz="1400" dirty="0"/>
              <a:t> for this nerdy interpretation of Git repos</a:t>
            </a:r>
          </a:p>
        </p:txBody>
      </p:sp>
      <p:pic>
        <p:nvPicPr>
          <p:cNvPr id="12" name="Picture 11" descr="A group of people in clothing&#10;&#10;AI-generated content may be incorrect.">
            <a:extLst>
              <a:ext uri="{FF2B5EF4-FFF2-40B4-BE49-F238E27FC236}">
                <a16:creationId xmlns:a16="http://schemas.microsoft.com/office/drawing/2014/main" id="{CEC9D87D-DF66-4247-B802-D3525FC3B3AF}"/>
              </a:ext>
            </a:extLst>
          </p:cNvPr>
          <p:cNvPicPr>
            <a:picLocks noChangeAspect="1"/>
          </p:cNvPicPr>
          <p:nvPr/>
        </p:nvPicPr>
        <p:blipFill>
          <a:blip r:embed="rId5"/>
          <a:stretch>
            <a:fillRect/>
          </a:stretch>
        </p:blipFill>
        <p:spPr>
          <a:xfrm>
            <a:off x="7278900" y="1404731"/>
            <a:ext cx="4287484" cy="2411710"/>
          </a:xfrm>
          <a:prstGeom prst="rect">
            <a:avLst/>
          </a:prstGeom>
        </p:spPr>
      </p:pic>
    </p:spTree>
    <p:extLst>
      <p:ext uri="{BB962C8B-B14F-4D97-AF65-F5344CB8AC3E}">
        <p14:creationId xmlns:p14="http://schemas.microsoft.com/office/powerpoint/2010/main" val="3739785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13153-1ABD-F865-C937-98C012544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3E8FD-0EAB-047C-00CD-E2F59C3D3D74}"/>
              </a:ext>
            </a:extLst>
          </p:cNvPr>
          <p:cNvSpPr>
            <a:spLocks noGrp="1"/>
          </p:cNvSpPr>
          <p:nvPr>
            <p:ph type="title"/>
          </p:nvPr>
        </p:nvSpPr>
        <p:spPr/>
        <p:txBody>
          <a:bodyPr/>
          <a:lstStyle/>
          <a:p>
            <a:r>
              <a:rPr lang="en-US" dirty="0"/>
              <a:t>Git language</a:t>
            </a:r>
          </a:p>
        </p:txBody>
      </p:sp>
      <p:sp>
        <p:nvSpPr>
          <p:cNvPr id="3" name="Content Placeholder 2">
            <a:extLst>
              <a:ext uri="{FF2B5EF4-FFF2-40B4-BE49-F238E27FC236}">
                <a16:creationId xmlns:a16="http://schemas.microsoft.com/office/drawing/2014/main" id="{93834DF4-F603-F4E0-536D-C175017384D1}"/>
              </a:ext>
            </a:extLst>
          </p:cNvPr>
          <p:cNvSpPr>
            <a:spLocks noGrp="1"/>
          </p:cNvSpPr>
          <p:nvPr>
            <p:ph idx="1"/>
          </p:nvPr>
        </p:nvSpPr>
        <p:spPr>
          <a:xfrm>
            <a:off x="1097280" y="1937227"/>
            <a:ext cx="10363548" cy="3325889"/>
          </a:xfrm>
        </p:spPr>
        <p:txBody>
          <a:bodyPr>
            <a:noAutofit/>
          </a:bodyPr>
          <a:lstStyle/>
          <a:p>
            <a:r>
              <a:rPr lang="en-US" sz="2000" b="1" dirty="0"/>
              <a:t>Repository (Repo): </a:t>
            </a:r>
            <a:r>
              <a:rPr lang="en-US" sz="2000" dirty="0"/>
              <a:t>Central location for storing code and/or data. </a:t>
            </a:r>
            <a:endParaRPr lang="en-US" sz="2000" b="1" dirty="0"/>
          </a:p>
          <a:p>
            <a:r>
              <a:rPr lang="en-US" sz="2000" b="1" dirty="0"/>
              <a:t>Branch: </a:t>
            </a:r>
            <a:r>
              <a:rPr lang="en-US" sz="2000" dirty="0"/>
              <a:t>An alternate version of the main repository allowing for experimental code development</a:t>
            </a:r>
          </a:p>
          <a:p>
            <a:r>
              <a:rPr lang="en-US" sz="2000" b="1" dirty="0"/>
              <a:t>Local copy</a:t>
            </a:r>
            <a:r>
              <a:rPr lang="en-US" sz="2000" dirty="0"/>
              <a:t>: A “cloned” version of a repo synced to your computer.</a:t>
            </a:r>
            <a:endParaRPr lang="en-US" sz="2000" b="1" dirty="0"/>
          </a:p>
          <a:p>
            <a:r>
              <a:rPr lang="en-US" sz="2000" b="1" dirty="0"/>
              <a:t>Commit: </a:t>
            </a:r>
            <a:r>
              <a:rPr lang="en-US" sz="2000" dirty="0"/>
              <a:t>A save point, where you take a complete snapshot of the repository on your local computer. After you make a commit, Git can track and manage your changes, and you can revert back to a previous commit if necessary.</a:t>
            </a:r>
          </a:p>
          <a:p>
            <a:r>
              <a:rPr lang="en-US" sz="2000" b="1" dirty="0"/>
              <a:t>Pull: </a:t>
            </a:r>
            <a:r>
              <a:rPr lang="en-US" sz="2000" dirty="0"/>
              <a:t>When you sync updated files from the remote repo on GitHub to your local machine. </a:t>
            </a:r>
          </a:p>
          <a:p>
            <a:r>
              <a:rPr lang="en-US" sz="2000" b="1" dirty="0"/>
              <a:t>Push: </a:t>
            </a:r>
            <a:r>
              <a:rPr lang="en-US" sz="2000" dirty="0"/>
              <a:t>When you sync a commit on your local machine to Github</a:t>
            </a:r>
            <a:endParaRPr lang="en-US" sz="2000" b="1" dirty="0"/>
          </a:p>
          <a:p>
            <a:endParaRPr lang="en-US" sz="2000" dirty="0"/>
          </a:p>
          <a:p>
            <a:endParaRPr lang="en-US" sz="2000" b="1" dirty="0"/>
          </a:p>
        </p:txBody>
      </p:sp>
    </p:spTree>
    <p:extLst>
      <p:ext uri="{BB962C8B-B14F-4D97-AF65-F5344CB8AC3E}">
        <p14:creationId xmlns:p14="http://schemas.microsoft.com/office/powerpoint/2010/main" val="3765121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4300 theme">
  <a:themeElements>
    <a:clrScheme name="Custom 5">
      <a:dk1>
        <a:srgbClr val="3F3F3F"/>
      </a:dk1>
      <a:lt1>
        <a:sysClr val="window" lastClr="FFFFFF"/>
      </a:lt1>
      <a:dk2>
        <a:srgbClr val="637052"/>
      </a:dk2>
      <a:lt2>
        <a:srgbClr val="CCDDEA"/>
      </a:lt2>
      <a:accent1>
        <a:srgbClr val="E5A99F"/>
      </a:accent1>
      <a:accent2>
        <a:srgbClr val="B23838"/>
      </a:accent2>
      <a:accent3>
        <a:srgbClr val="865640"/>
      </a:accent3>
      <a:accent4>
        <a:srgbClr val="9B8357"/>
      </a:accent4>
      <a:accent5>
        <a:srgbClr val="C2BC80"/>
      </a:accent5>
      <a:accent6>
        <a:srgbClr val="94A088"/>
      </a:accent6>
      <a:hlink>
        <a:srgbClr val="2998E3"/>
      </a:hlink>
      <a:folHlink>
        <a:srgbClr val="8C8C8C"/>
      </a:folHlink>
    </a:clrScheme>
    <a:fontScheme name="Custom 1">
      <a:majorFont>
        <a:latin typeface="Sitka Display Semibold"/>
        <a:ea typeface=""/>
        <a:cs typeface=""/>
      </a:majorFont>
      <a:minorFont>
        <a:latin typeface="Segoe UI"/>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geog4300_L01-Introductions" id="{FA51A00F-822B-41B5-AA4A-2C123A5E9355}" vid="{2F9C99DD-B25B-4D9F-92B4-7DCE57BD0F40}"/>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490</TotalTime>
  <Words>455</Words>
  <Application>Microsoft Office PowerPoint</Application>
  <PresentationFormat>Widescreen</PresentationFormat>
  <Paragraphs>37</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Open Sans</vt:lpstr>
      <vt:lpstr>Segoe UI</vt:lpstr>
      <vt:lpstr>Sitka Display Semibold</vt:lpstr>
      <vt:lpstr>4300 theme</vt:lpstr>
      <vt:lpstr>“Gitting” started with Git and R</vt:lpstr>
      <vt:lpstr>Git language</vt:lpstr>
      <vt:lpstr>Introducing … The Sacred Timeline</vt:lpstr>
      <vt:lpstr>Introducing … The Sacred Timeline</vt:lpstr>
      <vt:lpstr>But beware of the god of mischief!</vt:lpstr>
      <vt:lpstr>Git language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Numbers: What are they good for?</dc:title>
  <dc:creator>Gerald Shannon</dc:creator>
  <cp:lastModifiedBy>Jerry Shannon</cp:lastModifiedBy>
  <cp:revision>110</cp:revision>
  <dcterms:modified xsi:type="dcterms:W3CDTF">2026-08-19T19:17:07Z</dcterms:modified>
</cp:coreProperties>
</file>