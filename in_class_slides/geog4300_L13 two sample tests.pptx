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313" r:id="rId3"/>
    <p:sldId id="317" r:id="rId4"/>
    <p:sldId id="319" r:id="rId5"/>
    <p:sldId id="320" r:id="rId6"/>
    <p:sldId id="311" r:id="rId7"/>
    <p:sldId id="312" r:id="rId8"/>
    <p:sldId id="321" r:id="rId9"/>
    <p:sldId id="300" r:id="rId10"/>
    <p:sldId id="314" r:id="rId11"/>
    <p:sldId id="264" r:id="rId12"/>
    <p:sldId id="266" r:id="rId13"/>
    <p:sldId id="31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4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62" autoAdjust="0"/>
    <p:restoredTop sz="79925"/>
  </p:normalViewPr>
  <p:slideViewPr>
    <p:cSldViewPr snapToGrid="0">
      <p:cViewPr varScale="1">
        <p:scale>
          <a:sx n="90" d="100"/>
          <a:sy n="90" d="100"/>
        </p:scale>
        <p:origin x="10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23026-85D4-48E8-9219-18000F688023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8D42E2-8102-4E72-B8DC-BA8209884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501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Reminder: One sample: We use a t-test, unless the actual standard deviation is known and n&gt;30, then we use the z score. The difference in practice is very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D42E2-8102-4E72-B8DC-BA8209884EC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295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23367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13542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40292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98125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99533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51699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13542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52" name="Shape 1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Shape 153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0" name="Shape 1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Shape 171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5169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12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898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578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79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59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560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066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239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93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188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391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9932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11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910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654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521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616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1790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DA1E6-0A9B-4FAD-9E42-B37B3CA5D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4917" y="3794273"/>
            <a:ext cx="9440034" cy="1828801"/>
          </a:xfrm>
        </p:spPr>
        <p:txBody>
          <a:bodyPr>
            <a:normAutofit fontScale="90000"/>
          </a:bodyPr>
          <a:lstStyle/>
          <a:p>
            <a:r>
              <a:rPr lang="en-US" dirty="0"/>
              <a:t>Week 10:Normality testing;</a:t>
            </a:r>
            <a:br>
              <a:rPr lang="en-US" dirty="0"/>
            </a:br>
            <a:r>
              <a:rPr lang="en-US" dirty="0"/>
              <a:t>Chi-square; Non-parametric tests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6D1488-58DF-4A33-AC86-D6B690A68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4917" y="5666615"/>
            <a:ext cx="9440034" cy="1049867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/>
              <a:t>Geog4300: Harper</a:t>
            </a:r>
          </a:p>
          <a:p>
            <a:r>
              <a:rPr lang="en-US" sz="3200" dirty="0"/>
              <a:t>October 23, 2025</a:t>
            </a:r>
          </a:p>
        </p:txBody>
      </p:sp>
      <p:pic>
        <p:nvPicPr>
          <p:cNvPr id="7" name="Shape 101">
            <a:extLst>
              <a:ext uri="{FF2B5EF4-FFF2-40B4-BE49-F238E27FC236}">
                <a16:creationId xmlns:a16="http://schemas.microsoft.com/office/drawing/2014/main" id="{20A9834B-95DA-48A0-8E38-0115825B892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61345" y="216790"/>
            <a:ext cx="6167213" cy="35801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464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4ACF5-0661-BE5C-2B8F-DB6300498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21BBD-7419-43ED-3AB2-D9866AEA1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Testing for normality</a:t>
            </a:r>
          </a:p>
          <a:p>
            <a:r>
              <a:rPr lang="en-US" dirty="0"/>
              <a:t>If data is not normally distributed –Wilcoxon test</a:t>
            </a:r>
          </a:p>
          <a:p>
            <a:r>
              <a:rPr lang="en-US" dirty="0"/>
              <a:t>If the two variables being tested are categorical rather than continuous – Chi-squared test</a:t>
            </a:r>
          </a:p>
          <a:p>
            <a:r>
              <a:rPr lang="en-US" dirty="0"/>
              <a:t>Introduce Lab 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42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chart">
            <a:extLst>
              <a:ext uri="{FF2B5EF4-FFF2-40B4-BE49-F238E27FC236}">
                <a16:creationId xmlns:a16="http://schemas.microsoft.com/office/drawing/2014/main" id="{DEA8E926-19CD-E904-44C0-D23342E222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718" y="994407"/>
            <a:ext cx="9733539" cy="35193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C86DA4-4C0C-BFF3-41AA-3D3D0A0DA4C5}"/>
              </a:ext>
            </a:extLst>
          </p:cNvPr>
          <p:cNvSpPr txBox="1"/>
          <p:nvPr/>
        </p:nvSpPr>
        <p:spPr>
          <a:xfrm>
            <a:off x="435468" y="4663264"/>
            <a:ext cx="2222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Continuous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sym typeface="Noto Sans Symbols"/>
              </a:rPr>
              <a:t>σ</a:t>
            </a:r>
            <a:r>
              <a:rPr lang="en-US" sz="1800" dirty="0"/>
              <a:t> known and n &gt; 30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FD6C24-82A9-4089-21DD-CEC83218665F}"/>
              </a:ext>
            </a:extLst>
          </p:cNvPr>
          <p:cNvSpPr txBox="1"/>
          <p:nvPr/>
        </p:nvSpPr>
        <p:spPr>
          <a:xfrm>
            <a:off x="3216768" y="4663264"/>
            <a:ext cx="2222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Continuous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sym typeface="Noto Sans Symbols"/>
              </a:rPr>
              <a:t>σ</a:t>
            </a:r>
            <a:r>
              <a:rPr lang="en-US" sz="1800" dirty="0"/>
              <a:t> unknown or n &lt; 30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2EFF86-54E6-B2A4-E72F-8067EC97861E}"/>
              </a:ext>
            </a:extLst>
          </p:cNvPr>
          <p:cNvSpPr txBox="1"/>
          <p:nvPr/>
        </p:nvSpPr>
        <p:spPr>
          <a:xfrm>
            <a:off x="208702" y="5546093"/>
            <a:ext cx="26760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Use Z-test and Z statistic. Standard error = </a:t>
            </a:r>
            <a:r>
              <a:rPr lang="en-US" sz="1800" dirty="0">
                <a:solidFill>
                  <a:schemeClr val="accent2"/>
                </a:solidFill>
              </a:rPr>
              <a:t>SE = </a:t>
            </a:r>
            <a:r>
              <a:rPr lang="en-US" sz="1800" dirty="0" err="1">
                <a:solidFill>
                  <a:schemeClr val="accent2"/>
                </a:solidFill>
                <a:sym typeface="Noto Sans Symbols"/>
              </a:rPr>
              <a:t>σ</a:t>
            </a:r>
            <a:r>
              <a:rPr lang="en-US" sz="1800" dirty="0">
                <a:solidFill>
                  <a:schemeClr val="accent2"/>
                </a:solidFill>
              </a:rPr>
              <a:t>/sqrt(n)</a:t>
            </a:r>
          </a:p>
          <a:p>
            <a:endParaRPr lang="en-US" dirty="0">
              <a:solidFill>
                <a:schemeClr val="accent2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88EC602-11DE-7D47-0945-A54E0FEFCA9B}"/>
              </a:ext>
            </a:extLst>
          </p:cNvPr>
          <p:cNvCxnSpPr>
            <a:stCxn id="3" idx="0"/>
          </p:cNvCxnSpPr>
          <p:nvPr/>
        </p:nvCxnSpPr>
        <p:spPr>
          <a:xfrm flipV="1">
            <a:off x="1546718" y="4114800"/>
            <a:ext cx="548782" cy="54846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384D46E-FBFC-8CCD-975C-4E5113C3C844}"/>
              </a:ext>
            </a:extLst>
          </p:cNvPr>
          <p:cNvCxnSpPr>
            <a:cxnSpLocks/>
          </p:cNvCxnSpPr>
          <p:nvPr/>
        </p:nvCxnSpPr>
        <p:spPr>
          <a:xfrm flipH="1" flipV="1">
            <a:off x="3577732" y="4101015"/>
            <a:ext cx="397368" cy="56224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7D34397-BE44-CA16-0A1D-44FE7D0883CF}"/>
              </a:ext>
            </a:extLst>
          </p:cNvPr>
          <p:cNvSpPr txBox="1"/>
          <p:nvPr/>
        </p:nvSpPr>
        <p:spPr>
          <a:xfrm>
            <a:off x="3216768" y="5546092"/>
            <a:ext cx="26760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Use t-test and t statistic. Standard error = </a:t>
            </a:r>
            <a:r>
              <a:rPr lang="en-US" sz="1800" dirty="0">
                <a:solidFill>
                  <a:schemeClr val="accent2"/>
                </a:solidFill>
              </a:rPr>
              <a:t>SE = </a:t>
            </a:r>
            <a:r>
              <a:rPr lang="en-US" dirty="0">
                <a:solidFill>
                  <a:schemeClr val="accent2"/>
                </a:solidFill>
                <a:sym typeface="Noto Sans Symbols"/>
              </a:rPr>
              <a:t>s</a:t>
            </a:r>
            <a:r>
              <a:rPr lang="en-US" sz="1800" dirty="0">
                <a:solidFill>
                  <a:schemeClr val="accent2"/>
                </a:solidFill>
              </a:rPr>
              <a:t>/sqrt(n-1)</a:t>
            </a:r>
          </a:p>
          <a:p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187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/>
        </p:nvSpPr>
        <p:spPr>
          <a:xfrm>
            <a:off x="536895" y="253767"/>
            <a:ext cx="945524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Two sample t-tests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C95634-62FF-47A0-9DE6-64D178990E6A}"/>
              </a:ext>
            </a:extLst>
          </p:cNvPr>
          <p:cNvSpPr txBox="1"/>
          <p:nvPr/>
        </p:nvSpPr>
        <p:spPr>
          <a:xfrm>
            <a:off x="695922" y="991725"/>
            <a:ext cx="104889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Instead of comparing one sample against a predetermined mean, identifying difference between two samples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7CBBC7-4D61-25A5-1ECB-8936DB9042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852" y="2364513"/>
            <a:ext cx="8051578" cy="4239720"/>
          </a:xfrm>
          <a:prstGeom prst="rect">
            <a:avLst/>
          </a:prstGeom>
        </p:spPr>
      </p:pic>
      <p:pic>
        <p:nvPicPr>
          <p:cNvPr id="5" name="Shape 150">
            <a:extLst>
              <a:ext uri="{FF2B5EF4-FFF2-40B4-BE49-F238E27FC236}">
                <a16:creationId xmlns:a16="http://schemas.microsoft.com/office/drawing/2014/main" id="{D83ACFD0-E781-9CCC-8F9B-44A0857A2B4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1443" y="3531873"/>
            <a:ext cx="3089275" cy="190499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8004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/>
        </p:nvSpPr>
        <p:spPr>
          <a:xfrm>
            <a:off x="536895" y="253767"/>
            <a:ext cx="945524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Two sample t-tests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C95634-62FF-47A0-9DE6-64D178990E6A}"/>
              </a:ext>
            </a:extLst>
          </p:cNvPr>
          <p:cNvSpPr txBox="1"/>
          <p:nvPr/>
        </p:nvSpPr>
        <p:spPr>
          <a:xfrm>
            <a:off x="695922" y="991725"/>
            <a:ext cx="104889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Key question #1: Is the variance in both samples </a:t>
            </a:r>
            <a:r>
              <a:rPr lang="en-US" sz="3200" b="1" i="1" dirty="0">
                <a:solidFill>
                  <a:srgbClr val="FFC000"/>
                </a:solidFill>
              </a:rPr>
              <a:t>even</a:t>
            </a:r>
            <a:r>
              <a:rPr lang="en-US" sz="3200" b="1" dirty="0"/>
              <a:t> </a:t>
            </a:r>
            <a:r>
              <a:rPr lang="en-US" sz="3200" dirty="0"/>
              <a:t>or</a:t>
            </a:r>
            <a:r>
              <a:rPr lang="en-US" sz="3200" b="1" dirty="0"/>
              <a:t> </a:t>
            </a:r>
            <a:r>
              <a:rPr lang="en-US" sz="3200" b="1" i="1" dirty="0">
                <a:solidFill>
                  <a:srgbClr val="FFC000"/>
                </a:solidFill>
              </a:rPr>
              <a:t>uneven</a:t>
            </a:r>
            <a:r>
              <a:rPr lang="en-US" sz="3200" b="1" i="1" dirty="0"/>
              <a:t>?</a:t>
            </a:r>
            <a:endParaRPr lang="en-US" sz="3200" dirty="0"/>
          </a:p>
        </p:txBody>
      </p:sp>
      <p:pic>
        <p:nvPicPr>
          <p:cNvPr id="5" name="Shape 150">
            <a:extLst>
              <a:ext uri="{FF2B5EF4-FFF2-40B4-BE49-F238E27FC236}">
                <a16:creationId xmlns:a16="http://schemas.microsoft.com/office/drawing/2014/main" id="{D83ACFD0-E781-9CCC-8F9B-44A0857A2B4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5922" y="2454655"/>
            <a:ext cx="3089275" cy="190499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6" name="Picture 5" descr="Chart, histogram">
            <a:extLst>
              <a:ext uri="{FF2B5EF4-FFF2-40B4-BE49-F238E27FC236}">
                <a16:creationId xmlns:a16="http://schemas.microsoft.com/office/drawing/2014/main" id="{D8849F51-31C1-5AF6-FE25-A0ECDBE1A1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5982" y="1907274"/>
            <a:ext cx="6600968" cy="495072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9FC2A6E-AAB8-F6F6-4775-13209DC4D873}"/>
              </a:ext>
            </a:extLst>
          </p:cNvPr>
          <p:cNvSpPr/>
          <p:nvPr/>
        </p:nvSpPr>
        <p:spPr>
          <a:xfrm>
            <a:off x="1616765" y="3429000"/>
            <a:ext cx="2001078" cy="930654"/>
          </a:xfrm>
          <a:prstGeom prst="rect">
            <a:avLst/>
          </a:prstGeom>
          <a:solidFill>
            <a:srgbClr val="BC451B">
              <a:alpha val="9020"/>
            </a:srgb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17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C95634-62FF-47A0-9DE6-64D178990E6A}"/>
              </a:ext>
            </a:extLst>
          </p:cNvPr>
          <p:cNvSpPr txBox="1"/>
          <p:nvPr/>
        </p:nvSpPr>
        <p:spPr>
          <a:xfrm>
            <a:off x="442250" y="384091"/>
            <a:ext cx="1048891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Key question #1: Is the variance in both samples </a:t>
            </a:r>
            <a:r>
              <a:rPr lang="en-US" sz="3200" b="1" i="1" dirty="0">
                <a:solidFill>
                  <a:srgbClr val="FFC000"/>
                </a:solidFill>
              </a:rPr>
              <a:t>even</a:t>
            </a:r>
            <a:r>
              <a:rPr lang="en-US" sz="3200" b="1" dirty="0"/>
              <a:t> </a:t>
            </a:r>
            <a:r>
              <a:rPr lang="en-US" sz="3200" dirty="0"/>
              <a:t>or</a:t>
            </a:r>
            <a:r>
              <a:rPr lang="en-US" sz="3200" b="1" dirty="0"/>
              <a:t> </a:t>
            </a:r>
            <a:r>
              <a:rPr lang="en-US" sz="3200" b="1" i="1" dirty="0">
                <a:solidFill>
                  <a:srgbClr val="FFC000"/>
                </a:solidFill>
              </a:rPr>
              <a:t>uneven</a:t>
            </a:r>
            <a:r>
              <a:rPr lang="en-US" sz="3200" b="1" i="1" dirty="0"/>
              <a:t>?</a:t>
            </a:r>
          </a:p>
          <a:p>
            <a:endParaRPr lang="en-US" sz="3200" b="1" i="1" dirty="0"/>
          </a:p>
          <a:p>
            <a:r>
              <a:rPr lang="en-US" sz="3200" dirty="0"/>
              <a:t>Look at the 2019 census data and compute the standard deviation for two categories of racial classification. How do those compare?</a:t>
            </a:r>
          </a:p>
          <a:p>
            <a:endParaRPr lang="en-US" sz="3200" dirty="0"/>
          </a:p>
          <a:p>
            <a:r>
              <a:rPr lang="en-US" sz="3200" dirty="0"/>
              <a:t>Variance = Standard deviation^2</a:t>
            </a:r>
          </a:p>
        </p:txBody>
      </p:sp>
    </p:spTree>
    <p:extLst>
      <p:ext uri="{BB962C8B-B14F-4D97-AF65-F5344CB8AC3E}">
        <p14:creationId xmlns:p14="http://schemas.microsoft.com/office/powerpoint/2010/main" val="3750489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/>
        </p:nvSpPr>
        <p:spPr>
          <a:xfrm>
            <a:off x="536895" y="253767"/>
            <a:ext cx="945524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Two sample t-tests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C95634-62FF-47A0-9DE6-64D178990E6A}"/>
              </a:ext>
            </a:extLst>
          </p:cNvPr>
          <p:cNvSpPr txBox="1"/>
          <p:nvPr/>
        </p:nvSpPr>
        <p:spPr>
          <a:xfrm>
            <a:off x="695922" y="1004977"/>
            <a:ext cx="104889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Key question #2: Are the samples </a:t>
            </a:r>
            <a:r>
              <a:rPr lang="en-US" sz="3200" b="1" i="1" dirty="0">
                <a:solidFill>
                  <a:srgbClr val="FFC000"/>
                </a:solidFill>
              </a:rPr>
              <a:t>independent</a:t>
            </a:r>
            <a:r>
              <a:rPr lang="en-US" sz="3200" dirty="0"/>
              <a:t> or </a:t>
            </a:r>
            <a:r>
              <a:rPr lang="en-US" sz="3200" b="1" i="1" dirty="0">
                <a:solidFill>
                  <a:srgbClr val="FFC000"/>
                </a:solidFill>
              </a:rPr>
              <a:t>paired</a:t>
            </a:r>
            <a:r>
              <a:rPr lang="en-US" sz="3200" dirty="0"/>
              <a:t>?</a:t>
            </a:r>
          </a:p>
        </p:txBody>
      </p:sp>
      <p:pic>
        <p:nvPicPr>
          <p:cNvPr id="4" name="Picture 3" descr="A picture containing chart">
            <a:extLst>
              <a:ext uri="{FF2B5EF4-FFF2-40B4-BE49-F238E27FC236}">
                <a16:creationId xmlns:a16="http://schemas.microsoft.com/office/drawing/2014/main" id="{4282F5AA-98F1-AD88-95FB-BA5DC66E02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261" y="2333665"/>
            <a:ext cx="9733539" cy="3519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886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C95634-62FF-47A0-9DE6-64D178990E6A}"/>
              </a:ext>
            </a:extLst>
          </p:cNvPr>
          <p:cNvSpPr txBox="1"/>
          <p:nvPr/>
        </p:nvSpPr>
        <p:spPr>
          <a:xfrm>
            <a:off x="341961" y="403243"/>
            <a:ext cx="1048891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Are the samples </a:t>
            </a:r>
            <a:r>
              <a:rPr lang="en-US" sz="3200" b="1" i="1" dirty="0">
                <a:solidFill>
                  <a:srgbClr val="FFC000"/>
                </a:solidFill>
              </a:rPr>
              <a:t>independent</a:t>
            </a:r>
            <a:r>
              <a:rPr lang="en-US" sz="3200" dirty="0"/>
              <a:t> or </a:t>
            </a:r>
            <a:r>
              <a:rPr lang="en-US" sz="3200" b="1" i="1" dirty="0">
                <a:solidFill>
                  <a:srgbClr val="FFC000"/>
                </a:solidFill>
              </a:rPr>
              <a:t>paired</a:t>
            </a:r>
            <a:r>
              <a:rPr lang="en-US" sz="3200" dirty="0"/>
              <a:t>?</a:t>
            </a:r>
          </a:p>
          <a:p>
            <a:endParaRPr lang="en-US" sz="3200" dirty="0"/>
          </a:p>
          <a:p>
            <a:r>
              <a:rPr lang="en-US" sz="3200" dirty="0"/>
              <a:t>On a sheet of paper, write down two research questions for your area of interest. One should use two independent samples and one should use a paired sample.</a:t>
            </a:r>
          </a:p>
        </p:txBody>
      </p:sp>
      <p:pic>
        <p:nvPicPr>
          <p:cNvPr id="4" name="Picture 3" descr="A picture containing chart">
            <a:extLst>
              <a:ext uri="{FF2B5EF4-FFF2-40B4-BE49-F238E27FC236}">
                <a16:creationId xmlns:a16="http://schemas.microsoft.com/office/drawing/2014/main" id="{4282F5AA-98F1-AD88-95FB-BA5DC66E02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7801" y="5268247"/>
            <a:ext cx="3837519" cy="138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952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92">
            <a:extLst>
              <a:ext uri="{FF2B5EF4-FFF2-40B4-BE49-F238E27FC236}">
                <a16:creationId xmlns:a16="http://schemas.microsoft.com/office/drawing/2014/main" id="{276FC7B9-2499-43B4-9B1E-E89D5E2DD9B8}"/>
              </a:ext>
            </a:extLst>
          </p:cNvPr>
          <p:cNvSpPr txBox="1"/>
          <p:nvPr/>
        </p:nvSpPr>
        <p:spPr>
          <a:xfrm>
            <a:off x="8601445" y="176854"/>
            <a:ext cx="3352799" cy="707886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39999" dist="23000" dir="5400000" rotWithShape="0">
              <a:srgbClr val="000000">
                <a:alpha val="34901"/>
              </a:srgbClr>
            </a:outerShdw>
          </a:effectLst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named Atlantic tropical storms, years</a:t>
            </a:r>
          </a:p>
        </p:txBody>
      </p:sp>
      <p:graphicFrame>
        <p:nvGraphicFramePr>
          <p:cNvPr id="9" name="Shape 194">
            <a:extLst>
              <a:ext uri="{FF2B5EF4-FFF2-40B4-BE49-F238E27FC236}">
                <a16:creationId xmlns:a16="http://schemas.microsoft.com/office/drawing/2014/main" id="{EA5853FD-4B07-44EB-8FA8-DDF8A8F1585F}"/>
              </a:ext>
            </a:extLst>
          </p:cNvPr>
          <p:cNvGraphicFramePr/>
          <p:nvPr/>
        </p:nvGraphicFramePr>
        <p:xfrm>
          <a:off x="8366333" y="1061697"/>
          <a:ext cx="3587912" cy="48070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93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3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El Nino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</a:rPr>
                        <a:t>La Nina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0 (1.5)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  <a:latin typeface="+mn-lt"/>
                        </a:rPr>
                        <a:t>4 (12)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Gill Sans MT"/>
                          <a:cs typeface="Gill Sans MT"/>
                          <a:sym typeface="Gill Sans MT"/>
                        </a:rPr>
                        <a:t>5 (15)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  <a:latin typeface="+mn-lt"/>
                        </a:rPr>
                        <a:t>4 (12)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1 (3.5)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12 (21)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3 (9)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2 (6.5)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  <a:latin typeface="+mn-lt"/>
                        </a:rPr>
                        <a:t>4 (12)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Gill Sans MT"/>
                          <a:cs typeface="Gill Sans MT"/>
                          <a:sym typeface="Gill Sans MT"/>
                        </a:rPr>
                        <a:t>17 (22)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  <a:latin typeface="+mn-lt"/>
                        </a:rPr>
                        <a:t>1 (3.5)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7 (18)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  <a:latin typeface="+mn-lt"/>
                        </a:rPr>
                        <a:t>2 (6.5)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6 (16.5)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bg1"/>
                          </a:solidFill>
                          <a:latin typeface="+mn-lt"/>
                          <a:ea typeface="Gill Sans MT"/>
                          <a:cs typeface="Gill Sans MT"/>
                          <a:sym typeface="Gill Sans MT"/>
                        </a:rPr>
                        <a:t>2 (6.5)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10 (20)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0 (1.5)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4 (12)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  <a:latin typeface="+mn-lt"/>
                        </a:rPr>
                        <a:t>2 (6.5)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8 (19)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  <a:latin typeface="+mn-lt"/>
                        </a:rPr>
                        <a:t>4 (12)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6 (16.5)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Shape 195">
            <a:extLst>
              <a:ext uri="{FF2B5EF4-FFF2-40B4-BE49-F238E27FC236}">
                <a16:creationId xmlns:a16="http://schemas.microsoft.com/office/drawing/2014/main" id="{7AF296E4-9EC1-4EE8-B99B-7EC2EFC070B8}"/>
              </a:ext>
            </a:extLst>
          </p:cNvPr>
          <p:cNvSpPr/>
          <p:nvPr/>
        </p:nvSpPr>
        <p:spPr>
          <a:xfrm>
            <a:off x="9068990" y="1441157"/>
            <a:ext cx="698853" cy="442754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Gill Sans MT"/>
              <a:ea typeface="Gill Sans MT"/>
              <a:cs typeface="Gill Sans MT"/>
              <a:sym typeface="Gill Sans MT"/>
            </a:endParaRPr>
          </a:p>
        </p:txBody>
      </p:sp>
      <p:sp>
        <p:nvSpPr>
          <p:cNvPr id="11" name="Shape 196">
            <a:extLst>
              <a:ext uri="{FF2B5EF4-FFF2-40B4-BE49-F238E27FC236}">
                <a16:creationId xmlns:a16="http://schemas.microsoft.com/office/drawing/2014/main" id="{66210E4B-1BD8-423A-8BBB-673B4573A5B6}"/>
              </a:ext>
            </a:extLst>
          </p:cNvPr>
          <p:cNvSpPr/>
          <p:nvPr/>
        </p:nvSpPr>
        <p:spPr>
          <a:xfrm>
            <a:off x="10850004" y="1446621"/>
            <a:ext cx="782246" cy="4422084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Gill Sans MT"/>
              <a:ea typeface="Gill Sans MT"/>
              <a:cs typeface="Gill Sans MT"/>
              <a:sym typeface="Gill Sans MT"/>
            </a:endParaRPr>
          </a:p>
        </p:txBody>
      </p:sp>
      <p:sp>
        <p:nvSpPr>
          <p:cNvPr id="12" name="Shape 197">
            <a:extLst>
              <a:ext uri="{FF2B5EF4-FFF2-40B4-BE49-F238E27FC236}">
                <a16:creationId xmlns:a16="http://schemas.microsoft.com/office/drawing/2014/main" id="{66DAE1EE-8FA4-4F73-A19E-158C99F9364A}"/>
              </a:ext>
            </a:extLst>
          </p:cNvPr>
          <p:cNvSpPr txBox="1"/>
          <p:nvPr/>
        </p:nvSpPr>
        <p:spPr>
          <a:xfrm>
            <a:off x="8674389" y="6180124"/>
            <a:ext cx="2971799" cy="40010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9999" dist="23000" dir="5400000" rotWithShape="0">
              <a:srgbClr val="000000">
                <a:alpha val="34901"/>
              </a:srgbClr>
            </a:outerShdw>
          </a:effectLst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2000">
                <a:solidFill>
                  <a:schemeClr val="dk1"/>
                </a:solidFill>
                <a:latin typeface="Gill Sans MT"/>
                <a:ea typeface="Gill Sans MT"/>
                <a:cs typeface="Gill Sans MT"/>
                <a:sym typeface="Gill Sans MT"/>
              </a:rPr>
              <a:t>W</a:t>
            </a:r>
            <a:r>
              <a:rPr lang="en-US" sz="2000" baseline="-25000">
                <a:solidFill>
                  <a:schemeClr val="dk1"/>
                </a:solidFill>
                <a:latin typeface="Gill Sans MT"/>
                <a:ea typeface="Gill Sans MT"/>
                <a:cs typeface="Gill Sans MT"/>
                <a:sym typeface="Gill Sans MT"/>
              </a:rPr>
              <a:t>1</a:t>
            </a:r>
            <a:r>
              <a:rPr lang="en-US" sz="2000">
                <a:solidFill>
                  <a:schemeClr val="dk1"/>
                </a:solidFill>
                <a:latin typeface="Gill Sans MT"/>
                <a:ea typeface="Gill Sans MT"/>
                <a:cs typeface="Gill Sans MT"/>
                <a:sym typeface="Gill Sans MT"/>
              </a:rPr>
              <a:t> = 77.5       W</a:t>
            </a:r>
            <a:r>
              <a:rPr lang="en-US" sz="2000" baseline="-25000">
                <a:solidFill>
                  <a:schemeClr val="dk1"/>
                </a:solidFill>
                <a:latin typeface="Gill Sans MT"/>
                <a:ea typeface="Gill Sans MT"/>
                <a:cs typeface="Gill Sans MT"/>
                <a:sym typeface="Gill Sans MT"/>
              </a:rPr>
              <a:t>2</a:t>
            </a:r>
            <a:r>
              <a:rPr lang="en-US" sz="2000">
                <a:solidFill>
                  <a:schemeClr val="dk1"/>
                </a:solidFill>
                <a:latin typeface="Gill Sans MT"/>
                <a:ea typeface="Gill Sans MT"/>
                <a:cs typeface="Gill Sans MT"/>
                <a:sym typeface="Gill Sans MT"/>
              </a:rPr>
              <a:t> = 175.5</a:t>
            </a:r>
          </a:p>
        </p:txBody>
      </p:sp>
      <p:sp>
        <p:nvSpPr>
          <p:cNvPr id="4" name="Shape 101">
            <a:extLst>
              <a:ext uri="{FF2B5EF4-FFF2-40B4-BE49-F238E27FC236}">
                <a16:creationId xmlns:a16="http://schemas.microsoft.com/office/drawing/2014/main" id="{432C8125-4C54-E7FD-FF3F-95EA976D241B}"/>
              </a:ext>
            </a:extLst>
          </p:cNvPr>
          <p:cNvSpPr txBox="1"/>
          <p:nvPr/>
        </p:nvSpPr>
        <p:spPr>
          <a:xfrm>
            <a:off x="536895" y="253767"/>
            <a:ext cx="6624239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Two sample t-tests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8455B8-8E53-C962-3A6B-CF4E5A68D96E}"/>
              </a:ext>
            </a:extLst>
          </p:cNvPr>
          <p:cNvSpPr txBox="1"/>
          <p:nvPr/>
        </p:nvSpPr>
        <p:spPr>
          <a:xfrm>
            <a:off x="695922" y="1004977"/>
            <a:ext cx="73484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Key question #3: Are the samples </a:t>
            </a:r>
            <a:r>
              <a:rPr lang="en-US" sz="3200" b="1" i="1" dirty="0">
                <a:solidFill>
                  <a:srgbClr val="FFC000"/>
                </a:solidFill>
              </a:rPr>
              <a:t>parametric (normal)</a:t>
            </a:r>
            <a:r>
              <a:rPr lang="en-US" sz="3200" dirty="0"/>
              <a:t> or </a:t>
            </a:r>
            <a:r>
              <a:rPr lang="en-US" sz="3200" b="1" i="1" dirty="0">
                <a:solidFill>
                  <a:srgbClr val="FFC000"/>
                </a:solidFill>
              </a:rPr>
              <a:t>non-parametric</a:t>
            </a:r>
            <a:r>
              <a:rPr lang="en-US" sz="3200" dirty="0"/>
              <a:t>?</a:t>
            </a:r>
          </a:p>
        </p:txBody>
      </p:sp>
      <p:pic>
        <p:nvPicPr>
          <p:cNvPr id="13" name="Picture 12" descr="Chart, bar chart, histogram&#10;&#10;Description automatically generated">
            <a:extLst>
              <a:ext uri="{FF2B5EF4-FFF2-40B4-BE49-F238E27FC236}">
                <a16:creationId xmlns:a16="http://schemas.microsoft.com/office/drawing/2014/main" id="{C5ADD4AD-5FFD-CA89-CF5B-1B5EE3D632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845" y="2248705"/>
            <a:ext cx="5153142" cy="4318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001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/>
        </p:nvSpPr>
        <p:spPr>
          <a:xfrm>
            <a:off x="536895" y="253767"/>
            <a:ext cx="945524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Two sample t-tests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C95634-62FF-47A0-9DE6-64D178990E6A}"/>
              </a:ext>
            </a:extLst>
          </p:cNvPr>
          <p:cNvSpPr txBox="1"/>
          <p:nvPr/>
        </p:nvSpPr>
        <p:spPr>
          <a:xfrm>
            <a:off x="695922" y="991725"/>
            <a:ext cx="104889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Key question #1: Is the variance in both samples </a:t>
            </a:r>
            <a:r>
              <a:rPr lang="en-US" sz="3200" b="1" i="1" dirty="0">
                <a:solidFill>
                  <a:srgbClr val="FFC000"/>
                </a:solidFill>
              </a:rPr>
              <a:t>even</a:t>
            </a:r>
            <a:r>
              <a:rPr lang="en-US" sz="3200" b="1" dirty="0"/>
              <a:t> </a:t>
            </a:r>
            <a:r>
              <a:rPr lang="en-US" sz="3200" dirty="0"/>
              <a:t>or</a:t>
            </a:r>
            <a:r>
              <a:rPr lang="en-US" sz="3200" b="1" dirty="0"/>
              <a:t> </a:t>
            </a:r>
            <a:r>
              <a:rPr lang="en-US" sz="3200" b="1" i="1" dirty="0">
                <a:solidFill>
                  <a:srgbClr val="FFC000"/>
                </a:solidFill>
              </a:rPr>
              <a:t>uneven</a:t>
            </a:r>
            <a:r>
              <a:rPr lang="en-US" sz="3200" b="1" i="1" dirty="0"/>
              <a:t>?</a:t>
            </a: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EF7B43-90BA-28C9-9F80-E16D85C09E82}"/>
              </a:ext>
            </a:extLst>
          </p:cNvPr>
          <p:cNvSpPr txBox="1"/>
          <p:nvPr/>
        </p:nvSpPr>
        <p:spPr>
          <a:xfrm>
            <a:off x="695922" y="2313077"/>
            <a:ext cx="104889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Key question #2: Are the samples </a:t>
            </a:r>
            <a:r>
              <a:rPr lang="en-US" sz="3200" b="1" i="1" dirty="0">
                <a:solidFill>
                  <a:srgbClr val="FFC000"/>
                </a:solidFill>
              </a:rPr>
              <a:t>independent</a:t>
            </a:r>
            <a:r>
              <a:rPr lang="en-US" sz="3200" dirty="0"/>
              <a:t> or </a:t>
            </a:r>
            <a:r>
              <a:rPr lang="en-US" sz="3200" b="1" i="1" dirty="0">
                <a:solidFill>
                  <a:srgbClr val="FFC000"/>
                </a:solidFill>
              </a:rPr>
              <a:t>paired</a:t>
            </a:r>
            <a:r>
              <a:rPr lang="en-US" sz="3200" dirty="0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D7E376-A68E-1348-B87B-BD7FC645B14A}"/>
              </a:ext>
            </a:extLst>
          </p:cNvPr>
          <p:cNvSpPr txBox="1"/>
          <p:nvPr/>
        </p:nvSpPr>
        <p:spPr>
          <a:xfrm>
            <a:off x="695922" y="3316377"/>
            <a:ext cx="989587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Key question #3: Are the samples </a:t>
            </a:r>
            <a:r>
              <a:rPr lang="en-US" sz="3200" b="1" i="1" dirty="0">
                <a:solidFill>
                  <a:srgbClr val="FFC000"/>
                </a:solidFill>
              </a:rPr>
              <a:t>parametric (normal)</a:t>
            </a:r>
            <a:r>
              <a:rPr lang="en-US" sz="3200" dirty="0"/>
              <a:t> or </a:t>
            </a:r>
            <a:r>
              <a:rPr lang="en-US" sz="3200" b="1" i="1" dirty="0">
                <a:solidFill>
                  <a:srgbClr val="FFC000"/>
                </a:solidFill>
              </a:rPr>
              <a:t>non-parametric</a:t>
            </a:r>
            <a:r>
              <a:rPr lang="en-US" sz="3200" dirty="0"/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56AD5C-2113-57C7-ED64-1C2EAE8C5A86}"/>
              </a:ext>
            </a:extLst>
          </p:cNvPr>
          <p:cNvSpPr txBox="1"/>
          <p:nvPr/>
        </p:nvSpPr>
        <p:spPr>
          <a:xfrm>
            <a:off x="3962400" y="4812120"/>
            <a:ext cx="426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How do we test for normality?</a:t>
            </a:r>
          </a:p>
        </p:txBody>
      </p:sp>
    </p:spTree>
    <p:extLst>
      <p:ext uri="{BB962C8B-B14F-4D97-AF65-F5344CB8AC3E}">
        <p14:creationId xmlns:p14="http://schemas.microsoft.com/office/powerpoint/2010/main" val="3116808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 txBox="1"/>
          <p:nvPr/>
        </p:nvSpPr>
        <p:spPr>
          <a:xfrm>
            <a:off x="1600200" y="223400"/>
            <a:ext cx="8922900" cy="708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>
                <a:solidFill>
                  <a:srgbClr val="FFFF66"/>
                </a:solidFill>
                <a:latin typeface="Gill Sans MT"/>
                <a:ea typeface="Gill Sans MT"/>
                <a:cs typeface="Gill Sans MT"/>
                <a:sym typeface="Gill Sans MT"/>
              </a:rPr>
              <a:t>What if your samples aren’t normal?</a:t>
            </a:r>
          </a:p>
        </p:txBody>
      </p:sp>
      <p:graphicFrame>
        <p:nvGraphicFramePr>
          <p:cNvPr id="156" name="Shape 156"/>
          <p:cNvGraphicFramePr/>
          <p:nvPr>
            <p:extLst>
              <p:ext uri="{D42A27DB-BD31-4B8C-83A1-F6EECF244321}">
                <p14:modId xmlns:p14="http://schemas.microsoft.com/office/powerpoint/2010/main" val="166391030"/>
              </p:ext>
            </p:extLst>
          </p:nvPr>
        </p:nvGraphicFramePr>
        <p:xfrm>
          <a:off x="6705600" y="1847159"/>
          <a:ext cx="3352800" cy="46299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bg1"/>
                          </a:solidFill>
                        </a:rPr>
                        <a:t>El Nino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>
                          <a:solidFill>
                            <a:schemeClr val="bg1"/>
                          </a:solidFill>
                        </a:rPr>
                        <a:t>La Nina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b="0" i="0" u="none" strike="noStrike" cap="none" dirty="0">
                          <a:solidFill>
                            <a:schemeClr val="bg1"/>
                          </a:solidFill>
                          <a:latin typeface="Gill Sans MT"/>
                          <a:ea typeface="Gill Sans MT"/>
                          <a:cs typeface="Gill Sans MT"/>
                          <a:sym typeface="Gill Sans MT"/>
                        </a:rPr>
                        <a:t>5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b="0" i="0" u="none" strike="noStrike" cap="none" dirty="0">
                          <a:solidFill>
                            <a:schemeClr val="bg1"/>
                          </a:solidFill>
                          <a:latin typeface="Gill Sans MT"/>
                          <a:ea typeface="Gill Sans MT"/>
                          <a:cs typeface="Gill Sans MT"/>
                          <a:sym typeface="Gill Sans MT"/>
                        </a:rPr>
                        <a:t>17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bg1"/>
                          </a:solidFill>
                          <a:latin typeface="Gill Sans MT"/>
                          <a:ea typeface="Gill Sans MT"/>
                          <a:cs typeface="Gill Sans MT"/>
                          <a:sym typeface="Gill Sans MT"/>
                        </a:rPr>
                        <a:t>2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5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57" name="Shape 157"/>
          <p:cNvSpPr txBox="1"/>
          <p:nvPr/>
        </p:nvSpPr>
        <p:spPr>
          <a:xfrm>
            <a:off x="6705601" y="953869"/>
            <a:ext cx="3352799" cy="707886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39999" dist="23000" dir="5400000" rotWithShape="0">
              <a:srgbClr val="000000">
                <a:alpha val="34901"/>
              </a:srgbClr>
            </a:outerShdw>
          </a:effectLst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named Atlantic tropical storms, years</a:t>
            </a:r>
          </a:p>
        </p:txBody>
      </p:sp>
      <p:sp>
        <p:nvSpPr>
          <p:cNvPr id="158" name="Shape 158"/>
          <p:cNvSpPr txBox="1"/>
          <p:nvPr/>
        </p:nvSpPr>
        <p:spPr>
          <a:xfrm>
            <a:off x="1828801" y="1447800"/>
            <a:ext cx="4038599" cy="483209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2800" dirty="0">
                <a:solidFill>
                  <a:srgbClr val="FFFF66"/>
                </a:solidFill>
                <a:latin typeface="Gill Sans MT"/>
                <a:ea typeface="Gill Sans MT"/>
                <a:cs typeface="Gill Sans MT"/>
                <a:sym typeface="Gill Sans MT"/>
              </a:rPr>
              <a:t>Random sample of hurricanes in El Nino and La Nina years—11 each</a:t>
            </a:r>
          </a:p>
          <a:p>
            <a:endParaRPr sz="2800" dirty="0">
              <a:solidFill>
                <a:srgbClr val="FFFF66"/>
              </a:solidFill>
              <a:latin typeface="Gill Sans MT"/>
              <a:ea typeface="Gill Sans MT"/>
              <a:cs typeface="Gill Sans MT"/>
              <a:sym typeface="Gill Sans MT"/>
            </a:endParaRPr>
          </a:p>
          <a:p>
            <a:pPr>
              <a:buSzPct val="25000"/>
            </a:pPr>
            <a:r>
              <a:rPr lang="en-US" sz="2800" dirty="0">
                <a:solidFill>
                  <a:srgbClr val="FFFF66"/>
                </a:solidFill>
                <a:latin typeface="Gill Sans MT"/>
                <a:ea typeface="Gill Sans MT"/>
                <a:cs typeface="Gill Sans MT"/>
                <a:sym typeface="Gill Sans MT"/>
              </a:rPr>
              <a:t>You need a </a:t>
            </a:r>
            <a:r>
              <a:rPr lang="en-US" sz="2800" b="1" i="1" dirty="0">
                <a:solidFill>
                  <a:srgbClr val="FF0000"/>
                </a:solidFill>
                <a:latin typeface="Gill Sans MT"/>
                <a:ea typeface="Gill Sans MT"/>
                <a:cs typeface="Gill Sans MT"/>
                <a:sym typeface="Gill Sans MT"/>
              </a:rPr>
              <a:t>non-parametric</a:t>
            </a:r>
            <a:r>
              <a:rPr lang="en-US" sz="2800" b="1" i="1" dirty="0">
                <a:solidFill>
                  <a:srgbClr val="FFFF66"/>
                </a:solidFill>
                <a:latin typeface="Gill Sans MT"/>
                <a:ea typeface="Gill Sans MT"/>
                <a:cs typeface="Gill Sans MT"/>
                <a:sym typeface="Gill Sans MT"/>
              </a:rPr>
              <a:t> </a:t>
            </a:r>
            <a:r>
              <a:rPr lang="en-US" sz="2800" dirty="0">
                <a:solidFill>
                  <a:srgbClr val="FFFF66"/>
                </a:solidFill>
                <a:latin typeface="Gill Sans MT"/>
                <a:ea typeface="Gill Sans MT"/>
                <a:cs typeface="Gill Sans MT"/>
                <a:sym typeface="Gill Sans MT"/>
              </a:rPr>
              <a:t>test with data that’s not normal.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 txBox="1"/>
          <p:nvPr/>
        </p:nvSpPr>
        <p:spPr>
          <a:xfrm>
            <a:off x="1685500" y="152400"/>
            <a:ext cx="7981200" cy="708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3600">
                <a:solidFill>
                  <a:srgbClr val="FFFF66"/>
                </a:solidFill>
                <a:latin typeface="Gill Sans MT"/>
                <a:ea typeface="Gill Sans MT"/>
                <a:cs typeface="Gill Sans MT"/>
                <a:sym typeface="Gill Sans MT"/>
              </a:rPr>
              <a:t>Wilcoxon Rank Sum test</a:t>
            </a:r>
          </a:p>
        </p:txBody>
      </p:sp>
      <p:sp>
        <p:nvSpPr>
          <p:cNvPr id="174" name="Shape 174"/>
          <p:cNvSpPr txBox="1"/>
          <p:nvPr/>
        </p:nvSpPr>
        <p:spPr>
          <a:xfrm>
            <a:off x="6705601" y="953869"/>
            <a:ext cx="3352799" cy="707886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39999" dist="23000" dir="5400000" rotWithShape="0">
              <a:srgbClr val="000000">
                <a:alpha val="34901"/>
              </a:srgbClr>
            </a:outerShdw>
          </a:effectLst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named Atlantic tropical storms, years</a:t>
            </a:r>
          </a:p>
        </p:txBody>
      </p:sp>
      <p:sp>
        <p:nvSpPr>
          <p:cNvPr id="175" name="Shape 175"/>
          <p:cNvSpPr txBox="1"/>
          <p:nvPr/>
        </p:nvSpPr>
        <p:spPr>
          <a:xfrm>
            <a:off x="1828801" y="1447800"/>
            <a:ext cx="4038599" cy="440120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2800" dirty="0">
                <a:solidFill>
                  <a:srgbClr val="FFFF66"/>
                </a:solidFill>
                <a:latin typeface="Gill Sans MT"/>
                <a:ea typeface="Gill Sans MT"/>
                <a:cs typeface="Gill Sans MT"/>
                <a:sym typeface="Gill Sans MT"/>
              </a:rPr>
              <a:t>Question: Is the number of Atlantic storms significantly different in El Nino years compared to La Nina years?</a:t>
            </a:r>
          </a:p>
        </p:txBody>
      </p:sp>
      <p:graphicFrame>
        <p:nvGraphicFramePr>
          <p:cNvPr id="176" name="Shape 176"/>
          <p:cNvGraphicFramePr/>
          <p:nvPr>
            <p:extLst>
              <p:ext uri="{D42A27DB-BD31-4B8C-83A1-F6EECF244321}">
                <p14:modId xmlns:p14="http://schemas.microsoft.com/office/powerpoint/2010/main" val="274538519"/>
              </p:ext>
            </p:extLst>
          </p:nvPr>
        </p:nvGraphicFramePr>
        <p:xfrm>
          <a:off x="6705600" y="1905000"/>
          <a:ext cx="3352800" cy="45676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El Nino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</a:rPr>
                        <a:t>La Nina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chemeClr val="bg1"/>
                          </a:solidFill>
                          <a:latin typeface="Gill Sans MT"/>
                          <a:ea typeface="Gill Sans MT"/>
                          <a:cs typeface="Gill Sans MT"/>
                          <a:sym typeface="Gill Sans MT"/>
                        </a:rPr>
                        <a:t>5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chemeClr val="bg1"/>
                          </a:solidFill>
                          <a:latin typeface="Gill Sans MT"/>
                          <a:ea typeface="Gill Sans MT"/>
                          <a:cs typeface="Gill Sans MT"/>
                          <a:sym typeface="Gill Sans MT"/>
                        </a:rPr>
                        <a:t>17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chemeClr val="bg1"/>
                          </a:solidFill>
                          <a:latin typeface="Gill Sans MT"/>
                          <a:ea typeface="Gill Sans MT"/>
                          <a:cs typeface="Gill Sans MT"/>
                          <a:sym typeface="Gill Sans MT"/>
                        </a:rPr>
                        <a:t>2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E1394E2-8092-F0E6-D5DF-403D74D4B572}"/>
              </a:ext>
            </a:extLst>
          </p:cNvPr>
          <p:cNvSpPr txBox="1"/>
          <p:nvPr/>
        </p:nvSpPr>
        <p:spPr>
          <a:xfrm>
            <a:off x="1828801" y="4763869"/>
            <a:ext cx="3603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lecture video for the details of what’s going on ‘under the hood’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92">
            <a:extLst>
              <a:ext uri="{FF2B5EF4-FFF2-40B4-BE49-F238E27FC236}">
                <a16:creationId xmlns:a16="http://schemas.microsoft.com/office/drawing/2014/main" id="{276FC7B9-2499-43B4-9B1E-E89D5E2DD9B8}"/>
              </a:ext>
            </a:extLst>
          </p:cNvPr>
          <p:cNvSpPr txBox="1"/>
          <p:nvPr/>
        </p:nvSpPr>
        <p:spPr>
          <a:xfrm>
            <a:off x="8601445" y="176854"/>
            <a:ext cx="3352799" cy="707886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39999" dist="23000" dir="5400000" rotWithShape="0">
              <a:srgbClr val="000000">
                <a:alpha val="34901"/>
              </a:srgbClr>
            </a:outerShdw>
          </a:effectLst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named Atlantic tropical storms, years</a:t>
            </a:r>
          </a:p>
        </p:txBody>
      </p:sp>
      <p:graphicFrame>
        <p:nvGraphicFramePr>
          <p:cNvPr id="9" name="Shape 194">
            <a:extLst>
              <a:ext uri="{FF2B5EF4-FFF2-40B4-BE49-F238E27FC236}">
                <a16:creationId xmlns:a16="http://schemas.microsoft.com/office/drawing/2014/main" id="{EA5853FD-4B07-44EB-8FA8-DDF8A8F1585F}"/>
              </a:ext>
            </a:extLst>
          </p:cNvPr>
          <p:cNvGraphicFramePr/>
          <p:nvPr/>
        </p:nvGraphicFramePr>
        <p:xfrm>
          <a:off x="8366333" y="1061697"/>
          <a:ext cx="3587912" cy="48070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93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3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</a:rPr>
                        <a:t>El Nino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</a:rPr>
                        <a:t>La Nina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0 (1.5)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  <a:latin typeface="+mn-lt"/>
                        </a:rPr>
                        <a:t>4 (12)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Gill Sans MT"/>
                          <a:cs typeface="Gill Sans MT"/>
                          <a:sym typeface="Gill Sans MT"/>
                        </a:rPr>
                        <a:t>5 (15)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  <a:latin typeface="+mn-lt"/>
                        </a:rPr>
                        <a:t>4 (12)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1 (3.5)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12 (21)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3 (9)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2 (6.5)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  <a:latin typeface="+mn-lt"/>
                        </a:rPr>
                        <a:t>4 (12)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chemeClr val="bg1"/>
                          </a:solidFill>
                          <a:latin typeface="+mn-lt"/>
                          <a:ea typeface="Gill Sans MT"/>
                          <a:cs typeface="Gill Sans MT"/>
                          <a:sym typeface="Gill Sans MT"/>
                        </a:rPr>
                        <a:t>17 (22)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  <a:latin typeface="+mn-lt"/>
                        </a:rPr>
                        <a:t>1 (3.5)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7 (18)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  <a:latin typeface="+mn-lt"/>
                        </a:rPr>
                        <a:t>2 (6.5)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6 (16.5)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bg1"/>
                          </a:solidFill>
                          <a:latin typeface="+mn-lt"/>
                          <a:ea typeface="Gill Sans MT"/>
                          <a:cs typeface="Gill Sans MT"/>
                          <a:sym typeface="Gill Sans MT"/>
                        </a:rPr>
                        <a:t>2 (6.5)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10 (20)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0 (1.5)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4 (12)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  <a:latin typeface="+mn-lt"/>
                        </a:rPr>
                        <a:t>2 (6.5)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8 (19)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05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>
                          <a:solidFill>
                            <a:schemeClr val="bg1"/>
                          </a:solidFill>
                          <a:latin typeface="+mn-lt"/>
                        </a:rPr>
                        <a:t>4 (12)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bg1"/>
                          </a:solidFill>
                          <a:latin typeface="+mn-lt"/>
                        </a:rPr>
                        <a:t>6 (16.5)</a:t>
                      </a:r>
                    </a:p>
                  </a:txBody>
                  <a:tcPr marL="14875" marR="14875" marT="1487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Shape 195">
            <a:extLst>
              <a:ext uri="{FF2B5EF4-FFF2-40B4-BE49-F238E27FC236}">
                <a16:creationId xmlns:a16="http://schemas.microsoft.com/office/drawing/2014/main" id="{7AF296E4-9EC1-4EE8-B99B-7EC2EFC070B8}"/>
              </a:ext>
            </a:extLst>
          </p:cNvPr>
          <p:cNvSpPr/>
          <p:nvPr/>
        </p:nvSpPr>
        <p:spPr>
          <a:xfrm>
            <a:off x="9068990" y="1441157"/>
            <a:ext cx="698853" cy="442754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Gill Sans MT"/>
              <a:ea typeface="Gill Sans MT"/>
              <a:cs typeface="Gill Sans MT"/>
              <a:sym typeface="Gill Sans MT"/>
            </a:endParaRPr>
          </a:p>
        </p:txBody>
      </p:sp>
      <p:sp>
        <p:nvSpPr>
          <p:cNvPr id="11" name="Shape 196">
            <a:extLst>
              <a:ext uri="{FF2B5EF4-FFF2-40B4-BE49-F238E27FC236}">
                <a16:creationId xmlns:a16="http://schemas.microsoft.com/office/drawing/2014/main" id="{66210E4B-1BD8-423A-8BBB-673B4573A5B6}"/>
              </a:ext>
            </a:extLst>
          </p:cNvPr>
          <p:cNvSpPr/>
          <p:nvPr/>
        </p:nvSpPr>
        <p:spPr>
          <a:xfrm>
            <a:off x="10850004" y="1446621"/>
            <a:ext cx="782246" cy="4422084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Gill Sans MT"/>
              <a:ea typeface="Gill Sans MT"/>
              <a:cs typeface="Gill Sans MT"/>
              <a:sym typeface="Gill Sans MT"/>
            </a:endParaRPr>
          </a:p>
        </p:txBody>
      </p:sp>
      <p:sp>
        <p:nvSpPr>
          <p:cNvPr id="12" name="Shape 197">
            <a:extLst>
              <a:ext uri="{FF2B5EF4-FFF2-40B4-BE49-F238E27FC236}">
                <a16:creationId xmlns:a16="http://schemas.microsoft.com/office/drawing/2014/main" id="{66DAE1EE-8FA4-4F73-A19E-158C99F9364A}"/>
              </a:ext>
            </a:extLst>
          </p:cNvPr>
          <p:cNvSpPr txBox="1"/>
          <p:nvPr/>
        </p:nvSpPr>
        <p:spPr>
          <a:xfrm>
            <a:off x="8674389" y="6180124"/>
            <a:ext cx="2971799" cy="40010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9999" dist="23000" dir="5400000" rotWithShape="0">
              <a:srgbClr val="000000">
                <a:alpha val="34901"/>
              </a:srgbClr>
            </a:outerShdw>
          </a:effectLst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SzPct val="25000"/>
              <a:buNone/>
            </a:pPr>
            <a:r>
              <a:rPr lang="en-US" sz="2000">
                <a:solidFill>
                  <a:schemeClr val="dk1"/>
                </a:solidFill>
                <a:latin typeface="Gill Sans MT"/>
                <a:ea typeface="Gill Sans MT"/>
                <a:cs typeface="Gill Sans MT"/>
                <a:sym typeface="Gill Sans MT"/>
              </a:rPr>
              <a:t>W</a:t>
            </a:r>
            <a:r>
              <a:rPr lang="en-US" sz="2000" baseline="-25000">
                <a:solidFill>
                  <a:schemeClr val="dk1"/>
                </a:solidFill>
                <a:latin typeface="Gill Sans MT"/>
                <a:ea typeface="Gill Sans MT"/>
                <a:cs typeface="Gill Sans MT"/>
                <a:sym typeface="Gill Sans MT"/>
              </a:rPr>
              <a:t>1</a:t>
            </a:r>
            <a:r>
              <a:rPr lang="en-US" sz="2000">
                <a:solidFill>
                  <a:schemeClr val="dk1"/>
                </a:solidFill>
                <a:latin typeface="Gill Sans MT"/>
                <a:ea typeface="Gill Sans MT"/>
                <a:cs typeface="Gill Sans MT"/>
                <a:sym typeface="Gill Sans MT"/>
              </a:rPr>
              <a:t> = 77.5       W</a:t>
            </a:r>
            <a:r>
              <a:rPr lang="en-US" sz="2000" baseline="-25000">
                <a:solidFill>
                  <a:schemeClr val="dk1"/>
                </a:solidFill>
                <a:latin typeface="Gill Sans MT"/>
                <a:ea typeface="Gill Sans MT"/>
                <a:cs typeface="Gill Sans MT"/>
                <a:sym typeface="Gill Sans MT"/>
              </a:rPr>
              <a:t>2</a:t>
            </a:r>
            <a:r>
              <a:rPr lang="en-US" sz="2000">
                <a:solidFill>
                  <a:schemeClr val="dk1"/>
                </a:solidFill>
                <a:latin typeface="Gill Sans MT"/>
                <a:ea typeface="Gill Sans MT"/>
                <a:cs typeface="Gill Sans MT"/>
                <a:sym typeface="Gill Sans MT"/>
              </a:rPr>
              <a:t> = 175.5</a:t>
            </a:r>
          </a:p>
        </p:txBody>
      </p:sp>
      <p:sp>
        <p:nvSpPr>
          <p:cNvPr id="4" name="Shape 101">
            <a:extLst>
              <a:ext uri="{FF2B5EF4-FFF2-40B4-BE49-F238E27FC236}">
                <a16:creationId xmlns:a16="http://schemas.microsoft.com/office/drawing/2014/main" id="{432C8125-4C54-E7FD-FF3F-95EA976D241B}"/>
              </a:ext>
            </a:extLst>
          </p:cNvPr>
          <p:cNvSpPr txBox="1"/>
          <p:nvPr/>
        </p:nvSpPr>
        <p:spPr>
          <a:xfrm>
            <a:off x="536895" y="253767"/>
            <a:ext cx="6624239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Two sample t-tests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8455B8-8E53-C962-3A6B-CF4E5A68D96E}"/>
              </a:ext>
            </a:extLst>
          </p:cNvPr>
          <p:cNvSpPr txBox="1"/>
          <p:nvPr/>
        </p:nvSpPr>
        <p:spPr>
          <a:xfrm>
            <a:off x="695922" y="1004977"/>
            <a:ext cx="73484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Key question #3: Are the samples </a:t>
            </a:r>
            <a:r>
              <a:rPr lang="en-US" sz="3200" b="1" i="1" dirty="0">
                <a:solidFill>
                  <a:srgbClr val="FFC000"/>
                </a:solidFill>
              </a:rPr>
              <a:t>parametric (normal)</a:t>
            </a:r>
            <a:r>
              <a:rPr lang="en-US" sz="3200" dirty="0"/>
              <a:t> or </a:t>
            </a:r>
            <a:r>
              <a:rPr lang="en-US" sz="3200" b="1" i="1" dirty="0">
                <a:solidFill>
                  <a:srgbClr val="FFC000"/>
                </a:solidFill>
              </a:rPr>
              <a:t>non-parametric</a:t>
            </a:r>
            <a:r>
              <a:rPr lang="en-US" sz="3200" dirty="0"/>
              <a:t>?</a:t>
            </a:r>
          </a:p>
        </p:txBody>
      </p:sp>
      <p:pic>
        <p:nvPicPr>
          <p:cNvPr id="13" name="Picture 12" descr="Chart, bar chart, histogram&#10;&#10;Description automatically generated">
            <a:extLst>
              <a:ext uri="{FF2B5EF4-FFF2-40B4-BE49-F238E27FC236}">
                <a16:creationId xmlns:a16="http://schemas.microsoft.com/office/drawing/2014/main" id="{C5ADD4AD-5FFD-CA89-CF5B-1B5EE3D632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845" y="2248705"/>
            <a:ext cx="5153142" cy="4318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333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923</TotalTime>
  <Words>787</Words>
  <Application>Microsoft Office PowerPoint</Application>
  <PresentationFormat>Widescreen</PresentationFormat>
  <Paragraphs>165</Paragraphs>
  <Slides>13</Slides>
  <Notes>11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Calisto MT</vt:lpstr>
      <vt:lpstr>Gill Sans MT</vt:lpstr>
      <vt:lpstr>Times New Roman</vt:lpstr>
      <vt:lpstr>Wingdings 2</vt:lpstr>
      <vt:lpstr>Slate</vt:lpstr>
      <vt:lpstr>Week 10:Normality testing; Chi-square; Non-parametric tests</vt:lpstr>
      <vt:lpstr>Today’s plan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3: Descriptive statistics</dc:title>
  <dc:creator>Jerry Shannon</dc:creator>
  <cp:lastModifiedBy>Jerry Shannon</cp:lastModifiedBy>
  <cp:revision>89</cp:revision>
  <dcterms:created xsi:type="dcterms:W3CDTF">2021-09-02T15:10:57Z</dcterms:created>
  <dcterms:modified xsi:type="dcterms:W3CDTF">2026-07-28T19:11:08Z</dcterms:modified>
</cp:coreProperties>
</file>