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732" r:id="rId1"/>
  </p:sldMasterIdLst>
  <p:notesMasterIdLst>
    <p:notesMasterId r:id="rId10"/>
  </p:notesMasterIdLst>
  <p:sldIdLst>
    <p:sldId id="263" r:id="rId2"/>
    <p:sldId id="262" r:id="rId3"/>
    <p:sldId id="289" r:id="rId4"/>
    <p:sldId id="290" r:id="rId5"/>
    <p:sldId id="293" r:id="rId6"/>
    <p:sldId id="294" r:id="rId7"/>
    <p:sldId id="292" r:id="rId8"/>
    <p:sldId id="286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93" autoAdjust="0"/>
    <p:restoredTop sz="94660"/>
  </p:normalViewPr>
  <p:slideViewPr>
    <p:cSldViewPr snapToGrid="0">
      <p:cViewPr varScale="1">
        <p:scale>
          <a:sx n="155" d="100"/>
          <a:sy n="155" d="100"/>
        </p:scale>
        <p:origin x="312" y="15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3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799" cy="4572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0" marR="0" lvl="0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457200" marR="0" lvl="1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914400" marR="0" lvl="2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371600" marR="0" lvl="3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828800" marR="0" lvl="4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286000" marR="0" lvl="5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743200" marR="0" lvl="6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200400" marR="0" lvl="7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657600" marR="0" lvl="8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Shape 4"/>
          <p:cNvSpPr txBox="1">
            <a:spLocks noGrp="1"/>
          </p:cNvSpPr>
          <p:nvPr>
            <p:ph type="dt" idx="10"/>
          </p:nvPr>
        </p:nvSpPr>
        <p:spPr>
          <a:xfrm>
            <a:off x="3884612" y="0"/>
            <a:ext cx="2971799" cy="4572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457200" marR="0" lvl="1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914400" marR="0" lvl="2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371600" marR="0" lvl="3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828800" marR="0" lvl="4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286000" marR="0" lvl="5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743200" marR="0" lvl="6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200400" marR="0" lvl="7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657600" marR="0" lvl="8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Shape 5"/>
          <p:cNvSpPr>
            <a:spLocks noGrp="1" noRot="1" noChangeAspect="1"/>
          </p:cNvSpPr>
          <p:nvPr>
            <p:ph type="sldImg" idx="3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6" name="Shape 6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0" marR="0" lvl="0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457200" marR="0" lvl="1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914400" marR="0" lvl="2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371600" marR="0" lvl="3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828800" marR="0" lvl="4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286000" marR="0" lvl="5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743200" marR="0" lvl="6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200400" marR="0" lvl="7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657600" marR="0" lvl="8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Shape 7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799" cy="4572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marL="0" marR="0" lvl="0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457200" marR="0" lvl="1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914400" marR="0" lvl="2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371600" marR="0" lvl="3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828800" marR="0" lvl="4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286000" marR="0" lvl="5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743200" marR="0" lvl="6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200400" marR="0" lvl="7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657600" marR="0" lvl="8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Shape 8"/>
          <p:cNvSpPr txBox="1">
            <a:spLocks noGrp="1"/>
          </p:cNvSpPr>
          <p:nvPr>
            <p:ph type="sldNum" idx="12"/>
          </p:nvPr>
        </p:nvSpPr>
        <p:spPr>
          <a:xfrm>
            <a:off x="3884612" y="8685213"/>
            <a:ext cx="2971799" cy="4572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buSzPct val="25000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lang="en-US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EB84F3F-161C-D647-9920-F983A7A8B541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057325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18D42E2-8102-4E72-B8DC-BA8209884ECA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208825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18D42E2-8102-4E72-B8DC-BA8209884ECA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189824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>
              <a:buSzPct val="25000"/>
            </a:pPr>
            <a:fld id="{00000000-1234-1234-1234-123412341234}" type="slidenum">
              <a:rPr lang="en-US" sz="1200" smtClean="0">
                <a:latin typeface="Calibri"/>
                <a:ea typeface="Calibri"/>
                <a:cs typeface="Calibri"/>
                <a:sym typeface="Calibri"/>
              </a:rPr>
              <a:pPr>
                <a:buSzPct val="25000"/>
              </a:pPr>
              <a:t>‹#›</a:t>
            </a:fld>
            <a:endParaRPr lang="en-US" sz="1200" dirty="0"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664002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>
              <a:buSzPct val="25000"/>
            </a:pPr>
            <a:fld id="{00000000-1234-1234-1234-123412341234}" type="slidenum">
              <a:rPr lang="en-US" sz="1200" smtClean="0">
                <a:latin typeface="Calibri"/>
                <a:ea typeface="Calibri"/>
                <a:cs typeface="Calibri"/>
                <a:sym typeface="Calibri"/>
              </a:rPr>
              <a:pPr>
                <a:buSzPct val="25000"/>
              </a:pPr>
              <a:t>‹#›</a:t>
            </a:fld>
            <a:endParaRPr lang="en-US" sz="1200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1142212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dirty="0"/>
          </a:p>
        </p:txBody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>
              <a:buSzPct val="25000"/>
            </a:pPr>
            <a:fld id="{00000000-1234-1234-1234-123412341234}" type="slidenum">
              <a:rPr lang="en-US" sz="1200" smtClean="0">
                <a:latin typeface="Calibri"/>
                <a:ea typeface="Calibri"/>
                <a:cs typeface="Calibri"/>
                <a:sym typeface="Calibri"/>
              </a:rPr>
              <a:pPr>
                <a:buSzPct val="25000"/>
              </a:pPr>
              <a:t>‹#›</a:t>
            </a:fld>
            <a:endParaRPr lang="en-US" sz="1200" dirty="0"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874142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>
              <a:buSzPct val="25000"/>
            </a:pPr>
            <a:fld id="{00000000-1234-1234-1234-123412341234}" type="slidenum">
              <a:rPr lang="en-US" sz="1200" smtClean="0">
                <a:latin typeface="Calibri"/>
                <a:ea typeface="Calibri"/>
                <a:cs typeface="Calibri"/>
                <a:sym typeface="Calibri"/>
              </a:rPr>
              <a:pPr>
                <a:buSzPct val="25000"/>
              </a:pPr>
              <a:t>‹#›</a:t>
            </a:fld>
            <a:endParaRPr lang="en-US" sz="1200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6129426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buSzPct val="25000"/>
            </a:pPr>
            <a:fld id="{00000000-1234-1234-1234-123412341234}" type="slidenum">
              <a:rPr lang="en-US" sz="1200" smtClean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pPr>
                <a:buSzPct val="25000"/>
              </a:pPr>
              <a:t>‹#›</a:t>
            </a:fld>
            <a:endParaRPr lang="en-US" sz="1200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6068430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>
              <a:buSzPct val="25000"/>
            </a:pPr>
            <a:fld id="{00000000-1234-1234-1234-123412341234}" type="slidenum">
              <a:rPr lang="en-US" sz="1200" smtClean="0">
                <a:latin typeface="Calibri"/>
                <a:ea typeface="Calibri"/>
                <a:cs typeface="Calibri"/>
                <a:sym typeface="Calibri"/>
              </a:rPr>
              <a:pPr>
                <a:buSzPct val="25000"/>
              </a:pPr>
              <a:t>‹#›</a:t>
            </a:fld>
            <a:endParaRPr lang="en-US" sz="1200" dirty="0">
              <a:solidFill>
                <a:schemeClr val="bg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2583480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>
              <a:buSzPct val="25000"/>
            </a:pPr>
            <a:fld id="{00000000-1234-1234-1234-123412341234}" type="slidenum">
              <a:rPr lang="en-US" sz="1200" smtClean="0">
                <a:latin typeface="Calibri"/>
                <a:ea typeface="Calibri"/>
                <a:cs typeface="Calibri"/>
                <a:sym typeface="Calibri"/>
              </a:rPr>
              <a:pPr>
                <a:buSzPct val="25000"/>
              </a:pPr>
              <a:t>‹#›</a:t>
            </a:fld>
            <a:endParaRPr lang="en-US" sz="1200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1961970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>
              <a:buSzPct val="25000"/>
            </a:pPr>
            <a:fld id="{00000000-1234-1234-1234-123412341234}" type="slidenum">
              <a:rPr lang="en-US" sz="1200" smtClean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pPr>
                <a:buSzPct val="25000"/>
              </a:pPr>
              <a:t>‹#›</a:t>
            </a:fld>
            <a:endParaRPr lang="en-US" sz="1200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166828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>
              <a:buSzPct val="25000"/>
            </a:pPr>
            <a:fld id="{00000000-1234-1234-1234-123412341234}" type="slidenum">
              <a:rPr lang="en-US" sz="1200" smtClean="0">
                <a:latin typeface="Calibri"/>
                <a:ea typeface="Calibri"/>
                <a:cs typeface="Calibri"/>
                <a:sym typeface="Calibri"/>
              </a:rPr>
              <a:pPr>
                <a:buSzPct val="25000"/>
              </a:pPr>
              <a:t>‹#›</a:t>
            </a:fld>
            <a:endParaRPr lang="en-US" sz="1200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5156164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>
              <a:buSzPct val="25000"/>
            </a:pPr>
            <a:fld id="{00000000-1234-1234-1234-123412341234}" type="slidenum">
              <a:rPr lang="en-US" sz="1200" smtClean="0">
                <a:latin typeface="Calibri"/>
                <a:ea typeface="Calibri"/>
                <a:cs typeface="Calibri"/>
                <a:sym typeface="Calibri"/>
              </a:rPr>
              <a:pPr>
                <a:buSzPct val="25000"/>
              </a:pPr>
              <a:t>‹#›</a:t>
            </a:fld>
            <a:endParaRPr lang="en-US" sz="1200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9416505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dirty="0"/>
          </a:p>
        </p:txBody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>
              <a:buSzPct val="25000"/>
            </a:pPr>
            <a:fld id="{00000000-1234-1234-1234-123412341234}" type="slidenum">
              <a:rPr lang="en-US" sz="1200" smtClean="0">
                <a:latin typeface="Calibri"/>
                <a:ea typeface="Calibri"/>
                <a:cs typeface="Calibri"/>
                <a:sym typeface="Calibri"/>
              </a:rPr>
              <a:pPr>
                <a:buSzPct val="25000"/>
              </a:pPr>
              <a:t>‹#›</a:t>
            </a:fld>
            <a:endParaRPr lang="en-US" sz="1200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9424141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bg1"/>
                </a:solidFill>
              </a:defRPr>
            </a:lvl1pPr>
          </a:lstStyle>
          <a:p>
            <a:pPr>
              <a:buSzPct val="25000"/>
            </a:pPr>
            <a:fld id="{00000000-1234-1234-1234-123412341234}" type="slidenum">
              <a:rPr lang="en-US" sz="1200" smtClean="0">
                <a:latin typeface="Calibri"/>
                <a:ea typeface="Calibri"/>
                <a:cs typeface="Calibri"/>
                <a:sym typeface="Calibri"/>
              </a:rPr>
              <a:pPr>
                <a:buSzPct val="25000"/>
              </a:pPr>
              <a:t>‹#›</a:t>
            </a:fld>
            <a:endParaRPr lang="en-US" sz="1200" dirty="0">
              <a:solidFill>
                <a:schemeClr val="bg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887943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3" r:id="rId1"/>
    <p:sldLayoutId id="2147483734" r:id="rId2"/>
    <p:sldLayoutId id="2147483735" r:id="rId3"/>
    <p:sldLayoutId id="2147483736" r:id="rId4"/>
    <p:sldLayoutId id="2147483737" r:id="rId5"/>
    <p:sldLayoutId id="2147483738" r:id="rId6"/>
    <p:sldLayoutId id="2147483739" r:id="rId7"/>
    <p:sldLayoutId id="2147483740" r:id="rId8"/>
    <p:sldLayoutId id="2147483741" r:id="rId9"/>
    <p:sldLayoutId id="2147483742" r:id="rId10"/>
    <p:sldLayoutId id="2147483743" r:id="rId11"/>
  </p:sldLayoutIdLst>
  <p:hf hdr="0" ftr="0" dt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</a:schemeClr>
          </a:solidFill>
          <a:latin typeface="Sitka Display Semibold" pitchFamily="2" charset="0"/>
          <a:ea typeface="+mj-ea"/>
          <a:cs typeface="+mj-cs"/>
        </a:defRPr>
      </a:lvl1pPr>
    </p:titleStyle>
    <p:bodyStyle>
      <a:lvl1pPr marL="233363" indent="-233363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tx1">
            <a:lumMod val="75000"/>
          </a:schemeClr>
        </a:buClr>
        <a:buSzPct val="100000"/>
        <a:buFont typeface="Arial" panose="020B0604020202020204" pitchFamily="34" charset="0"/>
        <a:buChar char="•"/>
        <a:defRPr sz="2800" kern="1200">
          <a:solidFill>
            <a:schemeClr val="tx1">
              <a:lumMod val="75000"/>
            </a:schemeClr>
          </a:solidFill>
          <a:latin typeface="Segoe UI" panose="020B0502040204020203" pitchFamily="34" charset="0"/>
          <a:ea typeface="Open Sans Medium" pitchFamily="2" charset="0"/>
          <a:cs typeface="Segoe UI" panose="020B0502040204020203" pitchFamily="34" charset="0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>
            <a:lumMod val="75000"/>
          </a:schemeClr>
        </a:buClr>
        <a:buFont typeface="Arial" panose="020B0604020202020204" pitchFamily="34" charset="0"/>
        <a:buChar char="•"/>
        <a:defRPr sz="2400" kern="1200">
          <a:solidFill>
            <a:schemeClr val="tx1">
              <a:lumMod val="75000"/>
            </a:schemeClr>
          </a:solidFill>
          <a:latin typeface="Segoe UI" panose="020B0502040204020203" pitchFamily="34" charset="0"/>
          <a:ea typeface="Open Sans Medium" pitchFamily="2" charset="0"/>
          <a:cs typeface="Segoe UI" panose="020B0502040204020203" pitchFamily="34" charset="0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>
            <a:lumMod val="75000"/>
          </a:schemeClr>
        </a:buClr>
        <a:buFont typeface="Arial" panose="020B0604020202020204" pitchFamily="34" charset="0"/>
        <a:buChar char="•"/>
        <a:defRPr sz="1800" kern="1200">
          <a:solidFill>
            <a:schemeClr val="tx1">
              <a:lumMod val="75000"/>
            </a:schemeClr>
          </a:solidFill>
          <a:latin typeface="Segoe UI" panose="020B0502040204020203" pitchFamily="34" charset="0"/>
          <a:ea typeface="Open Sans Medium" pitchFamily="2" charset="0"/>
          <a:cs typeface="Segoe UI" panose="020B0502040204020203" pitchFamily="34" charset="0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>
            <a:lumMod val="75000"/>
          </a:schemeClr>
        </a:buClr>
        <a:buFont typeface="Arial" panose="020B0604020202020204" pitchFamily="34" charset="0"/>
        <a:buChar char="•"/>
        <a:defRPr sz="1800" kern="1200">
          <a:solidFill>
            <a:schemeClr val="tx1">
              <a:lumMod val="75000"/>
            </a:schemeClr>
          </a:solidFill>
          <a:latin typeface="Segoe UI" panose="020B0502040204020203" pitchFamily="34" charset="0"/>
          <a:ea typeface="Open Sans Medium" pitchFamily="2" charset="0"/>
          <a:cs typeface="Segoe UI" panose="020B0502040204020203" pitchFamily="34" charset="0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>
            <a:lumMod val="75000"/>
          </a:schemeClr>
        </a:buClr>
        <a:buFont typeface="Arial" panose="020B0604020202020204" pitchFamily="34" charset="0"/>
        <a:buChar char="•"/>
        <a:defRPr sz="1800" kern="1200">
          <a:solidFill>
            <a:schemeClr val="tx1">
              <a:lumMod val="75000"/>
            </a:schemeClr>
          </a:solidFill>
          <a:latin typeface="Segoe UI" panose="020B0502040204020203" pitchFamily="34" charset="0"/>
          <a:ea typeface="Open Sans Medium" pitchFamily="2" charset="0"/>
          <a:cs typeface="Segoe UI" panose="020B0502040204020203" pitchFamily="34" charset="0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4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2DA1E6-0A9B-4FAD-9E42-B37B3CA5D78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86248" y="2984156"/>
            <a:ext cx="10812163" cy="1099527"/>
          </a:xfrm>
        </p:spPr>
        <p:txBody>
          <a:bodyPr>
            <a:noAutofit/>
          </a:bodyPr>
          <a:lstStyle/>
          <a:p>
            <a:r>
              <a:rPr lang="en-US" sz="4400" dirty="0"/>
              <a:t>Descriptive statistics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70A25A50-E1E4-4126-B9CC-C52512D3D32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GEOG4300 /6300: Intro to data science</a:t>
            </a:r>
          </a:p>
          <a:p>
            <a:r>
              <a:rPr lang="en-US" dirty="0"/>
              <a:t>Prof. Jerry Shannon</a:t>
            </a:r>
          </a:p>
        </p:txBody>
      </p:sp>
    </p:spTree>
    <p:extLst>
      <p:ext uri="{BB962C8B-B14F-4D97-AF65-F5344CB8AC3E}">
        <p14:creationId xmlns:p14="http://schemas.microsoft.com/office/powerpoint/2010/main" val="7646456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032254-4A0C-5998-C72F-381AF98A53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Things to be aware of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120EED-E368-D3A5-6DC2-EECF90CC1E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38250" y="2124074"/>
            <a:ext cx="9917430" cy="3745019"/>
          </a:xfrm>
        </p:spPr>
        <p:txBody>
          <a:bodyPr>
            <a:normAutofit/>
          </a:bodyPr>
          <a:lstStyle/>
          <a:p>
            <a:r>
              <a:rPr lang="en-US" sz="3200" dirty="0"/>
              <a:t>Lab 0 is due Friday September 4</a:t>
            </a:r>
          </a:p>
        </p:txBody>
      </p:sp>
    </p:spTree>
    <p:extLst>
      <p:ext uri="{BB962C8B-B14F-4D97-AF65-F5344CB8AC3E}">
        <p14:creationId xmlns:p14="http://schemas.microsoft.com/office/powerpoint/2010/main" val="35629039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22B21D58-33A1-444D-87C6-C46883235D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6880" y="3429000"/>
            <a:ext cx="3200400" cy="2286000"/>
          </a:xfrm>
        </p:spPr>
        <p:txBody>
          <a:bodyPr>
            <a:normAutofit fontScale="90000"/>
          </a:bodyPr>
          <a:lstStyle/>
          <a:p>
            <a:r>
              <a:rPr lang="en-US" sz="3600" dirty="0"/>
              <a:t>Which measure of central tendency should we use for the number of UGA football games we have attended? </a:t>
            </a:r>
            <a:br>
              <a:rPr lang="en-US" sz="3600" dirty="0"/>
            </a:br>
            <a:br>
              <a:rPr lang="en-US" sz="3600" dirty="0"/>
            </a:br>
            <a:r>
              <a:rPr lang="en-US" sz="3600" dirty="0"/>
              <a:t>(And how should we wrangle this data before doing so?)</a:t>
            </a:r>
            <a:endParaRPr lang="en-US" dirty="0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FE16FEDE-3EDB-453E-B89C-7FF9D4A5A9E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98470959"/>
              </p:ext>
            </p:extLst>
          </p:nvPr>
        </p:nvGraphicFramePr>
        <p:xfrm>
          <a:off x="4705457" y="480836"/>
          <a:ext cx="6934608" cy="5363906"/>
        </p:xfrm>
        <a:graphic>
          <a:graphicData uri="http://schemas.openxmlformats.org/drawingml/2006/table">
            <a:tbl>
              <a:tblPr>
                <a:tableStyleId>{284E427A-3D55-4303-BF80-6455036E1DE7}</a:tableStyleId>
              </a:tblPr>
              <a:tblGrid>
                <a:gridCol w="2311536">
                  <a:extLst>
                    <a:ext uri="{9D8B030D-6E8A-4147-A177-3AD203B41FA5}">
                      <a16:colId xmlns:a16="http://schemas.microsoft.com/office/drawing/2014/main" val="4189194366"/>
                    </a:ext>
                  </a:extLst>
                </a:gridCol>
                <a:gridCol w="2311536">
                  <a:extLst>
                    <a:ext uri="{9D8B030D-6E8A-4147-A177-3AD203B41FA5}">
                      <a16:colId xmlns:a16="http://schemas.microsoft.com/office/drawing/2014/main" val="2082863216"/>
                    </a:ext>
                  </a:extLst>
                </a:gridCol>
                <a:gridCol w="2311536">
                  <a:extLst>
                    <a:ext uri="{9D8B030D-6E8A-4147-A177-3AD203B41FA5}">
                      <a16:colId xmlns:a16="http://schemas.microsoft.com/office/drawing/2014/main" val="3415397391"/>
                    </a:ext>
                  </a:extLst>
                </a:gridCol>
              </a:tblGrid>
              <a:tr h="371194"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800" dirty="0">
                          <a:effectLst/>
                        </a:rPr>
                        <a:t>32</a:t>
                      </a:r>
                    </a:p>
                  </a:txBody>
                  <a:tcPr marL="9873" marR="9873" marT="6582" marB="6582" anchor="ctr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800" dirty="0">
                          <a:effectLst/>
                        </a:rPr>
                        <a:t>0</a:t>
                      </a:r>
                    </a:p>
                  </a:txBody>
                  <a:tcPr marL="9873" marR="9873" marT="6582" marB="6582" anchor="ctr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800" dirty="0">
                          <a:effectLst/>
                        </a:rPr>
                        <a:t>12</a:t>
                      </a:r>
                    </a:p>
                  </a:txBody>
                  <a:tcPr marL="9873" marR="9873" marT="6582" marB="6582" anchor="ctr"/>
                </a:tc>
                <a:extLst>
                  <a:ext uri="{0D108BD9-81ED-4DB2-BD59-A6C34878D82A}">
                    <a16:rowId xmlns:a16="http://schemas.microsoft.com/office/drawing/2014/main" val="4094518705"/>
                  </a:ext>
                </a:extLst>
              </a:tr>
              <a:tr h="371194"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800" dirty="0">
                          <a:effectLst/>
                        </a:rPr>
                        <a:t>0</a:t>
                      </a:r>
                    </a:p>
                  </a:txBody>
                  <a:tcPr marL="9873" marR="9873" marT="6582" marB="6582" anchor="ctr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800" dirty="0">
                          <a:effectLst/>
                        </a:rPr>
                        <a:t>0 (for now!)</a:t>
                      </a:r>
                    </a:p>
                  </a:txBody>
                  <a:tcPr marL="9873" marR="9873" marT="6582" marB="6582" anchor="ctr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800" dirty="0">
                          <a:effectLst/>
                        </a:rPr>
                        <a:t>1</a:t>
                      </a:r>
                    </a:p>
                  </a:txBody>
                  <a:tcPr marL="9873" marR="9873" marT="6582" marB="6582" anchor="ctr"/>
                </a:tc>
                <a:extLst>
                  <a:ext uri="{0D108BD9-81ED-4DB2-BD59-A6C34878D82A}">
                    <a16:rowId xmlns:a16="http://schemas.microsoft.com/office/drawing/2014/main" val="3670629649"/>
                  </a:ext>
                </a:extLst>
              </a:tr>
              <a:tr h="371194"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800" dirty="0">
                          <a:effectLst/>
                        </a:rPr>
                        <a:t>18</a:t>
                      </a:r>
                    </a:p>
                  </a:txBody>
                  <a:tcPr marL="9873" marR="9873" marT="6582" marB="6582" anchor="ctr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800" dirty="0">
                          <a:effectLst/>
                        </a:rPr>
                        <a:t>0</a:t>
                      </a:r>
                    </a:p>
                  </a:txBody>
                  <a:tcPr marL="9873" marR="9873" marT="6582" marB="6582" anchor="ctr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800" dirty="0">
                          <a:effectLst/>
                        </a:rPr>
                        <a:t>4</a:t>
                      </a:r>
                    </a:p>
                  </a:txBody>
                  <a:tcPr marL="9873" marR="9873" marT="6582" marB="6582" anchor="ctr"/>
                </a:tc>
                <a:extLst>
                  <a:ext uri="{0D108BD9-81ED-4DB2-BD59-A6C34878D82A}">
                    <a16:rowId xmlns:a16="http://schemas.microsoft.com/office/drawing/2014/main" val="3818635027"/>
                  </a:ext>
                </a:extLst>
              </a:tr>
              <a:tr h="371194"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800">
                          <a:effectLst/>
                        </a:rPr>
                        <a:t>1</a:t>
                      </a:r>
                    </a:p>
                  </a:txBody>
                  <a:tcPr marL="9873" marR="9873" marT="6582" marB="6582" anchor="ctr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800" dirty="0">
                          <a:effectLst/>
                        </a:rPr>
                        <a:t>0</a:t>
                      </a:r>
                    </a:p>
                  </a:txBody>
                  <a:tcPr marL="9873" marR="9873" marT="6582" marB="6582" anchor="ctr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800" dirty="0">
                          <a:effectLst/>
                        </a:rPr>
                        <a:t>4</a:t>
                      </a:r>
                    </a:p>
                  </a:txBody>
                  <a:tcPr marL="9873" marR="9873" marT="6582" marB="6582" anchor="ctr"/>
                </a:tc>
                <a:extLst>
                  <a:ext uri="{0D108BD9-81ED-4DB2-BD59-A6C34878D82A}">
                    <a16:rowId xmlns:a16="http://schemas.microsoft.com/office/drawing/2014/main" val="168589230"/>
                  </a:ext>
                </a:extLst>
              </a:tr>
              <a:tr h="371194"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800">
                          <a:effectLst/>
                        </a:rPr>
                        <a:t>0</a:t>
                      </a:r>
                    </a:p>
                  </a:txBody>
                  <a:tcPr marL="9873" marR="9873" marT="6582" marB="6582" anchor="ctr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800" dirty="0">
                          <a:effectLst/>
                        </a:rPr>
                        <a:t>0</a:t>
                      </a:r>
                    </a:p>
                  </a:txBody>
                  <a:tcPr marL="9873" marR="9873" marT="6582" marB="6582" anchor="ctr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800" dirty="0">
                          <a:effectLst/>
                        </a:rPr>
                        <a:t>6</a:t>
                      </a:r>
                    </a:p>
                  </a:txBody>
                  <a:tcPr marL="9873" marR="9873" marT="6582" marB="6582" anchor="ctr"/>
                </a:tc>
                <a:extLst>
                  <a:ext uri="{0D108BD9-81ED-4DB2-BD59-A6C34878D82A}">
                    <a16:rowId xmlns:a16="http://schemas.microsoft.com/office/drawing/2014/main" val="4082791120"/>
                  </a:ext>
                </a:extLst>
              </a:tr>
              <a:tr h="371194"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800">
                          <a:effectLst/>
                        </a:rPr>
                        <a:t>4</a:t>
                      </a:r>
                    </a:p>
                  </a:txBody>
                  <a:tcPr marL="9873" marR="9873" marT="6582" marB="6582" anchor="ctr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800" dirty="0">
                          <a:effectLst/>
                        </a:rPr>
                        <a:t>0</a:t>
                      </a:r>
                    </a:p>
                  </a:txBody>
                  <a:tcPr marL="9873" marR="9873" marT="6582" marB="6582" anchor="ctr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800" dirty="0">
                          <a:effectLst/>
                        </a:rPr>
                        <a:t>1</a:t>
                      </a:r>
                    </a:p>
                  </a:txBody>
                  <a:tcPr marL="9873" marR="9873" marT="6582" marB="6582" anchor="ctr"/>
                </a:tc>
                <a:extLst>
                  <a:ext uri="{0D108BD9-81ED-4DB2-BD59-A6C34878D82A}">
                    <a16:rowId xmlns:a16="http://schemas.microsoft.com/office/drawing/2014/main" val="2440730781"/>
                  </a:ext>
                </a:extLst>
              </a:tr>
              <a:tr h="371194"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800">
                          <a:effectLst/>
                        </a:rPr>
                        <a:t>0</a:t>
                      </a:r>
                    </a:p>
                  </a:txBody>
                  <a:tcPr marL="9873" marR="9873" marT="6582" marB="6582" anchor="ctr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800" dirty="0">
                          <a:effectLst/>
                        </a:rPr>
                        <a:t>1</a:t>
                      </a:r>
                    </a:p>
                  </a:txBody>
                  <a:tcPr marL="9873" marR="9873" marT="6582" marB="6582" anchor="ctr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800" dirty="0">
                          <a:effectLst/>
                        </a:rPr>
                        <a:t>0</a:t>
                      </a:r>
                    </a:p>
                  </a:txBody>
                  <a:tcPr marL="9873" marR="9873" marT="6582" marB="6582" anchor="ctr"/>
                </a:tc>
                <a:extLst>
                  <a:ext uri="{0D108BD9-81ED-4DB2-BD59-A6C34878D82A}">
                    <a16:rowId xmlns:a16="http://schemas.microsoft.com/office/drawing/2014/main" val="3403105421"/>
                  </a:ext>
                </a:extLst>
              </a:tr>
              <a:tr h="1334823"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800" dirty="0">
                          <a:effectLst/>
                        </a:rPr>
                        <a:t>1</a:t>
                      </a:r>
                    </a:p>
                  </a:txBody>
                  <a:tcPr marL="9873" marR="9873" marT="6582" marB="6582" anchor="ctr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800" dirty="0">
                          <a:effectLst/>
                        </a:rPr>
                        <a:t>15</a:t>
                      </a:r>
                    </a:p>
                  </a:txBody>
                  <a:tcPr marL="9873" marR="9873" marT="6582" marB="6582" anchor="ctr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800" dirty="0">
                          <a:effectLst/>
                        </a:rPr>
                        <a:t>I have attended approximately 18 UGA football games. </a:t>
                      </a:r>
                    </a:p>
                  </a:txBody>
                  <a:tcPr marL="9873" marR="9873" marT="6582" marB="6582" anchor="ctr"/>
                </a:tc>
                <a:extLst>
                  <a:ext uri="{0D108BD9-81ED-4DB2-BD59-A6C34878D82A}">
                    <a16:rowId xmlns:a16="http://schemas.microsoft.com/office/drawing/2014/main" val="3058472163"/>
                  </a:ext>
                </a:extLst>
              </a:tr>
              <a:tr h="371194"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800">
                          <a:effectLst/>
                        </a:rPr>
                        <a:t>8</a:t>
                      </a:r>
                    </a:p>
                  </a:txBody>
                  <a:tcPr marL="9873" marR="9873" marT="6582" marB="6582" anchor="ctr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800" dirty="0">
                          <a:effectLst/>
                        </a:rPr>
                        <a:t>1</a:t>
                      </a:r>
                    </a:p>
                  </a:txBody>
                  <a:tcPr marL="9873" marR="9873" marT="6582" marB="6582" anchor="ctr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800" dirty="0">
                          <a:effectLst/>
                        </a:rPr>
                        <a:t>0</a:t>
                      </a:r>
                    </a:p>
                  </a:txBody>
                  <a:tcPr marL="9873" marR="9873" marT="6582" marB="6582" anchor="ctr"/>
                </a:tc>
                <a:extLst>
                  <a:ext uri="{0D108BD9-81ED-4DB2-BD59-A6C34878D82A}">
                    <a16:rowId xmlns:a16="http://schemas.microsoft.com/office/drawing/2014/main" val="38618954"/>
                  </a:ext>
                </a:extLst>
              </a:tr>
              <a:tr h="1059531"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800">
                          <a:effectLst/>
                        </a:rPr>
                        <a:t>0</a:t>
                      </a:r>
                    </a:p>
                  </a:txBody>
                  <a:tcPr marL="9873" marR="9873" marT="6582" marB="6582" anchor="ctr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800">
                          <a:effectLst/>
                        </a:rPr>
                        <a:t>None</a:t>
                      </a:r>
                    </a:p>
                  </a:txBody>
                  <a:tcPr marL="9873" marR="9873" marT="6582" marB="6582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effectLst/>
                        </a:rPr>
                        <a:t>9 Football Games</a:t>
                      </a:r>
                    </a:p>
                    <a:p>
                      <a:pPr algn="ctr" rtl="0" fontAlgn="b"/>
                      <a:endParaRPr lang="en-US" sz="1800" dirty="0">
                        <a:effectLst/>
                      </a:endParaRPr>
                    </a:p>
                  </a:txBody>
                  <a:tcPr marL="9873" marR="9873" marT="6582" marB="6582" anchor="ctr"/>
                </a:tc>
                <a:extLst>
                  <a:ext uri="{0D108BD9-81ED-4DB2-BD59-A6C34878D82A}">
                    <a16:rowId xmlns:a16="http://schemas.microsoft.com/office/drawing/2014/main" val="45988931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254909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712AC8CF-13A3-4593-9053-122027377F90}"/>
              </a:ext>
            </a:extLst>
          </p:cNvPr>
          <p:cNvSpPr txBox="1"/>
          <p:nvPr/>
        </p:nvSpPr>
        <p:spPr>
          <a:xfrm>
            <a:off x="850233" y="506895"/>
            <a:ext cx="1148737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latin typeface="+mj-lt"/>
              </a:rPr>
              <a:t>What’s a related question we could ask for which </a:t>
            </a:r>
            <a:r>
              <a:rPr lang="en-US" sz="3600" i="1" u="sng" dirty="0">
                <a:latin typeface="+mj-lt"/>
              </a:rPr>
              <a:t>mode </a:t>
            </a:r>
            <a:r>
              <a:rPr lang="en-US" sz="3600" dirty="0">
                <a:latin typeface="+mj-lt"/>
              </a:rPr>
              <a:t>would be the appropriate measure of central tendency?</a:t>
            </a:r>
            <a:endParaRPr lang="en-US" sz="3600" i="1" dirty="0">
              <a:latin typeface="+mj-lt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A48A852-C55F-42BC-BD21-63B3D06C1F6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87942" y="1900686"/>
            <a:ext cx="6416116" cy="42732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24782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AAED47-D072-4FEB-808C-AE2039B1B2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1379776"/>
          </a:xfrm>
        </p:spPr>
        <p:txBody>
          <a:bodyPr/>
          <a:lstStyle/>
          <a:p>
            <a:r>
              <a:rPr lang="en-US" dirty="0"/>
              <a:t>Try it out!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2440AAE-BE97-4AFE-99B9-14AF6D97F38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32894" y="2131581"/>
            <a:ext cx="3124705" cy="4173623"/>
          </a:xfrm>
        </p:spPr>
        <p:txBody>
          <a:bodyPr>
            <a:normAutofit/>
          </a:bodyPr>
          <a:lstStyle/>
          <a:p>
            <a:r>
              <a:rPr lang="en-US" dirty="0"/>
              <a:t>Load our “</a:t>
            </a:r>
            <a:r>
              <a:rPr lang="en-US" dirty="0" err="1"/>
              <a:t>swift_beyonce_spotify</a:t>
            </a:r>
            <a:r>
              <a:rPr lang="en-US" dirty="0"/>
              <a:t>” dataset into Excel/Google Sheets. This gives data on all songs by Taylor Swift and Beyonce from Spotify.</a:t>
            </a:r>
          </a:p>
          <a:p>
            <a:r>
              <a:rPr lang="en-US" dirty="0"/>
              <a:t>Calculate the appropriate measure of central tendency for each artist for the following variables:</a:t>
            </a:r>
          </a:p>
          <a:p>
            <a:pPr marL="285750" indent="-28575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US" dirty="0"/>
              <a:t>Danceability</a:t>
            </a:r>
          </a:p>
          <a:p>
            <a:pPr marL="285750" indent="-28575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US" dirty="0"/>
              <a:t>Loudness</a:t>
            </a:r>
          </a:p>
          <a:p>
            <a:pPr marL="285750" indent="-28575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US" dirty="0" err="1"/>
              <a:t>Time_sign</a:t>
            </a:r>
            <a:r>
              <a:rPr lang="en-US" dirty="0"/>
              <a:t> (Time signature)</a:t>
            </a:r>
          </a:p>
          <a:p>
            <a:pPr marL="285750" indent="-28575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US" dirty="0" err="1"/>
              <a:t>Duration_ms</a:t>
            </a:r>
            <a:r>
              <a:rPr lang="en-US" dirty="0"/>
              <a:t> (Length in milliseconds)</a:t>
            </a:r>
          </a:p>
          <a:p>
            <a:endParaRPr lang="en-US" dirty="0"/>
          </a:p>
        </p:txBody>
      </p:sp>
      <p:pic>
        <p:nvPicPr>
          <p:cNvPr id="1026" name="Picture 2" descr="Taylor Swift's Miami concert overshadowed by giant 'Trump 2024' banner ...">
            <a:extLst>
              <a:ext uri="{FF2B5EF4-FFF2-40B4-BE49-F238E27FC236}">
                <a16:creationId xmlns:a16="http://schemas.microsoft.com/office/drawing/2014/main" id="{475D2DD2-0C73-435B-B27A-156023FF324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20233" y="198541"/>
            <a:ext cx="3082435" cy="46204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Listen: Beyoncé Releases &quot;My House,&quot; Her First New Song Post ...">
            <a:extLst>
              <a:ext uri="{FF2B5EF4-FFF2-40B4-BE49-F238E27FC236}">
                <a16:creationId xmlns:a16="http://schemas.microsoft.com/office/drawing/2014/main" id="{D92E97C9-2C1F-4081-B1F0-322A5741EFB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511" r="21052"/>
          <a:stretch/>
        </p:blipFill>
        <p:spPr bwMode="auto">
          <a:xfrm>
            <a:off x="8067251" y="198541"/>
            <a:ext cx="3880505" cy="4258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543A8EC6-E3E8-4E94-8348-D6BCF1EE726D}"/>
              </a:ext>
            </a:extLst>
          </p:cNvPr>
          <p:cNvSpPr txBox="1"/>
          <p:nvPr/>
        </p:nvSpPr>
        <p:spPr>
          <a:xfrm>
            <a:off x="4621959" y="5989048"/>
            <a:ext cx="714412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/>
              <a:t>Functions to use: =AVERAGE(), =MEDIAN, =MODE()</a:t>
            </a:r>
          </a:p>
        </p:txBody>
      </p:sp>
    </p:spTree>
    <p:extLst>
      <p:ext uri="{BB962C8B-B14F-4D97-AF65-F5344CB8AC3E}">
        <p14:creationId xmlns:p14="http://schemas.microsoft.com/office/powerpoint/2010/main" val="3150028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712AC8CF-13A3-4593-9053-122027377F90}"/>
              </a:ext>
            </a:extLst>
          </p:cNvPr>
          <p:cNvSpPr txBox="1"/>
          <p:nvPr/>
        </p:nvSpPr>
        <p:spPr>
          <a:xfrm>
            <a:off x="1148958" y="809677"/>
            <a:ext cx="616662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dirty="0"/>
              <a:t>Standard deviation and IQR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4A7C8DA-076B-479B-91E6-549D2D57D9AC}"/>
              </a:ext>
            </a:extLst>
          </p:cNvPr>
          <p:cNvSpPr/>
          <p:nvPr/>
        </p:nvSpPr>
        <p:spPr>
          <a:xfrm>
            <a:off x="1223237" y="1887343"/>
            <a:ext cx="1054485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dirty="0"/>
              <a:t>What’s the difference?</a:t>
            </a:r>
          </a:p>
        </p:txBody>
      </p:sp>
      <p:pic>
        <p:nvPicPr>
          <p:cNvPr id="2050" name="Picture 2" descr="Chart With Standard Deviation - Chart Reading Skills">
            <a:extLst>
              <a:ext uri="{FF2B5EF4-FFF2-40B4-BE49-F238E27FC236}">
                <a16:creationId xmlns:a16="http://schemas.microsoft.com/office/drawing/2014/main" id="{47C97A59-D647-4C06-8463-277244EFDA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2544" y="2985613"/>
            <a:ext cx="5197598" cy="29236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Basic Statistics: Interquartile Range (IQR) - The Data School">
            <a:extLst>
              <a:ext uri="{FF2B5EF4-FFF2-40B4-BE49-F238E27FC236}">
                <a16:creationId xmlns:a16="http://schemas.microsoft.com/office/drawing/2014/main" id="{67C939B8-CD5F-4B29-9A60-A1F38471C20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5754" y="2841898"/>
            <a:ext cx="5068204" cy="31926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267444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712AC8CF-13A3-4593-9053-122027377F90}"/>
              </a:ext>
            </a:extLst>
          </p:cNvPr>
          <p:cNvSpPr txBox="1"/>
          <p:nvPr/>
        </p:nvSpPr>
        <p:spPr>
          <a:xfrm>
            <a:off x="1148958" y="809677"/>
            <a:ext cx="512037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dirty="0"/>
              <a:t>Coefficient of variation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BFB55F2B-4640-4FD4-89F4-CDCFF44056EB}"/>
                  </a:ext>
                </a:extLst>
              </p:cNvPr>
              <p:cNvSpPr txBox="1"/>
              <p:nvPr/>
            </p:nvSpPr>
            <p:spPr>
              <a:xfrm>
                <a:off x="4476786" y="4120713"/>
                <a:ext cx="2352887" cy="142289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5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𝑪𝑽</m:t>
                      </m:r>
                      <m:r>
                        <a:rPr lang="en-US" sz="5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5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5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𝒔</m:t>
                          </m:r>
                        </m:num>
                        <m:den>
                          <m:acc>
                            <m:accPr>
                              <m:chr m:val="̅"/>
                              <m:ctrlPr>
                                <a:rPr lang="en-US" sz="5400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5400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</m:acc>
                        </m:den>
                      </m:f>
                    </m:oMath>
                  </m:oMathPara>
                </a14:m>
                <a:endParaRPr lang="en-US" sz="5400" b="1" i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BFB55F2B-4640-4FD4-89F4-CDCFF44056E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76786" y="4120713"/>
                <a:ext cx="2352887" cy="1422890"/>
              </a:xfrm>
              <a:prstGeom prst="rect">
                <a:avLst/>
              </a:prstGeom>
              <a:blipFill>
                <a:blip r:embed="rId2"/>
                <a:stretch>
                  <a:fillRect b="-42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Rectangle 6">
            <a:extLst>
              <a:ext uri="{FF2B5EF4-FFF2-40B4-BE49-F238E27FC236}">
                <a16:creationId xmlns:a16="http://schemas.microsoft.com/office/drawing/2014/main" id="{64A7C8DA-076B-479B-91E6-549D2D57D9AC}"/>
              </a:ext>
            </a:extLst>
          </p:cNvPr>
          <p:cNvSpPr/>
          <p:nvPr/>
        </p:nvSpPr>
        <p:spPr>
          <a:xfrm>
            <a:off x="1148958" y="2044789"/>
            <a:ext cx="10746297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dirty="0"/>
              <a:t>Standard deviation divided by the mean</a:t>
            </a:r>
          </a:p>
          <a:p>
            <a:endParaRPr lang="en-US" sz="2800" dirty="0"/>
          </a:p>
          <a:p>
            <a:r>
              <a:rPr lang="en-US" sz="2800" dirty="0"/>
              <a:t>Useful when means vary across groups or measures</a:t>
            </a:r>
          </a:p>
        </p:txBody>
      </p:sp>
    </p:spTree>
    <p:extLst>
      <p:ext uri="{BB962C8B-B14F-4D97-AF65-F5344CB8AC3E}">
        <p14:creationId xmlns:p14="http://schemas.microsoft.com/office/powerpoint/2010/main" val="31348928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hape 306">
            <a:extLst>
              <a:ext uri="{FF2B5EF4-FFF2-40B4-BE49-F238E27FC236}">
                <a16:creationId xmlns:a16="http://schemas.microsoft.com/office/drawing/2014/main" id="{51D852A2-68CA-4C50-B054-D5F3B086FC32}"/>
              </a:ext>
            </a:extLst>
          </p:cNvPr>
          <p:cNvSpPr txBox="1"/>
          <p:nvPr/>
        </p:nvSpPr>
        <p:spPr>
          <a:xfrm>
            <a:off x="1112883" y="891614"/>
            <a:ext cx="5898538" cy="707886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SzPct val="25000"/>
              <a:buNone/>
            </a:pPr>
            <a:r>
              <a:rPr lang="en-US" sz="4000" b="1" dirty="0">
                <a:ea typeface="Calibri"/>
                <a:cs typeface="Calibri"/>
                <a:sym typeface="Calibri"/>
              </a:rPr>
              <a:t>R challenge!</a:t>
            </a:r>
          </a:p>
        </p:txBody>
      </p:sp>
      <p:sp>
        <p:nvSpPr>
          <p:cNvPr id="9" name="Shape 310">
            <a:extLst>
              <a:ext uri="{FF2B5EF4-FFF2-40B4-BE49-F238E27FC236}">
                <a16:creationId xmlns:a16="http://schemas.microsoft.com/office/drawing/2014/main" id="{B23FF25C-C4DA-4A14-B209-2953D9C5CAD7}"/>
              </a:ext>
            </a:extLst>
          </p:cNvPr>
          <p:cNvSpPr txBox="1"/>
          <p:nvPr/>
        </p:nvSpPr>
        <p:spPr>
          <a:xfrm>
            <a:off x="1112883" y="1859692"/>
            <a:ext cx="10669285" cy="3781167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SzPct val="25000"/>
              <a:buNone/>
            </a:pPr>
            <a:r>
              <a:rPr lang="en-US" sz="3200" dirty="0">
                <a:ea typeface="Calibri"/>
                <a:cs typeface="Calibri"/>
                <a:sym typeface="Calibri"/>
              </a:rPr>
              <a:t>Load the Swift/Beyonce dataset into R</a:t>
            </a:r>
          </a:p>
          <a:p>
            <a:pPr marL="0" marR="0" lvl="0" indent="0" algn="l" rtl="0">
              <a:spcBef>
                <a:spcPts val="0"/>
              </a:spcBef>
              <a:buSzPct val="25000"/>
              <a:buNone/>
            </a:pPr>
            <a:endParaRPr lang="en-US" sz="3200" dirty="0"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buSzPct val="25000"/>
              <a:buNone/>
            </a:pPr>
            <a:r>
              <a:rPr lang="en-US" sz="3200" dirty="0">
                <a:ea typeface="Calibri"/>
                <a:cs typeface="Calibri"/>
                <a:sym typeface="Calibri"/>
              </a:rPr>
              <a:t>You can use the </a:t>
            </a:r>
            <a:r>
              <a:rPr lang="en-US" sz="3200" dirty="0" err="1">
                <a:ea typeface="Calibri"/>
                <a:cs typeface="Calibri"/>
                <a:sym typeface="Calibri"/>
              </a:rPr>
              <a:t>sd</a:t>
            </a:r>
            <a:r>
              <a:rPr lang="en-US" sz="3200" dirty="0">
                <a:ea typeface="Calibri"/>
                <a:cs typeface="Calibri"/>
                <a:sym typeface="Calibri"/>
              </a:rPr>
              <a:t>() and IQR() to calculate the distribution of danceability, loudness, and duration.</a:t>
            </a:r>
          </a:p>
          <a:p>
            <a:pPr marL="0" marR="0" lvl="0" indent="0" algn="l" rtl="0">
              <a:spcBef>
                <a:spcPts val="0"/>
              </a:spcBef>
              <a:buSzPct val="25000"/>
              <a:buNone/>
            </a:pPr>
            <a:endParaRPr lang="en-US" sz="3200" dirty="0"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buSzPct val="25000"/>
              <a:buNone/>
            </a:pPr>
            <a:r>
              <a:rPr lang="en-US" sz="3200" dirty="0">
                <a:ea typeface="Calibri"/>
                <a:cs typeface="Calibri"/>
                <a:sym typeface="Calibri"/>
              </a:rPr>
              <a:t>How would you interpret each result in plain English?</a:t>
            </a:r>
          </a:p>
          <a:p>
            <a:pPr marL="0" marR="0" lvl="0" indent="0" algn="l" rtl="0">
              <a:spcBef>
                <a:spcPts val="0"/>
              </a:spcBef>
              <a:buSzPct val="25000"/>
              <a:buNone/>
            </a:pPr>
            <a:r>
              <a:rPr lang="en-US" sz="3200" dirty="0">
                <a:ea typeface="Calibri"/>
                <a:cs typeface="Calibri"/>
                <a:sym typeface="Calibri"/>
              </a:rPr>
              <a:t>Which is the better measure for each variable?</a:t>
            </a:r>
          </a:p>
          <a:p>
            <a:pPr marL="0" marR="0" lvl="0" indent="0" algn="l" rtl="0">
              <a:spcBef>
                <a:spcPts val="0"/>
              </a:spcBef>
              <a:buSzPct val="25000"/>
              <a:buNone/>
            </a:pPr>
            <a:endParaRPr lang="en-US" sz="3200" dirty="0"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245633813"/>
      </p:ext>
    </p:extLst>
  </p:cSld>
  <p:clrMapOvr>
    <a:masterClrMapping/>
  </p:clrMapOvr>
</p:sld>
</file>

<file path=ppt/theme/theme1.xml><?xml version="1.0" encoding="utf-8"?>
<a:theme xmlns:a="http://schemas.openxmlformats.org/drawingml/2006/main" name="4300 theme">
  <a:themeElements>
    <a:clrScheme name="Custom 5">
      <a:dk1>
        <a:srgbClr val="3F3F3F"/>
      </a:dk1>
      <a:lt1>
        <a:sysClr val="window" lastClr="FFFFFF"/>
      </a:lt1>
      <a:dk2>
        <a:srgbClr val="637052"/>
      </a:dk2>
      <a:lt2>
        <a:srgbClr val="CCDDEA"/>
      </a:lt2>
      <a:accent1>
        <a:srgbClr val="E5A99F"/>
      </a:accent1>
      <a:accent2>
        <a:srgbClr val="B23838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Custom 1">
      <a:majorFont>
        <a:latin typeface="Sitka Display Semibold"/>
        <a:ea typeface=""/>
        <a:cs typeface=""/>
      </a:majorFont>
      <a:minorFont>
        <a:latin typeface="Segoe UI"/>
        <a:ea typeface=""/>
        <a:cs typeface="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eog4300_L01-Introductions" id="{FA51A00F-822B-41B5-AA4A-2C123A5E9355}" vid="{2F9C99DD-B25B-4D9F-92B4-7DCE57BD0F4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39</TotalTime>
  <Words>283</Words>
  <Application>Microsoft Office PowerPoint</Application>
  <PresentationFormat>Widescreen</PresentationFormat>
  <Paragraphs>62</Paragraphs>
  <Slides>8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4" baseType="lpstr">
      <vt:lpstr>Arial</vt:lpstr>
      <vt:lpstr>Calibri</vt:lpstr>
      <vt:lpstr>Cambria Math</vt:lpstr>
      <vt:lpstr>Segoe UI</vt:lpstr>
      <vt:lpstr>Sitka Display Semibold</vt:lpstr>
      <vt:lpstr>4300 theme</vt:lpstr>
      <vt:lpstr>Descriptive statistics</vt:lpstr>
      <vt:lpstr>Things to be aware of</vt:lpstr>
      <vt:lpstr>Which measure of central tendency should we use for the number of UGA football games we have attended?   (And how should we wrangle this data before doing so?)</vt:lpstr>
      <vt:lpstr>PowerPoint Presentation</vt:lpstr>
      <vt:lpstr>Try it out!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Spatial data</dc:title>
  <dc:creator>Gerald Shannon</dc:creator>
  <cp:lastModifiedBy>Jerry Shannon</cp:lastModifiedBy>
  <cp:revision>27</cp:revision>
  <dcterms:modified xsi:type="dcterms:W3CDTF">2026-08-27T21:03:21Z</dcterms:modified>
</cp:coreProperties>
</file>