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300" r:id="rId4"/>
    <p:sldId id="301" r:id="rId5"/>
    <p:sldId id="302" r:id="rId6"/>
    <p:sldId id="267" r:id="rId7"/>
    <p:sldId id="298" r:id="rId8"/>
    <p:sldId id="299" r:id="rId9"/>
    <p:sldId id="283" r:id="rId10"/>
    <p:sldId id="292" r:id="rId11"/>
    <p:sldId id="291" r:id="rId12"/>
    <p:sldId id="284" r:id="rId13"/>
    <p:sldId id="290" r:id="rId14"/>
    <p:sldId id="285" r:id="rId15"/>
    <p:sldId id="286" r:id="rId16"/>
    <p:sldId id="289" r:id="rId17"/>
    <p:sldId id="287" r:id="rId18"/>
    <p:sldId id="303" r:id="rId19"/>
    <p:sldId id="270" r:id="rId20"/>
    <p:sldId id="271" r:id="rId21"/>
    <p:sldId id="272" r:id="rId22"/>
    <p:sldId id="28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86918"/>
  </p:normalViewPr>
  <p:slideViewPr>
    <p:cSldViewPr snapToGrid="0">
      <p:cViewPr varScale="1">
        <p:scale>
          <a:sx n="105" d="100"/>
          <a:sy n="10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data geographic?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 variety of data sources and methods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and vector based data sources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about a place in some form—often now through GIS based techniques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 DATA: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Comprised of raster cells—all the same size and all with a value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A representation of the world using points, lines, and polygons. Vector models are useful for storing data that has discrete boundaries, such as country borders, land parcels, and streets.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(Jerry uses vector data, I use raster but I don’t call it that)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173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 its simplest form, a raster consists of a matrix of cells (or pixels) organized into rows and columns (or a grid) where each cell contains a value representing information, such as temperature. </a:t>
            </a:r>
            <a:r>
              <a:rPr lang="en-US" sz="1200" b="0" i="0" u="none" strike="noStrike" kern="1200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Rasters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are digital aerial photographs, imagery from satellites, digital pictures, or even scanned maps.</a:t>
            </a:r>
          </a:p>
          <a:p>
            <a:endParaRPr lang="en-US" dirty="0"/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stored in a raster format represents real-world phenomena: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Thematic data (also known as discrete) represents features such as land-use or soils data.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Continuous data represents phenomena such as temperature, elevation, or spectral data such as satellite images and aerial photographs.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Pictures include scanned maps or drawings and building photographs.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br>
              <a:rPr lang="en-US" dirty="0"/>
            </a:b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raster maps? Temperature data (interpolated), land cover, classified remote sensing imagery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you could ask of a land cover map—what percentage of an area is covered by various land cover types. What’s the relationship between type of land cover and other characteristics: elevation, proximity to certain features, etc.?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5319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Vector data:</a:t>
            </a:r>
          </a:p>
          <a:p>
            <a:r>
              <a:rPr lang="en-US" dirty="0"/>
              <a:t>Geometric shapes: Points, lines, and polygons.</a:t>
            </a:r>
          </a:p>
          <a:p>
            <a:r>
              <a:rPr lang="en-US" dirty="0"/>
              <a:t>Defined by vertices</a:t>
            </a:r>
          </a:p>
          <a:p>
            <a:r>
              <a:rPr lang="en-US" dirty="0"/>
              <a:t>Usually irregular in shape.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79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r>
              <a:rPr lang="en-US" dirty="0"/>
              <a:t>: TIFF image with coordinates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07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Locational vs attributes.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6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clustered are the points?</a:t>
            </a:r>
          </a:p>
          <a:p>
            <a:endParaRPr lang="en-US" dirty="0"/>
          </a:p>
          <a:p>
            <a:r>
              <a:rPr lang="en-US" dirty="0"/>
              <a:t>If this is &gt;1 what does it tell you?</a:t>
            </a:r>
          </a:p>
          <a:p>
            <a:r>
              <a:rPr lang="en-US" dirty="0"/>
              <a:t>Actual average distance &gt; random </a:t>
            </a:r>
            <a:r>
              <a:rPr lang="en-US" dirty="0">
                <a:sym typeface="Wingdings" pitchFamily="2" charset="2"/>
              </a:rPr>
              <a:t> spread out.</a:t>
            </a:r>
          </a:p>
          <a:p>
            <a:r>
              <a:rPr lang="en-US" dirty="0">
                <a:sym typeface="Wingdings" pitchFamily="2" charset="2"/>
              </a:rPr>
              <a:t>If &lt;1  closer together.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Turn to neighbor and discuss which is which?</a:t>
            </a:r>
          </a:p>
          <a:p>
            <a:r>
              <a:rPr lang="en-US" dirty="0">
                <a:sym typeface="Wingdings" pitchFamily="2" charset="2"/>
              </a:rPr>
              <a:t>Blue: Random</a:t>
            </a:r>
          </a:p>
          <a:p>
            <a:r>
              <a:rPr lang="en-US" dirty="0">
                <a:sym typeface="Wingdings" pitchFamily="2" charset="2"/>
              </a:rPr>
              <a:t>Red: Dispersed – like magnets pushing each other apart.</a:t>
            </a:r>
          </a:p>
          <a:p>
            <a:r>
              <a:rPr lang="en-US" dirty="0">
                <a:sym typeface="Wingdings" pitchFamily="2" charset="2"/>
              </a:rPr>
              <a:t>Green: Clustered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This is a global measure – it’s describing the whole data set, not individual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77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Quadrats:</a:t>
            </a:r>
          </a:p>
          <a:p>
            <a:r>
              <a:rPr lang="en-US" dirty="0"/>
              <a:t>Looks a little like raster.</a:t>
            </a:r>
          </a:p>
          <a:p>
            <a:r>
              <a:rPr lang="en-US" dirty="0" err="1"/>
              <a:t>Tessalation</a:t>
            </a:r>
            <a:r>
              <a:rPr lang="en-US" dirty="0"/>
              <a:t> = ? A shape that’s repeated over and over.</a:t>
            </a:r>
          </a:p>
          <a:p>
            <a:r>
              <a:rPr lang="en-US" dirty="0"/>
              <a:t>Aggregate points into a grid. Enables quantification of the distribution of the data points.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16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sheets and rulers:</a:t>
            </a:r>
          </a:p>
          <a:p>
            <a:r>
              <a:rPr lang="en-US" dirty="0"/>
              <a:t>Dollar stores in Atlanta. </a:t>
            </a:r>
          </a:p>
          <a:p>
            <a:r>
              <a:rPr lang="en-US" dirty="0"/>
              <a:t>Make a grid. Count the stores in each grid cell.</a:t>
            </a:r>
          </a:p>
          <a:p>
            <a:r>
              <a:rPr lang="en-US" dirty="0"/>
              <a:t>Make a table with cell index, FD, DT,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43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in a sub-area compared to rate in a whole area.</a:t>
            </a:r>
          </a:p>
          <a:p>
            <a:endParaRPr lang="en-US" dirty="0"/>
          </a:p>
          <a:p>
            <a:r>
              <a:rPr lang="en-US" dirty="0"/>
              <a:t>e.g. how many tornadoes in Minnesota compared to entire Midwest? (30% in </a:t>
            </a:r>
            <a:r>
              <a:rPr lang="en-US" dirty="0" err="1"/>
              <a:t>Minn</a:t>
            </a:r>
            <a:r>
              <a:rPr lang="en-US" dirty="0"/>
              <a:t> vs 20% in Midwest).</a:t>
            </a:r>
          </a:p>
          <a:p>
            <a:endParaRPr lang="en-US" dirty="0"/>
          </a:p>
          <a:p>
            <a:r>
              <a:rPr lang="en-US" dirty="0"/>
              <a:t>When is this useful?</a:t>
            </a:r>
          </a:p>
          <a:p>
            <a:r>
              <a:rPr lang="en-US" dirty="0"/>
              <a:t>It’s a form of hotspot analysis – when is something happening more often in a certain area.</a:t>
            </a:r>
          </a:p>
          <a:p>
            <a:r>
              <a:rPr lang="en-US" dirty="0"/>
              <a:t>Severe vs mild disease maps.</a:t>
            </a:r>
          </a:p>
          <a:p>
            <a:r>
              <a:rPr lang="en-US" dirty="0"/>
              <a:t>% of trees with an insect infection in a subarea compared to larger region.</a:t>
            </a:r>
          </a:p>
          <a:p>
            <a:endParaRPr lang="en-US" dirty="0"/>
          </a:p>
          <a:p>
            <a:r>
              <a:rPr lang="en-US" dirty="0"/>
              <a:t>e.g. 41% of stores are FD, but in each grid you’ve just created the % will be different.</a:t>
            </a:r>
          </a:p>
          <a:p>
            <a:endParaRPr lang="en-US" dirty="0"/>
          </a:p>
          <a:p>
            <a:r>
              <a:rPr lang="en-US" dirty="0"/>
              <a:t>LQ &lt; 1 means the rate is lower than the region average.</a:t>
            </a:r>
          </a:p>
          <a:p>
            <a:r>
              <a:rPr lang="en-US" dirty="0"/>
              <a:t>LQ &gt; 1 means the rate is higher than the region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8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MAUP:</a:t>
            </a:r>
          </a:p>
          <a:p>
            <a:r>
              <a:rPr lang="en-US" dirty="0"/>
              <a:t>Gerry-</a:t>
            </a:r>
            <a:r>
              <a:rPr lang="en-US" dirty="0" err="1"/>
              <a:t>mandering</a:t>
            </a:r>
            <a:r>
              <a:rPr lang="en-US" dirty="0"/>
              <a:t> – you change the boundaries and get different results!</a:t>
            </a:r>
          </a:p>
          <a:p>
            <a:endParaRPr lang="en-US" dirty="0"/>
          </a:p>
          <a:p>
            <a:r>
              <a:rPr lang="en-US" dirty="0"/>
              <a:t>Where are the hotspots for </a:t>
            </a:r>
            <a:r>
              <a:rPr lang="en-US" dirty="0" err="1"/>
              <a:t>atl</a:t>
            </a:r>
            <a:r>
              <a:rPr lang="en-US" dirty="0"/>
              <a:t> metro area? People might get slightly different </a:t>
            </a:r>
            <a:r>
              <a:rPr lang="en-US"/>
              <a:t>answers because of MAUP.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5: Spatial data; Point pattern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Harper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25679-AC16-4112-B551-7FD0EDBB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449" y="0"/>
            <a:ext cx="5283115" cy="41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7166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week: Describing spatial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19BFF-48DA-42BF-9128-606189495B83}"/>
              </a:ext>
            </a:extLst>
          </p:cNvPr>
          <p:cNvSpPr/>
          <p:nvPr/>
        </p:nvSpPr>
        <p:spPr>
          <a:xfrm>
            <a:off x="494951" y="1096753"/>
            <a:ext cx="3723840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Point pattern analysis</a:t>
            </a:r>
          </a:p>
          <a:p>
            <a:r>
              <a:rPr lang="en-US" sz="2800" dirty="0"/>
              <a:t>Mean center</a:t>
            </a:r>
          </a:p>
          <a:p>
            <a:r>
              <a:rPr lang="en-US" sz="2800" dirty="0"/>
              <a:t>Nearest neighbor index</a:t>
            </a:r>
          </a:p>
          <a:p>
            <a:r>
              <a:rPr lang="en-US" sz="2800" dirty="0"/>
              <a:t>Kernel density</a:t>
            </a:r>
          </a:p>
          <a:p>
            <a:r>
              <a:rPr lang="en-US" sz="2800" dirty="0"/>
              <a:t>Location quotient</a:t>
            </a:r>
          </a:p>
          <a:p>
            <a:r>
              <a:rPr lang="en-US" sz="2800" dirty="0"/>
              <a:t>Quadrats</a:t>
            </a:r>
          </a:p>
          <a:p>
            <a:r>
              <a:rPr lang="en-US" sz="2800" dirty="0"/>
              <a:t>MAUP</a:t>
            </a:r>
          </a:p>
        </p:txBody>
      </p:sp>
      <p:pic>
        <p:nvPicPr>
          <p:cNvPr id="5" name="Shape 114" descr="https://www.e-education.psu.edu/geog586/sites/www.e-education.psu.edu.geog586/files/image/L04_redwoodsKDEjustRight.png">
            <a:extLst>
              <a:ext uri="{FF2B5EF4-FFF2-40B4-BE49-F238E27FC236}">
                <a16:creationId xmlns:a16="http://schemas.microsoft.com/office/drawing/2014/main" id="{A01014CC-5618-4190-B4CE-59D9BB3D52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48" t="3728" r="768" b="15437"/>
          <a:stretch/>
        </p:blipFill>
        <p:spPr>
          <a:xfrm>
            <a:off x="5916130" y="1511006"/>
            <a:ext cx="5656729" cy="4177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BD0A00-5EC4-193B-BB3B-D259AC98DED9}"/>
              </a:ext>
            </a:extLst>
          </p:cNvPr>
          <p:cNvSpPr/>
          <p:nvPr/>
        </p:nvSpPr>
        <p:spPr>
          <a:xfrm>
            <a:off x="4013200" y="1993900"/>
            <a:ext cx="4876800" cy="3124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6E2F8-4E98-5102-62C1-95F55386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and raster data – which is which?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C0DC7-0306-440B-8A47-7399BCFB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550" y="2127250"/>
            <a:ext cx="46863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3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E2F8-4E98-5102-62C1-95F55386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and raster data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845BD7-F283-F995-FACD-C63A58D4263A}"/>
              </a:ext>
            </a:extLst>
          </p:cNvPr>
          <p:cNvGrpSpPr/>
          <p:nvPr/>
        </p:nvGrpSpPr>
        <p:grpSpPr>
          <a:xfrm>
            <a:off x="381000" y="2336026"/>
            <a:ext cx="4876800" cy="3201174"/>
            <a:chOff x="4013200" y="1916926"/>
            <a:chExt cx="4876800" cy="32011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BD0A00-5EC4-193B-BB3B-D259AC98DED9}"/>
                </a:ext>
              </a:extLst>
            </p:cNvPr>
            <p:cNvSpPr/>
            <p:nvPr/>
          </p:nvSpPr>
          <p:spPr>
            <a:xfrm>
              <a:off x="4013200" y="1993900"/>
              <a:ext cx="4876800" cy="3124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6C0DC7-0306-440B-8A47-7399BCFBE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6550" y="2127250"/>
              <a:ext cx="4686300" cy="29083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E83D05-1E95-A34D-F73A-443D396DFEC8}"/>
                </a:ext>
              </a:extLst>
            </p:cNvPr>
            <p:cNvSpPr txBox="1"/>
            <p:nvPr/>
          </p:nvSpPr>
          <p:spPr>
            <a:xfrm>
              <a:off x="4724400" y="1942584"/>
              <a:ext cx="1054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vector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659CAB-6251-40CB-C844-FF50816357C8}"/>
                </a:ext>
              </a:extLst>
            </p:cNvPr>
            <p:cNvSpPr txBox="1"/>
            <p:nvPr/>
          </p:nvSpPr>
          <p:spPr>
            <a:xfrm>
              <a:off x="7429500" y="1916926"/>
              <a:ext cx="1054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raster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8B70190-A3EE-3735-DD9B-28344580D48E}"/>
              </a:ext>
            </a:extLst>
          </p:cNvPr>
          <p:cNvSpPr txBox="1"/>
          <p:nvPr/>
        </p:nvSpPr>
        <p:spPr>
          <a:xfrm>
            <a:off x="5705611" y="2520692"/>
            <a:ext cx="6105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RASTER DATA: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Comprised of raster cells—all the same size and all with a value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7E44F-128D-E55B-67E5-285CABBBAEB8}"/>
              </a:ext>
            </a:extLst>
          </p:cNvPr>
          <p:cNvSpPr txBox="1"/>
          <p:nvPr/>
        </p:nvSpPr>
        <p:spPr>
          <a:xfrm>
            <a:off x="5715000" y="399702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VECTOR DATA: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b="0" i="0" u="none" strike="noStrike" kern="1200" cap="none" dirty="0">
                <a:effectLst/>
                <a:latin typeface="Calibri"/>
                <a:ea typeface="Calibri"/>
                <a:cs typeface="Calibri"/>
                <a:sym typeface="Calibri"/>
              </a:rPr>
              <a:t>A representation of the world using points, lines, and polygons. Vector models are useful for storing data that has discrete boundaries, such as country borders, land parcels, and streets.</a:t>
            </a:r>
            <a:endParaRPr lang="en-US" sz="1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4A6B6-C1B1-5231-546F-8909B3770096}"/>
              </a:ext>
            </a:extLst>
          </p:cNvPr>
          <p:cNvSpPr txBox="1"/>
          <p:nvPr/>
        </p:nvSpPr>
        <p:spPr>
          <a:xfrm>
            <a:off x="2051050" y="5936346"/>
            <a:ext cx="732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Terminology comes from GIS. I worked with climate data  for &gt;10 years before coming across these terms!</a:t>
            </a:r>
          </a:p>
        </p:txBody>
      </p:sp>
    </p:spTree>
    <p:extLst>
      <p:ext uri="{BB962C8B-B14F-4D97-AF65-F5344CB8AC3E}">
        <p14:creationId xmlns:p14="http://schemas.microsoft.com/office/powerpoint/2010/main" val="172403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252D79-6D77-4510-4A84-05BE9E95DD9B}"/>
              </a:ext>
            </a:extLst>
          </p:cNvPr>
          <p:cNvSpPr/>
          <p:nvPr/>
        </p:nvSpPr>
        <p:spPr>
          <a:xfrm>
            <a:off x="2627312" y="2247900"/>
            <a:ext cx="6937375" cy="2590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51258-9BC7-BDCD-E40B-2A7B3FE5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975" y="2400300"/>
            <a:ext cx="6600687" cy="21844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DCAD0F9-8FD2-E29A-387E-68C2B97D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vs raster data</a:t>
            </a:r>
          </a:p>
        </p:txBody>
      </p:sp>
    </p:spTree>
    <p:extLst>
      <p:ext uri="{BB962C8B-B14F-4D97-AF65-F5344CB8AC3E}">
        <p14:creationId xmlns:p14="http://schemas.microsoft.com/office/powerpoint/2010/main" val="185942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/>
        </p:nvSpPr>
        <p:spPr>
          <a:xfrm>
            <a:off x="9460618" y="6400801"/>
            <a:ext cx="1207381" cy="2616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110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3dgolfcourse.com</a:t>
            </a:r>
          </a:p>
        </p:txBody>
      </p:sp>
      <p:pic>
        <p:nvPicPr>
          <p:cNvPr id="176" name="Shape 176" descr="http://www.3dgolfcourse.com/wp-content/uploads/2010/02/willow_creek_lidar_2_sm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3385439"/>
            <a:ext cx="4724400" cy="306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Shape 177" descr="http://www.nass.usda.gov/research/atlas02/Crops/Hay%20and%20Forage%20Crops%20Harvested/Forage%20-%20Land%20Used%20for%20All%20Hay%20and%20All%20Haylage,%20Grass%20Silage,%20and%20Greenchop,%20Harvested%20Acres%202002-choropleth%20map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1130744"/>
            <a:ext cx="4899772" cy="378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Shape 178"/>
          <p:cNvSpPr txBox="1"/>
          <p:nvPr/>
        </p:nvSpPr>
        <p:spPr>
          <a:xfrm>
            <a:off x="1752601" y="86379"/>
            <a:ext cx="8453761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Are these vector or raster?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land with different colors&#10;&#10;AI-generated content may be incorrect.">
            <a:extLst>
              <a:ext uri="{FF2B5EF4-FFF2-40B4-BE49-F238E27FC236}">
                <a16:creationId xmlns:a16="http://schemas.microsoft.com/office/drawing/2014/main" id="{870FEDE6-D3EA-3D14-B258-4254A70A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57" y="3725241"/>
            <a:ext cx="7857212" cy="2609298"/>
          </a:xfrm>
          <a:prstGeom prst="rect">
            <a:avLst/>
          </a:prstGeom>
        </p:spPr>
      </p:pic>
      <p:sp>
        <p:nvSpPr>
          <p:cNvPr id="4" name="Shape 178">
            <a:extLst>
              <a:ext uri="{FF2B5EF4-FFF2-40B4-BE49-F238E27FC236}">
                <a16:creationId xmlns:a16="http://schemas.microsoft.com/office/drawing/2014/main" id="{68AAFFCC-7A45-6569-603D-2E65D8426F7A}"/>
              </a:ext>
            </a:extLst>
          </p:cNvPr>
          <p:cNvSpPr txBox="1"/>
          <p:nvPr/>
        </p:nvSpPr>
        <p:spPr>
          <a:xfrm>
            <a:off x="471557" y="3017355"/>
            <a:ext cx="5902739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Thematic (discrete) data</a:t>
            </a:r>
          </a:p>
        </p:txBody>
      </p:sp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8B8791D-D31D-8864-5C4F-89D6E4111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186" y="913295"/>
            <a:ext cx="3788465" cy="2626669"/>
          </a:xfrm>
          <a:prstGeom prst="rect">
            <a:avLst/>
          </a:prstGeom>
        </p:spPr>
      </p:pic>
      <p:sp>
        <p:nvSpPr>
          <p:cNvPr id="7" name="Shape 178">
            <a:extLst>
              <a:ext uri="{FF2B5EF4-FFF2-40B4-BE49-F238E27FC236}">
                <a16:creationId xmlns:a16="http://schemas.microsoft.com/office/drawing/2014/main" id="{73E03BD3-E417-82BC-1287-74B7AA6BA7D4}"/>
              </a:ext>
            </a:extLst>
          </p:cNvPr>
          <p:cNvSpPr txBox="1"/>
          <p:nvPr/>
        </p:nvSpPr>
        <p:spPr>
          <a:xfrm>
            <a:off x="7807186" y="205409"/>
            <a:ext cx="4764157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Continuous data</a:t>
            </a:r>
          </a:p>
        </p:txBody>
      </p:sp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4D516178-F925-E216-5075-11FC20AFA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290995"/>
            <a:ext cx="3944112" cy="2385944"/>
          </a:xfrm>
          <a:prstGeom prst="rect">
            <a:avLst/>
          </a:prstGeom>
        </p:spPr>
      </p:pic>
      <p:sp>
        <p:nvSpPr>
          <p:cNvPr id="10" name="Shape 178">
            <a:extLst>
              <a:ext uri="{FF2B5EF4-FFF2-40B4-BE49-F238E27FC236}">
                <a16:creationId xmlns:a16="http://schemas.microsoft.com/office/drawing/2014/main" id="{D86CFB01-FCC2-4AE5-46B1-F2D8E27EABCA}"/>
              </a:ext>
            </a:extLst>
          </p:cNvPr>
          <p:cNvSpPr txBox="1"/>
          <p:nvPr/>
        </p:nvSpPr>
        <p:spPr>
          <a:xfrm>
            <a:off x="4384814" y="408056"/>
            <a:ext cx="2446679" cy="9039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Basemaps</a:t>
            </a:r>
          </a:p>
        </p:txBody>
      </p:sp>
    </p:spTree>
    <p:extLst>
      <p:ext uri="{BB962C8B-B14F-4D97-AF65-F5344CB8AC3E}">
        <p14:creationId xmlns:p14="http://schemas.microsoft.com/office/powerpoint/2010/main" val="3983193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d and yellow cubes&#10;&#10;AI-generated content may be incorrect.">
            <a:extLst>
              <a:ext uri="{FF2B5EF4-FFF2-40B4-BE49-F238E27FC236}">
                <a16:creationId xmlns:a16="http://schemas.microsoft.com/office/drawing/2014/main" id="{176C38B3-6ACE-BF49-4BC2-22FCFB9C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6" y="2622826"/>
            <a:ext cx="4064000" cy="1930400"/>
          </a:xfrm>
          <a:prstGeom prst="rect">
            <a:avLst/>
          </a:prstGeom>
        </p:spPr>
      </p:pic>
      <p:sp>
        <p:nvSpPr>
          <p:cNvPr id="4" name="Shape 178">
            <a:extLst>
              <a:ext uri="{FF2B5EF4-FFF2-40B4-BE49-F238E27FC236}">
                <a16:creationId xmlns:a16="http://schemas.microsoft.com/office/drawing/2014/main" id="{C3B41642-BA7C-1138-5086-7A61B96A3101}"/>
              </a:ext>
            </a:extLst>
          </p:cNvPr>
          <p:cNvSpPr txBox="1"/>
          <p:nvPr/>
        </p:nvSpPr>
        <p:spPr>
          <a:xfrm>
            <a:off x="445052" y="1755914"/>
            <a:ext cx="5902739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Arrays (multi-dimensional)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C5F47-329F-0E6F-A9F8-6CEFD9A92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165" y="2463800"/>
            <a:ext cx="4235174" cy="273736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95966E-31C9-BA64-1DC7-18E5334D3F5E}"/>
              </a:ext>
            </a:extLst>
          </p:cNvPr>
          <p:cNvCxnSpPr/>
          <p:nvPr/>
        </p:nvCxnSpPr>
        <p:spPr>
          <a:xfrm>
            <a:off x="5035826" y="3588026"/>
            <a:ext cx="177579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EBF3921-438C-B62A-4BCF-6EDFFC3D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966" y="5031408"/>
            <a:ext cx="28956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8109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Spatial data 101: Vector and raster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E98161-960E-4F70-8B08-E8FC4B895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03" y="1393433"/>
            <a:ext cx="5267121" cy="516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4F4CFA85-F712-4B60-AC03-20BD5332C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694" y="1393433"/>
            <a:ext cx="5685387" cy="516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F45C8A-8196-4BB1-9E7C-90C5B461CBF1}"/>
              </a:ext>
            </a:extLst>
          </p:cNvPr>
          <p:cNvSpPr txBox="1"/>
          <p:nvPr/>
        </p:nvSpPr>
        <p:spPr>
          <a:xfrm>
            <a:off x="226503" y="814111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Two maps of population density</a:t>
            </a:r>
          </a:p>
        </p:txBody>
      </p:sp>
    </p:spTree>
    <p:extLst>
      <p:ext uri="{BB962C8B-B14F-4D97-AF65-F5344CB8AC3E}">
        <p14:creationId xmlns:p14="http://schemas.microsoft.com/office/powerpoint/2010/main" val="190861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5630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Spatial data 101: File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532FD-85F2-45A6-9267-589448CEF03E}"/>
              </a:ext>
            </a:extLst>
          </p:cNvPr>
          <p:cNvSpPr txBox="1"/>
          <p:nvPr/>
        </p:nvSpPr>
        <p:spPr>
          <a:xfrm>
            <a:off x="572548" y="1003770"/>
            <a:ext cx="108364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i="1" u="none" strike="noStrike" dirty="0">
                <a:solidFill>
                  <a:srgbClr val="FF9900"/>
                </a:solidFill>
                <a:effectLst/>
              </a:rPr>
              <a:t>Vector: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 Shapefile, </a:t>
            </a:r>
            <a:r>
              <a:rPr lang="en-US" sz="2800" b="0" i="0" u="none" strike="noStrike" dirty="0" err="1">
                <a:solidFill>
                  <a:srgbClr val="FFFFFF"/>
                </a:solidFill>
                <a:effectLst/>
              </a:rPr>
              <a:t>GeoJSON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, KML, </a:t>
            </a:r>
            <a:r>
              <a:rPr lang="en-US" sz="2800" b="0" i="0" u="none" strike="noStrike" dirty="0" err="1">
                <a:solidFill>
                  <a:srgbClr val="FFFFFF"/>
                </a:solidFill>
                <a:effectLst/>
              </a:rPr>
              <a:t>Geopackage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, CSV, XLX,…</a:t>
            </a:r>
            <a:br>
              <a:rPr lang="en-US" sz="2800" b="0" i="0" u="none" strike="noStrike" dirty="0">
                <a:solidFill>
                  <a:srgbClr val="FFFFFF"/>
                </a:solidFill>
                <a:effectLst/>
              </a:rPr>
            </a:br>
            <a:endParaRPr lang="en-US" sz="2800" b="0" i="0" u="none" strike="noStrike" dirty="0">
              <a:solidFill>
                <a:srgbClr val="FFFFFF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i="1" u="none" strike="noStrike" dirty="0">
                <a:solidFill>
                  <a:srgbClr val="FF9900"/>
                </a:solidFill>
                <a:effectLst/>
              </a:rPr>
              <a:t>Raster: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 </a:t>
            </a:r>
            <a:r>
              <a:rPr lang="en-US" sz="2800" b="0" i="0" u="none" strike="noStrike" dirty="0" err="1">
                <a:solidFill>
                  <a:srgbClr val="FFFFFF"/>
                </a:solidFill>
                <a:effectLst/>
              </a:rPr>
              <a:t>GeoTIFF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, </a:t>
            </a:r>
            <a:r>
              <a:rPr lang="en-US" sz="2800" b="0" i="0" u="none" strike="noStrike" dirty="0" err="1">
                <a:solidFill>
                  <a:srgbClr val="FFFFFF"/>
                </a:solidFill>
                <a:effectLst/>
              </a:rPr>
              <a:t>NetCDF</a:t>
            </a:r>
            <a:r>
              <a:rPr lang="en-US" sz="2800" b="0" i="0" u="none" strike="noStrike" dirty="0">
                <a:solidFill>
                  <a:srgbClr val="FFFFFF"/>
                </a:solidFill>
                <a:effectLst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6927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45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Point pattern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94951" y="1096753"/>
            <a:ext cx="583873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How do we identify patterns in the distribution of point data?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Clustering and dispersion of point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Distribution of point incidents (disease, natural disasters, species, crime,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Relative frequency of subevents (strong tornadoes, particular disease variants, etc.)</a:t>
            </a:r>
          </a:p>
        </p:txBody>
      </p:sp>
      <p:pic>
        <p:nvPicPr>
          <p:cNvPr id="7" name="Shape 134" descr="Random Distribution of Points">
            <a:extLst>
              <a:ext uri="{FF2B5EF4-FFF2-40B4-BE49-F238E27FC236}">
                <a16:creationId xmlns:a16="http://schemas.microsoft.com/office/drawing/2014/main" id="{7F42CBDD-79A7-495D-B0BE-2A698D1264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8873" y="2505692"/>
            <a:ext cx="3194108" cy="2029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33" descr="Regular Distribution of Points">
            <a:extLst>
              <a:ext uri="{FF2B5EF4-FFF2-40B4-BE49-F238E27FC236}">
                <a16:creationId xmlns:a16="http://schemas.microsoft.com/office/drawing/2014/main" id="{DD58ECE0-EB30-4D44-A38A-4719E17202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8873" y="251900"/>
            <a:ext cx="3194108" cy="202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hape 135" descr="Clustered Distribution of Points">
            <a:extLst>
              <a:ext uri="{FF2B5EF4-FFF2-40B4-BE49-F238E27FC236}">
                <a16:creationId xmlns:a16="http://schemas.microsoft.com/office/drawing/2014/main" id="{66DB5254-E20F-4107-914E-7F53C9A1D5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8873" y="4759483"/>
            <a:ext cx="3194108" cy="1997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6235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5477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Nearest Neighbor Index</a:t>
            </a:r>
          </a:p>
        </p:txBody>
      </p:sp>
      <p:pic>
        <p:nvPicPr>
          <p:cNvPr id="3" name="Shape 99" descr="Regular Distribution of Points">
            <a:extLst>
              <a:ext uri="{FF2B5EF4-FFF2-40B4-BE49-F238E27FC236}">
                <a16:creationId xmlns:a16="http://schemas.microsoft.com/office/drawing/2014/main" id="{399FC99A-4825-4BE9-91B5-A6C00CBE8A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217" y="3892492"/>
            <a:ext cx="3644315" cy="249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100" descr="Random Distribution of Points">
            <a:extLst>
              <a:ext uri="{FF2B5EF4-FFF2-40B4-BE49-F238E27FC236}">
                <a16:creationId xmlns:a16="http://schemas.microsoft.com/office/drawing/2014/main" id="{F0F2D7D7-6779-4D36-B647-4F1CDA336A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503" y="3892492"/>
            <a:ext cx="3496811" cy="249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1" descr="Clustered Distribution of Points">
            <a:extLst>
              <a:ext uri="{FF2B5EF4-FFF2-40B4-BE49-F238E27FC236}">
                <a16:creationId xmlns:a16="http://schemas.microsoft.com/office/drawing/2014/main" id="{42A03B3E-3D01-465D-98B2-69F74F61736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6319" y="3892492"/>
            <a:ext cx="3772949" cy="24987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/>
              <p:nvPr/>
            </p:nvSpPr>
            <p:spPr>
              <a:xfrm>
                <a:off x="2514506" y="1456002"/>
                <a:ext cx="7162987" cy="1148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𝑎𝑣𝑒𝑟𝑎𝑔𝑒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𝑟𝑎𝑛𝑑𝑜𝑚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𝑑𝑖𝑠𝑡𝑟𝑖𝑏𝑢𝑡𝑖𝑜𝑛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06" y="1456002"/>
                <a:ext cx="7162987" cy="11489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9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Quadrats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94951" y="1096753"/>
            <a:ext cx="5838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Aggregating points to a </a:t>
            </a:r>
            <a:r>
              <a:rPr lang="en-US" sz="2800" dirty="0" err="1"/>
              <a:t>tessalated</a:t>
            </a:r>
            <a:r>
              <a:rPr lang="en-US" sz="2800" dirty="0"/>
              <a:t> grid, usually squares or hexagons</a:t>
            </a:r>
          </a:p>
        </p:txBody>
      </p:sp>
      <p:pic>
        <p:nvPicPr>
          <p:cNvPr id="14" name="Shape 199" descr="i3">
            <a:extLst>
              <a:ext uri="{FF2B5EF4-FFF2-40B4-BE49-F238E27FC236}">
                <a16:creationId xmlns:a16="http://schemas.microsoft.com/office/drawing/2014/main" id="{FC80FBA8-D3FC-426D-9DC4-E41011759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7086" y="650671"/>
            <a:ext cx="4868411" cy="483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 descr="Image result for quadrats gis">
            <a:extLst>
              <a:ext uri="{FF2B5EF4-FFF2-40B4-BE49-F238E27FC236}">
                <a16:creationId xmlns:a16="http://schemas.microsoft.com/office/drawing/2014/main" id="{D9AE83B5-D7F8-4294-B5F4-F7C26E7C4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53" y="2333502"/>
            <a:ext cx="4294841" cy="42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50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463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Let’s try it!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05785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Dollar stores in Atlanta</a:t>
            </a:r>
          </a:p>
          <a:p>
            <a:r>
              <a:rPr lang="en-US" sz="2800" dirty="0"/>
              <a:t>Create a quadrat grid of 1.5 or 3 inch squares</a:t>
            </a:r>
          </a:p>
          <a:p>
            <a:r>
              <a:rPr lang="en-US" sz="2800" dirty="0"/>
              <a:t>Count the total stores for each chain in each grid cell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298B3-8D26-49D4-B154-8FDEBFB8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93" y="2432623"/>
            <a:ext cx="6170427" cy="43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4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3807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Location quotient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9" y="814111"/>
            <a:ext cx="87748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Relative incidence of a particular event</a:t>
            </a:r>
          </a:p>
          <a:p>
            <a:r>
              <a:rPr lang="en-US" sz="2800" dirty="0"/>
              <a:t>Pick a chain and count just those points</a:t>
            </a:r>
          </a:p>
          <a:p>
            <a:r>
              <a:rPr lang="en-US" sz="2800" dirty="0"/>
              <a:t>What is the percentage of all stores for each grid cell?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76262-978E-463F-9DEC-F3F16540A5A8}"/>
              </a:ext>
            </a:extLst>
          </p:cNvPr>
          <p:cNvSpPr/>
          <p:nvPr/>
        </p:nvSpPr>
        <p:spPr>
          <a:xfrm>
            <a:off x="381790" y="4549316"/>
            <a:ext cx="50417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For the whole area: </a:t>
            </a:r>
          </a:p>
          <a:p>
            <a:r>
              <a:rPr lang="en-US" sz="2800" dirty="0"/>
              <a:t>Dollar General: 31% (93/305)</a:t>
            </a:r>
          </a:p>
          <a:p>
            <a:r>
              <a:rPr lang="en-US" sz="2800" dirty="0"/>
              <a:t>Dollar Tree: 28% (86/305)</a:t>
            </a:r>
          </a:p>
          <a:p>
            <a:r>
              <a:rPr lang="en-US" sz="2800" dirty="0"/>
              <a:t>Family Dollar: 41% (126/305)</a:t>
            </a: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/>
              <p:nvPr/>
            </p:nvSpPr>
            <p:spPr>
              <a:xfrm>
                <a:off x="873126" y="2717957"/>
                <a:ext cx="3142527" cy="1064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𝑠𝑢𝑏𝑎𝑟𝑒𝑎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26" y="2717957"/>
                <a:ext cx="3142527" cy="1064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A817E69-CAB7-4843-BED1-8D4B2680E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260" y="2432623"/>
            <a:ext cx="6170427" cy="43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83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7428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Modifiable Areal Unit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How did our quadrat maps vary?</a:t>
            </a:r>
          </a:p>
        </p:txBody>
      </p:sp>
      <p:pic>
        <p:nvPicPr>
          <p:cNvPr id="5" name="Shape 237" descr="http://openi.nlm.nih.gov/imgs/rescaled512/2872318_ijerph-07-01002f2.png">
            <a:extLst>
              <a:ext uri="{FF2B5EF4-FFF2-40B4-BE49-F238E27FC236}">
                <a16:creationId xmlns:a16="http://schemas.microsoft.com/office/drawing/2014/main" id="{BCCD4620-31DB-4BCC-B32E-E1A8C8C940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6475" y="0"/>
            <a:ext cx="43355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71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696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Mean center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average X/Y coordinate of each point?</a:t>
            </a:r>
          </a:p>
          <a:p>
            <a:r>
              <a:rPr lang="en-US" sz="2400" dirty="0"/>
              <a:t>Open the </a:t>
            </a:r>
            <a:r>
              <a:rPr lang="en-US" sz="2400" dirty="0" err="1"/>
              <a:t>dollarstores_atlcore</a:t>
            </a:r>
            <a:r>
              <a:rPr lang="en-US" sz="2400" dirty="0"/>
              <a:t> CSV file in Excel/Sheets (file is in the repo)</a:t>
            </a:r>
          </a:p>
          <a:p>
            <a:r>
              <a:rPr lang="en-US" sz="2400" dirty="0"/>
              <a:t>What’s the mean X and Y coordinate for each store chain?</a:t>
            </a:r>
          </a:p>
          <a:p>
            <a:r>
              <a:rPr lang="en-US" sz="2400" dirty="0"/>
              <a:t>Where are each of those points located?</a:t>
            </a:r>
          </a:p>
          <a:p>
            <a:r>
              <a:rPr lang="en-US" sz="2400" dirty="0"/>
              <a:t>What does this mean?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E7C25-1594-4031-A337-CD6C2A98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83" y="2799436"/>
            <a:ext cx="5198312" cy="38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7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C5AC6-DA52-7E39-FD9B-D3110E7C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6027"/>
            <a:ext cx="7772400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8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1"/>
            <a:ext cx="7943068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Calisto MT" panose="02040603050505030304" pitchFamily="18" charset="0"/>
                <a:ea typeface="Gill Sans MT"/>
                <a:cs typeface="Arial" panose="020B0604020202020204" pitchFamily="34" charset="0"/>
                <a:sym typeface="Gill Sans MT"/>
              </a:rPr>
              <a:t>Kernel density estimation</a:t>
            </a:r>
          </a:p>
        </p:txBody>
      </p:sp>
      <p:pic>
        <p:nvPicPr>
          <p:cNvPr id="1026" name="Picture 2" descr="http://up206a.yohman.com/wp-content/uploads/2012/12/DAYViolenceS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920" y="1181448"/>
            <a:ext cx="5716669" cy="537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210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1"/>
            <a:ext cx="7943068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Calisto MT" panose="02040603050505030304" pitchFamily="18" charset="0"/>
                <a:ea typeface="Gill Sans MT"/>
                <a:cs typeface="Arial" panose="020B0604020202020204" pitchFamily="34" charset="0"/>
                <a:sym typeface="Gill Sans MT"/>
              </a:rPr>
              <a:t>Kernel density estimation</a:t>
            </a:r>
          </a:p>
        </p:txBody>
      </p:sp>
      <p:pic>
        <p:nvPicPr>
          <p:cNvPr id="2050" name="Picture 2" descr="Comparison of the histogram (left) and kernel density estimate (right) constructed using the same data. The 6 individual kernels are the red dashed curves, the kernel density estimate the blue curves. The data points are the rug plot on the horizontal axi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836" y="3270826"/>
            <a:ext cx="6760633" cy="338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kernel den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98" y="1497638"/>
            <a:ext cx="3670300" cy="295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281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2"/>
            <a:ext cx="9907571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+mj-lt"/>
                <a:ea typeface="Gill Sans MT"/>
                <a:cs typeface="Arial" panose="020B0604020202020204" pitchFamily="34" charset="0"/>
                <a:sym typeface="Gill Sans MT"/>
              </a:rPr>
              <a:t>Problems with kernel density estimation</a:t>
            </a:r>
          </a:p>
        </p:txBody>
      </p:sp>
      <p:pic>
        <p:nvPicPr>
          <p:cNvPr id="3074" name="Picture 2" descr="Image result for popcorn kernel density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920" y="3713700"/>
            <a:ext cx="5412739" cy="258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edar rapids kern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3405027"/>
            <a:ext cx="4948725" cy="325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198"/>
          <p:cNvSpPr/>
          <p:nvPr/>
        </p:nvSpPr>
        <p:spPr>
          <a:xfrm>
            <a:off x="922985" y="1036044"/>
            <a:ext cx="8698300" cy="26776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733" dirty="0">
                <a:latin typeface="Calisto MT" panose="02040603050505030304" pitchFamily="18" charset="0"/>
                <a:ea typeface="Gill Sans MT"/>
                <a:cs typeface="Gill Sans MT"/>
                <a:sym typeface="Gill Sans MT"/>
              </a:rPr>
              <a:t>Fuzzy estimates rather than precise points</a:t>
            </a:r>
          </a:p>
          <a:p>
            <a:pPr>
              <a:buSzPct val="25000"/>
            </a:pPr>
            <a:r>
              <a:rPr lang="en-US" sz="3733" dirty="0">
                <a:latin typeface="Calisto MT" panose="02040603050505030304" pitchFamily="18" charset="0"/>
                <a:ea typeface="Gill Sans MT"/>
                <a:cs typeface="Gill Sans MT"/>
                <a:sym typeface="Gill Sans MT"/>
              </a:rPr>
              <a:t>Influential outliers</a:t>
            </a:r>
          </a:p>
        </p:txBody>
      </p:sp>
    </p:spTree>
    <p:extLst>
      <p:ext uri="{BB962C8B-B14F-4D97-AF65-F5344CB8AC3E}">
        <p14:creationId xmlns:p14="http://schemas.microsoft.com/office/powerpoint/2010/main" val="3064604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Lab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Mapping reported crime in Spokane, WA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 centers by type of offense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Calculating crime rates by precinct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Calculating the LQ for burglaries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Bonus: Creating a quadrat map</a:t>
            </a:r>
          </a:p>
        </p:txBody>
      </p:sp>
    </p:spTree>
    <p:extLst>
      <p:ext uri="{BB962C8B-B14F-4D97-AF65-F5344CB8AC3E}">
        <p14:creationId xmlns:p14="http://schemas.microsoft.com/office/powerpoint/2010/main" val="2457507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406</TotalTime>
  <Words>1098</Words>
  <Application>Microsoft Macintosh PowerPoint</Application>
  <PresentationFormat>Widescreen</PresentationFormat>
  <Paragraphs>151</Paragraphs>
  <Slides>22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Calisto MT</vt:lpstr>
      <vt:lpstr>Cambria Math</vt:lpstr>
      <vt:lpstr>Wingdings</vt:lpstr>
      <vt:lpstr>Wingdings 2</vt:lpstr>
      <vt:lpstr>Slate</vt:lpstr>
      <vt:lpstr>Week 5: Spatial data; Point pattern analysis</vt:lpstr>
      <vt:lpstr>PowerPoint Presentation</vt:lpstr>
      <vt:lpstr>Vector and raster data – which is which?</vt:lpstr>
      <vt:lpstr>Vector and raster data</vt:lpstr>
      <vt:lpstr>Vector vs raster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Anna Harper</cp:lastModifiedBy>
  <cp:revision>37</cp:revision>
  <dcterms:created xsi:type="dcterms:W3CDTF">2021-09-02T15:10:57Z</dcterms:created>
  <dcterms:modified xsi:type="dcterms:W3CDTF">2025-09-22T19:45:48Z</dcterms:modified>
</cp:coreProperties>
</file>