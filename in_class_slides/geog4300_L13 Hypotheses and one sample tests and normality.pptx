
<file path=[Content_Types].xml><?xml version="1.0" encoding="utf-8"?>
<Types xmlns="http://schemas.openxmlformats.org/package/2006/content-types"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732" r:id="rId1"/>
  </p:sldMasterIdLst>
  <p:notesMasterIdLst>
    <p:notesMasterId r:id="rId24"/>
  </p:notesMasterIdLst>
  <p:sldIdLst>
    <p:sldId id="256" r:id="rId2"/>
    <p:sldId id="295" r:id="rId3"/>
    <p:sldId id="318" r:id="rId4"/>
    <p:sldId id="306" r:id="rId5"/>
    <p:sldId id="319" r:id="rId6"/>
    <p:sldId id="297" r:id="rId7"/>
    <p:sldId id="269" r:id="rId8"/>
    <p:sldId id="320" r:id="rId9"/>
    <p:sldId id="298" r:id="rId10"/>
    <p:sldId id="321" r:id="rId11"/>
    <p:sldId id="299" r:id="rId12"/>
    <p:sldId id="304" r:id="rId13"/>
    <p:sldId id="296" r:id="rId14"/>
    <p:sldId id="322" r:id="rId15"/>
    <p:sldId id="329" r:id="rId16"/>
    <p:sldId id="317" r:id="rId17"/>
    <p:sldId id="323" r:id="rId18"/>
    <p:sldId id="307" r:id="rId19"/>
    <p:sldId id="308" r:id="rId20"/>
    <p:sldId id="324" r:id="rId21"/>
    <p:sldId id="326" r:id="rId22"/>
    <p:sldId id="262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Shape 4"/>
          <p:cNvSpPr txBox="1">
            <a:spLocks noGrp="1"/>
          </p:cNvSpPr>
          <p:nvPr>
            <p:ph type="dt" idx="10"/>
          </p:nvPr>
        </p:nvSpPr>
        <p:spPr>
          <a:xfrm>
            <a:off x="3884612" y="0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Shape 5"/>
          <p:cNvSpPr>
            <a:spLocks noGrp="1" noRot="1" noChangeAspect="1"/>
          </p:cNvSpPr>
          <p:nvPr>
            <p:ph type="sldImg" idx="3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6" name="Shape 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t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Shape 7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91425" rIns="91425" bIns="91425" anchor="b" anchorCtr="0"/>
          <a:lstStyle>
            <a:lvl1pPr marL="0" marR="0" lvl="0" indent="0" algn="l" rtl="0">
              <a:spcBef>
                <a:spcPts val="0"/>
              </a:spcBef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457200" marR="0" lvl="1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914400" marR="0" lvl="2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371600" marR="0" lvl="3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1828800" marR="0" lvl="4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286000" marR="0" lvl="5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2743200" marR="0" lvl="6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200400" marR="0" lvl="7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3657600" marR="0" lvl="8" indent="0" algn="l" rtl="0">
              <a:spcBef>
                <a:spcPts val="0"/>
              </a:spcBef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Shape 8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692565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9885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633318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7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9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124923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11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4129849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12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76913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13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03823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15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583557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16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762911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18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20064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Shape 12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28" name="Shape 12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Shape 12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19</a:t>
            </a:fld>
            <a:endParaRPr lang="en-US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5483379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1724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Shape 97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98" name="Shape 98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r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Alternative hypothesis is usually what you’re trying to prove.</a:t>
            </a:r>
          </a:p>
        </p:txBody>
      </p:sp>
      <p:sp>
        <p:nvSpPr>
          <p:cNvPr id="99" name="Shape 99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00379491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Shape 135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0" t="0" r="0" b="0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sp>
      <p:sp>
        <p:nvSpPr>
          <p:cNvPr id="136" name="Shape 136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buSzPct val="25000"/>
              <a:buNone/>
            </a:pP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Shape 137"/>
          <p:cNvSpPr txBox="1">
            <a:spLocks noGrp="1"/>
          </p:cNvSpPr>
          <p:nvPr>
            <p:ph type="sldNum" idx="12"/>
          </p:nvPr>
        </p:nvSpPr>
        <p:spPr>
          <a:xfrm>
            <a:off x="3884612" y="8685213"/>
            <a:ext cx="2971799" cy="4572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buSzPct val="25000"/>
              <a:buNone/>
            </a:pPr>
            <a:fld id="{00000000-1234-1234-1234-123412341234}" type="slidenum"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22</a:t>
            </a:fld>
            <a:endParaRPr lang="en-US"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6400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142212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874142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129426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0684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583480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196197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>
              <a:solidFill>
                <a:srgbClr val="88888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66828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5156164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416505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42414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bg1"/>
                </a:solidFill>
              </a:defRPr>
            </a:lvl1pPr>
          </a:lstStyle>
          <a:p>
            <a:pPr>
              <a:buSzPct val="25000"/>
            </a:pPr>
            <a:fld id="{00000000-1234-1234-1234-123412341234}" type="slidenum">
              <a:rPr lang="en-US" sz="1200" smtClean="0">
                <a:latin typeface="Calibri"/>
                <a:ea typeface="Calibri"/>
                <a:cs typeface="Calibri"/>
                <a:sym typeface="Calibri"/>
              </a:rPr>
              <a:pPr>
                <a:buSzPct val="25000"/>
              </a:pPr>
              <a:t>‹#›</a:t>
            </a:fld>
            <a:endParaRPr lang="en-US" sz="1200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79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hf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</a:schemeClr>
          </a:solidFill>
          <a:latin typeface="Sitka Display Semibold" pitchFamily="2" charset="0"/>
          <a:ea typeface="+mj-ea"/>
          <a:cs typeface="+mj-cs"/>
        </a:defRPr>
      </a:lvl1pPr>
    </p:titleStyle>
    <p:bodyStyle>
      <a:lvl1pPr marL="233363" indent="-2333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1">
            <a:lumMod val="75000"/>
          </a:schemeClr>
        </a:buClr>
        <a:buSzPct val="100000"/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tx1">
            <a:lumMod val="75000"/>
          </a:schemeClr>
        </a:buClr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</a:schemeClr>
          </a:solidFill>
          <a:latin typeface="Segoe UI" panose="020B0502040204020203" pitchFamily="34" charset="0"/>
          <a:ea typeface="Open Sans Medium" pitchFamily="2" charset="0"/>
          <a:cs typeface="Segoe UI" panose="020B0502040204020203" pitchFamily="34" charset="0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DA1E6-0A9B-4FAD-9E42-B37B3CA5D7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4917" y="3256958"/>
            <a:ext cx="9440034" cy="1828801"/>
          </a:xfrm>
        </p:spPr>
        <p:txBody>
          <a:bodyPr>
            <a:noAutofit/>
          </a:bodyPr>
          <a:lstStyle/>
          <a:p>
            <a:r>
              <a:rPr lang="en-US" sz="4400" dirty="0"/>
              <a:t>Tests of difference; Hypothesis testing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6D1488-58DF-4A33-AC86-D6B690A68D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917" y="5085757"/>
            <a:ext cx="9440034" cy="1049867"/>
          </a:xfrm>
        </p:spPr>
        <p:txBody>
          <a:bodyPr>
            <a:normAutofit/>
          </a:bodyPr>
          <a:lstStyle/>
          <a:p>
            <a:r>
              <a:rPr lang="en-US" sz="3200" dirty="0"/>
              <a:t>Geog4/6300</a:t>
            </a:r>
          </a:p>
        </p:txBody>
      </p:sp>
      <p:pic>
        <p:nvPicPr>
          <p:cNvPr id="5" name="Shape 121" descr="http://my.execpc.com/~helberg/pitfalls/power.GIF">
            <a:extLst>
              <a:ext uri="{FF2B5EF4-FFF2-40B4-BE49-F238E27FC236}">
                <a16:creationId xmlns:a16="http://schemas.microsoft.com/office/drawing/2014/main" id="{4AE21C7F-A5FA-4EE9-A71D-1365A637BE00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806144" y="357231"/>
            <a:ext cx="4579712" cy="343478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64645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122112" y="528087"/>
            <a:ext cx="571760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3200" b="1" dirty="0">
                <a:latin typeface="+mj-lt"/>
                <a:ea typeface="Gill Sans MT"/>
                <a:cs typeface="Gill Sans MT"/>
                <a:sym typeface="Gill Sans MT"/>
              </a:rPr>
              <a:t>Ingredients of classical hypothesis testing</a:t>
            </a:r>
          </a:p>
        </p:txBody>
      </p:sp>
      <p:pic>
        <p:nvPicPr>
          <p:cNvPr id="3" name="Picture 2" descr="A picture containing text&#10;&#10;Description automatically generated">
            <a:extLst>
              <a:ext uri="{FF2B5EF4-FFF2-40B4-BE49-F238E27FC236}">
                <a16:creationId xmlns:a16="http://schemas.microsoft.com/office/drawing/2014/main" id="{3DC1E106-D16E-FD3D-A494-FB188A31F7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8972" y="0"/>
            <a:ext cx="530257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7F85CEB-23D6-D157-E282-359D3612BCCB}"/>
              </a:ext>
            </a:extLst>
          </p:cNvPr>
          <p:cNvSpPr txBox="1"/>
          <p:nvPr/>
        </p:nvSpPr>
        <p:spPr>
          <a:xfrm>
            <a:off x="1122112" y="1837266"/>
            <a:ext cx="530257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94100" indent="-457200">
              <a:buFont typeface="+mj-lt"/>
              <a:buAutoNum type="arabicPeriod"/>
            </a:pPr>
            <a:r>
              <a:rPr lang="en-US" sz="2400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r>
              <a:rPr lang="en-US" sz="2400" dirty="0"/>
              <a:t>Make a decision</a:t>
            </a:r>
          </a:p>
        </p:txBody>
      </p:sp>
    </p:spTree>
    <p:extLst>
      <p:ext uri="{BB962C8B-B14F-4D97-AF65-F5344CB8AC3E}">
        <p14:creationId xmlns:p14="http://schemas.microsoft.com/office/powerpoint/2010/main" val="15121743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AA871-6CBD-627E-43BD-B3CC1BF30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FA01F4-EC19-DF86-758F-5A2D790D3B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Shape 103">
            <a:extLst>
              <a:ext uri="{FF2B5EF4-FFF2-40B4-BE49-F238E27FC236}">
                <a16:creationId xmlns:a16="http://schemas.microsoft.com/office/drawing/2014/main" id="{D8E98D09-88C8-C2FE-F80F-9E7732206421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28047" y="2676675"/>
            <a:ext cx="4076749" cy="1500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Shape 104">
            <a:extLst>
              <a:ext uri="{FF2B5EF4-FFF2-40B4-BE49-F238E27FC236}">
                <a16:creationId xmlns:a16="http://schemas.microsoft.com/office/drawing/2014/main" id="{CA9AA19F-EB7C-4A54-D5D9-27AD6779167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75705" y="2676675"/>
            <a:ext cx="4153324" cy="2714849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2340418-D3E3-6C8E-8187-0DCC205DCD10}"/>
              </a:ext>
            </a:extLst>
          </p:cNvPr>
          <p:cNvSpPr txBox="1"/>
          <p:nvPr/>
        </p:nvSpPr>
        <p:spPr>
          <a:xfrm>
            <a:off x="766790" y="4468194"/>
            <a:ext cx="488289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/>
              <a:t>Focuses on the assumption that no differences exist.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53D115-89BA-575D-745D-3C9BA2A84C2E}"/>
              </a:ext>
            </a:extLst>
          </p:cNvPr>
          <p:cNvSpPr txBox="1"/>
          <p:nvPr/>
        </p:nvSpPr>
        <p:spPr>
          <a:xfrm>
            <a:off x="8932610" y="3761824"/>
            <a:ext cx="2231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Two-tailed test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B56F5D-E5A7-D7F0-59DC-FB4A07FEC4C1}"/>
              </a:ext>
            </a:extLst>
          </p:cNvPr>
          <p:cNvSpPr txBox="1"/>
          <p:nvPr/>
        </p:nvSpPr>
        <p:spPr>
          <a:xfrm>
            <a:off x="8932610" y="4508395"/>
            <a:ext cx="22313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0070C0"/>
                </a:solidFill>
              </a:rPr>
              <a:t>One-tailed test</a:t>
            </a:r>
          </a:p>
        </p:txBody>
      </p:sp>
    </p:spTree>
    <p:extLst>
      <p:ext uri="{BB962C8B-B14F-4D97-AF65-F5344CB8AC3E}">
        <p14:creationId xmlns:p14="http://schemas.microsoft.com/office/powerpoint/2010/main" val="2234350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161288" y="891670"/>
            <a:ext cx="789404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Hypothesizing 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D516A0-E7F0-4BE5-B2C9-019EEC54CF54}"/>
              </a:ext>
            </a:extLst>
          </p:cNvPr>
          <p:cNvSpPr/>
          <p:nvPr/>
        </p:nvSpPr>
        <p:spPr>
          <a:xfrm>
            <a:off x="1161288" y="1822384"/>
            <a:ext cx="10947632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Give the null and alterative hypothesis for the following research questions.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average commute time higher on Mondays than it is the rest of the week?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amount of property damage from severe weather different between southern states?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there an association between college teams’ football records and rates of student enrollment?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Is the rate of flu cases low in our area compared to our state?</a:t>
            </a:r>
          </a:p>
        </p:txBody>
      </p:sp>
    </p:spTree>
    <p:extLst>
      <p:ext uri="{BB962C8B-B14F-4D97-AF65-F5344CB8AC3E}">
        <p14:creationId xmlns:p14="http://schemas.microsoft.com/office/powerpoint/2010/main" val="2478345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BB351-15C2-F1A0-1A9D-045E17FC6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414F-F76A-5296-ECE0-FF01F467F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E3139B-A7C5-EC06-B1F5-1ABC74EED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4979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37472" y="792875"/>
            <a:ext cx="9387271" cy="85304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Tests of difference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137473" y="1965258"/>
            <a:ext cx="10164169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What is the specific purpose of this test? When would you use it rather than another one?</a:t>
            </a:r>
          </a:p>
          <a:p>
            <a:endParaRPr lang="en-US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One sample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t-test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Two sample </a:t>
            </a:r>
            <a:r>
              <a:rPr lang="en-US" sz="2800" u="sng" dirty="0"/>
              <a:t>paired</a:t>
            </a:r>
            <a:r>
              <a:rPr lang="en-US" sz="2800" dirty="0"/>
              <a:t>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Non-parametric (Wilcoxon) t-test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Difference test between two proportions</a:t>
            </a:r>
          </a:p>
        </p:txBody>
      </p:sp>
    </p:spTree>
    <p:extLst>
      <p:ext uri="{BB962C8B-B14F-4D97-AF65-F5344CB8AC3E}">
        <p14:creationId xmlns:p14="http://schemas.microsoft.com/office/powerpoint/2010/main" val="127034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298448" y="869114"/>
            <a:ext cx="5901571" cy="854295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r>
              <a:rPr lang="en-US" sz="4000" b="1" dirty="0"/>
              <a:t>Types of difference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BB346CA-0C4A-4799-9F7F-E0258BF65DE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964" y="1865472"/>
            <a:ext cx="9166223" cy="42679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33A504-F633-0EEC-99D2-3F96255680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9BAC83-330D-113E-4C64-9277E3B4A7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E7EC3-37C4-B133-CC88-8105E85947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52432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1101109" y="854421"/>
            <a:ext cx="6567738" cy="937803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Select level of significance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pic>
        <p:nvPicPr>
          <p:cNvPr id="4" name="Shape 153" descr="http://www.biochemia-medica.com/sites/default/files/Marusteri_M._Statistical_test_selection_when_comparing_groups_Fig._3.jpg">
            <a:extLst>
              <a:ext uri="{FF2B5EF4-FFF2-40B4-BE49-F238E27FC236}">
                <a16:creationId xmlns:a16="http://schemas.microsoft.com/office/drawing/2014/main" id="{F77A2C1E-7756-44BD-9939-354C5123333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09360" y="2122185"/>
            <a:ext cx="5302740" cy="3653571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C7441C5-4496-43B4-8C0B-7E4EF33586AA}"/>
              </a:ext>
            </a:extLst>
          </p:cNvPr>
          <p:cNvSpPr/>
          <p:nvPr/>
        </p:nvSpPr>
        <p:spPr>
          <a:xfrm>
            <a:off x="1212746" y="2122185"/>
            <a:ext cx="4426261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P &lt; 0.05:</a:t>
            </a:r>
          </a:p>
          <a:p>
            <a:endParaRPr lang="en-US" sz="2800" dirty="0"/>
          </a:p>
          <a:p>
            <a:r>
              <a:rPr lang="en-US" sz="2800" dirty="0"/>
              <a:t>The probability that this sample comes from a population in which the two means are equal is less than 5%</a:t>
            </a:r>
          </a:p>
        </p:txBody>
      </p:sp>
    </p:spTree>
    <p:extLst>
      <p:ext uri="{BB962C8B-B14F-4D97-AF65-F5344CB8AC3E}">
        <p14:creationId xmlns:p14="http://schemas.microsoft.com/office/powerpoint/2010/main" val="7892157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968891-6880-885C-080F-2388AEA1DA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536766-EC03-7A13-656F-CB8C6FCDE6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4A7800-9B92-C341-EB7C-1E82A00414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4209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346409" y="217048"/>
            <a:ext cx="649827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Delineate regions of rejection / non-rejection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449333" y="2070175"/>
            <a:ext cx="6292426" cy="35394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800" dirty="0"/>
          </a:p>
          <a:p>
            <a:r>
              <a:rPr lang="en-US" sz="2800" b="1" dirty="0"/>
              <a:t>Degrees of freedom: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One sample test: n-1 (24 in our case)</a:t>
            </a: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b="1" dirty="0"/>
              <a:t>Critical value: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Based on confidence level (alpha) and </a:t>
            </a:r>
            <a:r>
              <a:rPr lang="en-US" sz="2800" dirty="0" err="1">
                <a:ea typeface="Gill Sans MT"/>
                <a:cs typeface="Gill Sans MT"/>
                <a:sym typeface="Gill Sans MT"/>
              </a:rPr>
              <a:t>df</a:t>
            </a:r>
            <a:endParaRPr lang="en-US" sz="2800" dirty="0">
              <a:ea typeface="Gill Sans MT"/>
              <a:cs typeface="Gill Sans MT"/>
              <a:sym typeface="Gill Sans MT"/>
            </a:endParaRPr>
          </a:p>
          <a:p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897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449333" y="2035975"/>
            <a:ext cx="6292426" cy="31085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endParaRPr lang="en-US" sz="2800" dirty="0"/>
          </a:p>
          <a:p>
            <a:r>
              <a:rPr lang="en-US" sz="2800" b="1" dirty="0"/>
              <a:t>Degrees of freedom: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One sample test: n-1 (24 in our case)</a:t>
            </a:r>
          </a:p>
          <a:p>
            <a:pPr lvl="0">
              <a:buSzPct val="25000"/>
            </a:pPr>
            <a:endParaRPr lang="en-US"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b="1" dirty="0"/>
              <a:t>Critical value:</a:t>
            </a:r>
            <a:r>
              <a:rPr lang="en-US" sz="2800" b="1" i="1" dirty="0"/>
              <a:t> </a:t>
            </a:r>
          </a:p>
          <a:p>
            <a:pPr lvl="0"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Based on confidence level (alpha) and </a:t>
            </a:r>
            <a:r>
              <a:rPr lang="en-US" sz="2800" dirty="0" err="1">
                <a:ea typeface="Gill Sans MT"/>
                <a:cs typeface="Gill Sans MT"/>
                <a:sym typeface="Gill Sans MT"/>
              </a:rPr>
              <a:t>df</a:t>
            </a:r>
            <a:endParaRPr lang="en-US" sz="2800" dirty="0">
              <a:ea typeface="Gill Sans MT"/>
              <a:cs typeface="Gill Sans MT"/>
              <a:sym typeface="Gill Sans MT"/>
            </a:endParaRPr>
          </a:p>
          <a:p>
            <a:endParaRPr lang="en-US" sz="28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0205293-1399-BE51-D550-8629D2FF6FFB}"/>
              </a:ext>
            </a:extLst>
          </p:cNvPr>
          <p:cNvSpPr/>
          <p:nvPr/>
        </p:nvSpPr>
        <p:spPr>
          <a:xfrm>
            <a:off x="9170126" y="5048723"/>
            <a:ext cx="357051" cy="148046"/>
          </a:xfrm>
          <a:prstGeom prst="rect">
            <a:avLst/>
          </a:prstGeom>
          <a:solidFill>
            <a:srgbClr val="BC451B">
              <a:alpha val="30196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C4B9E33-607B-ADA3-25EA-F896ADD8D9E2}"/>
              </a:ext>
            </a:extLst>
          </p:cNvPr>
          <p:cNvCxnSpPr>
            <a:cxnSpLocks/>
          </p:cNvCxnSpPr>
          <p:nvPr/>
        </p:nvCxnSpPr>
        <p:spPr>
          <a:xfrm>
            <a:off x="5054354" y="4724400"/>
            <a:ext cx="4115772" cy="441889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24E09D01-F474-B998-4EC3-80A032AF710D}"/>
              </a:ext>
            </a:extLst>
          </p:cNvPr>
          <p:cNvSpPr/>
          <p:nvPr/>
        </p:nvSpPr>
        <p:spPr>
          <a:xfrm>
            <a:off x="346408" y="283244"/>
            <a:ext cx="6498275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Delineate regions of rejection / non-rejection</a:t>
            </a:r>
          </a:p>
        </p:txBody>
      </p:sp>
    </p:spTree>
    <p:extLst>
      <p:ext uri="{BB962C8B-B14F-4D97-AF65-F5344CB8AC3E}">
        <p14:creationId xmlns:p14="http://schemas.microsoft.com/office/powerpoint/2010/main" val="35620807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1067247" y="845858"/>
            <a:ext cx="7894040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Reject or fail to reject?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DD516A0-E7F0-4BE5-B2C9-019EEC54CF54}"/>
              </a:ext>
            </a:extLst>
          </p:cNvPr>
          <p:cNvSpPr/>
          <p:nvPr/>
        </p:nvSpPr>
        <p:spPr>
          <a:xfrm>
            <a:off x="1067247" y="2032696"/>
            <a:ext cx="11325137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Based on test results, we </a:t>
            </a:r>
            <a:r>
              <a:rPr lang="en-US" sz="2400" b="1" i="1" dirty="0">
                <a:solidFill>
                  <a:schemeClr val="accent1">
                    <a:lumMod val="50000"/>
                  </a:schemeClr>
                </a:solidFill>
              </a:rPr>
              <a:t>reject</a:t>
            </a:r>
            <a:r>
              <a:rPr lang="en-US" sz="2400" b="1" i="1" dirty="0"/>
              <a:t> </a:t>
            </a:r>
            <a:r>
              <a:rPr lang="en-US" sz="2400" dirty="0"/>
              <a:t>or </a:t>
            </a:r>
            <a:r>
              <a:rPr lang="en-US" sz="2400" b="1" i="1" dirty="0">
                <a:solidFill>
                  <a:schemeClr val="accent1">
                    <a:lumMod val="50000"/>
                  </a:schemeClr>
                </a:solidFill>
              </a:rPr>
              <a:t>fail to reject</a:t>
            </a:r>
            <a:r>
              <a:rPr lang="en-US" sz="2400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2400" dirty="0"/>
              <a:t>the null hypothesis.</a:t>
            </a:r>
          </a:p>
          <a:p>
            <a:endParaRPr lang="en-US" sz="2400" dirty="0"/>
          </a:p>
          <a:p>
            <a:r>
              <a:rPr lang="en-US" sz="2400" dirty="0"/>
              <a:t>We don’t prove or disprove it, but show it is likely or unlikely to be true.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E4C960-41A8-4697-835A-DC13BB9B445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2991"/>
          <a:stretch/>
        </p:blipFill>
        <p:spPr>
          <a:xfrm>
            <a:off x="6285535" y="3624976"/>
            <a:ext cx="5351504" cy="2568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5974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ED8D2-0AB3-1692-BFF6-098D210AF3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FDC62-446A-50C3-7139-FE8CAEC8EF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AF3CE8-17F9-BDFC-556B-3C881A4104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D4EC2-0A9A-AC9E-B7F2-D0D947AAD878}"/>
                  </a:ext>
                </a:extLst>
              </p:cNvPr>
              <p:cNvSpPr txBox="1"/>
              <p:nvPr/>
            </p:nvSpPr>
            <p:spPr>
              <a:xfrm>
                <a:off x="8027860" y="4144769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86D4EC2-0A9A-AC9E-B7F2-D0D947AAD8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27860" y="4144769"/>
                <a:ext cx="2431884" cy="153311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EFB615D-E174-AB61-76E7-06EF347CC875}"/>
              </a:ext>
            </a:extLst>
          </p:cNvPr>
          <p:cNvCxnSpPr>
            <a:cxnSpLocks/>
          </p:cNvCxnSpPr>
          <p:nvPr/>
        </p:nvCxnSpPr>
        <p:spPr>
          <a:xfrm flipV="1">
            <a:off x="7004304" y="4911325"/>
            <a:ext cx="896112" cy="538499"/>
          </a:xfrm>
          <a:prstGeom prst="straightConnector1">
            <a:avLst/>
          </a:prstGeom>
          <a:ln w="762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704FCD8-8017-E539-A20F-9ADBBD1EA56E}"/>
              </a:ext>
            </a:extLst>
          </p:cNvPr>
          <p:cNvSpPr txBox="1"/>
          <p:nvPr/>
        </p:nvSpPr>
        <p:spPr>
          <a:xfrm>
            <a:off x="2347836" y="4677477"/>
            <a:ext cx="5014451" cy="13849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/>
          <a:p>
            <a:r>
              <a:rPr lang="en-US" sz="2800" b="1" i="1" dirty="0">
                <a:solidFill>
                  <a:schemeClr val="accent1">
                    <a:lumMod val="50000"/>
                  </a:schemeClr>
                </a:solidFill>
              </a:rPr>
              <a:t>How many standard errors is the sample mean from the population mean?</a:t>
            </a:r>
          </a:p>
        </p:txBody>
      </p:sp>
    </p:spTree>
    <p:extLst>
      <p:ext uri="{BB962C8B-B14F-4D97-AF65-F5344CB8AC3E}">
        <p14:creationId xmlns:p14="http://schemas.microsoft.com/office/powerpoint/2010/main" val="1224455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936517" y="988095"/>
            <a:ext cx="7311372" cy="8011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One sample t-test: Oak trees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013915" y="1740954"/>
            <a:ext cx="10164169" cy="3062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Example: Are oak trees in our area (n=28) the same age as those throughout the state?</a:t>
            </a:r>
          </a:p>
          <a:p>
            <a:endParaRPr lang="en-US" sz="1100" dirty="0"/>
          </a:p>
          <a:p>
            <a:r>
              <a:rPr lang="en-US" sz="2800" dirty="0"/>
              <a:t>Sample area:</a:t>
            </a:r>
          </a:p>
          <a:p>
            <a:r>
              <a:rPr lang="en-US" sz="2800" dirty="0"/>
              <a:t>	Mean age: 65 years			Standard deviation: 7.3 years</a:t>
            </a:r>
          </a:p>
          <a:p>
            <a:endParaRPr lang="en-US" sz="1100" dirty="0"/>
          </a:p>
          <a:p>
            <a:r>
              <a:rPr lang="en-US" sz="2800" dirty="0"/>
              <a:t>State: </a:t>
            </a:r>
          </a:p>
          <a:p>
            <a:r>
              <a:rPr lang="en-US" sz="2800" dirty="0"/>
              <a:t>	Mean age: 57 years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/>
              <p:nvPr/>
            </p:nvSpPr>
            <p:spPr>
              <a:xfrm>
                <a:off x="9253366" y="4437377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53366" y="4437377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6537221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Shape 132"/>
          <p:cNvSpPr txBox="1"/>
          <p:nvPr/>
        </p:nvSpPr>
        <p:spPr>
          <a:xfrm>
            <a:off x="936517" y="988095"/>
            <a:ext cx="7311372" cy="801186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4000" b="1" dirty="0">
                <a:ea typeface="Gill Sans MT"/>
                <a:cs typeface="Gill Sans MT"/>
                <a:sym typeface="Gill Sans MT"/>
              </a:rPr>
              <a:t>One sample t-test: Oak trees</a:t>
            </a:r>
            <a:endParaRPr lang="en-US" sz="4000" b="1" dirty="0">
              <a:effectLst/>
              <a:ea typeface="Gill Sans MT"/>
              <a:cs typeface="Gill Sans MT"/>
              <a:sym typeface="Gill Sans MT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E8621C-82F3-42A2-89F9-F4AEFEBF5767}"/>
              </a:ext>
            </a:extLst>
          </p:cNvPr>
          <p:cNvSpPr/>
          <p:nvPr/>
        </p:nvSpPr>
        <p:spPr>
          <a:xfrm>
            <a:off x="1013915" y="1740954"/>
            <a:ext cx="10164169" cy="30623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Example: Are oak trees in our area (n=28) the same age as those throughout the state?</a:t>
            </a:r>
          </a:p>
          <a:p>
            <a:endParaRPr lang="en-US" sz="1100" dirty="0"/>
          </a:p>
          <a:p>
            <a:r>
              <a:rPr lang="en-US" sz="2800" dirty="0"/>
              <a:t>Sample area:</a:t>
            </a:r>
          </a:p>
          <a:p>
            <a:r>
              <a:rPr lang="en-US" sz="2800" dirty="0"/>
              <a:t>	Mean age: 65 years			Standard deviation: 7.3 years</a:t>
            </a:r>
          </a:p>
          <a:p>
            <a:endParaRPr lang="en-US" sz="1100" dirty="0"/>
          </a:p>
          <a:p>
            <a:r>
              <a:rPr lang="en-US" sz="2800" dirty="0"/>
              <a:t>State: </a:t>
            </a:r>
          </a:p>
          <a:p>
            <a:r>
              <a:rPr lang="en-US" sz="2800" dirty="0"/>
              <a:t>	Mean age: 57 years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/>
              <p:nvPr/>
            </p:nvSpPr>
            <p:spPr>
              <a:xfrm>
                <a:off x="9341895" y="4036775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0C94F1-B90A-7204-703A-EE0E39EB58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1895" y="4036775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721824-1676-1B51-68CD-D75ACD7BA65E}"/>
                  </a:ext>
                </a:extLst>
              </p:cNvPr>
              <p:cNvSpPr txBox="1"/>
              <p:nvPr/>
            </p:nvSpPr>
            <p:spPr>
              <a:xfrm>
                <a:off x="2850105" y="5019511"/>
                <a:ext cx="5887959" cy="110075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65 −57</m:t>
                        </m:r>
                      </m:num>
                      <m:den>
                        <m:f>
                          <m:fPr>
                            <m:type m:val="skw"/>
                            <m:ctrlPr>
                              <a:rPr lang="en-US" sz="4000" b="0" i="1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4000" b="0" i="1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7.3</m:t>
                            </m:r>
                          </m:num>
                          <m:den>
                            <m:rad>
                              <m:radPr>
                                <m:degHide m:val="on"/>
                                <m:ctrlPr>
                                  <a:rPr lang="en-US" sz="40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radPr>
                              <m:deg/>
                              <m:e>
                                <m:r>
                                  <a:rPr lang="en-US" sz="4000" b="0" i="1" smtClean="0">
                                    <a:solidFill>
                                      <a:schemeClr val="accent1">
                                        <a:lumMod val="50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28</m:t>
                                </m:r>
                              </m:e>
                            </m:rad>
                          </m:den>
                        </m:f>
                      </m:den>
                    </m:f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−8</m:t>
                        </m:r>
                      </m:num>
                      <m:den>
                        <m:r>
                          <a:rPr lang="en-US" sz="4000" b="0" i="1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1.3796</m:t>
                        </m:r>
                      </m:den>
                    </m:f>
                    <m:r>
                      <a:rPr lang="en-US" sz="4000" b="0" i="1" smtClean="0">
                        <a:solidFill>
                          <a:schemeClr val="accent1">
                            <a:lumMod val="50000"/>
                          </a:schemeClr>
                        </a:solidFill>
                        <a:latin typeface="Cambria Math" panose="02040503050406030204" pitchFamily="18" charset="0"/>
                      </a:rPr>
                      <m:t>=−5.8</m:t>
                    </m:r>
                  </m:oMath>
                </a14:m>
                <a:r>
                  <a:rPr lang="en-US" sz="4000" dirty="0">
                    <a:solidFill>
                      <a:schemeClr val="accent1">
                        <a:lumMod val="50000"/>
                      </a:schemeClr>
                    </a:solidFill>
                  </a:rPr>
                  <a:t> 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F721824-1676-1B51-68CD-D75ACD7BA6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50105" y="5019511"/>
                <a:ext cx="5887959" cy="110075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65497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5CFB61-5206-5EBA-5030-49585C884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A625E-063A-352A-DC76-00AE266FA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Steps in 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17CCE0-CD86-05D0-E4DD-1606AF17EA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94100" indent="-457200">
              <a:buFont typeface="+mj-lt"/>
              <a:buAutoNum type="arabicPeriod"/>
            </a:pPr>
            <a:r>
              <a:rPr lang="en-US" dirty="0"/>
              <a:t>State the null and alternate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appropriate test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Select the level of significance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Delineate regions of rejection and non-rejection of the null hypothesis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Calculate the t-statistic</a:t>
            </a:r>
          </a:p>
          <a:p>
            <a:pPr marL="494100" indent="-457200">
              <a:buFont typeface="+mj-lt"/>
              <a:buAutoNum type="arabicPeriod"/>
            </a:pPr>
            <a:r>
              <a:rPr lang="en-US" dirty="0"/>
              <a:t>Make a decision</a:t>
            </a:r>
          </a:p>
          <a:p>
            <a:pPr marL="4941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963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346409" y="217048"/>
            <a:ext cx="309039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Let’s try it out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698740" y="1922565"/>
            <a:ext cx="6292426" cy="37856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/>
              <a:t>The American Community Survey indicates that statewide, the average commute time is 22 minutes</a:t>
            </a:r>
          </a:p>
          <a:p>
            <a:endParaRPr lang="en-US" sz="2400" dirty="0"/>
          </a:p>
          <a:p>
            <a:r>
              <a:rPr lang="en-US" sz="2400" dirty="0"/>
              <a:t>We surveyed 36 community members: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Mean commute: 17.2 minutes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/>
              <a:t>Standard deviation: 3.2 minutes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2400" dirty="0"/>
          </a:p>
          <a:p>
            <a:r>
              <a:rPr lang="en-US" sz="2400" dirty="0"/>
              <a:t>Is our group different from the state average?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76EA96-E7C3-49FE-8148-26FB35F7A6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7647" y="-1"/>
            <a:ext cx="5054353" cy="6856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EA4D42-77B5-A554-2A01-337B6A364CE0}"/>
                  </a:ext>
                </a:extLst>
              </p:cNvPr>
              <p:cNvSpPr txBox="1"/>
              <p:nvPr/>
            </p:nvSpPr>
            <p:spPr>
              <a:xfrm>
                <a:off x="4421944" y="96823"/>
                <a:ext cx="2431884" cy="1533112"/>
              </a:xfrm>
              <a:prstGeom prst="rect">
                <a:avLst/>
              </a:prstGeom>
              <a:solidFill>
                <a:schemeClr val="accent2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solidFill>
                            <a:schemeClr val="bg1">
                              <a:lumMod val="9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solidFill>
                                <a:schemeClr val="bg1">
                                  <a:lumMod val="9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solidFill>
                                    <a:schemeClr val="bg1">
                                      <a:lumMod val="9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solidFill>
                                        <a:schemeClr val="bg1">
                                          <a:lumMod val="9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>
                  <a:solidFill>
                    <a:schemeClr val="bg1">
                      <a:lumMod val="95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BEA4D42-77B5-A554-2A01-337B6A364C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21944" y="96823"/>
                <a:ext cx="2431884" cy="153311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89635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06DAFA2-681F-4AFC-A065-CDB4A8A21AC1}"/>
              </a:ext>
            </a:extLst>
          </p:cNvPr>
          <p:cNvSpPr/>
          <p:nvPr/>
        </p:nvSpPr>
        <p:spPr>
          <a:xfrm>
            <a:off x="1142075" y="908878"/>
            <a:ext cx="645510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spcBef>
                <a:spcPts val="560"/>
              </a:spcBef>
              <a:buClr>
                <a:srgbClr val="FFFF66"/>
              </a:buClr>
              <a:buSzPct val="25000"/>
            </a:pPr>
            <a:r>
              <a:rPr lang="en-US" sz="3600" b="1" dirty="0">
                <a:ea typeface="Gill Sans MT"/>
                <a:cs typeface="Gill Sans MT"/>
                <a:sym typeface="Gill Sans MT"/>
              </a:rPr>
              <a:t>How are proportions different?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3EC99C-11A5-42CE-89E8-A7932E31ABC6}"/>
              </a:ext>
            </a:extLst>
          </p:cNvPr>
          <p:cNvSpPr/>
          <p:nvPr/>
        </p:nvSpPr>
        <p:spPr>
          <a:xfrm>
            <a:off x="866613" y="1964936"/>
            <a:ext cx="10411996" cy="95410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dirty="0"/>
              <a:t>The </a:t>
            </a:r>
            <a:r>
              <a:rPr lang="en-US" sz="2800" b="1" i="1" dirty="0"/>
              <a:t>standard error</a:t>
            </a:r>
            <a:r>
              <a:rPr lang="en-US" sz="2800" dirty="0"/>
              <a:t> is different for proportions/rates.</a:t>
            </a:r>
          </a:p>
          <a:p>
            <a:r>
              <a:rPr lang="en-US" sz="2800" dirty="0"/>
              <a:t>We also use a z statistic rather than a t-statistic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B0400-EC0E-41C8-ABB3-8D2577E4F120}"/>
                  </a:ext>
                </a:extLst>
              </p:cNvPr>
              <p:cNvSpPr txBox="1"/>
              <p:nvPr/>
            </p:nvSpPr>
            <p:spPr>
              <a:xfrm>
                <a:off x="1142075" y="4416010"/>
                <a:ext cx="2431884" cy="153311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̅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num>
                        <m:den>
                          <m:f>
                            <m:fPr>
                              <m:type m:val="skw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e>
                              </m:rad>
                            </m:den>
                          </m:f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B0400-EC0E-41C8-ABB3-8D2577E4F1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42075" y="4416010"/>
                <a:ext cx="2431884" cy="153311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A066BF-0940-4CA4-B397-089DFA406522}"/>
                  </a:ext>
                </a:extLst>
              </p:cNvPr>
              <p:cNvSpPr txBox="1"/>
              <p:nvPr/>
            </p:nvSpPr>
            <p:spPr>
              <a:xfrm>
                <a:off x="6437088" y="4416010"/>
                <a:ext cx="4540025" cy="193739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acc>
                            <m:accPr>
                              <m:chr m:val="̂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  <m:r>
                            <a:rPr lang="en-US" sz="4000" b="0" i="1" smtClean="0">
                              <a:latin typeface="Cambria Math" panose="02040503050406030204" pitchFamily="18" charset="0"/>
                            </a:rPr>
                            <m:t> − </m:t>
                          </m:r>
                          <m:r>
                            <a:rPr lang="en-US" sz="40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𝜌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sz="4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f>
                                <m:fPr>
                                  <m:type m:val="skw"/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∗(1−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r>
                                    <a:rPr lang="en-US" sz="40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A066BF-0940-4CA4-B397-089DFA40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37088" y="4416010"/>
                <a:ext cx="4540025" cy="193739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1594AC00-7C50-4EEB-BDBA-DB6B8C1EDADA}"/>
              </a:ext>
            </a:extLst>
          </p:cNvPr>
          <p:cNvSpPr txBox="1"/>
          <p:nvPr/>
        </p:nvSpPr>
        <p:spPr>
          <a:xfrm>
            <a:off x="1142075" y="3595751"/>
            <a:ext cx="39472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One sample T-test for counts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D08FFC6-C989-45F9-90D8-8C634539C221}"/>
              </a:ext>
            </a:extLst>
          </p:cNvPr>
          <p:cNvSpPr txBox="1"/>
          <p:nvPr/>
        </p:nvSpPr>
        <p:spPr>
          <a:xfrm>
            <a:off x="7659209" y="3783240"/>
            <a:ext cx="294188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Z-test for proportions</a:t>
            </a:r>
          </a:p>
        </p:txBody>
      </p:sp>
    </p:spTree>
    <p:extLst>
      <p:ext uri="{BB962C8B-B14F-4D97-AF65-F5344CB8AC3E}">
        <p14:creationId xmlns:p14="http://schemas.microsoft.com/office/powerpoint/2010/main" val="18135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536896" y="253767"/>
            <a:ext cx="4127384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How do we assess normality?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EC95634-62FF-47A0-9DE6-64D178990E6A}"/>
              </a:ext>
            </a:extLst>
          </p:cNvPr>
          <p:cNvSpPr txBox="1"/>
          <p:nvPr/>
        </p:nvSpPr>
        <p:spPr>
          <a:xfrm>
            <a:off x="536896" y="1786855"/>
            <a:ext cx="3144835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Histograms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QQ plots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200" dirty="0"/>
              <a:t>Normality tests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16107E-08B7-4E39-B8FE-5ECA5CE48E6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6924" r="3301"/>
          <a:stretch/>
        </p:blipFill>
        <p:spPr>
          <a:xfrm>
            <a:off x="5005146" y="0"/>
            <a:ext cx="7186854" cy="6858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CFB667F-3CAA-4954-87DB-20C02595C032}"/>
              </a:ext>
            </a:extLst>
          </p:cNvPr>
          <p:cNvSpPr txBox="1"/>
          <p:nvPr/>
        </p:nvSpPr>
        <p:spPr>
          <a:xfrm>
            <a:off x="707329" y="5410710"/>
            <a:ext cx="412738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https://www.ucd.ie/ecomodel/Resources/QQplots_WebVersion.html</a:t>
            </a:r>
          </a:p>
        </p:txBody>
      </p:sp>
    </p:spTree>
    <p:extLst>
      <p:ext uri="{BB962C8B-B14F-4D97-AF65-F5344CB8AC3E}">
        <p14:creationId xmlns:p14="http://schemas.microsoft.com/office/powerpoint/2010/main" val="6344031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ape 101"/>
          <p:cNvSpPr txBox="1"/>
          <p:nvPr/>
        </p:nvSpPr>
        <p:spPr>
          <a:xfrm>
            <a:off x="536895" y="253767"/>
            <a:ext cx="10125511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More on QQ plot shapes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F410E6-A4E4-42F2-A252-9192EF39D6AA}"/>
              </a:ext>
            </a:extLst>
          </p:cNvPr>
          <p:cNvSpPr txBox="1"/>
          <p:nvPr/>
        </p:nvSpPr>
        <p:spPr>
          <a:xfrm>
            <a:off x="224559" y="5933658"/>
            <a:ext cx="115679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https://www.ucd.ie/ecomodel/Resources/QQplots_WebVersion.html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81C0793-B6E3-4BB4-8FD6-CF779B155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071" y="1246504"/>
            <a:ext cx="5346579" cy="47337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B8FC5A6-5B58-4852-A688-5318BA91A6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8513" y="1228216"/>
            <a:ext cx="5321393" cy="4733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34189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Shape 139"/>
          <p:cNvSpPr txBox="1"/>
          <p:nvPr/>
        </p:nvSpPr>
        <p:spPr>
          <a:xfrm>
            <a:off x="2667000" y="1759296"/>
            <a:ext cx="184730" cy="36933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endParaRPr>
              <a:solidFill>
                <a:schemeClr val="dk1"/>
              </a:solidFill>
              <a:latin typeface="Gill Sans MT"/>
              <a:ea typeface="Gill Sans MT"/>
              <a:cs typeface="Gill Sans MT"/>
              <a:sym typeface="Gill Sans MT"/>
            </a:endParaRPr>
          </a:p>
        </p:txBody>
      </p:sp>
      <p:sp>
        <p:nvSpPr>
          <p:cNvPr id="140" name="Shape 140"/>
          <p:cNvSpPr txBox="1"/>
          <p:nvPr/>
        </p:nvSpPr>
        <p:spPr>
          <a:xfrm>
            <a:off x="1188720" y="1812236"/>
            <a:ext cx="5852160" cy="3108542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The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Shapiro-Wilk normality test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compares the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actual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distribution to a </a:t>
            </a:r>
            <a:r>
              <a:rPr lang="en-US" sz="2800" i="1" dirty="0">
                <a:ea typeface="Gill Sans MT"/>
                <a:cs typeface="Gill Sans MT"/>
                <a:sym typeface="Gill Sans MT"/>
              </a:rPr>
              <a:t>normal </a:t>
            </a:r>
            <a:r>
              <a:rPr lang="en-US" sz="2800" dirty="0">
                <a:ea typeface="Gill Sans MT"/>
                <a:cs typeface="Gill Sans MT"/>
                <a:sym typeface="Gill Sans MT"/>
              </a:rPr>
              <a:t>distribution, measuring the gap between them at multiple points.</a:t>
            </a:r>
          </a:p>
          <a:p>
            <a:endParaRPr sz="2800" dirty="0">
              <a:ea typeface="Gill Sans MT"/>
              <a:cs typeface="Gill Sans MT"/>
              <a:sym typeface="Gill Sans MT"/>
            </a:endParaRPr>
          </a:p>
          <a:p>
            <a:pPr>
              <a:buSzPct val="25000"/>
            </a:pPr>
            <a:r>
              <a:rPr lang="en-US" sz="2800" dirty="0">
                <a:ea typeface="Gill Sans MT"/>
                <a:cs typeface="Gill Sans MT"/>
                <a:sym typeface="Gill Sans MT"/>
              </a:rPr>
              <a:t>There are other normality test, but this one has more power when compared to other tests, especially with smaller (&lt;50) samples.</a:t>
            </a:r>
          </a:p>
        </p:txBody>
      </p:sp>
      <p:pic>
        <p:nvPicPr>
          <p:cNvPr id="141" name="Shape 141" descr="http://blog.fellstat.com/wp-content/uploads/2011/10/tmp1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534657" y="2287880"/>
            <a:ext cx="4236470" cy="364657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Shape 101">
            <a:extLst>
              <a:ext uri="{FF2B5EF4-FFF2-40B4-BE49-F238E27FC236}">
                <a16:creationId xmlns:a16="http://schemas.microsoft.com/office/drawing/2014/main" id="{4F53E2A1-F7B1-93FC-BB94-16B99A249640}"/>
              </a:ext>
            </a:extLst>
          </p:cNvPr>
          <p:cNvSpPr txBox="1"/>
          <p:nvPr/>
        </p:nvSpPr>
        <p:spPr>
          <a:xfrm>
            <a:off x="1112967" y="855776"/>
            <a:ext cx="10125511" cy="584700"/>
          </a:xfrm>
          <a:prstGeom prst="rect">
            <a:avLst/>
          </a:prstGeom>
          <a:noFill/>
          <a:ln>
            <a:noFill/>
          </a:ln>
        </p:spPr>
        <p:txBody>
          <a:bodyPr lIns="91425" tIns="45700" rIns="91425" bIns="45700" anchor="t" anchorCtr="0">
            <a:noAutofit/>
          </a:bodyPr>
          <a:lstStyle/>
          <a:p>
            <a:pPr>
              <a:buSzPct val="25000"/>
            </a:pPr>
            <a:r>
              <a:rPr lang="en-US" sz="4000" b="1" dirty="0">
                <a:latin typeface="+mj-lt"/>
                <a:ea typeface="Gill Sans MT"/>
                <a:cs typeface="Gill Sans MT"/>
                <a:sym typeface="Gill Sans MT"/>
              </a:rPr>
              <a:t>Testing normality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4300 theme">
  <a:themeElements>
    <a:clrScheme name="Custom 5">
      <a:dk1>
        <a:srgbClr val="3F3F3F"/>
      </a:dk1>
      <a:lt1>
        <a:sysClr val="window" lastClr="FFFFFF"/>
      </a:lt1>
      <a:dk2>
        <a:srgbClr val="637052"/>
      </a:dk2>
      <a:lt2>
        <a:srgbClr val="CCDDEA"/>
      </a:lt2>
      <a:accent1>
        <a:srgbClr val="E5A99F"/>
      </a:accent1>
      <a:accent2>
        <a:srgbClr val="B23838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Custom 1">
      <a:majorFont>
        <a:latin typeface="Sitka Display Semibold"/>
        <a:ea typeface=""/>
        <a:cs typeface=""/>
      </a:majorFont>
      <a:minorFont>
        <a:latin typeface="Segoe UI"/>
        <a:ea typeface=""/>
        <a:cs typeface="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g4300_L01-Introductions" id="{FA51A00F-822B-41B5-AA4A-2C123A5E9355}" vid="{2F9C99DD-B25B-4D9F-92B4-7DCE57BD0F4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836</Words>
  <Application>Microsoft Office PowerPoint</Application>
  <PresentationFormat>Widescreen</PresentationFormat>
  <Paragraphs>146</Paragraphs>
  <Slides>22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Arial</vt:lpstr>
      <vt:lpstr>Calibri</vt:lpstr>
      <vt:lpstr>Cambria Math</vt:lpstr>
      <vt:lpstr>Gill Sans MT</vt:lpstr>
      <vt:lpstr>Segoe UI</vt:lpstr>
      <vt:lpstr>Sitka Display Semibold</vt:lpstr>
      <vt:lpstr>4300 theme</vt:lpstr>
      <vt:lpstr>Tests of difference; Hypothesis testing</vt:lpstr>
      <vt:lpstr>PowerPoint Presentation</vt:lpstr>
      <vt:lpstr>Steps in hypothesis testing</vt:lpstr>
      <vt:lpstr>PowerPoint Presentation</vt:lpstr>
      <vt:lpstr>Steps in hypothesis testing</vt:lpstr>
      <vt:lpstr>PowerPoint Presentation</vt:lpstr>
      <vt:lpstr>PowerPoint Presentation</vt:lpstr>
      <vt:lpstr>Steps in hypothesis testing</vt:lpstr>
      <vt:lpstr>PowerPoint Presentation</vt:lpstr>
      <vt:lpstr>Steps in hypothesis testing</vt:lpstr>
      <vt:lpstr>PowerPoint Presentation</vt:lpstr>
      <vt:lpstr>PowerPoint Presentation</vt:lpstr>
      <vt:lpstr>PowerPoint Presentation</vt:lpstr>
      <vt:lpstr>Steps in hypothesis testing</vt:lpstr>
      <vt:lpstr>PowerPoint Presentation</vt:lpstr>
      <vt:lpstr>PowerPoint Presentation</vt:lpstr>
      <vt:lpstr>Steps in hypothesis testing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Spatial data</dc:title>
  <dc:creator>Gerald Shannon</dc:creator>
  <cp:lastModifiedBy>Jerry Shannon</cp:lastModifiedBy>
  <cp:revision>78</cp:revision>
  <dcterms:modified xsi:type="dcterms:W3CDTF">2026-10-20T19:36:06Z</dcterms:modified>
</cp:coreProperties>
</file>