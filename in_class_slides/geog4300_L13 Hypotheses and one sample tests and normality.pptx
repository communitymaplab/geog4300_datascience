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29"/>
  </p:notesMasterIdLst>
  <p:sldIdLst>
    <p:sldId id="256" r:id="rId2"/>
    <p:sldId id="295" r:id="rId3"/>
    <p:sldId id="318" r:id="rId4"/>
    <p:sldId id="306" r:id="rId5"/>
    <p:sldId id="319" r:id="rId6"/>
    <p:sldId id="297" r:id="rId7"/>
    <p:sldId id="269" r:id="rId8"/>
    <p:sldId id="331" r:id="rId9"/>
    <p:sldId id="333" r:id="rId10"/>
    <p:sldId id="332" r:id="rId11"/>
    <p:sldId id="330" r:id="rId12"/>
    <p:sldId id="320" r:id="rId13"/>
    <p:sldId id="298" r:id="rId14"/>
    <p:sldId id="321" r:id="rId15"/>
    <p:sldId id="299" r:id="rId16"/>
    <p:sldId id="304" r:id="rId17"/>
    <p:sldId id="296" r:id="rId18"/>
    <p:sldId id="322" r:id="rId19"/>
    <p:sldId id="329" r:id="rId20"/>
    <p:sldId id="317" r:id="rId21"/>
    <p:sldId id="323" r:id="rId22"/>
    <p:sldId id="307" r:id="rId23"/>
    <p:sldId id="308" r:id="rId24"/>
    <p:sldId id="334" r:id="rId25"/>
    <p:sldId id="324" r:id="rId26"/>
    <p:sldId id="326" r:id="rId27"/>
    <p:sldId id="26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925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885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3331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8613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9531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2335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7025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2492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2984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7691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382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8355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6291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2006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8337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89628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1724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37949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6" name="Shape 1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Shape 13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U9Wr7VEPGXA?feature=oembed" TargetMode="Externa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256958"/>
            <a:ext cx="9440034" cy="1828801"/>
          </a:xfrm>
        </p:spPr>
        <p:txBody>
          <a:bodyPr>
            <a:noAutofit/>
          </a:bodyPr>
          <a:lstStyle/>
          <a:p>
            <a:r>
              <a:rPr lang="en-US" sz="4400" dirty="0"/>
              <a:t>Tests of difference; Hypothesis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085757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Geog4/6300</a:t>
            </a:r>
          </a:p>
        </p:txBody>
      </p:sp>
      <p:pic>
        <p:nvPicPr>
          <p:cNvPr id="5" name="Shape 121" descr="http://my.execpc.com/~helberg/pitfalls/power.GIF">
            <a:extLst>
              <a:ext uri="{FF2B5EF4-FFF2-40B4-BE49-F238E27FC236}">
                <a16:creationId xmlns:a16="http://schemas.microsoft.com/office/drawing/2014/main" id="{4AE21C7F-A5FA-4EE9-A71D-1365A637BE0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06144" y="357231"/>
            <a:ext cx="4579712" cy="3434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1122112" y="528087"/>
            <a:ext cx="5717600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Ingredients of classical hypothesis testing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3DC1E106-D16E-FD3D-A494-FB188A31F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972" y="0"/>
            <a:ext cx="530257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F85CEB-23D6-D157-E282-359D3612BCCB}"/>
              </a:ext>
            </a:extLst>
          </p:cNvPr>
          <p:cNvSpPr txBox="1"/>
          <p:nvPr/>
        </p:nvSpPr>
        <p:spPr>
          <a:xfrm>
            <a:off x="1122112" y="1837266"/>
            <a:ext cx="53025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4100" indent="-457200">
              <a:buFont typeface="+mj-lt"/>
              <a:buAutoNum type="arabicPeriod"/>
            </a:pPr>
            <a:r>
              <a:rPr lang="en-US" sz="2400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400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400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400" dirty="0"/>
              <a:t>Delineate regions of rejection and non-rejection of the null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400" dirty="0"/>
              <a:t>Calculate the t-statistic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400" dirty="0"/>
              <a:t>Make a decision</a:t>
            </a:r>
          </a:p>
        </p:txBody>
      </p:sp>
    </p:spTree>
    <p:extLst>
      <p:ext uri="{BB962C8B-B14F-4D97-AF65-F5344CB8AC3E}">
        <p14:creationId xmlns:p14="http://schemas.microsoft.com/office/powerpoint/2010/main" val="151217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A871-6CBD-627E-43BD-B3CC1BF3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01F4-EC19-DF86-758F-5A2D790D3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Shape 103">
            <a:extLst>
              <a:ext uri="{FF2B5EF4-FFF2-40B4-BE49-F238E27FC236}">
                <a16:creationId xmlns:a16="http://schemas.microsoft.com/office/drawing/2014/main" id="{D8E98D09-88C8-C2FE-F80F-9E773220642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047" y="2676675"/>
            <a:ext cx="4076749" cy="15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hape 104">
            <a:extLst>
              <a:ext uri="{FF2B5EF4-FFF2-40B4-BE49-F238E27FC236}">
                <a16:creationId xmlns:a16="http://schemas.microsoft.com/office/drawing/2014/main" id="{CA9AA19F-EB7C-4A54-D5D9-27AD67791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5705" y="2676675"/>
            <a:ext cx="4153324" cy="27148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340418-D3E3-6C8E-8187-0DCC205DCD10}"/>
              </a:ext>
            </a:extLst>
          </p:cNvPr>
          <p:cNvSpPr txBox="1"/>
          <p:nvPr/>
        </p:nvSpPr>
        <p:spPr>
          <a:xfrm>
            <a:off x="766790" y="4468194"/>
            <a:ext cx="4882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Focuses on the assumption that no differences exist.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3D115-89BA-575D-745D-3C9BA2A84C2E}"/>
              </a:ext>
            </a:extLst>
          </p:cNvPr>
          <p:cNvSpPr txBox="1"/>
          <p:nvPr/>
        </p:nvSpPr>
        <p:spPr>
          <a:xfrm>
            <a:off x="8932610" y="3761824"/>
            <a:ext cx="223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Two-tailed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56F5D-E5A7-D7F0-59DC-FB4A07FEC4C1}"/>
              </a:ext>
            </a:extLst>
          </p:cNvPr>
          <p:cNvSpPr txBox="1"/>
          <p:nvPr/>
        </p:nvSpPr>
        <p:spPr>
          <a:xfrm>
            <a:off x="8932610" y="4508395"/>
            <a:ext cx="223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One-tailed test</a:t>
            </a:r>
          </a:p>
        </p:txBody>
      </p:sp>
    </p:spTree>
    <p:extLst>
      <p:ext uri="{BB962C8B-B14F-4D97-AF65-F5344CB8AC3E}">
        <p14:creationId xmlns:p14="http://schemas.microsoft.com/office/powerpoint/2010/main" val="2234350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1161288" y="891670"/>
            <a:ext cx="7894040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Hypothesizing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516A0-E7F0-4BE5-B2C9-019EEC54CF54}"/>
              </a:ext>
            </a:extLst>
          </p:cNvPr>
          <p:cNvSpPr/>
          <p:nvPr/>
        </p:nvSpPr>
        <p:spPr>
          <a:xfrm>
            <a:off x="1161288" y="1822384"/>
            <a:ext cx="1094763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Give the null and alterative hypothesis for the following research questions.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average commute time higher on Mondays than it is the rest of the week?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amount of property damage from severe weather different between southern states?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there an association between college teams’ football records and rates of student enrollment?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rate of flu cases low in our area compared to our state?</a:t>
            </a:r>
          </a:p>
        </p:txBody>
      </p:sp>
    </p:spTree>
    <p:extLst>
      <p:ext uri="{BB962C8B-B14F-4D97-AF65-F5344CB8AC3E}">
        <p14:creationId xmlns:p14="http://schemas.microsoft.com/office/powerpoint/2010/main" val="2478345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B351-15C2-F1A0-1A9D-045E17FC6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414F-F76A-5296-ECE0-FF01F467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3139B-A7C5-EC06-B1F5-1ABC74EED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979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1137472" y="792875"/>
            <a:ext cx="9387271" cy="85304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Tests of difference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1137473" y="1965258"/>
            <a:ext cx="101641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What is the specific purpose of this test? When would you use it rather than another one?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One sample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t-test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</a:t>
            </a:r>
            <a:r>
              <a:rPr lang="en-US" sz="2800" u="sng" dirty="0"/>
              <a:t>paired</a:t>
            </a:r>
            <a:r>
              <a:rPr lang="en-US" sz="2800" dirty="0"/>
              <a:t>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Non-parametric (Wilcoxon)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Difference test between two proportions</a:t>
            </a:r>
          </a:p>
        </p:txBody>
      </p:sp>
    </p:spTree>
    <p:extLst>
      <p:ext uri="{BB962C8B-B14F-4D97-AF65-F5344CB8AC3E}">
        <p14:creationId xmlns:p14="http://schemas.microsoft.com/office/powerpoint/2010/main" val="127034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1298448" y="869114"/>
            <a:ext cx="5901571" cy="8542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r>
              <a:rPr lang="en-US" sz="4000" b="1" dirty="0"/>
              <a:t>Types of difference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346CA-0C4A-4799-9F7F-E0258BF65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964" y="1865472"/>
            <a:ext cx="9166223" cy="4267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1298448" y="869114"/>
            <a:ext cx="5901571" cy="8542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r>
              <a:rPr lang="en-US" sz="4000" b="1" dirty="0"/>
              <a:t>How do t-tests work?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0FAB4F-F160-10F4-95F3-57BBD4594BAA}"/>
                  </a:ext>
                </a:extLst>
              </p:cNvPr>
              <p:cNvSpPr txBox="1"/>
              <p:nvPr/>
            </p:nvSpPr>
            <p:spPr>
              <a:xfrm>
                <a:off x="7848566" y="2010247"/>
                <a:ext cx="3299365" cy="206947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54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54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54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54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54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54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4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54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54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5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0FAB4F-F160-10F4-95F3-57BBD4594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566" y="2010247"/>
                <a:ext cx="3299365" cy="2069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A3E362A-6CD7-4ECE-857C-4306E324D4A7}"/>
              </a:ext>
            </a:extLst>
          </p:cNvPr>
          <p:cNvSpPr txBox="1"/>
          <p:nvPr/>
        </p:nvSpPr>
        <p:spPr>
          <a:xfrm>
            <a:off x="1392649" y="2137044"/>
            <a:ext cx="5901571" cy="18158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b="1" i="1" dirty="0"/>
              <a:t>One sample test: </a:t>
            </a:r>
          </a:p>
          <a:p>
            <a:r>
              <a:rPr lang="en-US" sz="2800" dirty="0"/>
              <a:t>How many standard errors is the sample mean from the population mean?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924A6-53F3-954B-6988-4B6C9BC05D06}"/>
              </a:ext>
            </a:extLst>
          </p:cNvPr>
          <p:cNvSpPr txBox="1"/>
          <p:nvPr/>
        </p:nvSpPr>
        <p:spPr>
          <a:xfrm>
            <a:off x="1479176" y="4680981"/>
            <a:ext cx="77544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/>
              <a:t>Review: What percentage of sample means are within </a:t>
            </a:r>
            <a:r>
              <a:rPr lang="en-US" sz="2400" b="1" i="1" u="sng" dirty="0"/>
              <a:t>one</a:t>
            </a:r>
            <a:r>
              <a:rPr lang="en-US" sz="2400" i="1" dirty="0"/>
              <a:t> standard error of the population mean for a large sample? What percentage are within </a:t>
            </a:r>
            <a:r>
              <a:rPr lang="en-US" sz="2400" b="1" i="1" u="sng" dirty="0"/>
              <a:t>two</a:t>
            </a:r>
            <a:r>
              <a:rPr lang="en-US" sz="2400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9025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1298448" y="976690"/>
            <a:ext cx="9781928" cy="8542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r>
              <a:rPr lang="en-US" sz="3600" b="1" dirty="0"/>
              <a:t>T-distributions are for small samples</a:t>
            </a:r>
          </a:p>
        </p:txBody>
      </p:sp>
      <p:pic>
        <p:nvPicPr>
          <p:cNvPr id="2050" name="Picture 2" descr="T Distribution Detailed Table , Z TABLE - SGEIZ">
            <a:extLst>
              <a:ext uri="{FF2B5EF4-FFF2-40B4-BE49-F238E27FC236}">
                <a16:creationId xmlns:a16="http://schemas.microsoft.com/office/drawing/2014/main" id="{F14B5492-9C30-D4D9-7B39-E94C63825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966" y="2034987"/>
            <a:ext cx="5830536" cy="406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69C08-FDB1-E6D5-E062-743D18946680}"/>
              </a:ext>
            </a:extLst>
          </p:cNvPr>
          <p:cNvSpPr txBox="1"/>
          <p:nvPr/>
        </p:nvSpPr>
        <p:spPr>
          <a:xfrm>
            <a:off x="1212757" y="2106704"/>
            <a:ext cx="38368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Degrees of freedom (</a:t>
            </a:r>
            <a:r>
              <a:rPr lang="en-US" sz="2400" b="1" dirty="0" err="1"/>
              <a:t>df</a:t>
            </a:r>
            <a:r>
              <a:rPr lang="en-US" sz="2400" b="1" dirty="0"/>
              <a:t>):</a:t>
            </a:r>
            <a:r>
              <a:rPr lang="en-US" sz="2400" b="1" i="1" dirty="0"/>
              <a:t> </a:t>
            </a:r>
          </a:p>
          <a:p>
            <a:pPr marL="342900" lvl="0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Sample size (n) – 1</a:t>
            </a:r>
            <a:endParaRPr lang="en-US" sz="2400" dirty="0">
              <a:sym typeface="Gill Sans MT"/>
            </a:endParaRPr>
          </a:p>
          <a:p>
            <a:pPr marL="342900" lvl="0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ym typeface="Gill Sans MT"/>
              </a:rPr>
              <a:t>Small sample sizes = “fatter” tails</a:t>
            </a:r>
          </a:p>
          <a:p>
            <a:pPr marL="342900" lvl="0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ym typeface="Gill Sans MT"/>
              </a:rPr>
              <a:t>Main differences are for n&lt;30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9A9BE-CEC2-90C6-2A68-318F48370583}"/>
              </a:ext>
            </a:extLst>
          </p:cNvPr>
          <p:cNvSpPr txBox="1"/>
          <p:nvPr/>
        </p:nvSpPr>
        <p:spPr>
          <a:xfrm>
            <a:off x="6938682" y="5750505"/>
            <a:ext cx="39892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https://private.smaat.de/t-distribution-detailed-table-z-table/</a:t>
            </a:r>
          </a:p>
        </p:txBody>
      </p:sp>
    </p:spTree>
    <p:extLst>
      <p:ext uri="{BB962C8B-B14F-4D97-AF65-F5344CB8AC3E}">
        <p14:creationId xmlns:p14="http://schemas.microsoft.com/office/powerpoint/2010/main" val="92166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Why We Might Not Have Statistics Without Guinness Brewery – A History of the t-Test (10-0)">
            <a:hlinkClick r:id="" action="ppaction://media"/>
            <a:extLst>
              <a:ext uri="{FF2B5EF4-FFF2-40B4-BE49-F238E27FC236}">
                <a16:creationId xmlns:a16="http://schemas.microsoft.com/office/drawing/2014/main" id="{CB63DBB8-5303-C185-8100-7204BEAD1C8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292659" y="1410164"/>
            <a:ext cx="7769895" cy="439000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1BE99EB-F4A8-3C0E-3160-7D9930191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key role of beer!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EE6D8C-F5B2-E471-AF23-7AEF34EB9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5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1137472" y="792875"/>
            <a:ext cx="9387271" cy="85304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Tests of difference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1137473" y="1965258"/>
            <a:ext cx="1016416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What is the specific purpose of this test? </a:t>
            </a:r>
          </a:p>
          <a:p>
            <a:r>
              <a:rPr lang="en-US" sz="2800" dirty="0"/>
              <a:t>Can you come up with a research question that would require it?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One sample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t-test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Two sample </a:t>
            </a:r>
            <a:r>
              <a:rPr lang="en-US" sz="2800" u="sng" dirty="0"/>
              <a:t>paired</a:t>
            </a:r>
            <a:r>
              <a:rPr lang="en-US" sz="2800" dirty="0"/>
              <a:t>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Non-parametric (Wilcoxon) t-test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Difference test between two proportions</a:t>
            </a:r>
          </a:p>
        </p:txBody>
      </p:sp>
    </p:spTree>
    <p:extLst>
      <p:ext uri="{BB962C8B-B14F-4D97-AF65-F5344CB8AC3E}">
        <p14:creationId xmlns:p14="http://schemas.microsoft.com/office/powerpoint/2010/main" val="242169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3A504-F633-0EEC-99D2-3F9625568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AC83-330D-113E-4C64-9277E3B4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E7EC3-37C4-B133-CC88-8105E8594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243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1101109" y="854421"/>
            <a:ext cx="6567738" cy="93780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Select level of significance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pic>
        <p:nvPicPr>
          <p:cNvPr id="4" name="Shape 153" descr="http://www.biochemia-medica.com/sites/default/files/Marusteri_M._Statistical_test_selection_when_comparing_groups_Fig._3.jpg">
            <a:extLst>
              <a:ext uri="{FF2B5EF4-FFF2-40B4-BE49-F238E27FC236}">
                <a16:creationId xmlns:a16="http://schemas.microsoft.com/office/drawing/2014/main" id="{F77A2C1E-7756-44BD-9939-354C512333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9360" y="2122185"/>
            <a:ext cx="5302740" cy="36535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7441C5-4496-43B4-8C0B-7E4EF33586AA}"/>
              </a:ext>
            </a:extLst>
          </p:cNvPr>
          <p:cNvSpPr/>
          <p:nvPr/>
        </p:nvSpPr>
        <p:spPr>
          <a:xfrm>
            <a:off x="1212746" y="2122185"/>
            <a:ext cx="442626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P &lt; 0.05:</a:t>
            </a:r>
          </a:p>
          <a:p>
            <a:endParaRPr lang="en-US" sz="2800" dirty="0"/>
          </a:p>
          <a:p>
            <a:r>
              <a:rPr lang="en-US" sz="2800" dirty="0"/>
              <a:t>The probability that this sample comes from a population in which the two means are equal is less than 5%</a:t>
            </a:r>
          </a:p>
        </p:txBody>
      </p:sp>
    </p:spTree>
    <p:extLst>
      <p:ext uri="{BB962C8B-B14F-4D97-AF65-F5344CB8AC3E}">
        <p14:creationId xmlns:p14="http://schemas.microsoft.com/office/powerpoint/2010/main" val="789215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8891-6880-885C-080F-2388AEA1D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6766-EC03-7A13-656F-CB8C6FCD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A7800-9B92-C341-EB7C-1E82A0041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Delineate regions of rejection and non-rejection of the null hypothesis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20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346409" y="217048"/>
            <a:ext cx="6498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Delineate regions of rejection / non-rejection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449333" y="2070175"/>
            <a:ext cx="629242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b="1" dirty="0"/>
              <a:t>Degrees of freedom: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One sample test: n-1 (24 in our case)</a:t>
            </a: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b="1" dirty="0"/>
              <a:t>Critical value: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Based on confidence level (alpha) and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df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97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449333" y="2035975"/>
            <a:ext cx="629242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b="1" dirty="0"/>
              <a:t>Degrees of freedom: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One sample test: n-1 (24 in our case)</a:t>
            </a:r>
          </a:p>
          <a:p>
            <a:pPr lvl="0"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b="1" dirty="0"/>
              <a:t>Critical value:</a:t>
            </a:r>
            <a:r>
              <a:rPr lang="en-US" sz="2800" b="1" i="1" dirty="0"/>
              <a:t> 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Based on confidence level (alpha) and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df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205293-1399-BE51-D550-8629D2FF6FFB}"/>
              </a:ext>
            </a:extLst>
          </p:cNvPr>
          <p:cNvSpPr/>
          <p:nvPr/>
        </p:nvSpPr>
        <p:spPr>
          <a:xfrm>
            <a:off x="9170126" y="5048723"/>
            <a:ext cx="357051" cy="148046"/>
          </a:xfrm>
          <a:prstGeom prst="rect">
            <a:avLst/>
          </a:prstGeom>
          <a:solidFill>
            <a:srgbClr val="BC451B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4B9E33-607B-ADA3-25EA-F896ADD8D9E2}"/>
              </a:ext>
            </a:extLst>
          </p:cNvPr>
          <p:cNvCxnSpPr>
            <a:cxnSpLocks/>
          </p:cNvCxnSpPr>
          <p:nvPr/>
        </p:nvCxnSpPr>
        <p:spPr>
          <a:xfrm>
            <a:off x="5054354" y="4724400"/>
            <a:ext cx="4115772" cy="4418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4E09D01-F474-B998-4EC3-80A032AF710D}"/>
              </a:ext>
            </a:extLst>
          </p:cNvPr>
          <p:cNvSpPr/>
          <p:nvPr/>
        </p:nvSpPr>
        <p:spPr>
          <a:xfrm>
            <a:off x="346408" y="283244"/>
            <a:ext cx="64982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Delineate regions of rejection / non-rejection</a:t>
            </a:r>
          </a:p>
        </p:txBody>
      </p:sp>
    </p:spTree>
    <p:extLst>
      <p:ext uri="{BB962C8B-B14F-4D97-AF65-F5344CB8AC3E}">
        <p14:creationId xmlns:p14="http://schemas.microsoft.com/office/powerpoint/2010/main" val="356208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1067247" y="845858"/>
            <a:ext cx="7894040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Reject or fail to reject?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516A0-E7F0-4BE5-B2C9-019EEC54CF54}"/>
              </a:ext>
            </a:extLst>
          </p:cNvPr>
          <p:cNvSpPr/>
          <p:nvPr/>
        </p:nvSpPr>
        <p:spPr>
          <a:xfrm>
            <a:off x="1067247" y="2032696"/>
            <a:ext cx="11325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Based on test results, we </a:t>
            </a:r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reject</a:t>
            </a:r>
            <a:r>
              <a:rPr lang="en-US" sz="2400" b="1" i="1" dirty="0"/>
              <a:t> </a:t>
            </a:r>
            <a:r>
              <a:rPr lang="en-US" sz="2400" dirty="0"/>
              <a:t>or </a:t>
            </a:r>
            <a:r>
              <a:rPr lang="en-US" sz="2400" b="1" i="1" dirty="0">
                <a:solidFill>
                  <a:schemeClr val="accent1">
                    <a:lumMod val="50000"/>
                  </a:schemeClr>
                </a:solidFill>
              </a:rPr>
              <a:t>fail to reject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dirty="0"/>
              <a:t>the null hypothesis.</a:t>
            </a:r>
          </a:p>
          <a:p>
            <a:endParaRPr lang="en-US" sz="2400" dirty="0"/>
          </a:p>
          <a:p>
            <a:r>
              <a:rPr lang="en-US" sz="2400" dirty="0"/>
              <a:t>We don’t prove or disprove it, but show it is likely or unlikely to be true.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4C960-41A8-4697-835A-DC13BB9B44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91"/>
          <a:stretch/>
        </p:blipFill>
        <p:spPr>
          <a:xfrm>
            <a:off x="6285535" y="3624976"/>
            <a:ext cx="5351504" cy="256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97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D8D2-0AB3-1692-BFF6-098D210A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DC62-446A-50C3-7139-FE8CAEC8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3CE8-17F9-BDFC-556B-3C881A410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Delineate regions of rejection and non-rejection of the null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Calculate the t-statistic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6D4EC2-0A9A-AC9E-B7F2-D0D947AAD878}"/>
                  </a:ext>
                </a:extLst>
              </p:cNvPr>
              <p:cNvSpPr txBox="1"/>
              <p:nvPr/>
            </p:nvSpPr>
            <p:spPr>
              <a:xfrm>
                <a:off x="8027860" y="4144769"/>
                <a:ext cx="2431884" cy="153311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6D4EC2-0A9A-AC9E-B7F2-D0D947AAD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860" y="4144769"/>
                <a:ext cx="2431884" cy="15331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FB615D-E174-AB61-76E7-06EF347CC875}"/>
              </a:ext>
            </a:extLst>
          </p:cNvPr>
          <p:cNvCxnSpPr>
            <a:cxnSpLocks/>
          </p:cNvCxnSpPr>
          <p:nvPr/>
        </p:nvCxnSpPr>
        <p:spPr>
          <a:xfrm flipV="1">
            <a:off x="7004304" y="4911325"/>
            <a:ext cx="896112" cy="538499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04FCD8-8017-E539-A20F-9ADBBD1EA56E}"/>
              </a:ext>
            </a:extLst>
          </p:cNvPr>
          <p:cNvSpPr txBox="1"/>
          <p:nvPr/>
        </p:nvSpPr>
        <p:spPr>
          <a:xfrm>
            <a:off x="2347836" y="4677477"/>
            <a:ext cx="5014451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chemeClr val="accent1">
                    <a:lumMod val="50000"/>
                  </a:schemeClr>
                </a:solidFill>
              </a:rPr>
              <a:t>How many standard errors is the sample mean from the population mean?</a:t>
            </a:r>
          </a:p>
        </p:txBody>
      </p:sp>
    </p:spTree>
    <p:extLst>
      <p:ext uri="{BB962C8B-B14F-4D97-AF65-F5344CB8AC3E}">
        <p14:creationId xmlns:p14="http://schemas.microsoft.com/office/powerpoint/2010/main" val="122445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936517" y="988095"/>
            <a:ext cx="7311372" cy="8011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One sample t-test: Oak trees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1013915" y="1740954"/>
            <a:ext cx="10164169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Example: Are oak trees in our area (n=28) the same age as those throughout the state?</a:t>
            </a:r>
          </a:p>
          <a:p>
            <a:endParaRPr lang="en-US" sz="1100" dirty="0"/>
          </a:p>
          <a:p>
            <a:r>
              <a:rPr lang="en-US" sz="2800" dirty="0"/>
              <a:t>Sample area:</a:t>
            </a:r>
          </a:p>
          <a:p>
            <a:r>
              <a:rPr lang="en-US" sz="2800" dirty="0"/>
              <a:t>	Mean age: 65 years			Standard deviation: 7.3 years</a:t>
            </a:r>
          </a:p>
          <a:p>
            <a:endParaRPr lang="en-US" sz="1100" dirty="0"/>
          </a:p>
          <a:p>
            <a:r>
              <a:rPr lang="en-US" sz="2800" dirty="0"/>
              <a:t>State: </a:t>
            </a:r>
          </a:p>
          <a:p>
            <a:r>
              <a:rPr lang="en-US" sz="2800" dirty="0"/>
              <a:t>	Mean age: 57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/>
              <p:nvPr/>
            </p:nvSpPr>
            <p:spPr>
              <a:xfrm>
                <a:off x="9253366" y="4437377"/>
                <a:ext cx="2431884" cy="153311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366" y="4437377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372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936517" y="988095"/>
            <a:ext cx="7311372" cy="8011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a typeface="Gill Sans MT"/>
                <a:cs typeface="Gill Sans MT"/>
                <a:sym typeface="Gill Sans MT"/>
              </a:rPr>
              <a:t>One sample t-test: Oak trees</a:t>
            </a:r>
            <a:endParaRPr lang="en-US" sz="4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E8621C-82F3-42A2-89F9-F4AEFEBF5767}"/>
              </a:ext>
            </a:extLst>
          </p:cNvPr>
          <p:cNvSpPr/>
          <p:nvPr/>
        </p:nvSpPr>
        <p:spPr>
          <a:xfrm>
            <a:off x="1013915" y="1740954"/>
            <a:ext cx="10164169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Example: Are oak trees in our area (n=28) the same age as those throughout the state?</a:t>
            </a:r>
          </a:p>
          <a:p>
            <a:endParaRPr lang="en-US" sz="1100" dirty="0"/>
          </a:p>
          <a:p>
            <a:r>
              <a:rPr lang="en-US" sz="2800" dirty="0"/>
              <a:t>Sample area:</a:t>
            </a:r>
          </a:p>
          <a:p>
            <a:r>
              <a:rPr lang="en-US" sz="2800" dirty="0"/>
              <a:t>	Mean age: 65 years			Standard deviation: 7.3 years</a:t>
            </a:r>
          </a:p>
          <a:p>
            <a:endParaRPr lang="en-US" sz="1100" dirty="0"/>
          </a:p>
          <a:p>
            <a:r>
              <a:rPr lang="en-US" sz="2800" dirty="0"/>
              <a:t>State: </a:t>
            </a:r>
          </a:p>
          <a:p>
            <a:r>
              <a:rPr lang="en-US" sz="2800" dirty="0"/>
              <a:t>	Mean age: 57 years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/>
              <p:nvPr/>
            </p:nvSpPr>
            <p:spPr>
              <a:xfrm>
                <a:off x="9341895" y="4036775"/>
                <a:ext cx="2431884" cy="153311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0C94F1-B90A-7204-703A-EE0E39EB5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1895" y="4036775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721824-1676-1B51-68CD-D75ACD7BA65E}"/>
                  </a:ext>
                </a:extLst>
              </p:cNvPr>
              <p:cNvSpPr txBox="1"/>
              <p:nvPr/>
            </p:nvSpPr>
            <p:spPr>
              <a:xfrm>
                <a:off x="2850105" y="5019511"/>
                <a:ext cx="5887959" cy="1100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4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65 −57</m:t>
                        </m:r>
                      </m:num>
                      <m:den>
                        <m:f>
                          <m:fPr>
                            <m:type m:val="skw"/>
                            <m:ctrlPr>
                              <a:rPr lang="en-US" sz="40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7.3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40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4000" b="0" i="1" smtClean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sz="4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4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−8</m:t>
                        </m:r>
                      </m:num>
                      <m:den>
                        <m:r>
                          <a:rPr lang="en-US" sz="4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1.3796</m:t>
                        </m:r>
                      </m:den>
                    </m:f>
                    <m:r>
                      <a:rPr lang="en-US" sz="4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=−5.8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721824-1676-1B51-68CD-D75ACD7BA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105" y="5019511"/>
                <a:ext cx="5887959" cy="11007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5497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FB61-5206-5EBA-5030-49585C88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625E-063A-352A-DC76-00AE266F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7CCE0-CD86-05D0-E4DD-1606AF17E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State the null and alternate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appropriate test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Select the level of significance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Delineate regions of rejection and non-rejection of the null hypothesis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Calculate the t-statistic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Make a decision</a:t>
            </a:r>
          </a:p>
          <a:p>
            <a:pPr marL="4941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96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754555" y="826617"/>
            <a:ext cx="30903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Let’s try it 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698740" y="1922565"/>
            <a:ext cx="629242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American Community Survey indicates that statewide, the average commute time is 22 minutes</a:t>
            </a:r>
          </a:p>
          <a:p>
            <a:endParaRPr lang="en-US" sz="2400" dirty="0"/>
          </a:p>
          <a:p>
            <a:r>
              <a:rPr lang="en-US" sz="2400" dirty="0"/>
              <a:t>We surveyed 36 community 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Mean commute: 17.2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Standard deviation: 3.2 minutes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Is our group different from the state average?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76EA96-E7C3-49FE-8148-26FB35F7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647" y="-1"/>
            <a:ext cx="5054353" cy="68566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EA4D42-77B5-A554-2A01-337B6A364CE0}"/>
                  </a:ext>
                </a:extLst>
              </p:cNvPr>
              <p:cNvSpPr txBox="1"/>
              <p:nvPr/>
            </p:nvSpPr>
            <p:spPr>
              <a:xfrm>
                <a:off x="4421944" y="96823"/>
                <a:ext cx="2431884" cy="153311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solidFill>
                                    <a:schemeClr val="bg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solidFill>
                                        <a:schemeClr val="bg1">
                                          <a:lumMod val="9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BEA4D42-77B5-A554-2A01-337B6A364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944" y="96823"/>
                <a:ext cx="2431884" cy="1533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963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EF0E1-E575-9B33-7827-93804ED61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sample </a:t>
            </a:r>
            <a:br>
              <a:rPr lang="en-US" dirty="0"/>
            </a:br>
            <a:r>
              <a:rPr lang="en-US" dirty="0"/>
              <a:t>t-tests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BD66B5-5DFA-8BC1-2F81-37499215C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Standard error depends on </a:t>
            </a:r>
            <a:r>
              <a:rPr lang="en-US" sz="2000" b="1" i="1" dirty="0"/>
              <a:t>variance </a:t>
            </a:r>
            <a:r>
              <a:rPr lang="en-US" sz="2000" dirty="0"/>
              <a:t>in the sample.</a:t>
            </a:r>
          </a:p>
          <a:p>
            <a:r>
              <a:rPr lang="en-US" sz="2000" dirty="0"/>
              <a:t>With two samples: are the variances </a:t>
            </a:r>
            <a:r>
              <a:rPr lang="en-US" sz="2000" b="1" i="1" dirty="0"/>
              <a:t>equal or unequal</a:t>
            </a:r>
            <a:r>
              <a:rPr lang="en-US" sz="2000" dirty="0"/>
              <a:t>?</a:t>
            </a:r>
          </a:p>
          <a:p>
            <a:endParaRPr lang="en-US" sz="1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3CDDBE-A7E2-EDF2-2791-562A52ABD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161" y="1186423"/>
            <a:ext cx="7934419" cy="449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376578-2D54-E237-F5AA-66DFF16C3B56}"/>
              </a:ext>
            </a:extLst>
          </p:cNvPr>
          <p:cNvSpPr txBox="1"/>
          <p:nvPr/>
        </p:nvSpPr>
        <p:spPr>
          <a:xfrm>
            <a:off x="8425800" y="5764305"/>
            <a:ext cx="350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https://www.qualitygurus.com/two-sample-t-test/</a:t>
            </a:r>
          </a:p>
        </p:txBody>
      </p:sp>
    </p:spTree>
    <p:extLst>
      <p:ext uri="{BB962C8B-B14F-4D97-AF65-F5344CB8AC3E}">
        <p14:creationId xmlns:p14="http://schemas.microsoft.com/office/powerpoint/2010/main" val="1813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6DAFA2-681F-4AFC-A065-CDB4A8A21AC1}"/>
              </a:ext>
            </a:extLst>
          </p:cNvPr>
          <p:cNvSpPr/>
          <p:nvPr/>
        </p:nvSpPr>
        <p:spPr>
          <a:xfrm>
            <a:off x="1142075" y="908878"/>
            <a:ext cx="64551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How are proportions different?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EC99C-11A5-42CE-89E8-A7932E31ABC6}"/>
              </a:ext>
            </a:extLst>
          </p:cNvPr>
          <p:cNvSpPr/>
          <p:nvPr/>
        </p:nvSpPr>
        <p:spPr>
          <a:xfrm>
            <a:off x="866613" y="1964936"/>
            <a:ext cx="104119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i="1" dirty="0"/>
              <a:t>standard error</a:t>
            </a:r>
            <a:r>
              <a:rPr lang="en-US" sz="2800" dirty="0"/>
              <a:t> is different for proportions/rates.</a:t>
            </a:r>
          </a:p>
          <a:p>
            <a:r>
              <a:rPr lang="en-US" sz="2800" dirty="0"/>
              <a:t>We also use a z statistic rather than a t-statistic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1B0400-EC0E-41C8-ABB3-8D2577E4F120}"/>
                  </a:ext>
                </a:extLst>
              </p:cNvPr>
              <p:cNvSpPr txBox="1"/>
              <p:nvPr/>
            </p:nvSpPr>
            <p:spPr>
              <a:xfrm>
                <a:off x="1142075" y="4416010"/>
                <a:ext cx="2431884" cy="1533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1B0400-EC0E-41C8-ABB3-8D2577E4F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075" y="4416010"/>
                <a:ext cx="2431884" cy="1533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A066BF-0940-4CA4-B397-089DFA406522}"/>
                  </a:ext>
                </a:extLst>
              </p:cNvPr>
              <p:cNvSpPr txBox="1"/>
              <p:nvPr/>
            </p:nvSpPr>
            <p:spPr>
              <a:xfrm>
                <a:off x="6509900" y="4213871"/>
                <a:ext cx="4540025" cy="1937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skw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∗(1−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A066BF-0940-4CA4-B397-089DFA406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900" y="4213871"/>
                <a:ext cx="4540025" cy="1937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594AC00-7C50-4EEB-BDBA-DB6B8C1EDADA}"/>
              </a:ext>
            </a:extLst>
          </p:cNvPr>
          <p:cNvSpPr txBox="1"/>
          <p:nvPr/>
        </p:nvSpPr>
        <p:spPr>
          <a:xfrm>
            <a:off x="1142075" y="3595751"/>
            <a:ext cx="4478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One sample T-test for counts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8FFC6-C989-45F9-90D8-8C634539C221}"/>
              </a:ext>
            </a:extLst>
          </p:cNvPr>
          <p:cNvSpPr txBox="1"/>
          <p:nvPr/>
        </p:nvSpPr>
        <p:spPr>
          <a:xfrm>
            <a:off x="7435091" y="3595751"/>
            <a:ext cx="39472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Z-test for proportions</a:t>
            </a:r>
          </a:p>
        </p:txBody>
      </p:sp>
    </p:spTree>
    <p:extLst>
      <p:ext uri="{BB962C8B-B14F-4D97-AF65-F5344CB8AC3E}">
        <p14:creationId xmlns:p14="http://schemas.microsoft.com/office/powerpoint/2010/main" val="183164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6" y="253767"/>
            <a:ext cx="4127384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How do we assess normality?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536896" y="1786855"/>
            <a:ext cx="3144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Histograms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QQ plots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Normality tests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16107E-08B7-4E39-B8FE-5ECA5CE48E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24" r="3301"/>
          <a:stretch/>
        </p:blipFill>
        <p:spPr>
          <a:xfrm>
            <a:off x="5005146" y="0"/>
            <a:ext cx="7186854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FB667F-3CAA-4954-87DB-20C02595C032}"/>
              </a:ext>
            </a:extLst>
          </p:cNvPr>
          <p:cNvSpPr txBox="1"/>
          <p:nvPr/>
        </p:nvSpPr>
        <p:spPr>
          <a:xfrm>
            <a:off x="707329" y="5410710"/>
            <a:ext cx="412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https://www.ucd.ie/ecomodel/Resources/QQplots_WebVersion.html</a:t>
            </a:r>
          </a:p>
        </p:txBody>
      </p:sp>
    </p:spTree>
    <p:extLst>
      <p:ext uri="{BB962C8B-B14F-4D97-AF65-F5344CB8AC3E}">
        <p14:creationId xmlns:p14="http://schemas.microsoft.com/office/powerpoint/2010/main" val="634403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10125511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More on QQ plot shapes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F410E6-A4E4-42F2-A252-9192EF39D6AA}"/>
              </a:ext>
            </a:extLst>
          </p:cNvPr>
          <p:cNvSpPr txBox="1"/>
          <p:nvPr/>
        </p:nvSpPr>
        <p:spPr>
          <a:xfrm>
            <a:off x="224559" y="5933658"/>
            <a:ext cx="11567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https://www.ucd.ie/ecomodel/Resources/QQplots_WebVersion.html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1C0793-B6E3-4BB4-8FD6-CF779B155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71" y="1246504"/>
            <a:ext cx="5346579" cy="47337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8FC5A6-5B58-4852-A688-5318BA91A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513" y="1228216"/>
            <a:ext cx="5321393" cy="473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18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/>
          <p:nvPr/>
        </p:nvSpPr>
        <p:spPr>
          <a:xfrm>
            <a:off x="2667000" y="1759296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40" name="Shape 140"/>
          <p:cNvSpPr txBox="1"/>
          <p:nvPr/>
        </p:nvSpPr>
        <p:spPr>
          <a:xfrm>
            <a:off x="1188720" y="1812236"/>
            <a:ext cx="5852160" cy="310854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The </a:t>
            </a:r>
            <a:r>
              <a:rPr lang="en-US" sz="2800" i="1" dirty="0">
                <a:ea typeface="Gill Sans MT"/>
                <a:cs typeface="Gill Sans MT"/>
                <a:sym typeface="Gill Sans MT"/>
              </a:rPr>
              <a:t>Shapiro-Wilk normality test </a:t>
            </a:r>
            <a:r>
              <a:rPr lang="en-US" sz="2800" dirty="0">
                <a:ea typeface="Gill Sans MT"/>
                <a:cs typeface="Gill Sans MT"/>
                <a:sym typeface="Gill Sans MT"/>
              </a:rPr>
              <a:t>compares the </a:t>
            </a:r>
            <a:r>
              <a:rPr lang="en-US" sz="2800" i="1" dirty="0">
                <a:ea typeface="Gill Sans MT"/>
                <a:cs typeface="Gill Sans MT"/>
                <a:sym typeface="Gill Sans MT"/>
              </a:rPr>
              <a:t>actual </a:t>
            </a:r>
            <a:r>
              <a:rPr lang="en-US" sz="2800" dirty="0">
                <a:ea typeface="Gill Sans MT"/>
                <a:cs typeface="Gill Sans MT"/>
                <a:sym typeface="Gill Sans MT"/>
              </a:rPr>
              <a:t>distribution to a </a:t>
            </a:r>
            <a:r>
              <a:rPr lang="en-US" sz="2800" i="1" dirty="0">
                <a:ea typeface="Gill Sans MT"/>
                <a:cs typeface="Gill Sans MT"/>
                <a:sym typeface="Gill Sans MT"/>
              </a:rPr>
              <a:t>normal </a:t>
            </a:r>
            <a:r>
              <a:rPr lang="en-US" sz="2800" dirty="0">
                <a:ea typeface="Gill Sans MT"/>
                <a:cs typeface="Gill Sans MT"/>
                <a:sym typeface="Gill Sans MT"/>
              </a:rPr>
              <a:t>distribution, measuring the gap between them at multiple points.</a:t>
            </a:r>
          </a:p>
          <a:p>
            <a:endParaRPr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There are other normality test, but this one has more power when compared to other tests, especially with smaller (&lt;50) samples.</a:t>
            </a:r>
          </a:p>
        </p:txBody>
      </p:sp>
      <p:pic>
        <p:nvPicPr>
          <p:cNvPr id="141" name="Shape 141" descr="http://blog.fellstat.com/wp-content/uploads/2011/10/tmp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4657" y="2287880"/>
            <a:ext cx="4236470" cy="36465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101">
            <a:extLst>
              <a:ext uri="{FF2B5EF4-FFF2-40B4-BE49-F238E27FC236}">
                <a16:creationId xmlns:a16="http://schemas.microsoft.com/office/drawing/2014/main" id="{4F53E2A1-F7B1-93FC-BB94-16B99A249640}"/>
              </a:ext>
            </a:extLst>
          </p:cNvPr>
          <p:cNvSpPr txBox="1"/>
          <p:nvPr/>
        </p:nvSpPr>
        <p:spPr>
          <a:xfrm>
            <a:off x="1112967" y="855776"/>
            <a:ext cx="10125511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Testing normality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1021</Words>
  <Application>Microsoft Office PowerPoint</Application>
  <PresentationFormat>Widescreen</PresentationFormat>
  <Paragraphs>176</Paragraphs>
  <Slides>27</Slides>
  <Notes>20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Cambria Math</vt:lpstr>
      <vt:lpstr>Gill Sans MT</vt:lpstr>
      <vt:lpstr>Segoe UI</vt:lpstr>
      <vt:lpstr>Sitka Display Semibold</vt:lpstr>
      <vt:lpstr>4300 theme</vt:lpstr>
      <vt:lpstr>Tests of difference; Hypothesis testing</vt:lpstr>
      <vt:lpstr>PowerPoint Presentation</vt:lpstr>
      <vt:lpstr>Steps in hypothesis testing</vt:lpstr>
      <vt:lpstr>PowerPoint Presentation</vt:lpstr>
      <vt:lpstr>Steps in hypothesis testing</vt:lpstr>
      <vt:lpstr>PowerPoint Presentation</vt:lpstr>
      <vt:lpstr>PowerPoint Presentation</vt:lpstr>
      <vt:lpstr>PowerPoint Presentation</vt:lpstr>
      <vt:lpstr>PowerPoint Presentation</vt:lpstr>
      <vt:lpstr>The key role of beer!</vt:lpstr>
      <vt:lpstr>PowerPoint Presentation</vt:lpstr>
      <vt:lpstr>Steps in hypothesis testing</vt:lpstr>
      <vt:lpstr>PowerPoint Presentation</vt:lpstr>
      <vt:lpstr>Steps in hypothesis testing</vt:lpstr>
      <vt:lpstr>PowerPoint Presentation</vt:lpstr>
      <vt:lpstr>PowerPoint Presentation</vt:lpstr>
      <vt:lpstr>PowerPoint Presentation</vt:lpstr>
      <vt:lpstr>Steps in hypothesis testing</vt:lpstr>
      <vt:lpstr>PowerPoint Presentation</vt:lpstr>
      <vt:lpstr>PowerPoint Presentation</vt:lpstr>
      <vt:lpstr>Steps in hypothesis testing</vt:lpstr>
      <vt:lpstr>PowerPoint Presentation</vt:lpstr>
      <vt:lpstr>Two sample  t-tests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data</dc:title>
  <dc:creator>Gerald Shannon</dc:creator>
  <cp:lastModifiedBy>Jerry Shannon</cp:lastModifiedBy>
  <cp:revision>80</cp:revision>
  <dcterms:modified xsi:type="dcterms:W3CDTF">2026-10-27T15:41:33Z</dcterms:modified>
</cp:coreProperties>
</file>