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5"/>
  </p:notesMasterIdLst>
  <p:sldIdLst>
    <p:sldId id="256" r:id="rId2"/>
    <p:sldId id="262" r:id="rId3"/>
    <p:sldId id="300" r:id="rId4"/>
    <p:sldId id="301" r:id="rId5"/>
    <p:sldId id="303" r:id="rId6"/>
    <p:sldId id="302" r:id="rId7"/>
    <p:sldId id="304" r:id="rId8"/>
    <p:sldId id="305" r:id="rId9"/>
    <p:sldId id="306" r:id="rId10"/>
    <p:sldId id="283" r:id="rId11"/>
    <p:sldId id="292" r:id="rId12"/>
    <p:sldId id="307" r:id="rId13"/>
    <p:sldId id="30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2" autoAdjust="0"/>
    <p:restoredTop sz="86396" autoAdjust="0"/>
  </p:normalViewPr>
  <p:slideViewPr>
    <p:cSldViewPr snapToGrid="0">
      <p:cViewPr varScale="1">
        <p:scale>
          <a:sx n="97" d="100"/>
          <a:sy n="97" d="100"/>
        </p:scale>
        <p:origin x="312" y="90"/>
      </p:cViewPr>
      <p:guideLst/>
    </p:cSldViewPr>
  </p:slideViewPr>
  <p:outlineViewPr>
    <p:cViewPr>
      <p:scale>
        <a:sx n="33" d="100"/>
        <a:sy n="33" d="100"/>
      </p:scale>
      <p:origin x="0" y="-280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73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Vector data:</a:t>
            </a:r>
          </a:p>
          <a:p>
            <a:r>
              <a:rPr lang="en-US" dirty="0"/>
              <a:t>Geometric shapes: Points, lines, and polygons.</a:t>
            </a:r>
          </a:p>
          <a:p>
            <a:r>
              <a:rPr lang="en-US" dirty="0"/>
              <a:t>Defined by vertices</a:t>
            </a:r>
          </a:p>
          <a:p>
            <a:r>
              <a:rPr lang="en-US" dirty="0"/>
              <a:t>Usually irregular in shape.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79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GeoTIFF</a:t>
            </a:r>
            <a:r>
              <a:rPr lang="en-US" dirty="0"/>
              <a:t>: TIFF image with coordinates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07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D73C6-6FF2-FB09-BC8B-0457A756F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DCD7B-ECB4-0D1E-B58D-F3F1BFEA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D578E-0D48-54BC-35A2-B38F7AFB2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GeoTIFF</a:t>
            </a:r>
            <a:r>
              <a:rPr lang="en-US" dirty="0"/>
              <a:t>: TIFF image with coordinates attached.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58648-CEDC-E919-856A-2C7A90A37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27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D73C6-6FF2-FB09-BC8B-0457A756F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DCD7B-ECB4-0D1E-B58D-F3F1BFEA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D578E-0D48-54BC-35A2-B38F7AFB2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GeoTIFF</a:t>
            </a:r>
            <a:r>
              <a:rPr lang="en-US" dirty="0"/>
              <a:t>: TIFF image with coordinates attached.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58648-CEDC-E919-856A-2C7A90A37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74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-3zF10LbH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onscience.org/resources/learning-hub/tutorials/dc-shapefile-attributes-r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63C4-13EF-D49B-BFA7-7F975EFBC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Spatial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0352E-39EB-2697-F62C-A8F0E3F55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475139"/>
          </a:xfrm>
        </p:spPr>
        <p:txBody>
          <a:bodyPr>
            <a:normAutofit/>
          </a:bodyPr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389095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be aware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0" y="2124074"/>
            <a:ext cx="9917430" cy="3745019"/>
          </a:xfrm>
        </p:spPr>
        <p:txBody>
          <a:bodyPr>
            <a:normAutofit/>
          </a:bodyPr>
          <a:lstStyle/>
          <a:p>
            <a:r>
              <a:rPr lang="en-US" sz="3200" dirty="0"/>
              <a:t>Lab 0 is due Friday September 4</a:t>
            </a:r>
          </a:p>
          <a:p>
            <a:pPr lvl="1"/>
            <a:r>
              <a:rPr lang="en-US" sz="2800" dirty="0"/>
              <a:t>We’ll start on this on Friday.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6290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E2F8-4E98-5102-62C1-95F55386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/>
          <a:p>
            <a:r>
              <a:rPr lang="en-US" dirty="0"/>
              <a:t>GIS data formats: </a:t>
            </a:r>
            <a:br>
              <a:rPr lang="en-US" dirty="0"/>
            </a:br>
            <a:r>
              <a:rPr lang="en-US" dirty="0"/>
              <a:t>Vector vs raster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FF26E1-2921-395D-A230-4E31506BC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0" y="113597"/>
            <a:ext cx="5753099" cy="6500677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B1DD267-550C-3053-C390-D24B5C7C4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/>
          <a:lstStyle/>
          <a:p>
            <a:r>
              <a:rPr lang="en-US" dirty="0"/>
              <a:t>Assigned video:</a:t>
            </a:r>
          </a:p>
          <a:p>
            <a:r>
              <a:rPr lang="en-US" dirty="0">
                <a:hlinkClick r:id="rId3"/>
              </a:rPr>
              <a:t>https://www.youtube.com/watch?v=N-3zF10LbHg</a:t>
            </a:r>
            <a:r>
              <a:rPr lang="en-US" dirty="0"/>
              <a:t> 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4BC68664-1B16-1E62-890E-AC0C3A6B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3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6338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E2F8-4E98-5102-62C1-95F55386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data: points, lines, polygons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8B44B-4EF3-99CC-BCFF-3B9764F3A122}"/>
              </a:ext>
            </a:extLst>
          </p:cNvPr>
          <p:cNvSpPr txBox="1"/>
          <p:nvPr/>
        </p:nvSpPr>
        <p:spPr>
          <a:xfrm>
            <a:off x="1238250" y="1973997"/>
            <a:ext cx="42957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This is just a photo</a:t>
            </a:r>
          </a:p>
          <a:p>
            <a:r>
              <a:rPr lang="en-US" sz="3200" dirty="0"/>
              <a:t>made up of pixels,</a:t>
            </a:r>
          </a:p>
          <a:p>
            <a:r>
              <a:rPr lang="en-US" sz="3200" dirty="0"/>
              <a:t>but what objects do </a:t>
            </a:r>
          </a:p>
          <a:p>
            <a:r>
              <a:rPr lang="en-US" sz="3200" dirty="0"/>
              <a:t>you see?</a:t>
            </a:r>
          </a:p>
          <a:p>
            <a:endParaRPr lang="en-US" sz="3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6A580A-868A-7638-09C8-4408DAC6B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73997"/>
            <a:ext cx="5059680" cy="420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3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5DEC-A1AF-2B85-23E3-43DA3887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4870-E553-D261-6DD3-A0999E56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data: points, lines, polygons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18991F-690D-75EC-BA6D-3FDECF70AC7B}"/>
              </a:ext>
            </a:extLst>
          </p:cNvPr>
          <p:cNvSpPr txBox="1"/>
          <p:nvPr/>
        </p:nvSpPr>
        <p:spPr>
          <a:xfrm>
            <a:off x="1238250" y="1973997"/>
            <a:ext cx="42957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How is this view different?</a:t>
            </a:r>
          </a:p>
          <a:p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EB118-4A55-A25B-EC68-A7E3262B0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73997"/>
            <a:ext cx="5059680" cy="4205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CBBCCC-26E2-17F7-FF05-79BB00FC0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73997"/>
            <a:ext cx="5047565" cy="406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58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CAD0F9-8FD2-E29A-387E-68C2B97D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/>
          <a:p>
            <a:r>
              <a:rPr lang="en-US" dirty="0"/>
              <a:t>Under the hood: OpenStreetMap</a:t>
            </a:r>
          </a:p>
        </p:txBody>
      </p:sp>
      <p:pic>
        <p:nvPicPr>
          <p:cNvPr id="5" name="osm vector">
            <a:hlinkClick r:id="" action="ppaction://media"/>
            <a:extLst>
              <a:ext uri="{FF2B5EF4-FFF2-40B4-BE49-F238E27FC236}">
                <a16:creationId xmlns:a16="http://schemas.microsoft.com/office/drawing/2014/main" id="{E59EB701-C2DB-C456-D0C0-59C776F49C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04639" y="1142999"/>
            <a:ext cx="8087361" cy="4549139"/>
          </a:xfrm>
          <a:prstGeom prst="rect">
            <a:avLst/>
          </a:prstGeom>
          <a:noFill/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D22C62F-3057-2F40-8F2A-562B7DE80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162300"/>
            <a:ext cx="3200400" cy="3142904"/>
          </a:xfrm>
        </p:spPr>
        <p:txBody>
          <a:bodyPr>
            <a:normAutofit/>
          </a:bodyPr>
          <a:lstStyle/>
          <a:p>
            <a:r>
              <a:rPr lang="en-US" sz="2000" dirty="0"/>
              <a:t>Digitizing an image means creating points, lines, or polygons that represent real world features.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F4221B21-5692-9157-335A-2188733E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6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942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BA03CAA-B69B-094E-08A8-223678A3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/>
          <a:p>
            <a:r>
              <a:rPr lang="en-US" dirty="0"/>
              <a:t>Vector data has attributes	</a:t>
            </a:r>
          </a:p>
        </p:txBody>
      </p:sp>
      <p:pic>
        <p:nvPicPr>
          <p:cNvPr id="6" name="Picture 5" descr="Vector 01: Explore Shapefile Attributes &amp; Plot Shapefile Objects by ...">
            <a:extLst>
              <a:ext uri="{FF2B5EF4-FFF2-40B4-BE49-F238E27FC236}">
                <a16:creationId xmlns:a16="http://schemas.microsoft.com/office/drawing/2014/main" id="{E0166951-FD18-A678-2C94-76F122CF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1" r="2" b="9153"/>
          <a:stretch>
            <a:fillRect/>
          </a:stretch>
        </p:blipFill>
        <p:spPr>
          <a:xfrm>
            <a:off x="4289375" y="317499"/>
            <a:ext cx="7584387" cy="6142285"/>
          </a:xfrm>
          <a:prstGeom prst="rect">
            <a:avLst/>
          </a:prstGeom>
          <a:noFill/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70A5405-DABE-6050-FA38-FA01E4E18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table that is connected to the spatial features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25FAE-E12D-8171-E13A-FD048073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</a:rPr>
              <a:pPr>
                <a:spcAft>
                  <a:spcPts val="600"/>
                </a:spcAft>
                <a:buSzPct val="25000"/>
              </a:pPr>
              <a:t>7</a:t>
            </a:fld>
            <a:endParaRPr lang="en-US" sz="1200">
              <a:solidFill>
                <a:srgbClr val="888888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280567-F009-6B46-0D08-81A3A8D2DFEB}"/>
              </a:ext>
            </a:extLst>
          </p:cNvPr>
          <p:cNvSpPr txBox="1"/>
          <p:nvPr/>
        </p:nvSpPr>
        <p:spPr>
          <a:xfrm>
            <a:off x="4460470" y="650384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https://www.neonscience.org/resources/learning-hub/tutorials/dc-shapefile-attributes-r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5299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0E5D1D8-D4F0-839B-6304-4E7A69CA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 data is fuzzy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3A3816-2B30-9F9C-F9DD-8A3228BBF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505" y="1845734"/>
            <a:ext cx="3722370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 “objects”, just pixels with a value</a:t>
            </a:r>
          </a:p>
          <a:p>
            <a:r>
              <a:rPr lang="en-US" dirty="0"/>
              <a:t>Light wavelength/color</a:t>
            </a:r>
          </a:p>
          <a:p>
            <a:r>
              <a:rPr lang="en-US" dirty="0"/>
              <a:t>Elevation</a:t>
            </a:r>
          </a:p>
          <a:p>
            <a:r>
              <a:rPr lang="en-US" dirty="0"/>
              <a:t>Some other value (e.g., proximity to a point)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DB3EA-A303-6A33-09B7-A8E4F0CE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8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mage gallery Chapter 3: Getting started with GRASS - Open Source GIS ...">
            <a:extLst>
              <a:ext uri="{FF2B5EF4-FFF2-40B4-BE49-F238E27FC236}">
                <a16:creationId xmlns:a16="http://schemas.microsoft.com/office/drawing/2014/main" id="{83D1E14B-8098-C990-45F1-9565712BE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4" y="190501"/>
            <a:ext cx="3816013" cy="3450152"/>
          </a:xfrm>
          <a:prstGeom prst="rect">
            <a:avLst/>
          </a:prstGeom>
        </p:spPr>
      </p:pic>
      <p:pic>
        <p:nvPicPr>
          <p:cNvPr id="9" name="Picture 8" descr="Remote Sensing - Visual Image Interpretation Basics - AARoads">
            <a:extLst>
              <a:ext uri="{FF2B5EF4-FFF2-40B4-BE49-F238E27FC236}">
                <a16:creationId xmlns:a16="http://schemas.microsoft.com/office/drawing/2014/main" id="{510EB589-6C80-8A9E-4F0B-73C9A2C3E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962" y="3708248"/>
            <a:ext cx="6254743" cy="311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49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164C17-ACC8-F386-6F82-51C684A03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 data comes in many forms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AD6507-C272-7F4A-6D27-A2868E507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076170"/>
            <a:ext cx="3200400" cy="3229033"/>
          </a:xfrm>
        </p:spPr>
        <p:txBody>
          <a:bodyPr>
            <a:normAutofit/>
          </a:bodyPr>
          <a:lstStyle/>
          <a:p>
            <a:r>
              <a:rPr lang="en-US" sz="2000" dirty="0"/>
              <a:t>Data can be nominal/categorical or continuous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A1D3E-BF4F-4163-6009-5CA28533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9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Chapter 7 Raster Geospatial Data - Discrete | Geographic Data Science ...">
            <a:extLst>
              <a:ext uri="{FF2B5EF4-FFF2-40B4-BE49-F238E27FC236}">
                <a16:creationId xmlns:a16="http://schemas.microsoft.com/office/drawing/2014/main" id="{AB028256-A7E3-8C33-1D9D-CB4E97D32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577" y="114283"/>
            <a:ext cx="4178324" cy="2984517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Chapter 6 Raster Geospatial Data - Continuous | Geographic Data Science ...">
            <a:extLst>
              <a:ext uri="{FF2B5EF4-FFF2-40B4-BE49-F238E27FC236}">
                <a16:creationId xmlns:a16="http://schemas.microsoft.com/office/drawing/2014/main" id="{18EF0BCE-6225-4B06-A8B6-99409F91D8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60" t="5708" r="9925" b="4216"/>
          <a:stretch>
            <a:fillRect/>
          </a:stretch>
        </p:blipFill>
        <p:spPr>
          <a:xfrm>
            <a:off x="4165577" y="3305175"/>
            <a:ext cx="4276728" cy="32290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4AF0B2-120E-BED2-B4F2-9CA3A1D98E38}"/>
              </a:ext>
            </a:extLst>
          </p:cNvPr>
          <p:cNvSpPr txBox="1"/>
          <p:nvPr/>
        </p:nvSpPr>
        <p:spPr>
          <a:xfrm>
            <a:off x="8394296" y="2199540"/>
            <a:ext cx="21621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Categorical-</a:t>
            </a:r>
          </a:p>
          <a:p>
            <a:r>
              <a:rPr lang="en-US" sz="2400" dirty="0"/>
              <a:t>Land use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04641-50E1-C50E-2553-49D13919BBA3}"/>
              </a:ext>
            </a:extLst>
          </p:cNvPr>
          <p:cNvSpPr txBox="1"/>
          <p:nvPr/>
        </p:nvSpPr>
        <p:spPr>
          <a:xfrm>
            <a:off x="8510173" y="5474207"/>
            <a:ext cx="1930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Continuous-</a:t>
            </a:r>
          </a:p>
          <a:p>
            <a:r>
              <a:rPr lang="en-US" sz="2400" dirty="0"/>
              <a:t>Temperature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013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2E98161-960E-4F70-8B08-E8FC4B895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0"/>
            <a:ext cx="4957491" cy="486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4F4CFA85-F712-4B60-AC03-20BD5332C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289" y="-1"/>
            <a:ext cx="5351169" cy="486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C1FF97-C81E-453B-52E2-50DE4361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Comparing raster and vector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C0F80-4FF0-CE0F-93BB-42A41B1C0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i="1" dirty="0"/>
              <a:t>Two maps of population density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0861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1121853" y="882155"/>
            <a:ext cx="3332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</a:rPr>
              <a:t>Spatial file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532FD-85F2-45A6-9267-589448CEF03E}"/>
              </a:ext>
            </a:extLst>
          </p:cNvPr>
          <p:cNvSpPr txBox="1"/>
          <p:nvPr/>
        </p:nvSpPr>
        <p:spPr>
          <a:xfrm>
            <a:off x="1266825" y="2044005"/>
            <a:ext cx="100850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2800" b="1" i="1" u="none" strike="noStrike" dirty="0">
                <a:solidFill>
                  <a:srgbClr val="FF9900"/>
                </a:solidFill>
                <a:effectLst/>
              </a:rPr>
              <a:t>Vector:</a:t>
            </a:r>
            <a:r>
              <a:rPr lang="en-US" sz="2800" b="0" i="0" u="none" strike="noStrike" dirty="0">
                <a:solidFill>
                  <a:srgbClr val="FFFFFF"/>
                </a:solidFill>
                <a:effectLst/>
              </a:rPr>
              <a:t> </a:t>
            </a:r>
          </a:p>
          <a:p>
            <a:pPr lvl="1" fontAlgn="base"/>
            <a:r>
              <a:rPr lang="en-US" sz="2800" b="0" i="0" u="none" strike="noStrike" dirty="0">
                <a:effectLst/>
              </a:rPr>
              <a:t>Shapefile, </a:t>
            </a:r>
            <a:r>
              <a:rPr lang="en-US" sz="2800" b="0" i="0" u="none" strike="noStrike" dirty="0" err="1">
                <a:effectLst/>
              </a:rPr>
              <a:t>GeoJSON</a:t>
            </a:r>
            <a:r>
              <a:rPr lang="en-US" sz="2800" b="0" i="0" u="none" strike="noStrike" dirty="0">
                <a:effectLst/>
              </a:rPr>
              <a:t>, KML, </a:t>
            </a:r>
            <a:r>
              <a:rPr lang="en-US" sz="2800" b="0" i="0" u="none" strike="noStrike" dirty="0" err="1">
                <a:effectLst/>
              </a:rPr>
              <a:t>Geopackage</a:t>
            </a:r>
            <a:r>
              <a:rPr lang="en-US" sz="2800" b="0" i="0" u="none" strike="noStrike" dirty="0">
                <a:effectLst/>
              </a:rPr>
              <a:t>, CSV, XLX</a:t>
            </a:r>
            <a:r>
              <a:rPr lang="en-US" sz="2800" dirty="0"/>
              <a:t>, etc.</a:t>
            </a:r>
            <a:endParaRPr lang="en-US" sz="2800" dirty="0">
              <a:solidFill>
                <a:srgbClr val="FFFFFF"/>
              </a:solidFill>
            </a:endParaRPr>
          </a:p>
          <a:p>
            <a:pPr lvl="1" fontAlgn="base"/>
            <a:endParaRPr lang="en-US" sz="2800" b="1" i="1" dirty="0">
              <a:solidFill>
                <a:srgbClr val="FFFFFF"/>
              </a:solidFill>
            </a:endParaRPr>
          </a:p>
          <a:p>
            <a:pPr marL="0" lvl="1" fontAlgn="base"/>
            <a:r>
              <a:rPr lang="en-US" sz="2800" b="1" i="1" u="none" strike="noStrike" dirty="0">
                <a:solidFill>
                  <a:srgbClr val="FF9900"/>
                </a:solidFill>
                <a:effectLst/>
              </a:rPr>
              <a:t>Raster:</a:t>
            </a:r>
            <a:r>
              <a:rPr lang="en-US" sz="2800" b="0" i="0" u="none" strike="noStrike" dirty="0">
                <a:solidFill>
                  <a:srgbClr val="FFFFFF"/>
                </a:solidFill>
                <a:effectLst/>
              </a:rPr>
              <a:t> </a:t>
            </a:r>
          </a:p>
          <a:p>
            <a:pPr marL="0" lvl="1" fontAlgn="base"/>
            <a:r>
              <a:rPr lang="en-US" sz="2800" dirty="0">
                <a:solidFill>
                  <a:srgbClr val="FFFFFF"/>
                </a:solidFill>
              </a:rPr>
              <a:t>	</a:t>
            </a:r>
            <a:r>
              <a:rPr lang="en-US" sz="2800" b="0" i="0" u="none" strike="noStrike" dirty="0" err="1">
                <a:effectLst/>
              </a:rPr>
              <a:t>GeoTIFF</a:t>
            </a:r>
            <a:r>
              <a:rPr lang="en-US" sz="2800" b="0" i="0" u="none" strike="noStrike" dirty="0">
                <a:effectLst/>
              </a:rPr>
              <a:t>, GRID, </a:t>
            </a:r>
            <a:r>
              <a:rPr lang="en-US" sz="2800" b="0" i="0" u="none" strike="noStrike" dirty="0" err="1">
                <a:effectLst/>
              </a:rPr>
              <a:t>NetCDF</a:t>
            </a:r>
            <a:r>
              <a:rPr lang="en-US" sz="2800" b="0" i="0" u="none" strike="noStrike" dirty="0">
                <a:effectLst/>
              </a:rPr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269272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7E48-5734-871D-9CA5-60C9B4D3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D92F-2432-6CD5-600F-A0511412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/>
          <a:p>
            <a:r>
              <a:rPr lang="en-US" b="1" dirty="0"/>
              <a:t>Check our class data</a:t>
            </a:r>
            <a:br>
              <a:rPr lang="en-US" b="1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BB55A2-5456-45CE-8B08-2199895E1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772" y="1372171"/>
            <a:ext cx="7878252" cy="4825429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A15F9-A710-F044-BC49-4286E5AB8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>
            <a:normAutofit/>
          </a:bodyPr>
          <a:lstStyle/>
          <a:p>
            <a:r>
              <a:rPr lang="en-US" sz="2000" dirty="0"/>
              <a:t>How many different vector and raster file types do you see?</a:t>
            </a:r>
          </a:p>
          <a:p>
            <a:endParaRPr lang="en-US" sz="2000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9C537CA-3E39-BC58-D68C-DE2E4C4A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12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7081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7E48-5734-871D-9CA5-60C9B4D3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D92F-2432-6CD5-600F-A0511412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b="1" dirty="0"/>
              <a:t>In R: sf and terra</a:t>
            </a: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9C537CA-3E39-BC58-D68C-DE2E4C4A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13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C0798-B935-4B33-8F79-F65502F0C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2" y="1990650"/>
            <a:ext cx="5434682" cy="3129991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378CD5-038F-4ABA-A24C-F0361B479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296" y="3086332"/>
            <a:ext cx="6237419" cy="3021496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A449829-2E47-43A4-A14B-829F7C321340}"/>
              </a:ext>
            </a:extLst>
          </p:cNvPr>
          <p:cNvSpPr txBox="1"/>
          <p:nvPr/>
        </p:nvSpPr>
        <p:spPr>
          <a:xfrm>
            <a:off x="8357420" y="2648376"/>
            <a:ext cx="3972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https://rspatial.github.io/terra/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755658-F0EC-4432-816C-F53022DFDBEA}"/>
              </a:ext>
            </a:extLst>
          </p:cNvPr>
          <p:cNvSpPr txBox="1"/>
          <p:nvPr/>
        </p:nvSpPr>
        <p:spPr>
          <a:xfrm>
            <a:off x="491285" y="5225450"/>
            <a:ext cx="6164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https://r-spatial.github.io/sf/</a:t>
            </a:r>
          </a:p>
        </p:txBody>
      </p:sp>
    </p:spTree>
    <p:extLst>
      <p:ext uri="{BB962C8B-B14F-4D97-AF65-F5344CB8AC3E}">
        <p14:creationId xmlns:p14="http://schemas.microsoft.com/office/powerpoint/2010/main" val="187484991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</TotalTime>
  <Words>336</Words>
  <Application>Microsoft Office PowerPoint</Application>
  <PresentationFormat>Widescreen</PresentationFormat>
  <Paragraphs>64</Paragraphs>
  <Slides>13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Sitka Display Semibold</vt:lpstr>
      <vt:lpstr>4300 theme</vt:lpstr>
      <vt:lpstr>Spatial data</vt:lpstr>
      <vt:lpstr>Things to be aware of</vt:lpstr>
      <vt:lpstr>GIS data formats:  Vector vs raster</vt:lpstr>
      <vt:lpstr>Vector data: points, lines, polygons</vt:lpstr>
      <vt:lpstr>Vector data: points, lines, polygons</vt:lpstr>
      <vt:lpstr>Under the hood: OpenStreetMap</vt:lpstr>
      <vt:lpstr>Vector data has attributes </vt:lpstr>
      <vt:lpstr>Raster data is fuzzy</vt:lpstr>
      <vt:lpstr>Raster data comes in many forms</vt:lpstr>
      <vt:lpstr>Comparing raster and vector</vt:lpstr>
      <vt:lpstr>PowerPoint Presentation</vt:lpstr>
      <vt:lpstr>Check our class data </vt:lpstr>
      <vt:lpstr>In R: sf and terra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Numbers: What are they good for?</dc:title>
  <dc:creator>Gerald Shannon</dc:creator>
  <cp:lastModifiedBy>Gerald Shannon</cp:lastModifiedBy>
  <cp:revision>158</cp:revision>
  <dcterms:modified xsi:type="dcterms:W3CDTF">2026-08-26T18:17:21Z</dcterms:modified>
</cp:coreProperties>
</file>