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0"/>
  </p:notesMasterIdLst>
  <p:sldIdLst>
    <p:sldId id="256" r:id="rId2"/>
    <p:sldId id="258" r:id="rId3"/>
    <p:sldId id="259" r:id="rId4"/>
    <p:sldId id="260" r:id="rId5"/>
    <p:sldId id="271" r:id="rId6"/>
    <p:sldId id="261" r:id="rId7"/>
    <p:sldId id="262" r:id="rId8"/>
    <p:sldId id="263" r:id="rId9"/>
    <p:sldId id="267" r:id="rId10"/>
    <p:sldId id="268" r:id="rId11"/>
    <p:sldId id="269" r:id="rId12"/>
    <p:sldId id="270" r:id="rId13"/>
    <p:sldId id="273" r:id="rId14"/>
    <p:sldId id="272" r:id="rId15"/>
    <p:sldId id="264" r:id="rId16"/>
    <p:sldId id="266" r:id="rId17"/>
    <p:sldId id="257" r:id="rId18"/>
    <p:sldId id="265"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1348"/>
    <p:restoredTop sz="79384"/>
  </p:normalViewPr>
  <p:slideViewPr>
    <p:cSldViewPr snapToGrid="0">
      <p:cViewPr varScale="1">
        <p:scale>
          <a:sx n="77" d="100"/>
          <a:sy n="77" d="100"/>
        </p:scale>
        <p:origin x="224" y="5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FA3FB2-8E73-B64A-BA12-3C9CD211A463}" type="datetimeFigureOut">
              <a:rPr lang="en-US" smtClean="0"/>
              <a:t>9/30/25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EAE454-7225-CE4C-B911-3A1B30BE6941}" type="slidenum">
              <a:rPr lang="en-US" smtClean="0"/>
              <a:t>‹#›</a:t>
            </a:fld>
            <a:endParaRPr lang="en-US"/>
          </a:p>
        </p:txBody>
      </p:sp>
    </p:spTree>
    <p:extLst>
      <p:ext uri="{BB962C8B-B14F-4D97-AF65-F5344CB8AC3E}">
        <p14:creationId xmlns:p14="http://schemas.microsoft.com/office/powerpoint/2010/main" val="15717038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EEAE454-7225-CE4C-B911-3A1B30BE6941}" type="slidenum">
              <a:rPr lang="en-US" smtClean="0"/>
              <a:t>1</a:t>
            </a:fld>
            <a:endParaRPr lang="en-US"/>
          </a:p>
        </p:txBody>
      </p:sp>
    </p:spTree>
    <p:extLst>
      <p:ext uri="{BB962C8B-B14F-4D97-AF65-F5344CB8AC3E}">
        <p14:creationId xmlns:p14="http://schemas.microsoft.com/office/powerpoint/2010/main" val="3486635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removed the geometry in </a:t>
            </a:r>
            <a:r>
              <a:rPr lang="en-US" dirty="0" err="1"/>
              <a:t>dollars_puma</a:t>
            </a:r>
            <a:r>
              <a:rPr lang="en-US" dirty="0"/>
              <a:t> because we just want to count how many of each type of store is in each PUMA, we don’t care where it is. Also the pivot wider doesn’t work when each point has a geometry attached to it.</a:t>
            </a:r>
          </a:p>
          <a:p>
            <a:endParaRPr lang="en-US" dirty="0"/>
          </a:p>
          <a:p>
            <a:endParaRPr lang="en-US" dirty="0"/>
          </a:p>
        </p:txBody>
      </p:sp>
      <p:sp>
        <p:nvSpPr>
          <p:cNvPr id="4" name="Slide Number Placeholder 3"/>
          <p:cNvSpPr>
            <a:spLocks noGrp="1"/>
          </p:cNvSpPr>
          <p:nvPr>
            <p:ph type="sldNum" sz="quarter" idx="5"/>
          </p:nvPr>
        </p:nvSpPr>
        <p:spPr/>
        <p:txBody>
          <a:bodyPr/>
          <a:lstStyle/>
          <a:p>
            <a:fld id="{FEEAE454-7225-CE4C-B911-3A1B30BE6941}" type="slidenum">
              <a:rPr lang="en-US" smtClean="0"/>
              <a:t>3</a:t>
            </a:fld>
            <a:endParaRPr lang="en-US"/>
          </a:p>
        </p:txBody>
      </p:sp>
    </p:spTree>
    <p:extLst>
      <p:ext uri="{BB962C8B-B14F-4D97-AF65-F5344CB8AC3E}">
        <p14:creationId xmlns:p14="http://schemas.microsoft.com/office/powerpoint/2010/main" val="21341584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EEAE454-7225-CE4C-B911-3A1B30BE6941}" type="slidenum">
              <a:rPr lang="en-US" smtClean="0"/>
              <a:t>5</a:t>
            </a:fld>
            <a:endParaRPr lang="en-US"/>
          </a:p>
        </p:txBody>
      </p:sp>
    </p:spTree>
    <p:extLst>
      <p:ext uri="{BB962C8B-B14F-4D97-AF65-F5344CB8AC3E}">
        <p14:creationId xmlns:p14="http://schemas.microsoft.com/office/powerpoint/2010/main" val="24476761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removed the geometry in </a:t>
            </a:r>
            <a:r>
              <a:rPr lang="en-US" dirty="0" err="1"/>
              <a:t>dollars_puma</a:t>
            </a:r>
            <a:r>
              <a:rPr lang="en-US" dirty="0"/>
              <a:t> because we just want to count how many of each type of store is in each PUMA, we don’t care where it is. Also the pivot wider doesn’t work when each point has a geometry attached to it.</a:t>
            </a:r>
          </a:p>
          <a:p>
            <a:endParaRPr lang="en-US" dirty="0"/>
          </a:p>
          <a:p>
            <a:r>
              <a:rPr lang="en-US" dirty="0"/>
              <a:t>We can’t map </a:t>
            </a:r>
            <a:r>
              <a:rPr lang="en-US" dirty="0" err="1"/>
              <a:t>dollars_puma_count_wide</a:t>
            </a:r>
            <a:r>
              <a:rPr lang="en-US" dirty="0"/>
              <a:t> because ... We had removed the geometry from </a:t>
            </a:r>
            <a:r>
              <a:rPr lang="en-US" dirty="0" err="1"/>
              <a:t>dollars_puma</a:t>
            </a:r>
            <a:r>
              <a:rPr lang="en-US" dirty="0"/>
              <a:t>!</a:t>
            </a:r>
          </a:p>
          <a:p>
            <a:endParaRPr lang="en-US" dirty="0"/>
          </a:p>
          <a:p>
            <a:r>
              <a:rPr lang="en-US" dirty="0"/>
              <a:t>Why can’t we do </a:t>
            </a:r>
            <a:r>
              <a:rPr lang="en-US" dirty="0" err="1"/>
              <a:t>st_join</a:t>
            </a:r>
            <a:r>
              <a:rPr lang="en-US" dirty="0"/>
              <a:t>? Because </a:t>
            </a:r>
            <a:r>
              <a:rPr lang="en-US" dirty="0" err="1"/>
              <a:t>dollars_puma_count_wide</a:t>
            </a:r>
            <a:r>
              <a:rPr lang="en-US" dirty="0"/>
              <a:t> is a </a:t>
            </a:r>
            <a:r>
              <a:rPr lang="en-US" dirty="0" err="1"/>
              <a:t>dataframe</a:t>
            </a:r>
            <a:r>
              <a:rPr lang="en-US" dirty="0"/>
              <a:t>, it’s not spatial</a:t>
            </a:r>
          </a:p>
        </p:txBody>
      </p:sp>
      <p:sp>
        <p:nvSpPr>
          <p:cNvPr id="4" name="Slide Number Placeholder 3"/>
          <p:cNvSpPr>
            <a:spLocks noGrp="1"/>
          </p:cNvSpPr>
          <p:nvPr>
            <p:ph type="sldNum" sz="quarter" idx="5"/>
          </p:nvPr>
        </p:nvSpPr>
        <p:spPr/>
        <p:txBody>
          <a:bodyPr/>
          <a:lstStyle/>
          <a:p>
            <a:fld id="{FEEAE454-7225-CE4C-B911-3A1B30BE6941}" type="slidenum">
              <a:rPr lang="en-US" smtClean="0"/>
              <a:t>6</a:t>
            </a:fld>
            <a:endParaRPr lang="en-US"/>
          </a:p>
        </p:txBody>
      </p:sp>
    </p:spTree>
    <p:extLst>
      <p:ext uri="{BB962C8B-B14F-4D97-AF65-F5344CB8AC3E}">
        <p14:creationId xmlns:p14="http://schemas.microsoft.com/office/powerpoint/2010/main" val="4214122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removed the geometry in </a:t>
            </a:r>
            <a:r>
              <a:rPr lang="en-US" dirty="0" err="1"/>
              <a:t>dollars_puma</a:t>
            </a:r>
            <a:r>
              <a:rPr lang="en-US" dirty="0"/>
              <a:t> because we just want to count how many of each type of store is in each PUMA, we don’t care where it is. Also the pivot wider doesn’t work when each point has a geometry attached to it.</a:t>
            </a:r>
          </a:p>
          <a:p>
            <a:endParaRPr lang="en-US" dirty="0"/>
          </a:p>
          <a:p>
            <a:r>
              <a:rPr lang="en-US" dirty="0"/>
              <a:t>We can’t map </a:t>
            </a:r>
            <a:r>
              <a:rPr lang="en-US" dirty="0" err="1"/>
              <a:t>dollars_puma_count_wide</a:t>
            </a:r>
            <a:r>
              <a:rPr lang="en-US" dirty="0"/>
              <a:t> because ... We had removed the geometry from </a:t>
            </a:r>
            <a:r>
              <a:rPr lang="en-US" dirty="0" err="1"/>
              <a:t>dollars_puma</a:t>
            </a:r>
            <a:r>
              <a:rPr lang="en-US" dirty="0"/>
              <a:t>!</a:t>
            </a:r>
          </a:p>
          <a:p>
            <a:endParaRPr lang="en-US" dirty="0"/>
          </a:p>
          <a:p>
            <a:r>
              <a:rPr lang="en-US" dirty="0"/>
              <a:t>Why can’t we do </a:t>
            </a:r>
            <a:r>
              <a:rPr lang="en-US" dirty="0" err="1"/>
              <a:t>st_join</a:t>
            </a:r>
            <a:r>
              <a:rPr lang="en-US" dirty="0"/>
              <a:t>? Because </a:t>
            </a:r>
            <a:r>
              <a:rPr lang="en-US" dirty="0" err="1"/>
              <a:t>dollars_puma_count_wide</a:t>
            </a:r>
            <a:r>
              <a:rPr lang="en-US" dirty="0"/>
              <a:t> is a </a:t>
            </a:r>
            <a:r>
              <a:rPr lang="en-US" dirty="0" err="1"/>
              <a:t>dataframe</a:t>
            </a:r>
            <a:r>
              <a:rPr lang="en-US" dirty="0"/>
              <a:t>, it’s not spatial</a:t>
            </a:r>
          </a:p>
        </p:txBody>
      </p:sp>
      <p:sp>
        <p:nvSpPr>
          <p:cNvPr id="4" name="Slide Number Placeholder 3"/>
          <p:cNvSpPr>
            <a:spLocks noGrp="1"/>
          </p:cNvSpPr>
          <p:nvPr>
            <p:ph type="sldNum" sz="quarter" idx="5"/>
          </p:nvPr>
        </p:nvSpPr>
        <p:spPr/>
        <p:txBody>
          <a:bodyPr/>
          <a:lstStyle/>
          <a:p>
            <a:fld id="{FEEAE454-7225-CE4C-B911-3A1B30BE6941}" type="slidenum">
              <a:rPr lang="en-US" smtClean="0"/>
              <a:t>8</a:t>
            </a:fld>
            <a:endParaRPr lang="en-US"/>
          </a:p>
        </p:txBody>
      </p:sp>
    </p:spTree>
    <p:extLst>
      <p:ext uri="{BB962C8B-B14F-4D97-AF65-F5344CB8AC3E}">
        <p14:creationId xmlns:p14="http://schemas.microsoft.com/office/powerpoint/2010/main" val="39524076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n-GB"/>
              <a:t>Click to edit Master title style</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9AB3A824-1A51-4B26-AD58-A6D8E14F6C04}" type="datetimeFigureOut">
              <a:rPr lang="en-US" dirty="0"/>
              <a:t>9/30/25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rIns="45720"/>
          <a:lstStyle/>
          <a:p>
            <a:fld id="{6D22F896-40B5-4ADD-8801-0D06FADFA095}" type="slidenum">
              <a:rPr lang="en-US" dirty="0"/>
              <a:t>‹#›</a:t>
            </a:fld>
            <a:endParaRPr lang="en-US" dirty="0"/>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7D162C4-EDD9-4389-A98B-B87ECEA2A816}" type="datetimeFigureOut">
              <a:rPr lang="en-US" dirty="0"/>
              <a:t>9/30/25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n-GB"/>
              <a:t>Click to edit Master title style</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3E5059C3-6A89-4494-99FF-5A4D6FFD50EB}" type="datetimeFigureOut">
              <a:rPr lang="en-US" dirty="0"/>
              <a:t>9/30/25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n-GB"/>
              <a:t>Click to edit Master title style</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CA954B2F-12DE-47F5-8894-472B206D2E1E}" type="datetimeFigureOut">
              <a:rPr lang="en-US" dirty="0"/>
              <a:t>9/30/25</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n-GB"/>
              <a:t>Click to edit Master title style</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2609285" y="2851331"/>
            <a:ext cx="3893623" cy="307143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666635" y="2851331"/>
            <a:ext cx="3899798" cy="307143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3F30E46F-7819-4ACF-B48B-48222C2ACC88}" type="datetimeFigureOut">
              <a:rPr lang="en-US" dirty="0"/>
              <a:t>9/30/25</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1FAF3416-4057-4DAA-829D-4CA07428D088}" type="datetimeFigureOut">
              <a:rPr lang="en-US" dirty="0"/>
              <a:t>9/30/25</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Date Placeholder 1"/>
          <p:cNvSpPr>
            <a:spLocks noGrp="1"/>
          </p:cNvSpPr>
          <p:nvPr>
            <p:ph type="dt" sz="half" idx="10"/>
          </p:nvPr>
        </p:nvSpPr>
        <p:spPr/>
        <p:txBody>
          <a:bodyPr/>
          <a:lstStyle/>
          <a:p>
            <a:fld id="{921D9284-D300-4297-87F7-E791DCC15DB1}" type="datetimeFigureOut">
              <a:rPr lang="en-US" dirty="0"/>
              <a:t>9/30/25</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n-GB"/>
              <a:t>Click to edit Master title style</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37D525BB-DA17-4BA0-B3C8-3AC3ABC827E6}" type="datetimeFigureOut">
              <a:rPr lang="en-US" dirty="0"/>
              <a:t>9/30/25</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n-GB"/>
              <a:t>Click to edit Master title style</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B16C4C9A-3960-41CF-A4E9-2A8FB932454B}" type="datetimeFigureOut">
              <a:rPr lang="en-US" dirty="0"/>
              <a:t>9/30/25</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857E33E-8B18-4087-B112-809917729534}" type="datetimeFigureOut">
              <a:rPr lang="en-US" dirty="0"/>
              <a:t>9/30/25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n-GB"/>
              <a:t>Click to edit Master title style</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3FFE419-2371-464F-8239-3959401C3561}" type="datetimeFigureOut">
              <a:rPr lang="en-US" dirty="0"/>
              <a:t>9/30/25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3CBC1C18-307B-4F68-A007-B5B542270E8D}" type="datetimeFigureOut">
              <a:rPr lang="en-US" dirty="0"/>
              <a:t>9/30/25</a:t>
            </a:fld>
            <a:endParaRPr lang="en-US" dirty="0"/>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r>
              <a:rPr lang="en-US" dirty="0"/>
              <a:t>
              </a:t>
            </a:r>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6D22F896-40B5-4ADD-8801-0D06FADFA095}" type="slidenum">
              <a:rPr lang="en-US" dirty="0"/>
              <a:pPr/>
              <a:t>‹#›</a:t>
            </a:fld>
            <a:endParaRPr lang="en-US" dirty="0"/>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mikoontz.github.io/data-carpentry-week/lesson_joins.html"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cran.r-project.org/web/packages/terra/index.html"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37E7D-5079-3809-2985-9965CFDDA169}"/>
              </a:ext>
            </a:extLst>
          </p:cNvPr>
          <p:cNvSpPr>
            <a:spLocks noGrp="1"/>
          </p:cNvSpPr>
          <p:nvPr>
            <p:ph type="ctrTitle"/>
          </p:nvPr>
        </p:nvSpPr>
        <p:spPr>
          <a:xfrm>
            <a:off x="2772274" y="1578427"/>
            <a:ext cx="5518066" cy="2268559"/>
          </a:xfrm>
        </p:spPr>
        <p:txBody>
          <a:bodyPr/>
          <a:lstStyle/>
          <a:p>
            <a:r>
              <a:rPr lang="en-US" dirty="0"/>
              <a:t>GEOG4/6300</a:t>
            </a:r>
          </a:p>
        </p:txBody>
      </p:sp>
      <p:sp>
        <p:nvSpPr>
          <p:cNvPr id="3" name="Subtitle 2">
            <a:extLst>
              <a:ext uri="{FF2B5EF4-FFF2-40B4-BE49-F238E27FC236}">
                <a16:creationId xmlns:a16="http://schemas.microsoft.com/office/drawing/2014/main" id="{58F6348E-BFB2-274B-ABBD-279FC7721865}"/>
              </a:ext>
            </a:extLst>
          </p:cNvPr>
          <p:cNvSpPr>
            <a:spLocks noGrp="1"/>
          </p:cNvSpPr>
          <p:nvPr>
            <p:ph type="subTitle" idx="1"/>
          </p:nvPr>
        </p:nvSpPr>
        <p:spPr>
          <a:xfrm>
            <a:off x="2438400" y="3429000"/>
            <a:ext cx="6385560" cy="2584294"/>
          </a:xfrm>
        </p:spPr>
        <p:txBody>
          <a:bodyPr>
            <a:normAutofit/>
          </a:bodyPr>
          <a:lstStyle/>
          <a:p>
            <a:r>
              <a:rPr lang="en-US" sz="2800" dirty="0"/>
              <a:t>Working with Raster and Vector Data: Visualizing and zonal statistics</a:t>
            </a:r>
          </a:p>
          <a:p>
            <a:r>
              <a:rPr lang="en-US" sz="2800" dirty="0"/>
              <a:t>Tuesday September 30, 2025</a:t>
            </a:r>
          </a:p>
          <a:p>
            <a:r>
              <a:rPr lang="en-US" sz="2800" dirty="0"/>
              <a:t>Dr. Anna Harper</a:t>
            </a:r>
          </a:p>
        </p:txBody>
      </p:sp>
    </p:spTree>
    <p:extLst>
      <p:ext uri="{BB962C8B-B14F-4D97-AF65-F5344CB8AC3E}">
        <p14:creationId xmlns:p14="http://schemas.microsoft.com/office/powerpoint/2010/main" val="20227970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55749-BC35-4F0D-FC65-4215EF810EA2}"/>
              </a:ext>
            </a:extLst>
          </p:cNvPr>
          <p:cNvSpPr>
            <a:spLocks noGrp="1"/>
          </p:cNvSpPr>
          <p:nvPr>
            <p:ph type="title"/>
          </p:nvPr>
        </p:nvSpPr>
        <p:spPr/>
        <p:txBody>
          <a:bodyPr/>
          <a:lstStyle/>
          <a:p>
            <a:pPr algn="l"/>
            <a:r>
              <a:rPr lang="en-US" dirty="0"/>
              <a:t>Overview</a:t>
            </a:r>
          </a:p>
        </p:txBody>
      </p:sp>
      <p:sp>
        <p:nvSpPr>
          <p:cNvPr id="3" name="Content Placeholder 2">
            <a:extLst>
              <a:ext uri="{FF2B5EF4-FFF2-40B4-BE49-F238E27FC236}">
                <a16:creationId xmlns:a16="http://schemas.microsoft.com/office/drawing/2014/main" id="{F003ADF0-1938-30D2-B316-8FEF45AE87E3}"/>
              </a:ext>
            </a:extLst>
          </p:cNvPr>
          <p:cNvSpPr>
            <a:spLocks noGrp="1"/>
          </p:cNvSpPr>
          <p:nvPr>
            <p:ph idx="1"/>
          </p:nvPr>
        </p:nvSpPr>
        <p:spPr/>
        <p:txBody>
          <a:bodyPr/>
          <a:lstStyle/>
          <a:p>
            <a:r>
              <a:rPr lang="en-US" dirty="0"/>
              <a:t>Where are we in the class …</a:t>
            </a:r>
          </a:p>
          <a:p>
            <a:r>
              <a:rPr lang="en-US" dirty="0"/>
              <a:t>Review of calculating zonal statistics with vector data</a:t>
            </a:r>
          </a:p>
          <a:p>
            <a:r>
              <a:rPr lang="en-US" dirty="0"/>
              <a:t>Calculating zonal statistics from raster data</a:t>
            </a:r>
          </a:p>
        </p:txBody>
      </p:sp>
    </p:spTree>
    <p:extLst>
      <p:ext uri="{BB962C8B-B14F-4D97-AF65-F5344CB8AC3E}">
        <p14:creationId xmlns:p14="http://schemas.microsoft.com/office/powerpoint/2010/main" val="33118112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070C0-6A63-D297-B9F4-F09643B51B2C}"/>
              </a:ext>
            </a:extLst>
          </p:cNvPr>
          <p:cNvSpPr>
            <a:spLocks noGrp="1"/>
          </p:cNvSpPr>
          <p:nvPr>
            <p:ph type="title"/>
          </p:nvPr>
        </p:nvSpPr>
        <p:spPr>
          <a:xfrm>
            <a:off x="2636926" y="391529"/>
            <a:ext cx="5871792" cy="1077229"/>
          </a:xfrm>
        </p:spPr>
        <p:txBody>
          <a:bodyPr>
            <a:normAutofit fontScale="90000"/>
          </a:bodyPr>
          <a:lstStyle/>
          <a:p>
            <a:pPr algn="l"/>
            <a:r>
              <a:rPr lang="en-US" dirty="0"/>
              <a:t>How did we calculate zonal statistics with vector data (on Tuesday)?</a:t>
            </a:r>
          </a:p>
        </p:txBody>
      </p:sp>
      <p:grpSp>
        <p:nvGrpSpPr>
          <p:cNvPr id="26" name="Group 25">
            <a:extLst>
              <a:ext uri="{FF2B5EF4-FFF2-40B4-BE49-F238E27FC236}">
                <a16:creationId xmlns:a16="http://schemas.microsoft.com/office/drawing/2014/main" id="{D689428F-25F9-FD52-2032-3A3E968CBEC9}"/>
              </a:ext>
            </a:extLst>
          </p:cNvPr>
          <p:cNvGrpSpPr/>
          <p:nvPr/>
        </p:nvGrpSpPr>
        <p:grpSpPr>
          <a:xfrm>
            <a:off x="1168400" y="1885285"/>
            <a:ext cx="1268449" cy="2744553"/>
            <a:chOff x="1168400" y="1885285"/>
            <a:chExt cx="1268449" cy="2744553"/>
          </a:xfrm>
        </p:grpSpPr>
        <p:sp>
          <p:nvSpPr>
            <p:cNvPr id="4" name="Rectangle 3">
              <a:extLst>
                <a:ext uri="{FF2B5EF4-FFF2-40B4-BE49-F238E27FC236}">
                  <a16:creationId xmlns:a16="http://schemas.microsoft.com/office/drawing/2014/main" id="{10685349-B6AA-2677-055A-A9051C84262E}"/>
                </a:ext>
              </a:extLst>
            </p:cNvPr>
            <p:cNvSpPr/>
            <p:nvPr/>
          </p:nvSpPr>
          <p:spPr>
            <a:xfrm>
              <a:off x="1168400" y="1885285"/>
              <a:ext cx="1104900" cy="8636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Dollar stores csv</a:t>
              </a:r>
            </a:p>
          </p:txBody>
        </p:sp>
        <p:sp>
          <p:nvSpPr>
            <p:cNvPr id="5" name="Rectangle 4">
              <a:extLst>
                <a:ext uri="{FF2B5EF4-FFF2-40B4-BE49-F238E27FC236}">
                  <a16:creationId xmlns:a16="http://schemas.microsoft.com/office/drawing/2014/main" id="{F5D93D4B-4023-4940-4D57-3C7AB23009D0}"/>
                </a:ext>
              </a:extLst>
            </p:cNvPr>
            <p:cNvSpPr/>
            <p:nvPr/>
          </p:nvSpPr>
          <p:spPr>
            <a:xfrm>
              <a:off x="1168400" y="3766216"/>
              <a:ext cx="1268449" cy="8636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Atlanta PUMAs </a:t>
              </a:r>
              <a:r>
                <a:rPr lang="en-US" sz="1400" dirty="0" err="1"/>
                <a:t>geopackage</a:t>
              </a:r>
              <a:endParaRPr lang="en-US" sz="1400" dirty="0"/>
            </a:p>
          </p:txBody>
        </p:sp>
      </p:grpSp>
      <p:grpSp>
        <p:nvGrpSpPr>
          <p:cNvPr id="27" name="Group 26">
            <a:extLst>
              <a:ext uri="{FF2B5EF4-FFF2-40B4-BE49-F238E27FC236}">
                <a16:creationId xmlns:a16="http://schemas.microsoft.com/office/drawing/2014/main" id="{741CEAAE-ABE9-F933-1DDB-4F980E14F86A}"/>
              </a:ext>
            </a:extLst>
          </p:cNvPr>
          <p:cNvGrpSpPr/>
          <p:nvPr/>
        </p:nvGrpSpPr>
        <p:grpSpPr>
          <a:xfrm>
            <a:off x="2283749" y="2113230"/>
            <a:ext cx="1541339" cy="2319747"/>
            <a:chOff x="2283749" y="2113230"/>
            <a:chExt cx="1541339" cy="2319747"/>
          </a:xfrm>
        </p:grpSpPr>
        <p:sp>
          <p:nvSpPr>
            <p:cNvPr id="6" name="Right Arrow 5">
              <a:extLst>
                <a:ext uri="{FF2B5EF4-FFF2-40B4-BE49-F238E27FC236}">
                  <a16:creationId xmlns:a16="http://schemas.microsoft.com/office/drawing/2014/main" id="{D04C48FD-966A-5EBE-5427-48A476843248}"/>
                </a:ext>
              </a:extLst>
            </p:cNvPr>
            <p:cNvSpPr/>
            <p:nvPr/>
          </p:nvSpPr>
          <p:spPr>
            <a:xfrm>
              <a:off x="2283749" y="2113230"/>
              <a:ext cx="1350592" cy="4699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st_as_sf</a:t>
              </a:r>
              <a:endParaRPr lang="en-US" dirty="0"/>
            </a:p>
          </p:txBody>
        </p:sp>
        <p:sp>
          <p:nvSpPr>
            <p:cNvPr id="8" name="Right Arrow 7">
              <a:extLst>
                <a:ext uri="{FF2B5EF4-FFF2-40B4-BE49-F238E27FC236}">
                  <a16:creationId xmlns:a16="http://schemas.microsoft.com/office/drawing/2014/main" id="{6C1EC1D2-36B1-2268-C27D-F2FBBCA32094}"/>
                </a:ext>
              </a:extLst>
            </p:cNvPr>
            <p:cNvSpPr/>
            <p:nvPr/>
          </p:nvSpPr>
          <p:spPr>
            <a:xfrm>
              <a:off x="2474496" y="3963077"/>
              <a:ext cx="1350592" cy="4699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st_read</a:t>
              </a:r>
              <a:endParaRPr lang="en-US" dirty="0"/>
            </a:p>
          </p:txBody>
        </p:sp>
      </p:grpSp>
      <p:grpSp>
        <p:nvGrpSpPr>
          <p:cNvPr id="28" name="Group 27">
            <a:extLst>
              <a:ext uri="{FF2B5EF4-FFF2-40B4-BE49-F238E27FC236}">
                <a16:creationId xmlns:a16="http://schemas.microsoft.com/office/drawing/2014/main" id="{BD6B9E8F-29B0-D88E-041D-29074E4B2344}"/>
              </a:ext>
            </a:extLst>
          </p:cNvPr>
          <p:cNvGrpSpPr/>
          <p:nvPr/>
        </p:nvGrpSpPr>
        <p:grpSpPr>
          <a:xfrm>
            <a:off x="3634341" y="1965636"/>
            <a:ext cx="1295647" cy="2671218"/>
            <a:chOff x="3634341" y="1965636"/>
            <a:chExt cx="1295647" cy="2671218"/>
          </a:xfrm>
        </p:grpSpPr>
        <p:sp>
          <p:nvSpPr>
            <p:cNvPr id="7" name="Rectangle 6">
              <a:extLst>
                <a:ext uri="{FF2B5EF4-FFF2-40B4-BE49-F238E27FC236}">
                  <a16:creationId xmlns:a16="http://schemas.microsoft.com/office/drawing/2014/main" id="{5C0FD44E-6242-9951-45DB-38B5424AE146}"/>
                </a:ext>
              </a:extLst>
            </p:cNvPr>
            <p:cNvSpPr/>
            <p:nvPr/>
          </p:nvSpPr>
          <p:spPr>
            <a:xfrm>
              <a:off x="3634341" y="1965636"/>
              <a:ext cx="1104900" cy="8636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Dollar stores vector</a:t>
              </a:r>
            </a:p>
          </p:txBody>
        </p:sp>
        <p:sp>
          <p:nvSpPr>
            <p:cNvPr id="9" name="Rectangle 8">
              <a:extLst>
                <a:ext uri="{FF2B5EF4-FFF2-40B4-BE49-F238E27FC236}">
                  <a16:creationId xmlns:a16="http://schemas.microsoft.com/office/drawing/2014/main" id="{0B591669-7711-ADB3-EC4F-8FE13CE21AB2}"/>
                </a:ext>
              </a:extLst>
            </p:cNvPr>
            <p:cNvSpPr/>
            <p:nvPr/>
          </p:nvSpPr>
          <p:spPr>
            <a:xfrm>
              <a:off x="3825088" y="3773232"/>
              <a:ext cx="1104900" cy="8636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Atlanta PUMAs vector</a:t>
              </a:r>
            </a:p>
          </p:txBody>
        </p:sp>
      </p:grpSp>
      <p:grpSp>
        <p:nvGrpSpPr>
          <p:cNvPr id="29" name="Group 28">
            <a:extLst>
              <a:ext uri="{FF2B5EF4-FFF2-40B4-BE49-F238E27FC236}">
                <a16:creationId xmlns:a16="http://schemas.microsoft.com/office/drawing/2014/main" id="{FCD8713E-10DA-3C38-12AA-9ED95FCAC42E}"/>
              </a:ext>
            </a:extLst>
          </p:cNvPr>
          <p:cNvGrpSpPr/>
          <p:nvPr/>
        </p:nvGrpSpPr>
        <p:grpSpPr>
          <a:xfrm>
            <a:off x="4772722" y="2338955"/>
            <a:ext cx="1785702" cy="1877399"/>
            <a:chOff x="4772722" y="2338955"/>
            <a:chExt cx="1785702" cy="1877399"/>
          </a:xfrm>
        </p:grpSpPr>
        <p:sp>
          <p:nvSpPr>
            <p:cNvPr id="10" name="Right Arrow 9">
              <a:extLst>
                <a:ext uri="{FF2B5EF4-FFF2-40B4-BE49-F238E27FC236}">
                  <a16:creationId xmlns:a16="http://schemas.microsoft.com/office/drawing/2014/main" id="{713D5186-B3B7-D01C-A29B-CD3F86544031}"/>
                </a:ext>
              </a:extLst>
            </p:cNvPr>
            <p:cNvSpPr/>
            <p:nvPr/>
          </p:nvSpPr>
          <p:spPr>
            <a:xfrm rot="20221341">
              <a:off x="4958224" y="3746454"/>
              <a:ext cx="1600200" cy="4699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st_join</a:t>
              </a:r>
              <a:endParaRPr lang="en-US" dirty="0"/>
            </a:p>
          </p:txBody>
        </p:sp>
        <p:sp>
          <p:nvSpPr>
            <p:cNvPr id="11" name="Right Arrow 10">
              <a:extLst>
                <a:ext uri="{FF2B5EF4-FFF2-40B4-BE49-F238E27FC236}">
                  <a16:creationId xmlns:a16="http://schemas.microsoft.com/office/drawing/2014/main" id="{167412D1-D824-C42C-2347-75D1E8C4A925}"/>
                </a:ext>
              </a:extLst>
            </p:cNvPr>
            <p:cNvSpPr/>
            <p:nvPr/>
          </p:nvSpPr>
          <p:spPr>
            <a:xfrm rot="889315">
              <a:off x="4772722" y="2338955"/>
              <a:ext cx="1600200" cy="4699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st_join</a:t>
              </a:r>
              <a:endParaRPr lang="en-US" dirty="0"/>
            </a:p>
          </p:txBody>
        </p:sp>
      </p:grpSp>
      <p:sp>
        <p:nvSpPr>
          <p:cNvPr id="12" name="Rectangle 11">
            <a:extLst>
              <a:ext uri="{FF2B5EF4-FFF2-40B4-BE49-F238E27FC236}">
                <a16:creationId xmlns:a16="http://schemas.microsoft.com/office/drawing/2014/main" id="{09DA4E9E-0209-FA65-6105-5745DD5DB505}"/>
              </a:ext>
            </a:extLst>
          </p:cNvPr>
          <p:cNvSpPr/>
          <p:nvPr/>
        </p:nvSpPr>
        <p:spPr>
          <a:xfrm>
            <a:off x="6464059" y="2751656"/>
            <a:ext cx="881894" cy="8636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t>Dollars_puma</a:t>
            </a:r>
            <a:endParaRPr lang="en-US" sz="1400" dirty="0"/>
          </a:p>
        </p:txBody>
      </p:sp>
      <p:pic>
        <p:nvPicPr>
          <p:cNvPr id="25" name="Picture 24">
            <a:extLst>
              <a:ext uri="{FF2B5EF4-FFF2-40B4-BE49-F238E27FC236}">
                <a16:creationId xmlns:a16="http://schemas.microsoft.com/office/drawing/2014/main" id="{5BE0D74B-C1C2-0A42-1A84-1485C919BC5D}"/>
              </a:ext>
            </a:extLst>
          </p:cNvPr>
          <p:cNvPicPr>
            <a:picLocks noChangeAspect="1"/>
          </p:cNvPicPr>
          <p:nvPr/>
        </p:nvPicPr>
        <p:blipFill>
          <a:blip r:embed="rId3"/>
          <a:stretch>
            <a:fillRect/>
          </a:stretch>
        </p:blipFill>
        <p:spPr>
          <a:xfrm>
            <a:off x="8085085" y="63712"/>
            <a:ext cx="3054575" cy="2304243"/>
          </a:xfrm>
          <a:prstGeom prst="rect">
            <a:avLst/>
          </a:prstGeom>
        </p:spPr>
      </p:pic>
    </p:spTree>
    <p:extLst>
      <p:ext uri="{BB962C8B-B14F-4D97-AF65-F5344CB8AC3E}">
        <p14:creationId xmlns:p14="http://schemas.microsoft.com/office/powerpoint/2010/main" val="3503365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BD170-63FF-8CD9-93AB-174E91A8BC72}"/>
              </a:ext>
            </a:extLst>
          </p:cNvPr>
          <p:cNvSpPr>
            <a:spLocks noGrp="1"/>
          </p:cNvSpPr>
          <p:nvPr>
            <p:ph type="title"/>
          </p:nvPr>
        </p:nvSpPr>
        <p:spPr/>
        <p:txBody>
          <a:bodyPr/>
          <a:lstStyle/>
          <a:p>
            <a:pPr algn="l"/>
            <a:r>
              <a:rPr lang="en-US" dirty="0"/>
              <a:t>Joins</a:t>
            </a:r>
          </a:p>
        </p:txBody>
      </p:sp>
      <p:sp>
        <p:nvSpPr>
          <p:cNvPr id="3" name="Content Placeholder 2">
            <a:extLst>
              <a:ext uri="{FF2B5EF4-FFF2-40B4-BE49-F238E27FC236}">
                <a16:creationId xmlns:a16="http://schemas.microsoft.com/office/drawing/2014/main" id="{2C9504B4-549F-0D50-BCF7-3ACE24ED02AD}"/>
              </a:ext>
            </a:extLst>
          </p:cNvPr>
          <p:cNvSpPr>
            <a:spLocks noGrp="1"/>
          </p:cNvSpPr>
          <p:nvPr>
            <p:ph idx="1"/>
          </p:nvPr>
        </p:nvSpPr>
        <p:spPr>
          <a:xfrm>
            <a:off x="2773599" y="2870200"/>
            <a:ext cx="7796540" cy="3179744"/>
          </a:xfrm>
        </p:spPr>
        <p:txBody>
          <a:bodyPr>
            <a:normAutofit fontScale="92500" lnSpcReduction="10000"/>
          </a:bodyPr>
          <a:lstStyle/>
          <a:p>
            <a:r>
              <a:rPr lang="en-US" i="1" dirty="0" err="1"/>
              <a:t>st_join</a:t>
            </a:r>
            <a:r>
              <a:rPr lang="en-US" i="1" dirty="0"/>
              <a:t> </a:t>
            </a:r>
            <a:r>
              <a:rPr lang="en-US" dirty="0"/>
              <a:t>is a spatial join.</a:t>
            </a:r>
          </a:p>
          <a:p>
            <a:r>
              <a:rPr lang="en-US" dirty="0"/>
              <a:t>The %&gt;% after </a:t>
            </a:r>
            <a:r>
              <a:rPr lang="en-US" i="1" dirty="0"/>
              <a:t>dollars</a:t>
            </a:r>
            <a:r>
              <a:rPr lang="en-US" dirty="0"/>
              <a:t> means to use </a:t>
            </a:r>
            <a:r>
              <a:rPr lang="en-US" i="1" dirty="0"/>
              <a:t>dollars</a:t>
            </a:r>
            <a:r>
              <a:rPr lang="en-US" dirty="0"/>
              <a:t> as the first argument for </a:t>
            </a:r>
            <a:r>
              <a:rPr lang="en-US" i="1" dirty="0" err="1"/>
              <a:t>st_join</a:t>
            </a:r>
            <a:r>
              <a:rPr lang="en-US" dirty="0"/>
              <a:t>.</a:t>
            </a:r>
          </a:p>
          <a:p>
            <a:r>
              <a:rPr lang="en-US" dirty="0"/>
              <a:t>?</a:t>
            </a:r>
            <a:r>
              <a:rPr lang="en-US" dirty="0" err="1"/>
              <a:t>st_join</a:t>
            </a:r>
            <a:endParaRPr lang="en-US" dirty="0"/>
          </a:p>
          <a:p>
            <a:r>
              <a:rPr lang="en-US" i="1" dirty="0" err="1"/>
              <a:t>st_within</a:t>
            </a:r>
            <a:r>
              <a:rPr lang="en-US" i="1" dirty="0"/>
              <a:t>:</a:t>
            </a:r>
            <a:r>
              <a:rPr lang="en-US" dirty="0"/>
              <a:t> matches any feature in the first object (</a:t>
            </a:r>
            <a:r>
              <a:rPr lang="en-US" i="1" dirty="0"/>
              <a:t>dollars</a:t>
            </a:r>
            <a:r>
              <a:rPr lang="en-US" dirty="0"/>
              <a:t>) that falls completely inside a feature of the second object (</a:t>
            </a:r>
            <a:r>
              <a:rPr lang="en-US" i="1" dirty="0" err="1"/>
              <a:t>atl_pumas</a:t>
            </a:r>
            <a:r>
              <a:rPr lang="en-US" dirty="0"/>
              <a:t>). </a:t>
            </a:r>
          </a:p>
          <a:p>
            <a:r>
              <a:rPr lang="en-US" dirty="0"/>
              <a:t>Don’t return any stores that don’t fall within one of the GEOIDs</a:t>
            </a:r>
          </a:p>
        </p:txBody>
      </p:sp>
      <p:sp>
        <p:nvSpPr>
          <p:cNvPr id="5" name="Rounded Rectangle 4">
            <a:extLst>
              <a:ext uri="{FF2B5EF4-FFF2-40B4-BE49-F238E27FC236}">
                <a16:creationId xmlns:a16="http://schemas.microsoft.com/office/drawing/2014/main" id="{50721031-2B5C-85BC-4EFA-CFE9018D0B01}"/>
              </a:ext>
            </a:extLst>
          </p:cNvPr>
          <p:cNvSpPr/>
          <p:nvPr/>
        </p:nvSpPr>
        <p:spPr>
          <a:xfrm>
            <a:off x="2773599" y="1485900"/>
            <a:ext cx="6644802" cy="13843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err="1"/>
              <a:t>dollars_puma</a:t>
            </a:r>
            <a:r>
              <a:rPr lang="en-US" dirty="0"/>
              <a:t> &lt;- dollars %&gt;%</a:t>
            </a:r>
          </a:p>
          <a:p>
            <a:r>
              <a:rPr lang="en-US" sz="1600" dirty="0"/>
              <a:t>  </a:t>
            </a:r>
            <a:r>
              <a:rPr lang="en-US" sz="1600" dirty="0" err="1"/>
              <a:t>st_join</a:t>
            </a:r>
            <a:r>
              <a:rPr lang="en-US" sz="1600" dirty="0"/>
              <a:t>(</a:t>
            </a:r>
            <a:r>
              <a:rPr lang="en-US" sz="1600" dirty="0" err="1"/>
              <a:t>atl_pumas</a:t>
            </a:r>
            <a:r>
              <a:rPr lang="en-US" sz="1600" dirty="0"/>
              <a:t> %&gt;% </a:t>
            </a:r>
            <a:r>
              <a:rPr lang="en-US" sz="1600" dirty="0" err="1"/>
              <a:t>st_transform</a:t>
            </a:r>
            <a:r>
              <a:rPr lang="en-US" sz="1600" dirty="0"/>
              <a:t>(4326), </a:t>
            </a:r>
            <a:r>
              <a:rPr lang="en-US" dirty="0"/>
              <a:t>join=</a:t>
            </a:r>
            <a:r>
              <a:rPr lang="en-US" dirty="0" err="1"/>
              <a:t>st_within</a:t>
            </a:r>
            <a:r>
              <a:rPr lang="en-US" dirty="0"/>
              <a:t>) %&gt;%</a:t>
            </a:r>
          </a:p>
          <a:p>
            <a:r>
              <a:rPr lang="en-US" dirty="0"/>
              <a:t>  filter(</a:t>
            </a:r>
            <a:r>
              <a:rPr lang="en-US" dirty="0" err="1"/>
              <a:t>is.na</a:t>
            </a:r>
            <a:r>
              <a:rPr lang="en-US" dirty="0"/>
              <a:t>(GEOID)==FALSE)</a:t>
            </a:r>
          </a:p>
        </p:txBody>
      </p:sp>
    </p:spTree>
    <p:extLst>
      <p:ext uri="{BB962C8B-B14F-4D97-AF65-F5344CB8AC3E}">
        <p14:creationId xmlns:p14="http://schemas.microsoft.com/office/powerpoint/2010/main" val="37703696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ollage of different colored squares&#10;&#10;AI-generated content may be incorrect.">
            <a:extLst>
              <a:ext uri="{FF2B5EF4-FFF2-40B4-BE49-F238E27FC236}">
                <a16:creationId xmlns:a16="http://schemas.microsoft.com/office/drawing/2014/main" id="{A95E00F7-F174-F9C8-FED0-BABBC53C10FF}"/>
              </a:ext>
            </a:extLst>
          </p:cNvPr>
          <p:cNvPicPr>
            <a:picLocks noChangeAspect="1"/>
          </p:cNvPicPr>
          <p:nvPr/>
        </p:nvPicPr>
        <p:blipFill>
          <a:blip r:embed="rId3"/>
          <a:stretch>
            <a:fillRect/>
          </a:stretch>
        </p:blipFill>
        <p:spPr>
          <a:xfrm>
            <a:off x="182880" y="1885285"/>
            <a:ext cx="6948474" cy="4567979"/>
          </a:xfrm>
          <a:prstGeom prst="rect">
            <a:avLst/>
          </a:prstGeom>
        </p:spPr>
      </p:pic>
      <p:sp>
        <p:nvSpPr>
          <p:cNvPr id="4" name="Title 3">
            <a:extLst>
              <a:ext uri="{FF2B5EF4-FFF2-40B4-BE49-F238E27FC236}">
                <a16:creationId xmlns:a16="http://schemas.microsoft.com/office/drawing/2014/main" id="{99BEF5ED-17B3-3023-233A-C1899E25D197}"/>
              </a:ext>
            </a:extLst>
          </p:cNvPr>
          <p:cNvSpPr>
            <a:spLocks noGrp="1"/>
          </p:cNvSpPr>
          <p:nvPr>
            <p:ph type="title"/>
          </p:nvPr>
        </p:nvSpPr>
        <p:spPr>
          <a:xfrm>
            <a:off x="1453568" y="548976"/>
            <a:ext cx="7958331" cy="1077229"/>
          </a:xfrm>
        </p:spPr>
        <p:txBody>
          <a:bodyPr/>
          <a:lstStyle/>
          <a:p>
            <a:pPr algn="l"/>
            <a:r>
              <a:rPr lang="en-US" dirty="0"/>
              <a:t>Topological relations</a:t>
            </a:r>
          </a:p>
        </p:txBody>
      </p:sp>
      <p:sp>
        <p:nvSpPr>
          <p:cNvPr id="5" name="Content Placeholder 4">
            <a:extLst>
              <a:ext uri="{FF2B5EF4-FFF2-40B4-BE49-F238E27FC236}">
                <a16:creationId xmlns:a16="http://schemas.microsoft.com/office/drawing/2014/main" id="{4ECCCD88-E35B-D2C9-8290-FDD97EF3CE75}"/>
              </a:ext>
            </a:extLst>
          </p:cNvPr>
          <p:cNvSpPr>
            <a:spLocks noGrp="1"/>
          </p:cNvSpPr>
          <p:nvPr>
            <p:ph idx="1"/>
          </p:nvPr>
        </p:nvSpPr>
        <p:spPr>
          <a:xfrm>
            <a:off x="7360919" y="2052116"/>
            <a:ext cx="3209219" cy="3647644"/>
          </a:xfrm>
        </p:spPr>
        <p:txBody>
          <a:bodyPr>
            <a:normAutofit/>
          </a:bodyPr>
          <a:lstStyle/>
          <a:p>
            <a:r>
              <a:rPr lang="en-US" dirty="0"/>
              <a:t>Describes the spatial relationships between objects</a:t>
            </a:r>
          </a:p>
          <a:p>
            <a:r>
              <a:rPr lang="en-US" dirty="0"/>
              <a:t>join(</a:t>
            </a:r>
            <a:r>
              <a:rPr lang="en-US" dirty="0" err="1"/>
              <a:t>x,y</a:t>
            </a:r>
            <a:r>
              <a:rPr lang="en-US" dirty="0"/>
              <a:t>): Order matters for within and contains</a:t>
            </a:r>
          </a:p>
          <a:p>
            <a:r>
              <a:rPr lang="en-US" dirty="0"/>
              <a:t>Here: x is pink and y is blue</a:t>
            </a:r>
          </a:p>
        </p:txBody>
      </p:sp>
    </p:spTree>
    <p:extLst>
      <p:ext uri="{BB962C8B-B14F-4D97-AF65-F5344CB8AC3E}">
        <p14:creationId xmlns:p14="http://schemas.microsoft.com/office/powerpoint/2010/main" val="16958391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070C0-6A63-D297-B9F4-F09643B51B2C}"/>
              </a:ext>
            </a:extLst>
          </p:cNvPr>
          <p:cNvSpPr>
            <a:spLocks noGrp="1"/>
          </p:cNvSpPr>
          <p:nvPr>
            <p:ph type="title"/>
          </p:nvPr>
        </p:nvSpPr>
        <p:spPr>
          <a:xfrm>
            <a:off x="2636926" y="391529"/>
            <a:ext cx="5871792" cy="1077229"/>
          </a:xfrm>
        </p:spPr>
        <p:txBody>
          <a:bodyPr>
            <a:normAutofit fontScale="90000"/>
          </a:bodyPr>
          <a:lstStyle/>
          <a:p>
            <a:pPr algn="l"/>
            <a:r>
              <a:rPr lang="en-US" dirty="0"/>
              <a:t>How did we calculate zonal statistics with vector data (on Tuesday)?</a:t>
            </a:r>
          </a:p>
        </p:txBody>
      </p:sp>
      <p:grpSp>
        <p:nvGrpSpPr>
          <p:cNvPr id="26" name="Group 25">
            <a:extLst>
              <a:ext uri="{FF2B5EF4-FFF2-40B4-BE49-F238E27FC236}">
                <a16:creationId xmlns:a16="http://schemas.microsoft.com/office/drawing/2014/main" id="{D689428F-25F9-FD52-2032-3A3E968CBEC9}"/>
              </a:ext>
            </a:extLst>
          </p:cNvPr>
          <p:cNvGrpSpPr/>
          <p:nvPr/>
        </p:nvGrpSpPr>
        <p:grpSpPr>
          <a:xfrm>
            <a:off x="1168400" y="1885285"/>
            <a:ext cx="1268449" cy="2744553"/>
            <a:chOff x="1168400" y="1885285"/>
            <a:chExt cx="1268449" cy="2744553"/>
          </a:xfrm>
        </p:grpSpPr>
        <p:sp>
          <p:nvSpPr>
            <p:cNvPr id="4" name="Rectangle 3">
              <a:extLst>
                <a:ext uri="{FF2B5EF4-FFF2-40B4-BE49-F238E27FC236}">
                  <a16:creationId xmlns:a16="http://schemas.microsoft.com/office/drawing/2014/main" id="{10685349-B6AA-2677-055A-A9051C84262E}"/>
                </a:ext>
              </a:extLst>
            </p:cNvPr>
            <p:cNvSpPr/>
            <p:nvPr/>
          </p:nvSpPr>
          <p:spPr>
            <a:xfrm>
              <a:off x="1168400" y="1885285"/>
              <a:ext cx="1104900" cy="8636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Dollar stores csv</a:t>
              </a:r>
            </a:p>
          </p:txBody>
        </p:sp>
        <p:sp>
          <p:nvSpPr>
            <p:cNvPr id="5" name="Rectangle 4">
              <a:extLst>
                <a:ext uri="{FF2B5EF4-FFF2-40B4-BE49-F238E27FC236}">
                  <a16:creationId xmlns:a16="http://schemas.microsoft.com/office/drawing/2014/main" id="{F5D93D4B-4023-4940-4D57-3C7AB23009D0}"/>
                </a:ext>
              </a:extLst>
            </p:cNvPr>
            <p:cNvSpPr/>
            <p:nvPr/>
          </p:nvSpPr>
          <p:spPr>
            <a:xfrm>
              <a:off x="1168400" y="3766216"/>
              <a:ext cx="1268449" cy="8636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Atlanta PUMAs </a:t>
              </a:r>
              <a:r>
                <a:rPr lang="en-US" sz="1400" dirty="0" err="1"/>
                <a:t>geopackage</a:t>
              </a:r>
              <a:endParaRPr lang="en-US" sz="1400" dirty="0"/>
            </a:p>
          </p:txBody>
        </p:sp>
      </p:grpSp>
      <p:grpSp>
        <p:nvGrpSpPr>
          <p:cNvPr id="27" name="Group 26">
            <a:extLst>
              <a:ext uri="{FF2B5EF4-FFF2-40B4-BE49-F238E27FC236}">
                <a16:creationId xmlns:a16="http://schemas.microsoft.com/office/drawing/2014/main" id="{741CEAAE-ABE9-F933-1DDB-4F980E14F86A}"/>
              </a:ext>
            </a:extLst>
          </p:cNvPr>
          <p:cNvGrpSpPr/>
          <p:nvPr/>
        </p:nvGrpSpPr>
        <p:grpSpPr>
          <a:xfrm>
            <a:off x="2283749" y="2113230"/>
            <a:ext cx="1541339" cy="2319747"/>
            <a:chOff x="2283749" y="2113230"/>
            <a:chExt cx="1541339" cy="2319747"/>
          </a:xfrm>
        </p:grpSpPr>
        <p:sp>
          <p:nvSpPr>
            <p:cNvPr id="6" name="Right Arrow 5">
              <a:extLst>
                <a:ext uri="{FF2B5EF4-FFF2-40B4-BE49-F238E27FC236}">
                  <a16:creationId xmlns:a16="http://schemas.microsoft.com/office/drawing/2014/main" id="{D04C48FD-966A-5EBE-5427-48A476843248}"/>
                </a:ext>
              </a:extLst>
            </p:cNvPr>
            <p:cNvSpPr/>
            <p:nvPr/>
          </p:nvSpPr>
          <p:spPr>
            <a:xfrm>
              <a:off x="2283749" y="2113230"/>
              <a:ext cx="1350592" cy="4699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st_as_sf</a:t>
              </a:r>
              <a:endParaRPr lang="en-US" dirty="0"/>
            </a:p>
          </p:txBody>
        </p:sp>
        <p:sp>
          <p:nvSpPr>
            <p:cNvPr id="8" name="Right Arrow 7">
              <a:extLst>
                <a:ext uri="{FF2B5EF4-FFF2-40B4-BE49-F238E27FC236}">
                  <a16:creationId xmlns:a16="http://schemas.microsoft.com/office/drawing/2014/main" id="{6C1EC1D2-36B1-2268-C27D-F2FBBCA32094}"/>
                </a:ext>
              </a:extLst>
            </p:cNvPr>
            <p:cNvSpPr/>
            <p:nvPr/>
          </p:nvSpPr>
          <p:spPr>
            <a:xfrm>
              <a:off x="2474496" y="3963077"/>
              <a:ext cx="1350592" cy="4699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st_read</a:t>
              </a:r>
              <a:endParaRPr lang="en-US" dirty="0"/>
            </a:p>
          </p:txBody>
        </p:sp>
      </p:grpSp>
      <p:grpSp>
        <p:nvGrpSpPr>
          <p:cNvPr id="28" name="Group 27">
            <a:extLst>
              <a:ext uri="{FF2B5EF4-FFF2-40B4-BE49-F238E27FC236}">
                <a16:creationId xmlns:a16="http://schemas.microsoft.com/office/drawing/2014/main" id="{BD6B9E8F-29B0-D88E-041D-29074E4B2344}"/>
              </a:ext>
            </a:extLst>
          </p:cNvPr>
          <p:cNvGrpSpPr/>
          <p:nvPr/>
        </p:nvGrpSpPr>
        <p:grpSpPr>
          <a:xfrm>
            <a:off x="3634341" y="1965636"/>
            <a:ext cx="1295647" cy="2671218"/>
            <a:chOff x="3634341" y="1965636"/>
            <a:chExt cx="1295647" cy="2671218"/>
          </a:xfrm>
        </p:grpSpPr>
        <p:sp>
          <p:nvSpPr>
            <p:cNvPr id="7" name="Rectangle 6">
              <a:extLst>
                <a:ext uri="{FF2B5EF4-FFF2-40B4-BE49-F238E27FC236}">
                  <a16:creationId xmlns:a16="http://schemas.microsoft.com/office/drawing/2014/main" id="{5C0FD44E-6242-9951-45DB-38B5424AE146}"/>
                </a:ext>
              </a:extLst>
            </p:cNvPr>
            <p:cNvSpPr/>
            <p:nvPr/>
          </p:nvSpPr>
          <p:spPr>
            <a:xfrm>
              <a:off x="3634341" y="1965636"/>
              <a:ext cx="1104900" cy="8636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Dollar stores vector</a:t>
              </a:r>
            </a:p>
          </p:txBody>
        </p:sp>
        <p:sp>
          <p:nvSpPr>
            <p:cNvPr id="9" name="Rectangle 8">
              <a:extLst>
                <a:ext uri="{FF2B5EF4-FFF2-40B4-BE49-F238E27FC236}">
                  <a16:creationId xmlns:a16="http://schemas.microsoft.com/office/drawing/2014/main" id="{0B591669-7711-ADB3-EC4F-8FE13CE21AB2}"/>
                </a:ext>
              </a:extLst>
            </p:cNvPr>
            <p:cNvSpPr/>
            <p:nvPr/>
          </p:nvSpPr>
          <p:spPr>
            <a:xfrm>
              <a:off x="3825088" y="3773232"/>
              <a:ext cx="1104900" cy="8636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Atlanta PUMAs vector</a:t>
              </a:r>
            </a:p>
          </p:txBody>
        </p:sp>
      </p:grpSp>
      <p:grpSp>
        <p:nvGrpSpPr>
          <p:cNvPr id="29" name="Group 28">
            <a:extLst>
              <a:ext uri="{FF2B5EF4-FFF2-40B4-BE49-F238E27FC236}">
                <a16:creationId xmlns:a16="http://schemas.microsoft.com/office/drawing/2014/main" id="{FCD8713E-10DA-3C38-12AA-9ED95FCAC42E}"/>
              </a:ext>
            </a:extLst>
          </p:cNvPr>
          <p:cNvGrpSpPr/>
          <p:nvPr/>
        </p:nvGrpSpPr>
        <p:grpSpPr>
          <a:xfrm>
            <a:off x="4772722" y="2338955"/>
            <a:ext cx="1785702" cy="1877399"/>
            <a:chOff x="4772722" y="2338955"/>
            <a:chExt cx="1785702" cy="1877399"/>
          </a:xfrm>
        </p:grpSpPr>
        <p:sp>
          <p:nvSpPr>
            <p:cNvPr id="10" name="Right Arrow 9">
              <a:extLst>
                <a:ext uri="{FF2B5EF4-FFF2-40B4-BE49-F238E27FC236}">
                  <a16:creationId xmlns:a16="http://schemas.microsoft.com/office/drawing/2014/main" id="{713D5186-B3B7-D01C-A29B-CD3F86544031}"/>
                </a:ext>
              </a:extLst>
            </p:cNvPr>
            <p:cNvSpPr/>
            <p:nvPr/>
          </p:nvSpPr>
          <p:spPr>
            <a:xfrm rot="20221341">
              <a:off x="4958224" y="3746454"/>
              <a:ext cx="1600200" cy="4699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st_join</a:t>
              </a:r>
              <a:endParaRPr lang="en-US" dirty="0"/>
            </a:p>
          </p:txBody>
        </p:sp>
        <p:sp>
          <p:nvSpPr>
            <p:cNvPr id="11" name="Right Arrow 10">
              <a:extLst>
                <a:ext uri="{FF2B5EF4-FFF2-40B4-BE49-F238E27FC236}">
                  <a16:creationId xmlns:a16="http://schemas.microsoft.com/office/drawing/2014/main" id="{167412D1-D824-C42C-2347-75D1E8C4A925}"/>
                </a:ext>
              </a:extLst>
            </p:cNvPr>
            <p:cNvSpPr/>
            <p:nvPr/>
          </p:nvSpPr>
          <p:spPr>
            <a:xfrm rot="889315">
              <a:off x="4772722" y="2338955"/>
              <a:ext cx="1600200" cy="4699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st_join</a:t>
              </a:r>
              <a:endParaRPr lang="en-US" dirty="0"/>
            </a:p>
          </p:txBody>
        </p:sp>
      </p:grpSp>
      <p:sp>
        <p:nvSpPr>
          <p:cNvPr id="12" name="Rectangle 11">
            <a:extLst>
              <a:ext uri="{FF2B5EF4-FFF2-40B4-BE49-F238E27FC236}">
                <a16:creationId xmlns:a16="http://schemas.microsoft.com/office/drawing/2014/main" id="{09DA4E9E-0209-FA65-6105-5745DD5DB505}"/>
              </a:ext>
            </a:extLst>
          </p:cNvPr>
          <p:cNvSpPr/>
          <p:nvPr/>
        </p:nvSpPr>
        <p:spPr>
          <a:xfrm>
            <a:off x="6464059" y="2751656"/>
            <a:ext cx="881894" cy="8636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t>Dollars_puma</a:t>
            </a:r>
            <a:endParaRPr lang="en-US" sz="1400" dirty="0"/>
          </a:p>
        </p:txBody>
      </p:sp>
      <p:sp>
        <p:nvSpPr>
          <p:cNvPr id="13" name="Right Arrow 12">
            <a:extLst>
              <a:ext uri="{FF2B5EF4-FFF2-40B4-BE49-F238E27FC236}">
                <a16:creationId xmlns:a16="http://schemas.microsoft.com/office/drawing/2014/main" id="{7ED7A1C8-C300-9E06-B91F-B27F4BED9DA5}"/>
              </a:ext>
            </a:extLst>
          </p:cNvPr>
          <p:cNvSpPr/>
          <p:nvPr/>
        </p:nvSpPr>
        <p:spPr>
          <a:xfrm>
            <a:off x="7403608" y="2959100"/>
            <a:ext cx="1600200" cy="4699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st_set_geometry</a:t>
            </a:r>
            <a:endParaRPr lang="en-US" dirty="0"/>
          </a:p>
        </p:txBody>
      </p:sp>
      <p:grpSp>
        <p:nvGrpSpPr>
          <p:cNvPr id="3" name="Group 2">
            <a:extLst>
              <a:ext uri="{FF2B5EF4-FFF2-40B4-BE49-F238E27FC236}">
                <a16:creationId xmlns:a16="http://schemas.microsoft.com/office/drawing/2014/main" id="{E902AE3C-FABB-6E11-4221-B71EF87BF853}"/>
              </a:ext>
            </a:extLst>
          </p:cNvPr>
          <p:cNvGrpSpPr/>
          <p:nvPr/>
        </p:nvGrpSpPr>
        <p:grpSpPr>
          <a:xfrm>
            <a:off x="1168400" y="2748907"/>
            <a:ext cx="8774957" cy="3495828"/>
            <a:chOff x="1168400" y="2748907"/>
            <a:chExt cx="8774957" cy="3495828"/>
          </a:xfrm>
        </p:grpSpPr>
        <p:sp>
          <p:nvSpPr>
            <p:cNvPr id="14" name="Rectangle 13">
              <a:extLst>
                <a:ext uri="{FF2B5EF4-FFF2-40B4-BE49-F238E27FC236}">
                  <a16:creationId xmlns:a16="http://schemas.microsoft.com/office/drawing/2014/main" id="{C08E8AE4-E699-1017-9B97-9BCDD5C37982}"/>
                </a:ext>
              </a:extLst>
            </p:cNvPr>
            <p:cNvSpPr/>
            <p:nvPr/>
          </p:nvSpPr>
          <p:spPr>
            <a:xfrm>
              <a:off x="9061463" y="2748907"/>
              <a:ext cx="881894" cy="8636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t>Dollars_puma_df</a:t>
              </a:r>
              <a:endParaRPr lang="en-US" sz="1400" dirty="0"/>
            </a:p>
          </p:txBody>
        </p:sp>
        <p:sp>
          <p:nvSpPr>
            <p:cNvPr id="15" name="Rectangle 14">
              <a:extLst>
                <a:ext uri="{FF2B5EF4-FFF2-40B4-BE49-F238E27FC236}">
                  <a16:creationId xmlns:a16="http://schemas.microsoft.com/office/drawing/2014/main" id="{F9DAD78D-B8D7-EF69-7FBF-6AF615FE2651}"/>
                </a:ext>
              </a:extLst>
            </p:cNvPr>
            <p:cNvSpPr/>
            <p:nvPr/>
          </p:nvSpPr>
          <p:spPr>
            <a:xfrm>
              <a:off x="1168400" y="5381113"/>
              <a:ext cx="881894" cy="8636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t>Dollars_puma_df</a:t>
              </a:r>
              <a:endParaRPr lang="en-US" sz="1400" dirty="0"/>
            </a:p>
          </p:txBody>
        </p:sp>
      </p:grpSp>
      <p:grpSp>
        <p:nvGrpSpPr>
          <p:cNvPr id="17" name="Group 16">
            <a:extLst>
              <a:ext uri="{FF2B5EF4-FFF2-40B4-BE49-F238E27FC236}">
                <a16:creationId xmlns:a16="http://schemas.microsoft.com/office/drawing/2014/main" id="{30BADC64-EB35-0264-6783-0235A5D17C5F}"/>
              </a:ext>
            </a:extLst>
          </p:cNvPr>
          <p:cNvGrpSpPr/>
          <p:nvPr/>
        </p:nvGrpSpPr>
        <p:grpSpPr>
          <a:xfrm>
            <a:off x="2050294" y="5535723"/>
            <a:ext cx="4854712" cy="512151"/>
            <a:chOff x="2050294" y="5535723"/>
            <a:chExt cx="4854712" cy="512151"/>
          </a:xfrm>
        </p:grpSpPr>
        <p:sp>
          <p:nvSpPr>
            <p:cNvPr id="16" name="Right Arrow 15">
              <a:extLst>
                <a:ext uri="{FF2B5EF4-FFF2-40B4-BE49-F238E27FC236}">
                  <a16:creationId xmlns:a16="http://schemas.microsoft.com/office/drawing/2014/main" id="{3B1247DC-95AF-CD0C-4C90-28766022EF20}"/>
                </a:ext>
              </a:extLst>
            </p:cNvPr>
            <p:cNvSpPr/>
            <p:nvPr/>
          </p:nvSpPr>
          <p:spPr>
            <a:xfrm>
              <a:off x="2050294" y="5577974"/>
              <a:ext cx="1600200" cy="4699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Count </a:t>
              </a:r>
              <a:r>
                <a:rPr lang="en-US" sz="1600" dirty="0" err="1"/>
                <a:t>dollar_type</a:t>
              </a:r>
              <a:r>
                <a:rPr lang="en-US" sz="1600" dirty="0"/>
                <a:t> in each GEOID</a:t>
              </a:r>
            </a:p>
          </p:txBody>
        </p:sp>
        <p:sp>
          <p:nvSpPr>
            <p:cNvPr id="18" name="Right Arrow 17">
              <a:extLst>
                <a:ext uri="{FF2B5EF4-FFF2-40B4-BE49-F238E27FC236}">
                  <a16:creationId xmlns:a16="http://schemas.microsoft.com/office/drawing/2014/main" id="{2BFFCE97-B90B-7A18-1E39-7E0C2D0CE684}"/>
                </a:ext>
              </a:extLst>
            </p:cNvPr>
            <p:cNvSpPr/>
            <p:nvPr/>
          </p:nvSpPr>
          <p:spPr>
            <a:xfrm>
              <a:off x="3650494" y="5535723"/>
              <a:ext cx="1600200" cy="4699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Pivot wider</a:t>
              </a:r>
            </a:p>
          </p:txBody>
        </p:sp>
        <p:sp>
          <p:nvSpPr>
            <p:cNvPr id="19" name="Right Arrow 18">
              <a:extLst>
                <a:ext uri="{FF2B5EF4-FFF2-40B4-BE49-F238E27FC236}">
                  <a16:creationId xmlns:a16="http://schemas.microsoft.com/office/drawing/2014/main" id="{A3882EAF-AB0D-FDAE-8B24-0B6593657451}"/>
                </a:ext>
              </a:extLst>
            </p:cNvPr>
            <p:cNvSpPr/>
            <p:nvPr/>
          </p:nvSpPr>
          <p:spPr>
            <a:xfrm>
              <a:off x="5304806" y="5535723"/>
              <a:ext cx="1600200" cy="4699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Calculate </a:t>
              </a:r>
              <a:r>
                <a:rPr lang="en-US" sz="1600" dirty="0" err="1"/>
                <a:t>total_stores</a:t>
              </a:r>
              <a:r>
                <a:rPr lang="en-US" sz="1600" dirty="0"/>
                <a:t> and </a:t>
              </a:r>
              <a:r>
                <a:rPr lang="en-US" sz="1600" dirty="0" err="1"/>
                <a:t>fd_pct</a:t>
              </a:r>
              <a:endParaRPr lang="en-US" sz="1600" dirty="0"/>
            </a:p>
          </p:txBody>
        </p:sp>
      </p:grpSp>
      <p:sp>
        <p:nvSpPr>
          <p:cNvPr id="20" name="Rectangle 19">
            <a:extLst>
              <a:ext uri="{FF2B5EF4-FFF2-40B4-BE49-F238E27FC236}">
                <a16:creationId xmlns:a16="http://schemas.microsoft.com/office/drawing/2014/main" id="{027A180D-CE40-2C22-5ED8-9CFD578D6742}"/>
              </a:ext>
            </a:extLst>
          </p:cNvPr>
          <p:cNvSpPr/>
          <p:nvPr/>
        </p:nvSpPr>
        <p:spPr>
          <a:xfrm>
            <a:off x="6979308" y="5338862"/>
            <a:ext cx="1059791" cy="8636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t>Dollars_puma_count_wide</a:t>
            </a:r>
            <a:endParaRPr lang="en-US" sz="1400" dirty="0"/>
          </a:p>
        </p:txBody>
      </p:sp>
      <p:grpSp>
        <p:nvGrpSpPr>
          <p:cNvPr id="30" name="Group 29">
            <a:extLst>
              <a:ext uri="{FF2B5EF4-FFF2-40B4-BE49-F238E27FC236}">
                <a16:creationId xmlns:a16="http://schemas.microsoft.com/office/drawing/2014/main" id="{A5FBF31C-CE6B-B64F-C299-5959546205AE}"/>
              </a:ext>
            </a:extLst>
          </p:cNvPr>
          <p:cNvGrpSpPr/>
          <p:nvPr/>
        </p:nvGrpSpPr>
        <p:grpSpPr>
          <a:xfrm>
            <a:off x="6956753" y="4264916"/>
            <a:ext cx="2756768" cy="1676097"/>
            <a:chOff x="6956753" y="4264916"/>
            <a:chExt cx="2756768" cy="1676097"/>
          </a:xfrm>
        </p:grpSpPr>
        <p:sp>
          <p:nvSpPr>
            <p:cNvPr id="21" name="Rectangle 20">
              <a:extLst>
                <a:ext uri="{FF2B5EF4-FFF2-40B4-BE49-F238E27FC236}">
                  <a16:creationId xmlns:a16="http://schemas.microsoft.com/office/drawing/2014/main" id="{B8748CD5-7CBE-D5F6-A95B-C4FDEADB22E7}"/>
                </a:ext>
              </a:extLst>
            </p:cNvPr>
            <p:cNvSpPr/>
            <p:nvPr/>
          </p:nvSpPr>
          <p:spPr>
            <a:xfrm>
              <a:off x="6956753" y="4264916"/>
              <a:ext cx="1104900" cy="8636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Atlanta PUMAs vector</a:t>
              </a:r>
            </a:p>
          </p:txBody>
        </p:sp>
        <p:sp>
          <p:nvSpPr>
            <p:cNvPr id="22" name="Right Arrow 21">
              <a:extLst>
                <a:ext uri="{FF2B5EF4-FFF2-40B4-BE49-F238E27FC236}">
                  <a16:creationId xmlns:a16="http://schemas.microsoft.com/office/drawing/2014/main" id="{2B1A1DE5-BE66-F475-C27D-4D6FB98C3788}"/>
                </a:ext>
              </a:extLst>
            </p:cNvPr>
            <p:cNvSpPr/>
            <p:nvPr/>
          </p:nvSpPr>
          <p:spPr>
            <a:xfrm rot="20221341">
              <a:off x="8113321" y="5471113"/>
              <a:ext cx="1600200" cy="4699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left_join</a:t>
              </a:r>
              <a:endParaRPr lang="en-US" dirty="0"/>
            </a:p>
          </p:txBody>
        </p:sp>
        <p:sp>
          <p:nvSpPr>
            <p:cNvPr id="23" name="Right Arrow 22">
              <a:extLst>
                <a:ext uri="{FF2B5EF4-FFF2-40B4-BE49-F238E27FC236}">
                  <a16:creationId xmlns:a16="http://schemas.microsoft.com/office/drawing/2014/main" id="{9DA08916-5AC5-4469-CBE6-51327790508B}"/>
                </a:ext>
              </a:extLst>
            </p:cNvPr>
            <p:cNvSpPr/>
            <p:nvPr/>
          </p:nvSpPr>
          <p:spPr>
            <a:xfrm rot="889315">
              <a:off x="8108076" y="4686906"/>
              <a:ext cx="1600200" cy="4699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left_join</a:t>
              </a:r>
              <a:endParaRPr lang="en-US" dirty="0"/>
            </a:p>
          </p:txBody>
        </p:sp>
      </p:grpSp>
      <p:pic>
        <p:nvPicPr>
          <p:cNvPr id="25" name="Picture 24">
            <a:extLst>
              <a:ext uri="{FF2B5EF4-FFF2-40B4-BE49-F238E27FC236}">
                <a16:creationId xmlns:a16="http://schemas.microsoft.com/office/drawing/2014/main" id="{5BE0D74B-C1C2-0A42-1A84-1485C919BC5D}"/>
              </a:ext>
            </a:extLst>
          </p:cNvPr>
          <p:cNvPicPr>
            <a:picLocks noChangeAspect="1"/>
          </p:cNvPicPr>
          <p:nvPr/>
        </p:nvPicPr>
        <p:blipFill>
          <a:blip r:embed="rId3"/>
          <a:stretch>
            <a:fillRect/>
          </a:stretch>
        </p:blipFill>
        <p:spPr>
          <a:xfrm>
            <a:off x="8085085" y="63712"/>
            <a:ext cx="3054575" cy="2304243"/>
          </a:xfrm>
          <a:prstGeom prst="rect">
            <a:avLst/>
          </a:prstGeom>
        </p:spPr>
      </p:pic>
    </p:spTree>
    <p:extLst>
      <p:ext uri="{BB962C8B-B14F-4D97-AF65-F5344CB8AC3E}">
        <p14:creationId xmlns:p14="http://schemas.microsoft.com/office/powerpoint/2010/main" val="2221440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2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BD170-63FF-8CD9-93AB-174E91A8BC72}"/>
              </a:ext>
            </a:extLst>
          </p:cNvPr>
          <p:cNvSpPr>
            <a:spLocks noGrp="1"/>
          </p:cNvSpPr>
          <p:nvPr>
            <p:ph type="title"/>
          </p:nvPr>
        </p:nvSpPr>
        <p:spPr/>
        <p:txBody>
          <a:bodyPr/>
          <a:lstStyle/>
          <a:p>
            <a:pPr algn="l"/>
            <a:r>
              <a:rPr lang="en-US" dirty="0"/>
              <a:t>Joins</a:t>
            </a:r>
          </a:p>
        </p:txBody>
      </p:sp>
      <p:sp>
        <p:nvSpPr>
          <p:cNvPr id="3" name="Content Placeholder 2">
            <a:extLst>
              <a:ext uri="{FF2B5EF4-FFF2-40B4-BE49-F238E27FC236}">
                <a16:creationId xmlns:a16="http://schemas.microsoft.com/office/drawing/2014/main" id="{2C9504B4-549F-0D50-BCF7-3ACE24ED02AD}"/>
              </a:ext>
            </a:extLst>
          </p:cNvPr>
          <p:cNvSpPr>
            <a:spLocks noGrp="1"/>
          </p:cNvSpPr>
          <p:nvPr>
            <p:ph idx="1"/>
          </p:nvPr>
        </p:nvSpPr>
        <p:spPr>
          <a:xfrm>
            <a:off x="2773599" y="2870200"/>
            <a:ext cx="7796540" cy="3179744"/>
          </a:xfrm>
        </p:spPr>
        <p:txBody>
          <a:bodyPr>
            <a:normAutofit lnSpcReduction="10000"/>
          </a:bodyPr>
          <a:lstStyle/>
          <a:p>
            <a:r>
              <a:rPr lang="en-US" dirty="0"/>
              <a:t>Review S02-2 if you’re confused about joins, or week 2 content</a:t>
            </a:r>
          </a:p>
          <a:p>
            <a:r>
              <a:rPr lang="en-US" dirty="0">
                <a:hlinkClick r:id="rId2"/>
              </a:rPr>
              <a:t>https://mikoontz.github.io/data-carpentry-week/lesson_joins.html</a:t>
            </a:r>
            <a:r>
              <a:rPr lang="en-US" dirty="0"/>
              <a:t> </a:t>
            </a:r>
          </a:p>
          <a:p>
            <a:r>
              <a:rPr lang="en-US" dirty="0"/>
              <a:t>Mutating joins add columns from y to x, matching observations based on the keys. There are four mutating joins: the inner join, and the three outer joins.</a:t>
            </a:r>
          </a:p>
          <a:p>
            <a:r>
              <a:rPr lang="en-US" dirty="0"/>
              <a:t>A </a:t>
            </a:r>
            <a:r>
              <a:rPr lang="en-US" dirty="0" err="1"/>
              <a:t>left_join</a:t>
            </a:r>
            <a:r>
              <a:rPr lang="en-US" dirty="0"/>
              <a:t>() keeps all observations in x.</a:t>
            </a:r>
            <a:br>
              <a:rPr lang="en-US" dirty="0"/>
            </a:br>
            <a:endParaRPr lang="en-US" dirty="0"/>
          </a:p>
        </p:txBody>
      </p:sp>
      <p:sp>
        <p:nvSpPr>
          <p:cNvPr id="5" name="Rounded Rectangle 4">
            <a:extLst>
              <a:ext uri="{FF2B5EF4-FFF2-40B4-BE49-F238E27FC236}">
                <a16:creationId xmlns:a16="http://schemas.microsoft.com/office/drawing/2014/main" id="{50721031-2B5C-85BC-4EFA-CFE9018D0B01}"/>
              </a:ext>
            </a:extLst>
          </p:cNvPr>
          <p:cNvSpPr/>
          <p:nvPr/>
        </p:nvSpPr>
        <p:spPr>
          <a:xfrm>
            <a:off x="2773599" y="1485900"/>
            <a:ext cx="6644802" cy="13843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err="1"/>
              <a:t>atl_pumas_join</a:t>
            </a:r>
            <a:r>
              <a:rPr lang="en-US" dirty="0"/>
              <a:t>&lt;-</a:t>
            </a:r>
            <a:r>
              <a:rPr lang="en-US" dirty="0" err="1"/>
              <a:t>atl_pumas</a:t>
            </a:r>
            <a:r>
              <a:rPr lang="en-US" dirty="0"/>
              <a:t> %&gt;%</a:t>
            </a:r>
          </a:p>
          <a:p>
            <a:r>
              <a:rPr lang="en-US" dirty="0"/>
              <a:t>  </a:t>
            </a:r>
            <a:r>
              <a:rPr lang="en-US" dirty="0" err="1"/>
              <a:t>left_join</a:t>
            </a:r>
            <a:r>
              <a:rPr lang="en-US" dirty="0"/>
              <a:t>(</a:t>
            </a:r>
            <a:r>
              <a:rPr lang="en-US" dirty="0" err="1"/>
              <a:t>dollars_puma_count_wide</a:t>
            </a:r>
            <a:r>
              <a:rPr lang="en-US" dirty="0"/>
              <a:t>)</a:t>
            </a:r>
          </a:p>
        </p:txBody>
      </p:sp>
    </p:spTree>
    <p:extLst>
      <p:ext uri="{BB962C8B-B14F-4D97-AF65-F5344CB8AC3E}">
        <p14:creationId xmlns:p14="http://schemas.microsoft.com/office/powerpoint/2010/main" val="30412685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070C0-6A63-D297-B9F4-F09643B51B2C}"/>
              </a:ext>
            </a:extLst>
          </p:cNvPr>
          <p:cNvSpPr>
            <a:spLocks noGrp="1"/>
          </p:cNvSpPr>
          <p:nvPr>
            <p:ph type="title"/>
          </p:nvPr>
        </p:nvSpPr>
        <p:spPr>
          <a:xfrm>
            <a:off x="2636926" y="391529"/>
            <a:ext cx="5871792" cy="1077229"/>
          </a:xfrm>
        </p:spPr>
        <p:txBody>
          <a:bodyPr>
            <a:normAutofit fontScale="90000"/>
          </a:bodyPr>
          <a:lstStyle/>
          <a:p>
            <a:pPr algn="l"/>
            <a:r>
              <a:rPr lang="en-US" dirty="0"/>
              <a:t>How did we calculate zonal statistics with vector data (on Tuesday)?</a:t>
            </a:r>
          </a:p>
        </p:txBody>
      </p:sp>
      <p:grpSp>
        <p:nvGrpSpPr>
          <p:cNvPr id="26" name="Group 25">
            <a:extLst>
              <a:ext uri="{FF2B5EF4-FFF2-40B4-BE49-F238E27FC236}">
                <a16:creationId xmlns:a16="http://schemas.microsoft.com/office/drawing/2014/main" id="{D689428F-25F9-FD52-2032-3A3E968CBEC9}"/>
              </a:ext>
            </a:extLst>
          </p:cNvPr>
          <p:cNvGrpSpPr/>
          <p:nvPr/>
        </p:nvGrpSpPr>
        <p:grpSpPr>
          <a:xfrm>
            <a:off x="1168400" y="1885285"/>
            <a:ext cx="1268449" cy="2744553"/>
            <a:chOff x="1168400" y="1885285"/>
            <a:chExt cx="1268449" cy="2744553"/>
          </a:xfrm>
        </p:grpSpPr>
        <p:sp>
          <p:nvSpPr>
            <p:cNvPr id="4" name="Rectangle 3">
              <a:extLst>
                <a:ext uri="{FF2B5EF4-FFF2-40B4-BE49-F238E27FC236}">
                  <a16:creationId xmlns:a16="http://schemas.microsoft.com/office/drawing/2014/main" id="{10685349-B6AA-2677-055A-A9051C84262E}"/>
                </a:ext>
              </a:extLst>
            </p:cNvPr>
            <p:cNvSpPr/>
            <p:nvPr/>
          </p:nvSpPr>
          <p:spPr>
            <a:xfrm>
              <a:off x="1168400" y="1885285"/>
              <a:ext cx="1104900" cy="8636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Dollar stores csv</a:t>
              </a:r>
            </a:p>
          </p:txBody>
        </p:sp>
        <p:sp>
          <p:nvSpPr>
            <p:cNvPr id="5" name="Rectangle 4">
              <a:extLst>
                <a:ext uri="{FF2B5EF4-FFF2-40B4-BE49-F238E27FC236}">
                  <a16:creationId xmlns:a16="http://schemas.microsoft.com/office/drawing/2014/main" id="{F5D93D4B-4023-4940-4D57-3C7AB23009D0}"/>
                </a:ext>
              </a:extLst>
            </p:cNvPr>
            <p:cNvSpPr/>
            <p:nvPr/>
          </p:nvSpPr>
          <p:spPr>
            <a:xfrm>
              <a:off x="1168400" y="3766216"/>
              <a:ext cx="1268449" cy="8636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Atlanta PUMAs </a:t>
              </a:r>
              <a:r>
                <a:rPr lang="en-US" sz="1400" dirty="0" err="1"/>
                <a:t>geopackage</a:t>
              </a:r>
              <a:endParaRPr lang="en-US" sz="1400" dirty="0"/>
            </a:p>
          </p:txBody>
        </p:sp>
      </p:grpSp>
      <p:grpSp>
        <p:nvGrpSpPr>
          <p:cNvPr id="27" name="Group 26">
            <a:extLst>
              <a:ext uri="{FF2B5EF4-FFF2-40B4-BE49-F238E27FC236}">
                <a16:creationId xmlns:a16="http://schemas.microsoft.com/office/drawing/2014/main" id="{741CEAAE-ABE9-F933-1DDB-4F980E14F86A}"/>
              </a:ext>
            </a:extLst>
          </p:cNvPr>
          <p:cNvGrpSpPr/>
          <p:nvPr/>
        </p:nvGrpSpPr>
        <p:grpSpPr>
          <a:xfrm>
            <a:off x="2283749" y="2113230"/>
            <a:ext cx="1541339" cy="2319747"/>
            <a:chOff x="2283749" y="2113230"/>
            <a:chExt cx="1541339" cy="2319747"/>
          </a:xfrm>
        </p:grpSpPr>
        <p:sp>
          <p:nvSpPr>
            <p:cNvPr id="6" name="Right Arrow 5">
              <a:extLst>
                <a:ext uri="{FF2B5EF4-FFF2-40B4-BE49-F238E27FC236}">
                  <a16:creationId xmlns:a16="http://schemas.microsoft.com/office/drawing/2014/main" id="{D04C48FD-966A-5EBE-5427-48A476843248}"/>
                </a:ext>
              </a:extLst>
            </p:cNvPr>
            <p:cNvSpPr/>
            <p:nvPr/>
          </p:nvSpPr>
          <p:spPr>
            <a:xfrm>
              <a:off x="2283749" y="2113230"/>
              <a:ext cx="1350592" cy="4699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st_as_sf</a:t>
              </a:r>
              <a:endParaRPr lang="en-US" dirty="0"/>
            </a:p>
          </p:txBody>
        </p:sp>
        <p:sp>
          <p:nvSpPr>
            <p:cNvPr id="8" name="Right Arrow 7">
              <a:extLst>
                <a:ext uri="{FF2B5EF4-FFF2-40B4-BE49-F238E27FC236}">
                  <a16:creationId xmlns:a16="http://schemas.microsoft.com/office/drawing/2014/main" id="{6C1EC1D2-36B1-2268-C27D-F2FBBCA32094}"/>
                </a:ext>
              </a:extLst>
            </p:cNvPr>
            <p:cNvSpPr/>
            <p:nvPr/>
          </p:nvSpPr>
          <p:spPr>
            <a:xfrm>
              <a:off x="2474496" y="3963077"/>
              <a:ext cx="1350592" cy="4699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st_read</a:t>
              </a:r>
              <a:endParaRPr lang="en-US" dirty="0"/>
            </a:p>
          </p:txBody>
        </p:sp>
      </p:grpSp>
      <p:grpSp>
        <p:nvGrpSpPr>
          <p:cNvPr id="28" name="Group 27">
            <a:extLst>
              <a:ext uri="{FF2B5EF4-FFF2-40B4-BE49-F238E27FC236}">
                <a16:creationId xmlns:a16="http://schemas.microsoft.com/office/drawing/2014/main" id="{BD6B9E8F-29B0-D88E-041D-29074E4B2344}"/>
              </a:ext>
            </a:extLst>
          </p:cNvPr>
          <p:cNvGrpSpPr/>
          <p:nvPr/>
        </p:nvGrpSpPr>
        <p:grpSpPr>
          <a:xfrm>
            <a:off x="3634341" y="1965636"/>
            <a:ext cx="1295647" cy="2671218"/>
            <a:chOff x="3634341" y="1965636"/>
            <a:chExt cx="1295647" cy="2671218"/>
          </a:xfrm>
        </p:grpSpPr>
        <p:sp>
          <p:nvSpPr>
            <p:cNvPr id="7" name="Rectangle 6">
              <a:extLst>
                <a:ext uri="{FF2B5EF4-FFF2-40B4-BE49-F238E27FC236}">
                  <a16:creationId xmlns:a16="http://schemas.microsoft.com/office/drawing/2014/main" id="{5C0FD44E-6242-9951-45DB-38B5424AE146}"/>
                </a:ext>
              </a:extLst>
            </p:cNvPr>
            <p:cNvSpPr/>
            <p:nvPr/>
          </p:nvSpPr>
          <p:spPr>
            <a:xfrm>
              <a:off x="3634341" y="1965636"/>
              <a:ext cx="1104900" cy="8636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Dollar stores vector</a:t>
              </a:r>
            </a:p>
          </p:txBody>
        </p:sp>
        <p:sp>
          <p:nvSpPr>
            <p:cNvPr id="9" name="Rectangle 8">
              <a:extLst>
                <a:ext uri="{FF2B5EF4-FFF2-40B4-BE49-F238E27FC236}">
                  <a16:creationId xmlns:a16="http://schemas.microsoft.com/office/drawing/2014/main" id="{0B591669-7711-ADB3-EC4F-8FE13CE21AB2}"/>
                </a:ext>
              </a:extLst>
            </p:cNvPr>
            <p:cNvSpPr/>
            <p:nvPr/>
          </p:nvSpPr>
          <p:spPr>
            <a:xfrm>
              <a:off x="3825088" y="3773232"/>
              <a:ext cx="1104900" cy="8636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Atlanta PUMAs vector</a:t>
              </a:r>
            </a:p>
          </p:txBody>
        </p:sp>
      </p:grpSp>
      <p:grpSp>
        <p:nvGrpSpPr>
          <p:cNvPr id="29" name="Group 28">
            <a:extLst>
              <a:ext uri="{FF2B5EF4-FFF2-40B4-BE49-F238E27FC236}">
                <a16:creationId xmlns:a16="http://schemas.microsoft.com/office/drawing/2014/main" id="{FCD8713E-10DA-3C38-12AA-9ED95FCAC42E}"/>
              </a:ext>
            </a:extLst>
          </p:cNvPr>
          <p:cNvGrpSpPr/>
          <p:nvPr/>
        </p:nvGrpSpPr>
        <p:grpSpPr>
          <a:xfrm>
            <a:off x="4772722" y="2338955"/>
            <a:ext cx="1785702" cy="1877399"/>
            <a:chOff x="4772722" y="2338955"/>
            <a:chExt cx="1785702" cy="1877399"/>
          </a:xfrm>
        </p:grpSpPr>
        <p:sp>
          <p:nvSpPr>
            <p:cNvPr id="10" name="Right Arrow 9">
              <a:extLst>
                <a:ext uri="{FF2B5EF4-FFF2-40B4-BE49-F238E27FC236}">
                  <a16:creationId xmlns:a16="http://schemas.microsoft.com/office/drawing/2014/main" id="{713D5186-B3B7-D01C-A29B-CD3F86544031}"/>
                </a:ext>
              </a:extLst>
            </p:cNvPr>
            <p:cNvSpPr/>
            <p:nvPr/>
          </p:nvSpPr>
          <p:spPr>
            <a:xfrm rot="20221341">
              <a:off x="4958224" y="3746454"/>
              <a:ext cx="1600200" cy="4699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st_join</a:t>
              </a:r>
              <a:endParaRPr lang="en-US" dirty="0"/>
            </a:p>
          </p:txBody>
        </p:sp>
        <p:sp>
          <p:nvSpPr>
            <p:cNvPr id="11" name="Right Arrow 10">
              <a:extLst>
                <a:ext uri="{FF2B5EF4-FFF2-40B4-BE49-F238E27FC236}">
                  <a16:creationId xmlns:a16="http://schemas.microsoft.com/office/drawing/2014/main" id="{167412D1-D824-C42C-2347-75D1E8C4A925}"/>
                </a:ext>
              </a:extLst>
            </p:cNvPr>
            <p:cNvSpPr/>
            <p:nvPr/>
          </p:nvSpPr>
          <p:spPr>
            <a:xfrm rot="889315">
              <a:off x="4772722" y="2338955"/>
              <a:ext cx="1600200" cy="4699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st_join</a:t>
              </a:r>
              <a:endParaRPr lang="en-US" dirty="0"/>
            </a:p>
          </p:txBody>
        </p:sp>
      </p:grpSp>
      <p:sp>
        <p:nvSpPr>
          <p:cNvPr id="12" name="Rectangle 11">
            <a:extLst>
              <a:ext uri="{FF2B5EF4-FFF2-40B4-BE49-F238E27FC236}">
                <a16:creationId xmlns:a16="http://schemas.microsoft.com/office/drawing/2014/main" id="{09DA4E9E-0209-FA65-6105-5745DD5DB505}"/>
              </a:ext>
            </a:extLst>
          </p:cNvPr>
          <p:cNvSpPr/>
          <p:nvPr/>
        </p:nvSpPr>
        <p:spPr>
          <a:xfrm>
            <a:off x="6464059" y="2751656"/>
            <a:ext cx="881894" cy="8636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t>Dollars_puma</a:t>
            </a:r>
            <a:endParaRPr lang="en-US" sz="1400" dirty="0"/>
          </a:p>
        </p:txBody>
      </p:sp>
      <p:sp>
        <p:nvSpPr>
          <p:cNvPr id="13" name="Right Arrow 12">
            <a:extLst>
              <a:ext uri="{FF2B5EF4-FFF2-40B4-BE49-F238E27FC236}">
                <a16:creationId xmlns:a16="http://schemas.microsoft.com/office/drawing/2014/main" id="{7ED7A1C8-C300-9E06-B91F-B27F4BED9DA5}"/>
              </a:ext>
            </a:extLst>
          </p:cNvPr>
          <p:cNvSpPr/>
          <p:nvPr/>
        </p:nvSpPr>
        <p:spPr>
          <a:xfrm>
            <a:off x="7403608" y="2959100"/>
            <a:ext cx="1600200" cy="4699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st_set_geometry</a:t>
            </a:r>
            <a:endParaRPr lang="en-US" dirty="0"/>
          </a:p>
        </p:txBody>
      </p:sp>
      <p:grpSp>
        <p:nvGrpSpPr>
          <p:cNvPr id="3" name="Group 2">
            <a:extLst>
              <a:ext uri="{FF2B5EF4-FFF2-40B4-BE49-F238E27FC236}">
                <a16:creationId xmlns:a16="http://schemas.microsoft.com/office/drawing/2014/main" id="{E902AE3C-FABB-6E11-4221-B71EF87BF853}"/>
              </a:ext>
            </a:extLst>
          </p:cNvPr>
          <p:cNvGrpSpPr/>
          <p:nvPr/>
        </p:nvGrpSpPr>
        <p:grpSpPr>
          <a:xfrm>
            <a:off x="1168400" y="2748907"/>
            <a:ext cx="8774957" cy="3495828"/>
            <a:chOff x="1168400" y="2748907"/>
            <a:chExt cx="8774957" cy="3495828"/>
          </a:xfrm>
        </p:grpSpPr>
        <p:sp>
          <p:nvSpPr>
            <p:cNvPr id="14" name="Rectangle 13">
              <a:extLst>
                <a:ext uri="{FF2B5EF4-FFF2-40B4-BE49-F238E27FC236}">
                  <a16:creationId xmlns:a16="http://schemas.microsoft.com/office/drawing/2014/main" id="{C08E8AE4-E699-1017-9B97-9BCDD5C37982}"/>
                </a:ext>
              </a:extLst>
            </p:cNvPr>
            <p:cNvSpPr/>
            <p:nvPr/>
          </p:nvSpPr>
          <p:spPr>
            <a:xfrm>
              <a:off x="9061463" y="2748907"/>
              <a:ext cx="881894" cy="8636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t>Dollars_puma_df</a:t>
              </a:r>
              <a:endParaRPr lang="en-US" sz="1400" dirty="0"/>
            </a:p>
          </p:txBody>
        </p:sp>
        <p:sp>
          <p:nvSpPr>
            <p:cNvPr id="15" name="Rectangle 14">
              <a:extLst>
                <a:ext uri="{FF2B5EF4-FFF2-40B4-BE49-F238E27FC236}">
                  <a16:creationId xmlns:a16="http://schemas.microsoft.com/office/drawing/2014/main" id="{F9DAD78D-B8D7-EF69-7FBF-6AF615FE2651}"/>
                </a:ext>
              </a:extLst>
            </p:cNvPr>
            <p:cNvSpPr/>
            <p:nvPr/>
          </p:nvSpPr>
          <p:spPr>
            <a:xfrm>
              <a:off x="1168400" y="5381113"/>
              <a:ext cx="881894" cy="8636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t>Dollars_puma_df</a:t>
              </a:r>
              <a:endParaRPr lang="en-US" sz="1400" dirty="0"/>
            </a:p>
          </p:txBody>
        </p:sp>
      </p:grpSp>
      <p:grpSp>
        <p:nvGrpSpPr>
          <p:cNvPr id="17" name="Group 16">
            <a:extLst>
              <a:ext uri="{FF2B5EF4-FFF2-40B4-BE49-F238E27FC236}">
                <a16:creationId xmlns:a16="http://schemas.microsoft.com/office/drawing/2014/main" id="{30BADC64-EB35-0264-6783-0235A5D17C5F}"/>
              </a:ext>
            </a:extLst>
          </p:cNvPr>
          <p:cNvGrpSpPr/>
          <p:nvPr/>
        </p:nvGrpSpPr>
        <p:grpSpPr>
          <a:xfrm>
            <a:off x="2050294" y="5535723"/>
            <a:ext cx="4854712" cy="512151"/>
            <a:chOff x="2050294" y="5535723"/>
            <a:chExt cx="4854712" cy="512151"/>
          </a:xfrm>
        </p:grpSpPr>
        <p:sp>
          <p:nvSpPr>
            <p:cNvPr id="16" name="Right Arrow 15">
              <a:extLst>
                <a:ext uri="{FF2B5EF4-FFF2-40B4-BE49-F238E27FC236}">
                  <a16:creationId xmlns:a16="http://schemas.microsoft.com/office/drawing/2014/main" id="{3B1247DC-95AF-CD0C-4C90-28766022EF20}"/>
                </a:ext>
              </a:extLst>
            </p:cNvPr>
            <p:cNvSpPr/>
            <p:nvPr/>
          </p:nvSpPr>
          <p:spPr>
            <a:xfrm>
              <a:off x="2050294" y="5577974"/>
              <a:ext cx="1600200" cy="4699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Count </a:t>
              </a:r>
              <a:r>
                <a:rPr lang="en-US" sz="1600" dirty="0" err="1"/>
                <a:t>dollar_type</a:t>
              </a:r>
              <a:r>
                <a:rPr lang="en-US" sz="1600" dirty="0"/>
                <a:t> in each GEOID</a:t>
              </a:r>
            </a:p>
          </p:txBody>
        </p:sp>
        <p:sp>
          <p:nvSpPr>
            <p:cNvPr id="18" name="Right Arrow 17">
              <a:extLst>
                <a:ext uri="{FF2B5EF4-FFF2-40B4-BE49-F238E27FC236}">
                  <a16:creationId xmlns:a16="http://schemas.microsoft.com/office/drawing/2014/main" id="{2BFFCE97-B90B-7A18-1E39-7E0C2D0CE684}"/>
                </a:ext>
              </a:extLst>
            </p:cNvPr>
            <p:cNvSpPr/>
            <p:nvPr/>
          </p:nvSpPr>
          <p:spPr>
            <a:xfrm>
              <a:off x="3650494" y="5535723"/>
              <a:ext cx="1600200" cy="4699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Pivot wider</a:t>
              </a:r>
            </a:p>
          </p:txBody>
        </p:sp>
        <p:sp>
          <p:nvSpPr>
            <p:cNvPr id="19" name="Right Arrow 18">
              <a:extLst>
                <a:ext uri="{FF2B5EF4-FFF2-40B4-BE49-F238E27FC236}">
                  <a16:creationId xmlns:a16="http://schemas.microsoft.com/office/drawing/2014/main" id="{A3882EAF-AB0D-FDAE-8B24-0B6593657451}"/>
                </a:ext>
              </a:extLst>
            </p:cNvPr>
            <p:cNvSpPr/>
            <p:nvPr/>
          </p:nvSpPr>
          <p:spPr>
            <a:xfrm>
              <a:off x="5304806" y="5535723"/>
              <a:ext cx="1600200" cy="4699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Calculate </a:t>
              </a:r>
              <a:r>
                <a:rPr lang="en-US" sz="1600" dirty="0" err="1"/>
                <a:t>total_stores</a:t>
              </a:r>
              <a:r>
                <a:rPr lang="en-US" sz="1600" dirty="0"/>
                <a:t> and </a:t>
              </a:r>
              <a:r>
                <a:rPr lang="en-US" sz="1600" dirty="0" err="1"/>
                <a:t>fd_pct</a:t>
              </a:r>
              <a:endParaRPr lang="en-US" sz="1600" dirty="0"/>
            </a:p>
          </p:txBody>
        </p:sp>
      </p:grpSp>
      <p:sp>
        <p:nvSpPr>
          <p:cNvPr id="20" name="Rectangle 19">
            <a:extLst>
              <a:ext uri="{FF2B5EF4-FFF2-40B4-BE49-F238E27FC236}">
                <a16:creationId xmlns:a16="http://schemas.microsoft.com/office/drawing/2014/main" id="{027A180D-CE40-2C22-5ED8-9CFD578D6742}"/>
              </a:ext>
            </a:extLst>
          </p:cNvPr>
          <p:cNvSpPr/>
          <p:nvPr/>
        </p:nvSpPr>
        <p:spPr>
          <a:xfrm>
            <a:off x="6979308" y="5338862"/>
            <a:ext cx="1059791" cy="8636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t>Dollars_puma_count_wide</a:t>
            </a:r>
            <a:endParaRPr lang="en-US" sz="1400" dirty="0"/>
          </a:p>
        </p:txBody>
      </p:sp>
      <p:grpSp>
        <p:nvGrpSpPr>
          <p:cNvPr id="30" name="Group 29">
            <a:extLst>
              <a:ext uri="{FF2B5EF4-FFF2-40B4-BE49-F238E27FC236}">
                <a16:creationId xmlns:a16="http://schemas.microsoft.com/office/drawing/2014/main" id="{A5FBF31C-CE6B-B64F-C299-5959546205AE}"/>
              </a:ext>
            </a:extLst>
          </p:cNvPr>
          <p:cNvGrpSpPr/>
          <p:nvPr/>
        </p:nvGrpSpPr>
        <p:grpSpPr>
          <a:xfrm>
            <a:off x="6956753" y="4264916"/>
            <a:ext cx="2756768" cy="1676097"/>
            <a:chOff x="6956753" y="4264916"/>
            <a:chExt cx="2756768" cy="1676097"/>
          </a:xfrm>
        </p:grpSpPr>
        <p:sp>
          <p:nvSpPr>
            <p:cNvPr id="21" name="Rectangle 20">
              <a:extLst>
                <a:ext uri="{FF2B5EF4-FFF2-40B4-BE49-F238E27FC236}">
                  <a16:creationId xmlns:a16="http://schemas.microsoft.com/office/drawing/2014/main" id="{B8748CD5-7CBE-D5F6-A95B-C4FDEADB22E7}"/>
                </a:ext>
              </a:extLst>
            </p:cNvPr>
            <p:cNvSpPr/>
            <p:nvPr/>
          </p:nvSpPr>
          <p:spPr>
            <a:xfrm>
              <a:off x="6956753" y="4264916"/>
              <a:ext cx="1104900" cy="8636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Atlanta PUMAs vector</a:t>
              </a:r>
            </a:p>
          </p:txBody>
        </p:sp>
        <p:sp>
          <p:nvSpPr>
            <p:cNvPr id="22" name="Right Arrow 21">
              <a:extLst>
                <a:ext uri="{FF2B5EF4-FFF2-40B4-BE49-F238E27FC236}">
                  <a16:creationId xmlns:a16="http://schemas.microsoft.com/office/drawing/2014/main" id="{2B1A1DE5-BE66-F475-C27D-4D6FB98C3788}"/>
                </a:ext>
              </a:extLst>
            </p:cNvPr>
            <p:cNvSpPr/>
            <p:nvPr/>
          </p:nvSpPr>
          <p:spPr>
            <a:xfrm rot="20221341">
              <a:off x="8113321" y="5471113"/>
              <a:ext cx="1600200" cy="4699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left_join</a:t>
              </a:r>
              <a:endParaRPr lang="en-US" dirty="0"/>
            </a:p>
          </p:txBody>
        </p:sp>
        <p:sp>
          <p:nvSpPr>
            <p:cNvPr id="23" name="Right Arrow 22">
              <a:extLst>
                <a:ext uri="{FF2B5EF4-FFF2-40B4-BE49-F238E27FC236}">
                  <a16:creationId xmlns:a16="http://schemas.microsoft.com/office/drawing/2014/main" id="{9DA08916-5AC5-4469-CBE6-51327790508B}"/>
                </a:ext>
              </a:extLst>
            </p:cNvPr>
            <p:cNvSpPr/>
            <p:nvPr/>
          </p:nvSpPr>
          <p:spPr>
            <a:xfrm rot="889315">
              <a:off x="8108076" y="4686906"/>
              <a:ext cx="1600200" cy="4699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left_join</a:t>
              </a:r>
              <a:endParaRPr lang="en-US" dirty="0"/>
            </a:p>
          </p:txBody>
        </p:sp>
      </p:grpSp>
      <p:sp>
        <p:nvSpPr>
          <p:cNvPr id="24" name="Rectangle 23">
            <a:extLst>
              <a:ext uri="{FF2B5EF4-FFF2-40B4-BE49-F238E27FC236}">
                <a16:creationId xmlns:a16="http://schemas.microsoft.com/office/drawing/2014/main" id="{BA7DAAA9-A423-2F35-1424-5406732E4A26}"/>
              </a:ext>
            </a:extLst>
          </p:cNvPr>
          <p:cNvSpPr/>
          <p:nvPr/>
        </p:nvSpPr>
        <p:spPr>
          <a:xfrm>
            <a:off x="9777253" y="4839368"/>
            <a:ext cx="1104900" cy="8636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Atlanta PUMAs join</a:t>
            </a:r>
          </a:p>
        </p:txBody>
      </p:sp>
      <p:pic>
        <p:nvPicPr>
          <p:cNvPr id="25" name="Picture 24">
            <a:extLst>
              <a:ext uri="{FF2B5EF4-FFF2-40B4-BE49-F238E27FC236}">
                <a16:creationId xmlns:a16="http://schemas.microsoft.com/office/drawing/2014/main" id="{5BE0D74B-C1C2-0A42-1A84-1485C919BC5D}"/>
              </a:ext>
            </a:extLst>
          </p:cNvPr>
          <p:cNvPicPr>
            <a:picLocks noChangeAspect="1"/>
          </p:cNvPicPr>
          <p:nvPr/>
        </p:nvPicPr>
        <p:blipFill>
          <a:blip r:embed="rId3"/>
          <a:stretch>
            <a:fillRect/>
          </a:stretch>
        </p:blipFill>
        <p:spPr>
          <a:xfrm>
            <a:off x="8085085" y="63712"/>
            <a:ext cx="3054575" cy="2304243"/>
          </a:xfrm>
          <a:prstGeom prst="rect">
            <a:avLst/>
          </a:prstGeom>
        </p:spPr>
      </p:pic>
    </p:spTree>
    <p:extLst>
      <p:ext uri="{BB962C8B-B14F-4D97-AF65-F5344CB8AC3E}">
        <p14:creationId xmlns:p14="http://schemas.microsoft.com/office/powerpoint/2010/main" val="1604711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F0CFD-290C-532B-52C6-B3145641570E}"/>
              </a:ext>
            </a:extLst>
          </p:cNvPr>
          <p:cNvSpPr>
            <a:spLocks noGrp="1"/>
          </p:cNvSpPr>
          <p:nvPr>
            <p:ph type="title"/>
          </p:nvPr>
        </p:nvSpPr>
        <p:spPr/>
        <p:txBody>
          <a:bodyPr/>
          <a:lstStyle/>
          <a:p>
            <a:pPr algn="l"/>
            <a:r>
              <a:rPr lang="en-US" dirty="0"/>
              <a:t>Further notes on vector manipulation</a:t>
            </a:r>
          </a:p>
        </p:txBody>
      </p:sp>
      <p:sp>
        <p:nvSpPr>
          <p:cNvPr id="3" name="Content Placeholder 2">
            <a:extLst>
              <a:ext uri="{FF2B5EF4-FFF2-40B4-BE49-F238E27FC236}">
                <a16:creationId xmlns:a16="http://schemas.microsoft.com/office/drawing/2014/main" id="{37A56490-49E7-12C1-E344-D63569ED2F17}"/>
              </a:ext>
            </a:extLst>
          </p:cNvPr>
          <p:cNvSpPr>
            <a:spLocks noGrp="1"/>
          </p:cNvSpPr>
          <p:nvPr>
            <p:ph idx="1"/>
          </p:nvPr>
        </p:nvSpPr>
        <p:spPr/>
        <p:txBody>
          <a:bodyPr>
            <a:normAutofit lnSpcReduction="10000"/>
          </a:bodyPr>
          <a:lstStyle/>
          <a:p>
            <a:r>
              <a:rPr lang="en-US" i="1" dirty="0"/>
              <a:t>Filter</a:t>
            </a:r>
            <a:r>
              <a:rPr lang="en-US" dirty="0"/>
              <a:t> to subset rows (e.g. only choose Georgia in census data)</a:t>
            </a:r>
          </a:p>
          <a:p>
            <a:r>
              <a:rPr lang="en-US" i="1" dirty="0"/>
              <a:t>Select</a:t>
            </a:r>
            <a:r>
              <a:rPr lang="en-US" dirty="0"/>
              <a:t> to subset columns (e.g. only choose the columns with data you need)</a:t>
            </a:r>
          </a:p>
          <a:p>
            <a:r>
              <a:rPr lang="en-US" dirty="0"/>
              <a:t>These both preserve the spatial component in sf objects.</a:t>
            </a:r>
          </a:p>
          <a:p>
            <a:r>
              <a:rPr lang="en-US" dirty="0"/>
              <a:t>Using $ removes the geometry data</a:t>
            </a:r>
          </a:p>
          <a:p>
            <a:r>
              <a:rPr lang="en-US" dirty="0"/>
              <a:t>data[ </a:t>
            </a:r>
            <a:r>
              <a:rPr lang="en-US" dirty="0" err="1"/>
              <a:t>i</a:t>
            </a:r>
            <a:r>
              <a:rPr lang="en-US" dirty="0"/>
              <a:t>, j]: </a:t>
            </a:r>
            <a:r>
              <a:rPr lang="en-US" dirty="0" err="1"/>
              <a:t>i</a:t>
            </a:r>
            <a:r>
              <a:rPr lang="en-US" dirty="0"/>
              <a:t> rows, j columns</a:t>
            </a:r>
          </a:p>
          <a:p>
            <a:r>
              <a:rPr lang="en-US" dirty="0"/>
              <a:t>data[ 1:3, : ]</a:t>
            </a:r>
          </a:p>
          <a:p>
            <a:r>
              <a:rPr lang="en-US" dirty="0"/>
              <a:t>data[ 5, 1:5 ]</a:t>
            </a:r>
          </a:p>
        </p:txBody>
      </p:sp>
    </p:spTree>
    <p:extLst>
      <p:ext uri="{BB962C8B-B14F-4D97-AF65-F5344CB8AC3E}">
        <p14:creationId xmlns:p14="http://schemas.microsoft.com/office/powerpoint/2010/main" val="11948614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5D163-4C22-FE6D-F2F5-6C969C978511}"/>
              </a:ext>
            </a:extLst>
          </p:cNvPr>
          <p:cNvSpPr>
            <a:spLocks noGrp="1"/>
          </p:cNvSpPr>
          <p:nvPr>
            <p:ph type="title"/>
          </p:nvPr>
        </p:nvSpPr>
        <p:spPr/>
        <p:txBody>
          <a:bodyPr/>
          <a:lstStyle/>
          <a:p>
            <a:endParaRPr lang="en-US"/>
          </a:p>
        </p:txBody>
      </p:sp>
      <p:pic>
        <p:nvPicPr>
          <p:cNvPr id="5" name="Picture 4" descr="A screenshot of a computer&#10;&#10;AI-generated content may be incorrect.">
            <a:extLst>
              <a:ext uri="{FF2B5EF4-FFF2-40B4-BE49-F238E27FC236}">
                <a16:creationId xmlns:a16="http://schemas.microsoft.com/office/drawing/2014/main" id="{50826577-BA35-525E-1A50-7F764FC1EF1D}"/>
              </a:ext>
            </a:extLst>
          </p:cNvPr>
          <p:cNvPicPr>
            <a:picLocks noChangeAspect="1"/>
          </p:cNvPicPr>
          <p:nvPr/>
        </p:nvPicPr>
        <p:blipFill>
          <a:blip r:embed="rId2"/>
          <a:stretch>
            <a:fillRect/>
          </a:stretch>
        </p:blipFill>
        <p:spPr>
          <a:xfrm>
            <a:off x="2611808" y="1346670"/>
            <a:ext cx="7772400" cy="4054222"/>
          </a:xfrm>
          <a:prstGeom prst="rect">
            <a:avLst/>
          </a:prstGeom>
        </p:spPr>
      </p:pic>
    </p:spTree>
    <p:extLst>
      <p:ext uri="{BB962C8B-B14F-4D97-AF65-F5344CB8AC3E}">
        <p14:creationId xmlns:p14="http://schemas.microsoft.com/office/powerpoint/2010/main" val="25459909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16E90-55FB-4B64-0460-58EE6CA2A76D}"/>
              </a:ext>
            </a:extLst>
          </p:cNvPr>
          <p:cNvSpPr>
            <a:spLocks noGrp="1"/>
          </p:cNvSpPr>
          <p:nvPr>
            <p:ph type="title"/>
          </p:nvPr>
        </p:nvSpPr>
        <p:spPr/>
        <p:txBody>
          <a:bodyPr/>
          <a:lstStyle/>
          <a:p>
            <a:pPr algn="l"/>
            <a:r>
              <a:rPr lang="en-US" dirty="0"/>
              <a:t>Chaining commands with pipes</a:t>
            </a:r>
          </a:p>
        </p:txBody>
      </p:sp>
      <p:sp>
        <p:nvSpPr>
          <p:cNvPr id="3" name="Content Placeholder 2">
            <a:extLst>
              <a:ext uri="{FF2B5EF4-FFF2-40B4-BE49-F238E27FC236}">
                <a16:creationId xmlns:a16="http://schemas.microsoft.com/office/drawing/2014/main" id="{1837298C-A5F5-2908-6D18-0B7544C8F9CD}"/>
              </a:ext>
            </a:extLst>
          </p:cNvPr>
          <p:cNvSpPr>
            <a:spLocks noGrp="1"/>
          </p:cNvSpPr>
          <p:nvPr>
            <p:ph idx="1"/>
          </p:nvPr>
        </p:nvSpPr>
        <p:spPr/>
        <p:txBody>
          <a:bodyPr>
            <a:normAutofit lnSpcReduction="10000"/>
          </a:bodyPr>
          <a:lstStyle/>
          <a:p>
            <a:r>
              <a:rPr lang="en-US" i="1" dirty="0"/>
              <a:t>%&gt;% </a:t>
            </a:r>
          </a:p>
          <a:p>
            <a:r>
              <a:rPr lang="en-US" dirty="0"/>
              <a:t>As of R 4.1.0, you can also use </a:t>
            </a:r>
            <a:r>
              <a:rPr lang="en-US" i="1" dirty="0"/>
              <a:t>|&gt;</a:t>
            </a:r>
          </a:p>
          <a:p>
            <a:r>
              <a:rPr lang="en-US" dirty="0"/>
              <a:t>The output of a previous function becomes the first argument of the next function, enabling </a:t>
            </a:r>
            <a:r>
              <a:rPr lang="en-US" i="1" dirty="0"/>
              <a:t>chaining.</a:t>
            </a:r>
            <a:r>
              <a:rPr lang="en-US" dirty="0"/>
              <a:t> </a:t>
            </a:r>
          </a:p>
          <a:p>
            <a:r>
              <a:rPr lang="en-US" dirty="0"/>
              <a:t>The next two are equivalent:</a:t>
            </a:r>
          </a:p>
          <a:p>
            <a:r>
              <a:rPr lang="en-US" i="1" dirty="0" err="1"/>
              <a:t>georgia_census</a:t>
            </a:r>
            <a:r>
              <a:rPr lang="en-US" i="1" dirty="0"/>
              <a:t> &lt;- filter(</a:t>
            </a:r>
            <a:r>
              <a:rPr lang="en-US" i="1" dirty="0" err="1"/>
              <a:t>census_data</a:t>
            </a:r>
            <a:r>
              <a:rPr lang="en-US" i="1" dirty="0"/>
              <a:t>, </a:t>
            </a:r>
            <a:r>
              <a:rPr lang="en-US" i="1" dirty="0" err="1"/>
              <a:t>st_name</a:t>
            </a:r>
            <a:r>
              <a:rPr lang="en-US" i="1" dirty="0"/>
              <a:t> == ‘Georgia’)</a:t>
            </a:r>
          </a:p>
          <a:p>
            <a:r>
              <a:rPr lang="en-US" i="1" dirty="0" err="1"/>
              <a:t>georgia_census</a:t>
            </a:r>
            <a:r>
              <a:rPr lang="en-US" i="1" dirty="0"/>
              <a:t> &lt;- </a:t>
            </a:r>
            <a:r>
              <a:rPr lang="en-US" i="1" dirty="0" err="1"/>
              <a:t>census_data</a:t>
            </a:r>
            <a:r>
              <a:rPr lang="en-US" i="1" dirty="0"/>
              <a:t> |&gt;</a:t>
            </a:r>
          </a:p>
          <a:p>
            <a:pPr marL="0" indent="0">
              <a:buNone/>
            </a:pPr>
            <a:r>
              <a:rPr lang="en-US" i="1" dirty="0"/>
              <a:t>	filter(</a:t>
            </a:r>
            <a:r>
              <a:rPr lang="en-US" i="1" dirty="0" err="1"/>
              <a:t>st_name</a:t>
            </a:r>
            <a:r>
              <a:rPr lang="en-US" i="1" dirty="0"/>
              <a:t> == ‘Georgia)</a:t>
            </a:r>
          </a:p>
        </p:txBody>
      </p:sp>
      <p:sp>
        <p:nvSpPr>
          <p:cNvPr id="4" name="TextBox 3">
            <a:extLst>
              <a:ext uri="{FF2B5EF4-FFF2-40B4-BE49-F238E27FC236}">
                <a16:creationId xmlns:a16="http://schemas.microsoft.com/office/drawing/2014/main" id="{5C911CB3-EC07-5271-B306-95533D585564}"/>
              </a:ext>
            </a:extLst>
          </p:cNvPr>
          <p:cNvSpPr txBox="1"/>
          <p:nvPr/>
        </p:nvSpPr>
        <p:spPr>
          <a:xfrm>
            <a:off x="1087948" y="6216775"/>
            <a:ext cx="5503025" cy="369332"/>
          </a:xfrm>
          <a:prstGeom prst="rect">
            <a:avLst/>
          </a:prstGeom>
          <a:noFill/>
        </p:spPr>
        <p:txBody>
          <a:bodyPr wrap="square" rtlCol="0">
            <a:spAutoFit/>
          </a:bodyPr>
          <a:lstStyle/>
          <a:p>
            <a:r>
              <a:rPr lang="en-US" b="1" dirty="0"/>
              <a:t>See example in Script 07-1</a:t>
            </a:r>
          </a:p>
        </p:txBody>
      </p:sp>
    </p:spTree>
    <p:extLst>
      <p:ext uri="{BB962C8B-B14F-4D97-AF65-F5344CB8AC3E}">
        <p14:creationId xmlns:p14="http://schemas.microsoft.com/office/powerpoint/2010/main" val="15897069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54A00-B1A1-1E0E-1388-27C0307AD6C8}"/>
              </a:ext>
            </a:extLst>
          </p:cNvPr>
          <p:cNvSpPr>
            <a:spLocks noGrp="1"/>
          </p:cNvSpPr>
          <p:nvPr>
            <p:ph type="title"/>
          </p:nvPr>
        </p:nvSpPr>
        <p:spPr/>
        <p:txBody>
          <a:bodyPr/>
          <a:lstStyle/>
          <a:p>
            <a:r>
              <a:rPr lang="en-US" dirty="0"/>
              <a:t>Spatial operations on vector data</a:t>
            </a:r>
          </a:p>
        </p:txBody>
      </p:sp>
      <p:sp>
        <p:nvSpPr>
          <p:cNvPr id="3" name="Content Placeholder 2">
            <a:extLst>
              <a:ext uri="{FF2B5EF4-FFF2-40B4-BE49-F238E27FC236}">
                <a16:creationId xmlns:a16="http://schemas.microsoft.com/office/drawing/2014/main" id="{44D78896-7B3B-E029-2103-DFB995C1D34C}"/>
              </a:ext>
            </a:extLst>
          </p:cNvPr>
          <p:cNvSpPr>
            <a:spLocks noGrp="1"/>
          </p:cNvSpPr>
          <p:nvPr>
            <p:ph idx="1"/>
          </p:nvPr>
        </p:nvSpPr>
        <p:spPr/>
        <p:txBody>
          <a:bodyPr/>
          <a:lstStyle/>
          <a:p>
            <a:r>
              <a:rPr lang="en-US" dirty="0"/>
              <a:t>It is important to note that spatial operations that use two spatial objects rely on both objects having the same coordinate reference system.</a:t>
            </a:r>
          </a:p>
        </p:txBody>
      </p:sp>
      <p:sp>
        <p:nvSpPr>
          <p:cNvPr id="4" name="TextBox 3">
            <a:extLst>
              <a:ext uri="{FF2B5EF4-FFF2-40B4-BE49-F238E27FC236}">
                <a16:creationId xmlns:a16="http://schemas.microsoft.com/office/drawing/2014/main" id="{A17D1F1C-BEA7-3A0C-89EB-016F48797514}"/>
              </a:ext>
            </a:extLst>
          </p:cNvPr>
          <p:cNvSpPr txBox="1"/>
          <p:nvPr/>
        </p:nvSpPr>
        <p:spPr>
          <a:xfrm>
            <a:off x="1082040" y="6049944"/>
            <a:ext cx="2545080" cy="646331"/>
          </a:xfrm>
          <a:prstGeom prst="rect">
            <a:avLst/>
          </a:prstGeom>
          <a:noFill/>
        </p:spPr>
        <p:txBody>
          <a:bodyPr wrap="square" rtlCol="0">
            <a:spAutoFit/>
          </a:bodyPr>
          <a:lstStyle/>
          <a:p>
            <a:r>
              <a:rPr lang="en-US" dirty="0"/>
              <a:t>For more info, see Lovelace Ch 4!</a:t>
            </a:r>
          </a:p>
        </p:txBody>
      </p:sp>
    </p:spTree>
    <p:extLst>
      <p:ext uri="{BB962C8B-B14F-4D97-AF65-F5344CB8AC3E}">
        <p14:creationId xmlns:p14="http://schemas.microsoft.com/office/powerpoint/2010/main" val="18946175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AFC83-D81A-609E-211C-CC44532227AA}"/>
              </a:ext>
            </a:extLst>
          </p:cNvPr>
          <p:cNvSpPr>
            <a:spLocks noGrp="1"/>
          </p:cNvSpPr>
          <p:nvPr>
            <p:ph type="title"/>
          </p:nvPr>
        </p:nvSpPr>
        <p:spPr/>
        <p:txBody>
          <a:bodyPr/>
          <a:lstStyle/>
          <a:p>
            <a:pPr algn="l"/>
            <a:r>
              <a:rPr lang="en-US" dirty="0"/>
              <a:t>Stats with raster data</a:t>
            </a:r>
          </a:p>
        </p:txBody>
      </p:sp>
      <p:sp>
        <p:nvSpPr>
          <p:cNvPr id="3" name="Content Placeholder 2">
            <a:extLst>
              <a:ext uri="{FF2B5EF4-FFF2-40B4-BE49-F238E27FC236}">
                <a16:creationId xmlns:a16="http://schemas.microsoft.com/office/drawing/2014/main" id="{33E23A3F-D5FF-130E-5AC2-9A728446D3DA}"/>
              </a:ext>
            </a:extLst>
          </p:cNvPr>
          <p:cNvSpPr>
            <a:spLocks noGrp="1"/>
          </p:cNvSpPr>
          <p:nvPr>
            <p:ph idx="1"/>
          </p:nvPr>
        </p:nvSpPr>
        <p:spPr/>
        <p:txBody>
          <a:bodyPr/>
          <a:lstStyle/>
          <a:p>
            <a:r>
              <a:rPr lang="en-US" i="1" dirty="0"/>
              <a:t>Local</a:t>
            </a:r>
            <a:r>
              <a:rPr lang="en-US" dirty="0"/>
              <a:t> or per-cell operations: Step 1</a:t>
            </a:r>
          </a:p>
          <a:p>
            <a:r>
              <a:rPr lang="en-US" i="1" dirty="0"/>
              <a:t>Focal</a:t>
            </a:r>
            <a:r>
              <a:rPr lang="en-US" dirty="0"/>
              <a:t> or neighborhood operations. Most often the output cell value is the result of a 3 x 3 input cell block</a:t>
            </a:r>
          </a:p>
          <a:p>
            <a:r>
              <a:rPr lang="en-US" i="1" dirty="0"/>
              <a:t>Zonal</a:t>
            </a:r>
            <a:r>
              <a:rPr lang="en-US" dirty="0"/>
              <a:t> operations are similar to focal operations, but the surrounding pixel grid on which new values are computed can have irregular sizes and shapes</a:t>
            </a:r>
          </a:p>
          <a:p>
            <a:r>
              <a:rPr lang="en-US" i="1" dirty="0"/>
              <a:t>Global</a:t>
            </a:r>
            <a:r>
              <a:rPr lang="en-US" dirty="0"/>
              <a:t> or per-raster operations. That means the output cell derives its value potentially from one or several entire </a:t>
            </a:r>
            <a:r>
              <a:rPr lang="en-US" dirty="0" err="1"/>
              <a:t>rasters</a:t>
            </a:r>
            <a:endParaRPr lang="en-US" dirty="0"/>
          </a:p>
          <a:p>
            <a:endParaRPr lang="en-US" dirty="0"/>
          </a:p>
        </p:txBody>
      </p:sp>
    </p:spTree>
    <p:extLst>
      <p:ext uri="{BB962C8B-B14F-4D97-AF65-F5344CB8AC3E}">
        <p14:creationId xmlns:p14="http://schemas.microsoft.com/office/powerpoint/2010/main" val="5308526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90BBF-6C14-49F8-E0E1-B31416635E00}"/>
              </a:ext>
            </a:extLst>
          </p:cNvPr>
          <p:cNvSpPr>
            <a:spLocks noGrp="1"/>
          </p:cNvSpPr>
          <p:nvPr>
            <p:ph type="title"/>
          </p:nvPr>
        </p:nvSpPr>
        <p:spPr/>
        <p:txBody>
          <a:bodyPr/>
          <a:lstStyle/>
          <a:p>
            <a:r>
              <a:rPr lang="en-US" dirty="0"/>
              <a:t>Terra </a:t>
            </a:r>
          </a:p>
        </p:txBody>
      </p:sp>
      <p:sp>
        <p:nvSpPr>
          <p:cNvPr id="3" name="Content Placeholder 2">
            <a:extLst>
              <a:ext uri="{FF2B5EF4-FFF2-40B4-BE49-F238E27FC236}">
                <a16:creationId xmlns:a16="http://schemas.microsoft.com/office/drawing/2014/main" id="{474FBE6E-8EE3-84BB-BF4A-A88CF9B536CF}"/>
              </a:ext>
            </a:extLst>
          </p:cNvPr>
          <p:cNvSpPr>
            <a:spLocks noGrp="1"/>
          </p:cNvSpPr>
          <p:nvPr>
            <p:ph idx="1"/>
          </p:nvPr>
        </p:nvSpPr>
        <p:spPr/>
        <p:txBody>
          <a:bodyPr/>
          <a:lstStyle/>
          <a:p>
            <a:r>
              <a:rPr lang="en-US" dirty="0"/>
              <a:t>Global: "max", "min", "mean", "sum", "range", "rms" (root mean square), "</a:t>
            </a:r>
            <a:r>
              <a:rPr lang="en-US" dirty="0" err="1"/>
              <a:t>sd</a:t>
            </a:r>
            <a:r>
              <a:rPr lang="en-US" dirty="0"/>
              <a:t>", "std" (population </a:t>
            </a:r>
            <a:r>
              <a:rPr lang="en-US" dirty="0" err="1"/>
              <a:t>sd</a:t>
            </a:r>
            <a:r>
              <a:rPr lang="en-US" dirty="0"/>
              <a:t>, using n rather than n-1), "</a:t>
            </a:r>
            <a:r>
              <a:rPr lang="en-US" dirty="0" err="1"/>
              <a:t>isNA</a:t>
            </a:r>
            <a:r>
              <a:rPr lang="en-US" dirty="0"/>
              <a:t>", "</a:t>
            </a:r>
            <a:r>
              <a:rPr lang="en-US" dirty="0" err="1"/>
              <a:t>notNA</a:t>
            </a:r>
            <a:r>
              <a:rPr lang="en-US" dirty="0"/>
              <a:t>", "</a:t>
            </a:r>
            <a:r>
              <a:rPr lang="en-US" dirty="0" err="1"/>
              <a:t>anyNA</a:t>
            </a:r>
            <a:r>
              <a:rPr lang="en-US" dirty="0"/>
              <a:t>", "</a:t>
            </a:r>
            <a:r>
              <a:rPr lang="en-US" dirty="0" err="1"/>
              <a:t>anynotNA</a:t>
            </a:r>
            <a:r>
              <a:rPr lang="en-US" dirty="0"/>
              <a:t>"; or a proper R function (but these may fail for very large </a:t>
            </a:r>
            <a:r>
              <a:rPr lang="en-US" dirty="0" err="1"/>
              <a:t>SpatRasters</a:t>
            </a:r>
            <a:r>
              <a:rPr lang="en-US" dirty="0"/>
              <a:t> unless you specify </a:t>
            </a:r>
            <a:r>
              <a:rPr lang="en-US" dirty="0" err="1"/>
              <a:t>maxcell</a:t>
            </a:r>
            <a:r>
              <a:rPr lang="en-US" dirty="0"/>
              <a:t>)</a:t>
            </a:r>
          </a:p>
        </p:txBody>
      </p:sp>
    </p:spTree>
    <p:extLst>
      <p:ext uri="{BB962C8B-B14F-4D97-AF65-F5344CB8AC3E}">
        <p14:creationId xmlns:p14="http://schemas.microsoft.com/office/powerpoint/2010/main" val="38818670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A742D-DCB4-4924-BBC0-E13D52E3F77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F8C6E2C-4A41-0BBD-B1DD-704908A3DB97}"/>
              </a:ext>
            </a:extLst>
          </p:cNvPr>
          <p:cNvSpPr>
            <a:spLocks noGrp="1"/>
          </p:cNvSpPr>
          <p:nvPr>
            <p:ph idx="1"/>
          </p:nvPr>
        </p:nvSpPr>
        <p:spPr/>
        <p:txBody>
          <a:bodyPr>
            <a:normAutofit lnSpcReduction="10000"/>
          </a:bodyPr>
          <a:lstStyle/>
          <a:p>
            <a:r>
              <a:rPr lang="en-US" sz="2400" dirty="0"/>
              <a:t>We are going to do the same thing, but with a </a:t>
            </a:r>
            <a:r>
              <a:rPr lang="en-US" sz="2400" dirty="0" err="1"/>
              <a:t>geopackage</a:t>
            </a:r>
            <a:r>
              <a:rPr lang="en-US" sz="2400" dirty="0"/>
              <a:t> and a raster file.</a:t>
            </a:r>
          </a:p>
          <a:p>
            <a:r>
              <a:rPr lang="en-US" sz="2400" dirty="0"/>
              <a:t>Task 1:</a:t>
            </a:r>
          </a:p>
          <a:p>
            <a:pPr lvl="1"/>
            <a:r>
              <a:rPr lang="en-US" sz="2400" dirty="0"/>
              <a:t>Read in NLCD raster file and find out the land cover type with the highest percentage of points in Houston.</a:t>
            </a:r>
          </a:p>
          <a:p>
            <a:pPr lvl="1"/>
            <a:r>
              <a:rPr lang="en-US" sz="2400" dirty="0"/>
              <a:t>NLCD = National Land Cover Data: 30x30m from </a:t>
            </a:r>
            <a:r>
              <a:rPr lang="en-US" sz="2400" dirty="0" err="1"/>
              <a:t>LandSat</a:t>
            </a:r>
            <a:r>
              <a:rPr lang="en-US" sz="2400" dirty="0"/>
              <a:t> data </a:t>
            </a:r>
          </a:p>
        </p:txBody>
      </p:sp>
    </p:spTree>
    <p:extLst>
      <p:ext uri="{BB962C8B-B14F-4D97-AF65-F5344CB8AC3E}">
        <p14:creationId xmlns:p14="http://schemas.microsoft.com/office/powerpoint/2010/main" val="5877575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A9150-6504-F507-29A7-FD4D121A7E4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BCF48D4-2D26-FCD9-0DE1-60CD50AB54A7}"/>
              </a:ext>
            </a:extLst>
          </p:cNvPr>
          <p:cNvSpPr>
            <a:spLocks noGrp="1"/>
          </p:cNvSpPr>
          <p:nvPr>
            <p:ph idx="1"/>
          </p:nvPr>
        </p:nvSpPr>
        <p:spPr/>
        <p:txBody>
          <a:bodyPr/>
          <a:lstStyle/>
          <a:p>
            <a:r>
              <a:rPr lang="en-US" dirty="0"/>
              <a:t>Task 2: Count the number of Starbucks in Houston that occur in each land cover type.</a:t>
            </a:r>
          </a:p>
          <a:p>
            <a:r>
              <a:rPr lang="en-US" dirty="0"/>
              <a:t>Starbucks: point data</a:t>
            </a:r>
          </a:p>
          <a:p>
            <a:r>
              <a:rPr lang="en-US" dirty="0"/>
              <a:t>NLCD: raster</a:t>
            </a:r>
          </a:p>
        </p:txBody>
      </p:sp>
    </p:spTree>
    <p:extLst>
      <p:ext uri="{BB962C8B-B14F-4D97-AF65-F5344CB8AC3E}">
        <p14:creationId xmlns:p14="http://schemas.microsoft.com/office/powerpoint/2010/main" val="31685664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594ED-628C-6968-3A8B-F77B34105DDD}"/>
              </a:ext>
            </a:extLst>
          </p:cNvPr>
          <p:cNvSpPr>
            <a:spLocks noGrp="1"/>
          </p:cNvSpPr>
          <p:nvPr>
            <p:ph type="title"/>
          </p:nvPr>
        </p:nvSpPr>
        <p:spPr/>
        <p:txBody>
          <a:bodyPr/>
          <a:lstStyle/>
          <a:p>
            <a:pPr algn="l"/>
            <a:r>
              <a:rPr lang="en-US" dirty="0"/>
              <a:t>Notes for Script 7</a:t>
            </a:r>
          </a:p>
        </p:txBody>
      </p:sp>
      <p:sp>
        <p:nvSpPr>
          <p:cNvPr id="3" name="Content Placeholder 2">
            <a:extLst>
              <a:ext uri="{FF2B5EF4-FFF2-40B4-BE49-F238E27FC236}">
                <a16:creationId xmlns:a16="http://schemas.microsoft.com/office/drawing/2014/main" id="{9D5D364F-97BF-363E-118C-3DAB1EB412EF}"/>
              </a:ext>
            </a:extLst>
          </p:cNvPr>
          <p:cNvSpPr>
            <a:spLocks noGrp="1"/>
          </p:cNvSpPr>
          <p:nvPr>
            <p:ph idx="1"/>
          </p:nvPr>
        </p:nvSpPr>
        <p:spPr/>
        <p:txBody>
          <a:bodyPr/>
          <a:lstStyle/>
          <a:p>
            <a:r>
              <a:rPr lang="en-US" dirty="0"/>
              <a:t>Terra has replaced raster</a:t>
            </a:r>
          </a:p>
          <a:p>
            <a:r>
              <a:rPr lang="en-US" dirty="0">
                <a:hlinkClick r:id="rId2"/>
              </a:rPr>
              <a:t>https://cran.r-project.org/web/packages/terra/index.html</a:t>
            </a:r>
            <a:r>
              <a:rPr lang="en-US" dirty="0"/>
              <a:t> </a:t>
            </a:r>
          </a:p>
          <a:p>
            <a:endParaRPr lang="en-US" dirty="0"/>
          </a:p>
        </p:txBody>
      </p:sp>
    </p:spTree>
    <p:extLst>
      <p:ext uri="{BB962C8B-B14F-4D97-AF65-F5344CB8AC3E}">
        <p14:creationId xmlns:p14="http://schemas.microsoft.com/office/powerpoint/2010/main" val="23550453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BC3D2-0E0B-8758-679A-DF4F87B1B778}"/>
              </a:ext>
            </a:extLst>
          </p:cNvPr>
          <p:cNvSpPr>
            <a:spLocks noGrp="1"/>
          </p:cNvSpPr>
          <p:nvPr>
            <p:ph type="title"/>
          </p:nvPr>
        </p:nvSpPr>
        <p:spPr/>
        <p:txBody>
          <a:bodyPr/>
          <a:lstStyle/>
          <a:p>
            <a:pPr algn="l"/>
            <a:r>
              <a:rPr lang="en-US" dirty="0"/>
              <a:t>NLCD</a:t>
            </a:r>
          </a:p>
        </p:txBody>
      </p:sp>
      <p:sp>
        <p:nvSpPr>
          <p:cNvPr id="3" name="Content Placeholder 2">
            <a:extLst>
              <a:ext uri="{FF2B5EF4-FFF2-40B4-BE49-F238E27FC236}">
                <a16:creationId xmlns:a16="http://schemas.microsoft.com/office/drawing/2014/main" id="{A9E0963B-0174-8923-67CB-11B4C8E0031E}"/>
              </a:ext>
            </a:extLst>
          </p:cNvPr>
          <p:cNvSpPr>
            <a:spLocks noGrp="1"/>
          </p:cNvSpPr>
          <p:nvPr>
            <p:ph idx="1"/>
          </p:nvPr>
        </p:nvSpPr>
        <p:spPr/>
        <p:txBody>
          <a:bodyPr/>
          <a:lstStyle/>
          <a:p>
            <a:r>
              <a:rPr lang="en-US" dirty="0"/>
              <a:t>National Land Cover Data: 30x30m from </a:t>
            </a:r>
            <a:r>
              <a:rPr lang="en-US" dirty="0" err="1"/>
              <a:t>LandSat</a:t>
            </a:r>
            <a:r>
              <a:rPr lang="en-US" dirty="0"/>
              <a:t> data </a:t>
            </a:r>
          </a:p>
        </p:txBody>
      </p:sp>
    </p:spTree>
    <p:extLst>
      <p:ext uri="{BB962C8B-B14F-4D97-AF65-F5344CB8AC3E}">
        <p14:creationId xmlns:p14="http://schemas.microsoft.com/office/powerpoint/2010/main" val="304487893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Madison</Template>
  <TotalTime>4364</TotalTime>
  <Words>1203</Words>
  <Application>Microsoft Macintosh PowerPoint</Application>
  <PresentationFormat>Widescreen</PresentationFormat>
  <Paragraphs>134</Paragraphs>
  <Slides>18</Slides>
  <Notes>5</Notes>
  <HiddenSlides>4</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Aptos</vt:lpstr>
      <vt:lpstr>Arial</vt:lpstr>
      <vt:lpstr>MS Shell Dlg 2</vt:lpstr>
      <vt:lpstr>Wingdings</vt:lpstr>
      <vt:lpstr>Wingdings 3</vt:lpstr>
      <vt:lpstr>Madison</vt:lpstr>
      <vt:lpstr>GEOG4/6300</vt:lpstr>
      <vt:lpstr>Overview</vt:lpstr>
      <vt:lpstr>How did we calculate zonal statistics with vector data (on Tuesday)?</vt:lpstr>
      <vt:lpstr>Joins</vt:lpstr>
      <vt:lpstr>Topological relations</vt:lpstr>
      <vt:lpstr>How did we calculate zonal statistics with vector data (on Tuesday)?</vt:lpstr>
      <vt:lpstr>Joins</vt:lpstr>
      <vt:lpstr>How did we calculate zonal statistics with vector data (on Tuesday)?</vt:lpstr>
      <vt:lpstr>Further notes on vector manipulation</vt:lpstr>
      <vt:lpstr>PowerPoint Presentation</vt:lpstr>
      <vt:lpstr>Chaining commands with pipes</vt:lpstr>
      <vt:lpstr>Spatial operations on vector data</vt:lpstr>
      <vt:lpstr>Stats with raster data</vt:lpstr>
      <vt:lpstr>Terra </vt:lpstr>
      <vt:lpstr>PowerPoint Presentation</vt:lpstr>
      <vt:lpstr>PowerPoint Presentation</vt:lpstr>
      <vt:lpstr>Notes for Script 7</vt:lpstr>
      <vt:lpstr>NLCD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GEOG4/6300</dc:title>
  <dc:creator>Anna Harper</dc:creator>
  <cp:lastModifiedBy>Anna Harper</cp:lastModifiedBy>
  <cp:revision>3</cp:revision>
  <dcterms:created xsi:type="dcterms:W3CDTF">2025-09-25T01:02:16Z</dcterms:created>
  <dcterms:modified xsi:type="dcterms:W3CDTF">2025-09-30T19:34:26Z</dcterms:modified>
</cp:coreProperties>
</file>