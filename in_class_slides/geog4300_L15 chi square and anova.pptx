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313" r:id="rId3"/>
    <p:sldId id="259" r:id="rId4"/>
    <p:sldId id="301" r:id="rId5"/>
    <p:sldId id="302" r:id="rId6"/>
    <p:sldId id="303" r:id="rId7"/>
    <p:sldId id="304" r:id="rId8"/>
    <p:sldId id="309" r:id="rId9"/>
    <p:sldId id="305" r:id="rId10"/>
    <p:sldId id="306" r:id="rId11"/>
    <p:sldId id="307" r:id="rId12"/>
    <p:sldId id="314" r:id="rId13"/>
    <p:sldId id="315" r:id="rId14"/>
    <p:sldId id="316" r:id="rId15"/>
    <p:sldId id="308" r:id="rId16"/>
    <p:sldId id="317" r:id="rId17"/>
    <p:sldId id="31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2" autoAdjust="0"/>
    <p:restoredTop sz="79925"/>
  </p:normalViewPr>
  <p:slideViewPr>
    <p:cSldViewPr snapToGrid="0">
      <p:cViewPr varScale="1">
        <p:scale>
          <a:sx n="89" d="100"/>
          <a:sy n="89" d="100"/>
        </p:scale>
        <p:origin x="10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T-test: independent variable vs dependent variable, work when you have a categorical variable and nominal or ratio data.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3764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0662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3369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9647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9E4CA04-717E-3B15-DA1D-4C9C598F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>
            <a:extLst>
              <a:ext uri="{FF2B5EF4-FFF2-40B4-BE49-F238E27FC236}">
                <a16:creationId xmlns:a16="http://schemas.microsoft.com/office/drawing/2014/main" id="{7250B2C7-F14D-5474-08E8-60BD2E1E4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>
            <a:extLst>
              <a:ext uri="{FF2B5EF4-FFF2-40B4-BE49-F238E27FC236}">
                <a16:creationId xmlns:a16="http://schemas.microsoft.com/office/drawing/2014/main" id="{326CC8A0-21E3-774E-ECA3-C5B5B02DE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>
            <a:extLst>
              <a:ext uri="{FF2B5EF4-FFF2-40B4-BE49-F238E27FC236}">
                <a16:creationId xmlns:a16="http://schemas.microsoft.com/office/drawing/2014/main" id="{8CCE53A3-C5CF-8E8A-A18F-CCFB02AFF1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3347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8995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2684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6306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8182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2036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0529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354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9275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hypothesis is usually what you’re trying to prove.</a:t>
            </a:r>
          </a:p>
        </p:txBody>
      </p:sp>
      <p:sp>
        <p:nvSpPr>
          <p:cNvPr id="99" name="Shape 9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31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794273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10:Normality testing;</a:t>
            </a:r>
            <a:br>
              <a:rPr lang="en-US" dirty="0"/>
            </a:br>
            <a:r>
              <a:rPr lang="en-US" dirty="0"/>
              <a:t>Chi-square; Non-parametric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666615"/>
            <a:ext cx="9440034" cy="1049867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Geog4300: Harper</a:t>
            </a:r>
          </a:p>
          <a:p>
            <a:r>
              <a:rPr lang="en-US" sz="3200" dirty="0"/>
              <a:t>October 23, 2025</a:t>
            </a:r>
          </a:p>
        </p:txBody>
      </p:sp>
      <p:pic>
        <p:nvPicPr>
          <p:cNvPr id="7" name="Shape 101">
            <a:extLst>
              <a:ext uri="{FF2B5EF4-FFF2-40B4-BE49-F238E27FC236}">
                <a16:creationId xmlns:a16="http://schemas.microsoft.com/office/drawing/2014/main" id="{20A9834B-95DA-48A0-8E38-0115825B892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61345" y="216790"/>
            <a:ext cx="6167213" cy="35801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ACF5-0661-BE5C-2B8F-DB630049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BBD-7419-43ED-3AB2-D9866AEA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for normality</a:t>
            </a:r>
          </a:p>
          <a:p>
            <a:r>
              <a:rPr lang="en-US" dirty="0"/>
              <a:t>If data is not normally distributed –Wilcoxon test</a:t>
            </a:r>
          </a:p>
          <a:p>
            <a:r>
              <a:rPr lang="en-US" dirty="0"/>
              <a:t>If the two variables being tested are categorical rather than continuous – Chi-squared test</a:t>
            </a:r>
          </a:p>
          <a:p>
            <a:r>
              <a:rPr lang="en-US" dirty="0"/>
              <a:t>Introduce Lab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Shape 126"/>
          <p:cNvGraphicFramePr/>
          <p:nvPr>
            <p:extLst>
              <p:ext uri="{D42A27DB-BD31-4B8C-83A1-F6EECF244321}">
                <p14:modId xmlns:p14="http://schemas.microsoft.com/office/powerpoint/2010/main" val="1407326438"/>
              </p:ext>
            </p:extLst>
          </p:nvPr>
        </p:nvGraphicFramePr>
        <p:xfrm>
          <a:off x="1524000" y="1214626"/>
          <a:ext cx="9136950" cy="530432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63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Dependent Variable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Independent  Variable(s)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600" u="none" strike="noStrike" cap="none">
                          <a:latin typeface="+mn-lt"/>
                        </a:rPr>
                        <a:t>Example hypotheses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525">
                <a:tc row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Quantitative / ratio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Categorical/ nominal (2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(n &gt; 30): t-test for independent samples;</a:t>
                      </a:r>
                    </a:p>
                  </a:txBody>
                  <a:tcPr marL="91450" marR="91450" marT="45725" marB="45725" anchor="ctr"/>
                </a:tc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average speed of cars has changed between the times that speed cameras were operating and the times that they were not.”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(n &lt; 30): Wilcoxon rank sum (non-parametric)</a:t>
                      </a:r>
                    </a:p>
                  </a:txBody>
                  <a:tcPr marL="91450" marR="91450" marT="45725" marB="45725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7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Categorical/ nominal (more than 2 values)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ANOVA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amount the average household gives to charity each year depends on whether the resident lives in the East, the Midwest, the South, or the West.”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Categorical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Chi-squared test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typical denomination of churches depends on the state (Utah has more LDS churches, New York has more Roman Catholic churches)”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 (1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Correlation/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“The median household income of a census tract is a good indicator of the voter turnout percentage at primary elections.”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Quantitative (more than one variable)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>
                          <a:latin typeface="+mn-lt"/>
                        </a:rPr>
                        <a:t> Multiple regression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Gill Sans MT"/>
                        <a:buNone/>
                      </a:pPr>
                      <a:r>
                        <a:rPr lang="en-US" sz="1200" u="none" strike="noStrike" cap="none" dirty="0">
                          <a:latin typeface="+mn-lt"/>
                        </a:rPr>
                        <a:t>“Student test scores are a function of the median income, amount spent per capita on education, and average number of years of schooling of teachers in a census tract.”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/>
        </p:nvSpPr>
        <p:spPr>
          <a:xfrm>
            <a:off x="237791" y="253108"/>
            <a:ext cx="10125511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Chi-square tests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9D20A-6DD2-49E0-B8E8-C5F34B628C04}"/>
              </a:ext>
            </a:extLst>
          </p:cNvPr>
          <p:cNvSpPr txBox="1"/>
          <p:nvPr/>
        </p:nvSpPr>
        <p:spPr>
          <a:xfrm>
            <a:off x="237791" y="1110022"/>
            <a:ext cx="6635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For two </a:t>
            </a:r>
            <a:r>
              <a:rPr lang="en-US" sz="3600" b="1" i="1" dirty="0"/>
              <a:t>categorical</a:t>
            </a:r>
            <a:r>
              <a:rPr lang="en-US" sz="3600" dirty="0"/>
              <a:t> variables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13" name="Shape 149" descr="http://2012books.lardbucket.org/books/beginning-statistics/section_15/5a0c7bbacb4242555e8a85c9767c03ee.jpg">
            <a:extLst>
              <a:ext uri="{FF2B5EF4-FFF2-40B4-BE49-F238E27FC236}">
                <a16:creationId xmlns:a16="http://schemas.microsoft.com/office/drawing/2014/main" id="{D06C83D4-AAC6-47AD-B56A-4463301FDA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791" y="2281727"/>
            <a:ext cx="5513529" cy="408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Shape 156">
            <a:extLst>
              <a:ext uri="{FF2B5EF4-FFF2-40B4-BE49-F238E27FC236}">
                <a16:creationId xmlns:a16="http://schemas.microsoft.com/office/drawing/2014/main" id="{37608350-C507-42CF-893F-2DE9CF02B4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9302" y="2281727"/>
            <a:ext cx="4284000" cy="16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5" name="Shape 157">
            <a:extLst>
              <a:ext uri="{FF2B5EF4-FFF2-40B4-BE49-F238E27FC236}">
                <a16:creationId xmlns:a16="http://schemas.microsoft.com/office/drawing/2014/main" id="{C9600478-D462-43BD-99F8-5FB9B36E6B00}"/>
              </a:ext>
            </a:extLst>
          </p:cNvPr>
          <p:cNvSpPr txBox="1"/>
          <p:nvPr/>
        </p:nvSpPr>
        <p:spPr>
          <a:xfrm>
            <a:off x="5991072" y="4198322"/>
            <a:ext cx="6200928" cy="13849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O</a:t>
            </a:r>
            <a:r>
              <a:rPr lang="en-US" sz="2800" baseline="-25000" dirty="0">
                <a:ea typeface="Gill Sans MT"/>
                <a:cs typeface="Gill Sans MT"/>
                <a:sym typeface="Gill Sans MT"/>
              </a:rPr>
              <a:t>i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 = Observed value for observation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 err="1">
                <a:ea typeface="Gill Sans MT"/>
                <a:cs typeface="Gill Sans MT"/>
                <a:sym typeface="Gill Sans MT"/>
              </a:rPr>
              <a:t>E</a:t>
            </a:r>
            <a:r>
              <a:rPr lang="en-US" sz="2800" baseline="-25000" dirty="0" err="1">
                <a:ea typeface="Gill Sans MT"/>
                <a:cs typeface="Gill Sans MT"/>
                <a:sym typeface="Gill Sans MT"/>
              </a:rPr>
              <a:t>i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 = Expected value for observation </a:t>
            </a:r>
            <a:r>
              <a:rPr lang="en-US" sz="2800" dirty="0" err="1">
                <a:ea typeface="Gill Sans MT"/>
                <a:cs typeface="Gill Sans MT"/>
                <a:sym typeface="Gill Sans MT"/>
              </a:rPr>
              <a:t>i</a:t>
            </a: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k = Number of observations in all groups</a:t>
            </a:r>
          </a:p>
        </p:txBody>
      </p:sp>
    </p:spTree>
    <p:extLst>
      <p:ext uri="{BB962C8B-B14F-4D97-AF65-F5344CB8AC3E}">
        <p14:creationId xmlns:p14="http://schemas.microsoft.com/office/powerpoint/2010/main" val="3845185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9">
            <a:extLst>
              <a:ext uri="{FF2B5EF4-FFF2-40B4-BE49-F238E27FC236}">
                <a16:creationId xmlns:a16="http://schemas.microsoft.com/office/drawing/2014/main" id="{344AE155-1CAA-4412-96BB-163D67027CE3}"/>
              </a:ext>
            </a:extLst>
          </p:cNvPr>
          <p:cNvSpPr txBox="1"/>
          <p:nvPr/>
        </p:nvSpPr>
        <p:spPr>
          <a:xfrm>
            <a:off x="160360" y="457200"/>
            <a:ext cx="11299550" cy="304698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An example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Does your football team tell you something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about your Thanksgiving meal preference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	(dark/white meat or tofurkey)?</a:t>
            </a:r>
          </a:p>
          <a:p>
            <a:pPr marL="0" marR="0" lvl="0" indent="0" algn="l" rtl="0">
              <a:spcBef>
                <a:spcPts val="0"/>
              </a:spcBef>
              <a:buNone/>
            </a:pPr>
            <a:endParaRPr sz="3200" dirty="0">
              <a:ea typeface="Gill Sans MT"/>
              <a:cs typeface="Gill Sans MT"/>
              <a:sym typeface="Gill Sans MT"/>
            </a:endParaRPr>
          </a:p>
        </p:txBody>
      </p:sp>
      <p:sp>
        <p:nvSpPr>
          <p:cNvPr id="9" name="Shape 140">
            <a:extLst>
              <a:ext uri="{FF2B5EF4-FFF2-40B4-BE49-F238E27FC236}">
                <a16:creationId xmlns:a16="http://schemas.microsoft.com/office/drawing/2014/main" id="{D064FC92-29CF-439B-98CE-C6ADF3C5B51E}"/>
              </a:ext>
            </a:extLst>
          </p:cNvPr>
          <p:cNvSpPr txBox="1"/>
          <p:nvPr/>
        </p:nvSpPr>
        <p:spPr>
          <a:xfrm>
            <a:off x="380998" y="3352800"/>
            <a:ext cx="6686374" cy="26776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independent and dependent variable?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Independent: Football team (Nominal)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Dependent: Meal choice (Nominal)</a:t>
            </a:r>
          </a:p>
        </p:txBody>
      </p:sp>
      <p:pic>
        <p:nvPicPr>
          <p:cNvPr id="10" name="Shape 141" descr="http://2.bp.blogspot.com/__84RWZp_rjE/SQVR1Z6dLNI/AAAAAAAAA7g/QDvFisxHfrY/s400/tofurkey.jpg">
            <a:extLst>
              <a:ext uri="{FF2B5EF4-FFF2-40B4-BE49-F238E27FC236}">
                <a16:creationId xmlns:a16="http://schemas.microsoft.com/office/drawing/2014/main" id="{E6183EAF-5CBB-4560-810D-C75A6C8B9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764" y="2521010"/>
            <a:ext cx="3956169" cy="4081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371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>
                <a:ea typeface="Gill Sans MT"/>
                <a:cs typeface="Gill Sans MT"/>
                <a:sym typeface="Gill Sans MT"/>
              </a:rPr>
              <a:t>ESPN surveyed 85 football fans…</a:t>
            </a:r>
          </a:p>
        </p:txBody>
      </p:sp>
      <p:sp>
        <p:nvSpPr>
          <p:cNvPr id="7" name="Shape 173">
            <a:extLst>
              <a:ext uri="{FF2B5EF4-FFF2-40B4-BE49-F238E27FC236}">
                <a16:creationId xmlns:a16="http://schemas.microsoft.com/office/drawing/2014/main" id="{EED0EF40-CE6C-42B3-BC16-FA49A288A106}"/>
              </a:ext>
            </a:extLst>
          </p:cNvPr>
          <p:cNvSpPr/>
          <p:nvPr/>
        </p:nvSpPr>
        <p:spPr>
          <a:xfrm>
            <a:off x="373165" y="4386129"/>
            <a:ext cx="11573855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This </a:t>
            </a:r>
            <a:r>
              <a:rPr lang="en-US" sz="3200" b="1" dirty="0">
                <a:ea typeface="Gill Sans MT"/>
                <a:cs typeface="Gill Sans MT"/>
                <a:sym typeface="Gill Sans MT"/>
              </a:rPr>
              <a:t>contingency table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 shows turkey preference as a function of (“contingent upon”) team preference.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32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Degrees of freedom = (#rows -1)*(#cols-1) = (2-1)(3-1) = 2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538216"/>
              </p:ext>
            </p:extLst>
          </p:nvPr>
        </p:nvGraphicFramePr>
        <p:xfrm>
          <a:off x="373166" y="1130751"/>
          <a:ext cx="8534400" cy="268224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7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Calculating expected values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954624"/>
              </p:ext>
            </p:extLst>
          </p:nvPr>
        </p:nvGraphicFramePr>
        <p:xfrm>
          <a:off x="450078" y="902211"/>
          <a:ext cx="8534400" cy="268224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lang="en-US"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07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F6CC12-EBF2-164E-6EF6-284330C8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D23F8C19-55D7-76E8-279E-E2D6F59CB369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Calculating expected values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2BEDFD2E-D96B-2F6A-EB7E-DA1014FEA7EE}"/>
              </a:ext>
            </a:extLst>
          </p:cNvPr>
          <p:cNvGraphicFramePr/>
          <p:nvPr/>
        </p:nvGraphicFramePr>
        <p:xfrm>
          <a:off x="450078" y="902211"/>
          <a:ext cx="8534400" cy="338330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=.47 * 43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20.2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=.41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17.7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=.12 * 43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5.1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=.47 * 42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19.8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=.41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17.3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=.12 * 42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4.9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98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What’s the chi-square statistic?</a:t>
            </a:r>
          </a:p>
        </p:txBody>
      </p:sp>
      <p:graphicFrame>
        <p:nvGraphicFramePr>
          <p:cNvPr id="11" name="Shape 172">
            <a:extLst>
              <a:ext uri="{FF2B5EF4-FFF2-40B4-BE49-F238E27FC236}">
                <a16:creationId xmlns:a16="http://schemas.microsoft.com/office/drawing/2014/main" id="{94462A5F-1A56-4BFD-A24F-142FFA968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505235"/>
              </p:ext>
            </p:extLst>
          </p:nvPr>
        </p:nvGraphicFramePr>
        <p:xfrm>
          <a:off x="450078" y="902211"/>
          <a:ext cx="8534400" cy="3383300"/>
        </p:xfrm>
        <a:graphic>
          <a:graphicData uri="http://schemas.openxmlformats.org/drawingml/2006/table">
            <a:tbl>
              <a:tblPr firstRow="1" firstCol="1" lastRow="1" lastCol="1">
                <a:tableStyleId>{5C22544A-7EE6-4342-B048-85BDC9FD1C3A}</a:tableStyleId>
              </a:tblPr>
              <a:tblGrid>
                <a:gridCol w="16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endParaRPr sz="2800" b="0" i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White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Dark meat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Tofu-rkey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TOTAL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 dirty="0"/>
                        <a:t>Lions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15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20.2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17.7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3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5.1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43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Cowboys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25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19.8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10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17.3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 = 7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 = 4.9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42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400" u="none" strike="noStrike" cap="none"/>
                        <a:t>TOTAL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40 (47%)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35 (41%)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10 (12%)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sz="2800" u="none" strike="noStrike" cap="none" dirty="0"/>
                        <a:t>85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348" y="902211"/>
            <a:ext cx="2913062" cy="113975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515BC-E81E-4987-8F9D-174C21220A7E}"/>
              </a:ext>
            </a:extLst>
          </p:cNvPr>
          <p:cNvSpPr txBox="1"/>
          <p:nvPr/>
        </p:nvSpPr>
        <p:spPr>
          <a:xfrm>
            <a:off x="655889" y="4569006"/>
            <a:ext cx="10359640" cy="153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a typeface="Noto Sans Symbols"/>
                <a:cs typeface="Noto Sans Symbols"/>
                <a:sym typeface="Noto Sans Symbols"/>
              </a:rPr>
              <a:t>χ</a:t>
            </a:r>
            <a:r>
              <a:rPr lang="en-US" sz="36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600" b="1" baseline="30000" dirty="0">
                <a:ea typeface="Gill Sans MT"/>
                <a:cs typeface="Gill Sans MT"/>
                <a:sym typeface="Gill Sans MT"/>
              </a:rPr>
              <a:t> 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= (15-20.2)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 / 20.2  + … (7-4.9)</a:t>
            </a:r>
            <a:r>
              <a:rPr lang="en-US" sz="3200" baseline="30000" dirty="0">
                <a:ea typeface="Gill Sans MT"/>
                <a:cs typeface="Gill Sans MT"/>
                <a:sym typeface="Gill Sans MT"/>
              </a:rPr>
              <a:t>2 </a:t>
            </a:r>
            <a:r>
              <a:rPr lang="en-US" sz="3200" dirty="0">
                <a:ea typeface="Gill Sans MT"/>
                <a:cs typeface="Gill Sans MT"/>
                <a:sym typeface="Gill Sans MT"/>
              </a:rPr>
              <a:t>/ 4.9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Critical value for 2 degrees of freedom is </a:t>
            </a:r>
            <a:r>
              <a:rPr lang="en-US" sz="3200" b="1" u="sng" dirty="0">
                <a:ea typeface="Gill Sans MT"/>
                <a:cs typeface="Gill Sans MT"/>
                <a:sym typeface="Gill Sans MT"/>
              </a:rPr>
              <a:t>5.99</a:t>
            </a:r>
          </a:p>
        </p:txBody>
      </p:sp>
    </p:spTree>
    <p:extLst>
      <p:ext uri="{BB962C8B-B14F-4D97-AF65-F5344CB8AC3E}">
        <p14:creationId xmlns:p14="http://schemas.microsoft.com/office/powerpoint/2010/main" val="390305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You try it!</a:t>
            </a:r>
          </a:p>
        </p:txBody>
      </p:sp>
      <p:pic>
        <p:nvPicPr>
          <p:cNvPr id="4" name="Shape 218">
            <a:extLst>
              <a:ext uri="{FF2B5EF4-FFF2-40B4-BE49-F238E27FC236}">
                <a16:creationId xmlns:a16="http://schemas.microsoft.com/office/drawing/2014/main" id="{978D0765-4852-4AC1-928E-D514B39B5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0365" y="518294"/>
            <a:ext cx="3550436" cy="147828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10" y="1010422"/>
            <a:ext cx="7939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A survey was done of Manhattan residents to see if their most common transportation method was related to their income. Here are the results: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517621"/>
              </p:ext>
            </p:extLst>
          </p:nvPr>
        </p:nvGraphicFramePr>
        <p:xfrm>
          <a:off x="510610" y="2575061"/>
          <a:ext cx="9223050" cy="1973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2624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205335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607115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735550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Transit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Walk/bike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Low income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199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29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266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462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4AAD804-16C1-4977-ACFC-49C7BAFB885F}"/>
              </a:ext>
            </a:extLst>
          </p:cNvPr>
          <p:cNvSpPr txBox="1"/>
          <p:nvPr/>
        </p:nvSpPr>
        <p:spPr>
          <a:xfrm>
            <a:off x="510609" y="4712813"/>
            <a:ext cx="101887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Using a chi-square test, check to see if these results show a difference between these groups. You may want to enter this table in Excel to run this analysis.</a:t>
            </a: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103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71">
            <a:extLst>
              <a:ext uri="{FF2B5EF4-FFF2-40B4-BE49-F238E27FC236}">
                <a16:creationId xmlns:a16="http://schemas.microsoft.com/office/drawing/2014/main" id="{8A3B6F64-11C4-455A-B76C-CD664D9487E4}"/>
              </a:ext>
            </a:extLst>
          </p:cNvPr>
          <p:cNvSpPr txBox="1"/>
          <p:nvPr/>
        </p:nvSpPr>
        <p:spPr>
          <a:xfrm>
            <a:off x="220766" y="195129"/>
            <a:ext cx="8229600" cy="64633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Writing up results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0FEC4-1E70-4ADE-AC9A-9421713F282E}"/>
              </a:ext>
            </a:extLst>
          </p:cNvPr>
          <p:cNvSpPr txBox="1"/>
          <p:nvPr/>
        </p:nvSpPr>
        <p:spPr>
          <a:xfrm>
            <a:off x="510609" y="841460"/>
            <a:ext cx="111458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Results of statistical analysis generally focus on </a:t>
            </a:r>
            <a:r>
              <a:rPr lang="en-US" sz="2400" b="1" dirty="0">
                <a:solidFill>
                  <a:srgbClr val="FFC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direction, magnitude, and significance</a:t>
            </a: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Arial" panose="020B0604020202020204" pitchFamily="34" charset="0"/>
              </a:rPr>
              <a:t>For a chi-square test, calculate the percentage of each income group in each transit type. Then write a paragraph that summarizes your findings. What pattern do you see of higher or lower rates? What is the magnitude of the key differences? Is it statistically significant? </a:t>
            </a:r>
            <a:endParaRPr lang="en-US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534626-7365-46E3-85DD-961D2AEA0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66785"/>
              </p:ext>
            </p:extLst>
          </p:nvPr>
        </p:nvGraphicFramePr>
        <p:xfrm>
          <a:off x="510609" y="3968025"/>
          <a:ext cx="9223050" cy="19730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2624">
                  <a:extLst>
                    <a:ext uri="{9D8B030D-6E8A-4147-A177-3AD203B41FA5}">
                      <a16:colId xmlns:a16="http://schemas.microsoft.com/office/drawing/2014/main" val="927456705"/>
                    </a:ext>
                  </a:extLst>
                </a:gridCol>
                <a:gridCol w="1205335">
                  <a:extLst>
                    <a:ext uri="{9D8B030D-6E8A-4147-A177-3AD203B41FA5}">
                      <a16:colId xmlns:a16="http://schemas.microsoft.com/office/drawing/2014/main" val="2659888996"/>
                    </a:ext>
                  </a:extLst>
                </a:gridCol>
                <a:gridCol w="1607115">
                  <a:extLst>
                    <a:ext uri="{9D8B030D-6E8A-4147-A177-3AD203B41FA5}">
                      <a16:colId xmlns:a16="http://schemas.microsoft.com/office/drawing/2014/main" val="2190423655"/>
                    </a:ext>
                  </a:extLst>
                </a:gridCol>
                <a:gridCol w="1735550">
                  <a:extLst>
                    <a:ext uri="{9D8B030D-6E8A-4147-A177-3AD203B41FA5}">
                      <a16:colId xmlns:a16="http://schemas.microsoft.com/office/drawing/2014/main" val="280440688"/>
                    </a:ext>
                  </a:extLst>
                </a:gridCol>
                <a:gridCol w="1572426">
                  <a:extLst>
                    <a:ext uri="{9D8B030D-6E8A-4147-A177-3AD203B41FA5}">
                      <a16:colId xmlns:a16="http://schemas.microsoft.com/office/drawing/2014/main" val="7365877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Car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Transit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Walk/bike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90857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Low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012372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Moderate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199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312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164789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High income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266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020395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Total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462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102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129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693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118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69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ANOVA: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An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alysis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o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f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Va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riance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5" name="Shape 134">
            <a:extLst>
              <a:ext uri="{FF2B5EF4-FFF2-40B4-BE49-F238E27FC236}">
                <a16:creationId xmlns:a16="http://schemas.microsoft.com/office/drawing/2014/main" id="{A8A24143-4009-48EA-9AD0-96D47ED0CFC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707" y="1142538"/>
            <a:ext cx="9497144" cy="54029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3808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ANOVA: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An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alysis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o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f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Va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riance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6" name="Shape 159" descr="http://www.bexcellence.org/image-files/anova.jpg">
            <a:extLst>
              <a:ext uri="{FF2B5EF4-FFF2-40B4-BE49-F238E27FC236}">
                <a16:creationId xmlns:a16="http://schemas.microsoft.com/office/drawing/2014/main" id="{9B53A9D9-A5FE-4EAA-9B92-D43758A656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64361" y="1267438"/>
            <a:ext cx="7661386" cy="53367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162">
            <a:extLst>
              <a:ext uri="{FF2B5EF4-FFF2-40B4-BE49-F238E27FC236}">
                <a16:creationId xmlns:a16="http://schemas.microsoft.com/office/drawing/2014/main" id="{0B843921-00F2-40B7-900D-DCC600787030}"/>
              </a:ext>
            </a:extLst>
          </p:cNvPr>
          <p:cNvSpPr txBox="1"/>
          <p:nvPr/>
        </p:nvSpPr>
        <p:spPr>
          <a:xfrm>
            <a:off x="2198643" y="4257669"/>
            <a:ext cx="2375962" cy="48805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One observation</a:t>
            </a:r>
          </a:p>
        </p:txBody>
      </p:sp>
      <p:cxnSp>
        <p:nvCxnSpPr>
          <p:cNvPr id="10" name="Shape 164">
            <a:extLst>
              <a:ext uri="{FF2B5EF4-FFF2-40B4-BE49-F238E27FC236}">
                <a16:creationId xmlns:a16="http://schemas.microsoft.com/office/drawing/2014/main" id="{A0431F35-BEF7-4317-B33D-825EA7C2E407}"/>
              </a:ext>
            </a:extLst>
          </p:cNvPr>
          <p:cNvCxnSpPr>
            <a:cxnSpLocks/>
          </p:cNvCxnSpPr>
          <p:nvPr/>
        </p:nvCxnSpPr>
        <p:spPr>
          <a:xfrm>
            <a:off x="5904870" y="1550840"/>
            <a:ext cx="0" cy="269357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Shape 166">
            <a:extLst>
              <a:ext uri="{FF2B5EF4-FFF2-40B4-BE49-F238E27FC236}">
                <a16:creationId xmlns:a16="http://schemas.microsoft.com/office/drawing/2014/main" id="{39D643E8-DA7A-4A1F-B64C-4ED2D24FFD1C}"/>
              </a:ext>
            </a:extLst>
          </p:cNvPr>
          <p:cNvCxnSpPr>
            <a:cxnSpLocks/>
          </p:cNvCxnSpPr>
          <p:nvPr/>
        </p:nvCxnSpPr>
        <p:spPr>
          <a:xfrm flipV="1">
            <a:off x="4769446" y="3856526"/>
            <a:ext cx="252532" cy="52252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2" name="Shape 167">
            <a:extLst>
              <a:ext uri="{FF2B5EF4-FFF2-40B4-BE49-F238E27FC236}">
                <a16:creationId xmlns:a16="http://schemas.microsoft.com/office/drawing/2014/main" id="{4C810B0F-D444-4738-BB63-E78C5FA2530E}"/>
              </a:ext>
            </a:extLst>
          </p:cNvPr>
          <p:cNvCxnSpPr>
            <a:cxnSpLocks/>
          </p:cNvCxnSpPr>
          <p:nvPr/>
        </p:nvCxnSpPr>
        <p:spPr>
          <a:xfrm>
            <a:off x="4273058" y="3487724"/>
            <a:ext cx="531037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stealth" w="lg" len="lg"/>
            <a:tailEnd type="stealth" w="lg" len="lg"/>
          </a:ln>
        </p:spPr>
      </p:cxnSp>
      <p:cxnSp>
        <p:nvCxnSpPr>
          <p:cNvPr id="13" name="Shape 168">
            <a:extLst>
              <a:ext uri="{FF2B5EF4-FFF2-40B4-BE49-F238E27FC236}">
                <a16:creationId xmlns:a16="http://schemas.microsoft.com/office/drawing/2014/main" id="{9008353B-0CC9-4B83-94A7-367E1360D3DC}"/>
              </a:ext>
            </a:extLst>
          </p:cNvPr>
          <p:cNvCxnSpPr>
            <a:cxnSpLocks/>
          </p:cNvCxnSpPr>
          <p:nvPr/>
        </p:nvCxnSpPr>
        <p:spPr>
          <a:xfrm>
            <a:off x="4273058" y="3806441"/>
            <a:ext cx="1534829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stealth" w="lg" len="lg"/>
            <a:tailEnd type="stealth" w="lg" len="lg"/>
          </a:ln>
        </p:spPr>
      </p:cxnSp>
      <p:sp>
        <p:nvSpPr>
          <p:cNvPr id="14" name="Shape 169">
            <a:extLst>
              <a:ext uri="{FF2B5EF4-FFF2-40B4-BE49-F238E27FC236}">
                <a16:creationId xmlns:a16="http://schemas.microsoft.com/office/drawing/2014/main" id="{1C5EDBDA-47B6-417B-8DC6-16A36A25D877}"/>
              </a:ext>
            </a:extLst>
          </p:cNvPr>
          <p:cNvSpPr txBox="1"/>
          <p:nvPr/>
        </p:nvSpPr>
        <p:spPr>
          <a:xfrm>
            <a:off x="2397268" y="2059771"/>
            <a:ext cx="1939413" cy="4880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Within group variance</a:t>
            </a:r>
          </a:p>
        </p:txBody>
      </p:sp>
      <p:cxnSp>
        <p:nvCxnSpPr>
          <p:cNvPr id="15" name="Shape 170">
            <a:extLst>
              <a:ext uri="{FF2B5EF4-FFF2-40B4-BE49-F238E27FC236}">
                <a16:creationId xmlns:a16="http://schemas.microsoft.com/office/drawing/2014/main" id="{F5056FC9-A685-4AF5-A106-0CC496D2F57A}"/>
              </a:ext>
            </a:extLst>
          </p:cNvPr>
          <p:cNvCxnSpPr>
            <a:cxnSpLocks/>
          </p:cNvCxnSpPr>
          <p:nvPr/>
        </p:nvCxnSpPr>
        <p:spPr>
          <a:xfrm>
            <a:off x="3633159" y="2476014"/>
            <a:ext cx="901581" cy="92166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6" name="Shape 171">
            <a:extLst>
              <a:ext uri="{FF2B5EF4-FFF2-40B4-BE49-F238E27FC236}">
                <a16:creationId xmlns:a16="http://schemas.microsoft.com/office/drawing/2014/main" id="{10C39E7D-D6AB-4343-829E-64A8ABA485D7}"/>
              </a:ext>
            </a:extLst>
          </p:cNvPr>
          <p:cNvSpPr txBox="1"/>
          <p:nvPr/>
        </p:nvSpPr>
        <p:spPr>
          <a:xfrm>
            <a:off x="4160390" y="4375202"/>
            <a:ext cx="2434966" cy="3967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Between group variance</a:t>
            </a:r>
          </a:p>
        </p:txBody>
      </p:sp>
      <p:sp>
        <p:nvSpPr>
          <p:cNvPr id="22" name="Shape 161">
            <a:extLst>
              <a:ext uri="{FF2B5EF4-FFF2-40B4-BE49-F238E27FC236}">
                <a16:creationId xmlns:a16="http://schemas.microsoft.com/office/drawing/2014/main" id="{CD1A89B4-6303-4623-B922-C578F116BF04}"/>
              </a:ext>
            </a:extLst>
          </p:cNvPr>
          <p:cNvSpPr/>
          <p:nvPr/>
        </p:nvSpPr>
        <p:spPr>
          <a:xfrm>
            <a:off x="4096300" y="3431221"/>
            <a:ext cx="128181" cy="151041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>
              <a:solidFill>
                <a:schemeClr val="lt1"/>
              </a:solidFill>
              <a:latin typeface="Gill Sans MT"/>
              <a:ea typeface="Gill Sans MT"/>
              <a:cs typeface="Gill Sans MT"/>
              <a:sym typeface="Gill Sans MT"/>
            </a:endParaRPr>
          </a:p>
        </p:txBody>
      </p:sp>
      <p:cxnSp>
        <p:nvCxnSpPr>
          <p:cNvPr id="23" name="Shape 163">
            <a:extLst>
              <a:ext uri="{FF2B5EF4-FFF2-40B4-BE49-F238E27FC236}">
                <a16:creationId xmlns:a16="http://schemas.microsoft.com/office/drawing/2014/main" id="{863349B3-BE78-491B-9ED6-E294EFE30512}"/>
              </a:ext>
            </a:extLst>
          </p:cNvPr>
          <p:cNvCxnSpPr>
            <a:cxnSpLocks/>
          </p:cNvCxnSpPr>
          <p:nvPr/>
        </p:nvCxnSpPr>
        <p:spPr>
          <a:xfrm flipV="1">
            <a:off x="3147325" y="3582263"/>
            <a:ext cx="981380" cy="67540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7" name="Shape 165">
            <a:extLst>
              <a:ext uri="{FF2B5EF4-FFF2-40B4-BE49-F238E27FC236}">
                <a16:creationId xmlns:a16="http://schemas.microsoft.com/office/drawing/2014/main" id="{A6234C67-F2C1-4522-AB23-C029EB92466E}"/>
              </a:ext>
            </a:extLst>
          </p:cNvPr>
          <p:cNvSpPr txBox="1"/>
          <p:nvPr/>
        </p:nvSpPr>
        <p:spPr>
          <a:xfrm>
            <a:off x="6897806" y="4260769"/>
            <a:ext cx="2808258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Mean of ALL observations-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 dirty="0">
                <a:solidFill>
                  <a:srgbClr val="FF0000"/>
                </a:solidFill>
                <a:latin typeface="Gill Sans MT"/>
                <a:ea typeface="Gill Sans MT"/>
                <a:cs typeface="Gill Sans MT"/>
                <a:sym typeface="Gill Sans MT"/>
              </a:rPr>
              <a:t>the “grand mean”</a:t>
            </a:r>
          </a:p>
        </p:txBody>
      </p:sp>
      <p:cxnSp>
        <p:nvCxnSpPr>
          <p:cNvPr id="28" name="Shape 166">
            <a:extLst>
              <a:ext uri="{FF2B5EF4-FFF2-40B4-BE49-F238E27FC236}">
                <a16:creationId xmlns:a16="http://schemas.microsoft.com/office/drawing/2014/main" id="{98840663-9FA1-4D2F-AD98-F139F40493E9}"/>
              </a:ext>
            </a:extLst>
          </p:cNvPr>
          <p:cNvCxnSpPr>
            <a:cxnSpLocks/>
          </p:cNvCxnSpPr>
          <p:nvPr/>
        </p:nvCxnSpPr>
        <p:spPr>
          <a:xfrm flipH="1" flipV="1">
            <a:off x="5944735" y="3212983"/>
            <a:ext cx="1142391" cy="1031428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3407636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ANOVA: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An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alysis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o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f </a:t>
            </a:r>
            <a:r>
              <a:rPr lang="en-US" sz="4000" b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Va</a:t>
            </a: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riance</a:t>
            </a:r>
            <a:endParaRPr lang="en-US" sz="4000" dirty="0">
              <a:latin typeface="+mj-lt"/>
              <a:ea typeface="Gill Sans MT"/>
              <a:cs typeface="Gill Sans MT"/>
              <a:sym typeface="Gill Sans MT"/>
            </a:endParaRPr>
          </a:p>
        </p:txBody>
      </p:sp>
      <p:pic>
        <p:nvPicPr>
          <p:cNvPr id="17" name="Shape 141" descr="groupmeans">
            <a:extLst>
              <a:ext uri="{FF2B5EF4-FFF2-40B4-BE49-F238E27FC236}">
                <a16:creationId xmlns:a16="http://schemas.microsoft.com/office/drawing/2014/main" id="{A91E96F8-9DBB-4406-84E9-A79EBD27CC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66208" y="1485742"/>
            <a:ext cx="7010599" cy="44139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Shape 142">
            <a:extLst>
              <a:ext uri="{FF2B5EF4-FFF2-40B4-BE49-F238E27FC236}">
                <a16:creationId xmlns:a16="http://schemas.microsoft.com/office/drawing/2014/main" id="{2DD675ED-FDCE-464D-BA00-C9D07357474C}"/>
              </a:ext>
            </a:extLst>
          </p:cNvPr>
          <p:cNvCxnSpPr>
            <a:cxnSpLocks/>
          </p:cNvCxnSpPr>
          <p:nvPr/>
        </p:nvCxnSpPr>
        <p:spPr>
          <a:xfrm>
            <a:off x="3014723" y="2661465"/>
            <a:ext cx="2220340" cy="2748"/>
          </a:xfrm>
          <a:prstGeom prst="straightConnector1">
            <a:avLst/>
          </a:prstGeom>
          <a:solidFill>
            <a:schemeClr val="accent1"/>
          </a:solidFill>
          <a:ln w="38100" cap="flat" cmpd="sng">
            <a:solidFill>
              <a:srgbClr val="FFC000"/>
            </a:solidFill>
            <a:prstDash val="solid"/>
            <a:round/>
            <a:headEnd type="none" w="med" len="med"/>
            <a:tailEnd type="stealth" w="lg" len="lg"/>
          </a:ln>
          <a:effectLst>
            <a:outerShdw blurRad="50799" dist="38100" dir="2700000" algn="tl" rotWithShape="0">
              <a:srgbClr val="000000">
                <a:alpha val="40000"/>
              </a:srgbClr>
            </a:outerShdw>
          </a:effectLst>
        </p:spPr>
      </p:cxnSp>
      <p:sp>
        <p:nvSpPr>
          <p:cNvPr id="19" name="Shape 143">
            <a:extLst>
              <a:ext uri="{FF2B5EF4-FFF2-40B4-BE49-F238E27FC236}">
                <a16:creationId xmlns:a16="http://schemas.microsoft.com/office/drawing/2014/main" id="{D82E4DEE-23BB-4BF0-8BB4-29E8D436D80F}"/>
              </a:ext>
            </a:extLst>
          </p:cNvPr>
          <p:cNvSpPr txBox="1"/>
          <p:nvPr/>
        </p:nvSpPr>
        <p:spPr>
          <a:xfrm>
            <a:off x="332064" y="1816916"/>
            <a:ext cx="3700568" cy="168909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99" dist="23000" dir="5400000" rotWithShape="0">
              <a:srgbClr val="000000">
                <a:alpha val="34901"/>
              </a:srgbClr>
            </a:outerShdw>
          </a:effectLst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solidFill>
                  <a:schemeClr val="dk1"/>
                </a:solidFill>
                <a:latin typeface="Gill Sans MT"/>
                <a:ea typeface="Gill Sans MT"/>
                <a:cs typeface="Gill Sans MT"/>
                <a:sym typeface="Gill Sans MT"/>
              </a:rPr>
              <a:t>The ANOVA test would be significant in finding a difference for all of these cases except for here</a:t>
            </a:r>
          </a:p>
        </p:txBody>
      </p:sp>
    </p:spTree>
    <p:extLst>
      <p:ext uri="{BB962C8B-B14F-4D97-AF65-F5344CB8AC3E}">
        <p14:creationId xmlns:p14="http://schemas.microsoft.com/office/powerpoint/2010/main" val="2544887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Post-hoc tests</a:t>
            </a:r>
          </a:p>
          <a:p>
            <a:pPr>
              <a:buSzPct val="25000"/>
            </a:pP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Repeated t-tests between all groups to identify </a:t>
            </a:r>
            <a:r>
              <a:rPr lang="en-US" sz="3200" b="1" i="1" dirty="0">
                <a:solidFill>
                  <a:srgbClr val="FFC000"/>
                </a:solidFill>
                <a:latin typeface="+mj-lt"/>
                <a:ea typeface="Gill Sans MT"/>
                <a:cs typeface="Gill Sans MT"/>
                <a:sym typeface="Gill Sans MT"/>
              </a:rPr>
              <a:t>where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 the difference is.</a:t>
            </a:r>
          </a:p>
        </p:txBody>
      </p:sp>
      <p:pic>
        <p:nvPicPr>
          <p:cNvPr id="6" name="Shape 124">
            <a:extLst>
              <a:ext uri="{FF2B5EF4-FFF2-40B4-BE49-F238E27FC236}">
                <a16:creationId xmlns:a16="http://schemas.microsoft.com/office/drawing/2014/main" id="{51F14781-330D-4F79-8F7C-6BB37D7144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9166" y="2156670"/>
            <a:ext cx="524827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Shape 125">
            <a:extLst>
              <a:ext uri="{FF2B5EF4-FFF2-40B4-BE49-F238E27FC236}">
                <a16:creationId xmlns:a16="http://schemas.microsoft.com/office/drawing/2014/main" id="{6BAD5BE9-C657-49E7-86E8-98366C568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3216" y="3398906"/>
            <a:ext cx="5143499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Shape 126">
            <a:extLst>
              <a:ext uri="{FF2B5EF4-FFF2-40B4-BE49-F238E27FC236}">
                <a16:creationId xmlns:a16="http://schemas.microsoft.com/office/drawing/2014/main" id="{B8206151-6B33-4656-9343-0CE6AC2DD4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36766" y="4899870"/>
            <a:ext cx="5257799" cy="182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984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Post-hoc tests</a:t>
            </a:r>
          </a:p>
          <a:p>
            <a:pPr lvl="0"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To control for potential false positives, post hoc tests use statistical </a:t>
            </a:r>
            <a:r>
              <a:rPr lang="en-US" sz="3200" b="1" i="1" dirty="0">
                <a:ea typeface="Gill Sans MT"/>
                <a:cs typeface="Gill Sans MT"/>
                <a:sym typeface="Gill Sans MT"/>
              </a:rPr>
              <a:t>corrections.</a:t>
            </a:r>
          </a:p>
          <a:p>
            <a:pPr lvl="0">
              <a:buSzPct val="25000"/>
            </a:pPr>
            <a:endParaRPr lang="en-US" sz="3200" b="1" i="1" dirty="0">
              <a:ea typeface="Gill Sans MT"/>
              <a:cs typeface="Gill Sans MT"/>
              <a:sym typeface="Gill Sans MT"/>
            </a:endParaRPr>
          </a:p>
          <a:p>
            <a:pPr lvl="0">
              <a:buSzPct val="25000"/>
            </a:pPr>
            <a:r>
              <a:rPr lang="en-US" sz="3200" b="1" i="1" dirty="0">
                <a:ea typeface="Gill Sans MT"/>
                <a:cs typeface="Gill Sans MT"/>
                <a:sym typeface="Gill Sans MT"/>
              </a:rPr>
              <a:t>Bonferroni correction:</a:t>
            </a:r>
          </a:p>
          <a:p>
            <a:pPr lvl="0"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Multiple the p-value by the number of tests</a:t>
            </a:r>
          </a:p>
        </p:txBody>
      </p:sp>
      <p:pic>
        <p:nvPicPr>
          <p:cNvPr id="9" name="Shape 162">
            <a:extLst>
              <a:ext uri="{FF2B5EF4-FFF2-40B4-BE49-F238E27FC236}">
                <a16:creationId xmlns:a16="http://schemas.microsoft.com/office/drawing/2014/main" id="{DCCB33D5-72F2-41A3-BDD2-2B666BE7EA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4434" r="52487"/>
          <a:stretch/>
        </p:blipFill>
        <p:spPr>
          <a:xfrm>
            <a:off x="1065401" y="3559905"/>
            <a:ext cx="4400100" cy="126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4B1D11-0202-4153-94D5-575FB46C5F61}"/>
              </a:ext>
            </a:extLst>
          </p:cNvPr>
          <p:cNvSpPr/>
          <p:nvPr/>
        </p:nvSpPr>
        <p:spPr>
          <a:xfrm>
            <a:off x="5884876" y="3501008"/>
            <a:ext cx="370513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0.0018 = 0.0054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0.2055 = 0.6165</a:t>
            </a:r>
          </a:p>
          <a:p>
            <a:pPr lvl="0"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3 * 0.00003 = 0.00009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2569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01">
            <a:extLst>
              <a:ext uri="{FF2B5EF4-FFF2-40B4-BE49-F238E27FC236}">
                <a16:creationId xmlns:a16="http://schemas.microsoft.com/office/drawing/2014/main" id="{B9886DBE-B7EC-461C-8E11-AEB4B910E254}"/>
              </a:ext>
            </a:extLst>
          </p:cNvPr>
          <p:cNvSpPr txBox="1"/>
          <p:nvPr/>
        </p:nvSpPr>
        <p:spPr>
          <a:xfrm>
            <a:off x="536895" y="253767"/>
            <a:ext cx="10695963" cy="584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4000" b="1" dirty="0">
                <a:latin typeface="+mj-lt"/>
                <a:ea typeface="Gill Sans MT"/>
                <a:cs typeface="Gill Sans MT"/>
                <a:sym typeface="Gill Sans MT"/>
              </a:rPr>
              <a:t>Let’s try it!</a:t>
            </a:r>
          </a:p>
          <a:p>
            <a:pPr>
              <a:buSzPct val="25000"/>
            </a:pPr>
            <a:r>
              <a:rPr lang="en-US" sz="4000" dirty="0">
                <a:latin typeface="+mj-lt"/>
                <a:ea typeface="Gill Sans MT"/>
                <a:cs typeface="Gill Sans MT"/>
                <a:sym typeface="Gill Sans MT"/>
              </a:rPr>
              <a:t>ANOVA with the Midwest pollen data in Excel.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D906F8-A3B5-45A8-8F5B-C2F06DEE0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5676"/>
            <a:ext cx="12192000" cy="462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662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923</TotalTime>
  <Words>1046</Words>
  <Application>Microsoft Office PowerPoint</Application>
  <PresentationFormat>Widescreen</PresentationFormat>
  <Paragraphs>241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Calisto MT</vt:lpstr>
      <vt:lpstr>Gill Sans MT</vt:lpstr>
      <vt:lpstr>Noto Sans Symbols</vt:lpstr>
      <vt:lpstr>Times New Roman</vt:lpstr>
      <vt:lpstr>Wingdings 2</vt:lpstr>
      <vt:lpstr>Slate</vt:lpstr>
      <vt:lpstr>Week 10:Normality testing; Chi-square; Non-parametric tests</vt:lpstr>
      <vt:lpstr>Today’s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Jerry Shannon</cp:lastModifiedBy>
  <cp:revision>88</cp:revision>
  <dcterms:created xsi:type="dcterms:W3CDTF">2021-09-02T15:10:57Z</dcterms:created>
  <dcterms:modified xsi:type="dcterms:W3CDTF">2026-07-28T19:12:07Z</dcterms:modified>
</cp:coreProperties>
</file>