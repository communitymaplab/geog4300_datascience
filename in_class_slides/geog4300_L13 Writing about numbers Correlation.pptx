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56" r:id="rId2"/>
    <p:sldId id="313" r:id="rId3"/>
    <p:sldId id="314" r:id="rId4"/>
    <p:sldId id="315" r:id="rId5"/>
    <p:sldId id="316" r:id="rId6"/>
    <p:sldId id="317" r:id="rId7"/>
    <p:sldId id="295" r:id="rId8"/>
    <p:sldId id="300" r:id="rId9"/>
    <p:sldId id="297" r:id="rId10"/>
    <p:sldId id="299" r:id="rId11"/>
    <p:sldId id="298" r:id="rId12"/>
    <p:sldId id="301" r:id="rId13"/>
    <p:sldId id="302" r:id="rId14"/>
    <p:sldId id="303" r:id="rId15"/>
    <p:sldId id="304" r:id="rId16"/>
    <p:sldId id="312" r:id="rId17"/>
    <p:sldId id="311"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2671"/>
  </p:normalViewPr>
  <p:slideViewPr>
    <p:cSldViewPr snapToGrid="0">
      <p:cViewPr varScale="1">
        <p:scale>
          <a:sx n="103" d="100"/>
          <a:sy n="103" d="100"/>
        </p:scale>
        <p:origin x="81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C23026-85D4-48E8-9219-18000F688023}" type="datetimeFigureOut">
              <a:rPr lang="en-US" smtClean="0"/>
              <a:t>7/28/2026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8D42E2-8102-4E72-B8DC-BA8209884ECA}" type="slidenum">
              <a:rPr lang="en-US" smtClean="0"/>
              <a:t>‹#›</a:t>
            </a:fld>
            <a:endParaRPr lang="en-US"/>
          </a:p>
        </p:txBody>
      </p:sp>
    </p:spTree>
    <p:extLst>
      <p:ext uri="{BB962C8B-B14F-4D97-AF65-F5344CB8AC3E}">
        <p14:creationId xmlns:p14="http://schemas.microsoft.com/office/powerpoint/2010/main" val="1095501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Shape 9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98" name="Shape 98"/>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200" b="0" i="0" u="none" strike="noStrike" cap="none">
                <a:solidFill>
                  <a:schemeClr val="dk1"/>
                </a:solidFill>
                <a:latin typeface="Calibri"/>
                <a:ea typeface="Calibri"/>
                <a:cs typeface="Calibri"/>
                <a:sym typeface="Calibri"/>
              </a:rPr>
              <a:t>Alternative hypothesis is usually what you’re trying to prove.</a:t>
            </a:r>
          </a:p>
        </p:txBody>
      </p:sp>
      <p:sp>
        <p:nvSpPr>
          <p:cNvPr id="99" name="Shape 99"/>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a:solidFill>
                  <a:schemeClr val="dk1"/>
                </a:solidFill>
                <a:latin typeface="Calibri"/>
                <a:ea typeface="Calibri"/>
                <a:cs typeface="Calibri"/>
                <a:sym typeface="Calibri"/>
              </a:rPr>
              <a:t>7</a:t>
            </a:fld>
            <a:endParaRPr lang="en-US"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69256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Shape 9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98" name="Shape 98"/>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200" b="0" i="0" u="none" strike="noStrike" cap="none">
                <a:solidFill>
                  <a:schemeClr val="dk1"/>
                </a:solidFill>
                <a:latin typeface="Calibri"/>
                <a:ea typeface="Calibri"/>
                <a:cs typeface="Calibri"/>
                <a:sym typeface="Calibri"/>
              </a:rPr>
              <a:t>Alternative hypothesis is usually what you’re trying to prove.</a:t>
            </a:r>
          </a:p>
        </p:txBody>
      </p:sp>
      <p:sp>
        <p:nvSpPr>
          <p:cNvPr id="99" name="Shape 99"/>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a:solidFill>
                  <a:schemeClr val="dk1"/>
                </a:solidFill>
                <a:latin typeface="Calibri"/>
                <a:ea typeface="Calibri"/>
                <a:cs typeface="Calibri"/>
                <a:sym typeface="Calibri"/>
              </a:rPr>
              <a:t>8</a:t>
            </a:fld>
            <a:endParaRPr lang="en-US"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069983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Shape 9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98" name="Shape 98"/>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200" b="0" i="0" u="none" strike="noStrike" cap="none">
                <a:solidFill>
                  <a:schemeClr val="dk1"/>
                </a:solidFill>
                <a:latin typeface="Calibri"/>
                <a:ea typeface="Calibri"/>
                <a:cs typeface="Calibri"/>
                <a:sym typeface="Calibri"/>
              </a:rPr>
              <a:t>Alternative hypothesis is usually what you’re trying to prove.</a:t>
            </a:r>
          </a:p>
        </p:txBody>
      </p:sp>
      <p:sp>
        <p:nvSpPr>
          <p:cNvPr id="99" name="Shape 99"/>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a:solidFill>
                  <a:schemeClr val="dk1"/>
                </a:solidFill>
                <a:latin typeface="Calibri"/>
                <a:ea typeface="Calibri"/>
                <a:cs typeface="Calibri"/>
                <a:sym typeface="Calibri"/>
              </a:rPr>
              <a:t>9</a:t>
            </a:fld>
            <a:endParaRPr lang="en-US"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142364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Shape 9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98" name="Shape 98"/>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200" b="0" i="0" u="none" strike="noStrike" cap="none">
                <a:solidFill>
                  <a:schemeClr val="dk1"/>
                </a:solidFill>
                <a:latin typeface="Calibri"/>
                <a:ea typeface="Calibri"/>
                <a:cs typeface="Calibri"/>
                <a:sym typeface="Calibri"/>
              </a:rPr>
              <a:t>Alternative hypothesis is usually what you’re trying to prove.</a:t>
            </a:r>
          </a:p>
        </p:txBody>
      </p:sp>
      <p:sp>
        <p:nvSpPr>
          <p:cNvPr id="99" name="Shape 99"/>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a:solidFill>
                  <a:schemeClr val="dk1"/>
                </a:solidFill>
                <a:latin typeface="Calibri"/>
                <a:ea typeface="Calibri"/>
                <a:cs typeface="Calibri"/>
                <a:sym typeface="Calibri"/>
              </a:rPr>
              <a:t>10</a:t>
            </a:fld>
            <a:endParaRPr lang="en-US"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368058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Shape 9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98" name="Shape 98"/>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200" b="0" i="0" u="none" strike="noStrike" cap="none">
                <a:solidFill>
                  <a:schemeClr val="dk1"/>
                </a:solidFill>
                <a:latin typeface="Calibri"/>
                <a:ea typeface="Calibri"/>
                <a:cs typeface="Calibri"/>
                <a:sym typeface="Calibri"/>
              </a:rPr>
              <a:t>Alternative hypothesis is usually what you’re trying to prove.</a:t>
            </a:r>
          </a:p>
        </p:txBody>
      </p:sp>
      <p:sp>
        <p:nvSpPr>
          <p:cNvPr id="99" name="Shape 99"/>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a:solidFill>
                  <a:schemeClr val="dk1"/>
                </a:solidFill>
                <a:latin typeface="Calibri"/>
                <a:ea typeface="Calibri"/>
                <a:cs typeface="Calibri"/>
                <a:sym typeface="Calibri"/>
              </a:rPr>
              <a:t>11</a:t>
            </a:fld>
            <a:endParaRPr lang="en-US"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658236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Shape 9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98" name="Shape 98"/>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200" b="0" i="0" u="none" strike="noStrike" cap="none">
                <a:solidFill>
                  <a:schemeClr val="dk1"/>
                </a:solidFill>
                <a:latin typeface="Calibri"/>
                <a:ea typeface="Calibri"/>
                <a:cs typeface="Calibri"/>
                <a:sym typeface="Calibri"/>
              </a:rPr>
              <a:t>Alternative hypothesis is usually what you’re trying to prove.</a:t>
            </a:r>
          </a:p>
        </p:txBody>
      </p:sp>
      <p:sp>
        <p:nvSpPr>
          <p:cNvPr id="99" name="Shape 99"/>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a:solidFill>
                  <a:schemeClr val="dk1"/>
                </a:solidFill>
                <a:latin typeface="Calibri"/>
                <a:ea typeface="Calibri"/>
                <a:cs typeface="Calibri"/>
                <a:sym typeface="Calibri"/>
              </a:rPr>
              <a:t>12</a:t>
            </a:fld>
            <a:endParaRPr lang="en-US"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599431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Shape 9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98" name="Shape 98"/>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200" b="0" i="0" u="none" strike="noStrike" cap="none">
                <a:solidFill>
                  <a:schemeClr val="dk1"/>
                </a:solidFill>
                <a:latin typeface="Calibri"/>
                <a:ea typeface="Calibri"/>
                <a:cs typeface="Calibri"/>
                <a:sym typeface="Calibri"/>
              </a:rPr>
              <a:t>Alternative hypothesis is usually what you’re trying to prove.</a:t>
            </a:r>
          </a:p>
        </p:txBody>
      </p:sp>
      <p:sp>
        <p:nvSpPr>
          <p:cNvPr id="99" name="Shape 99"/>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a:solidFill>
                  <a:schemeClr val="dk1"/>
                </a:solidFill>
                <a:latin typeface="Calibri"/>
                <a:ea typeface="Calibri"/>
                <a:cs typeface="Calibri"/>
                <a:sym typeface="Calibri"/>
              </a:rPr>
              <a:t>13</a:t>
            </a:fld>
            <a:endParaRPr lang="en-US"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080823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Shape 9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98" name="Shape 98"/>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200" b="0" i="0" u="none" strike="noStrike" cap="none">
                <a:solidFill>
                  <a:schemeClr val="dk1"/>
                </a:solidFill>
                <a:latin typeface="Calibri"/>
                <a:ea typeface="Calibri"/>
                <a:cs typeface="Calibri"/>
                <a:sym typeface="Calibri"/>
              </a:rPr>
              <a:t>Alternative hypothesis is usually what you’re trying to prove.</a:t>
            </a:r>
          </a:p>
        </p:txBody>
      </p:sp>
      <p:sp>
        <p:nvSpPr>
          <p:cNvPr id="99" name="Shape 99"/>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a:solidFill>
                  <a:schemeClr val="dk1"/>
                </a:solidFill>
                <a:latin typeface="Calibri"/>
                <a:ea typeface="Calibri"/>
                <a:cs typeface="Calibri"/>
                <a:sym typeface="Calibri"/>
              </a:rPr>
              <a:t>14</a:t>
            </a:fld>
            <a:endParaRPr lang="en-US"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043306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Shape 9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98" name="Shape 98"/>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200" b="0" i="0" u="none" strike="noStrike" cap="none">
                <a:solidFill>
                  <a:schemeClr val="dk1"/>
                </a:solidFill>
                <a:latin typeface="Calibri"/>
                <a:ea typeface="Calibri"/>
                <a:cs typeface="Calibri"/>
                <a:sym typeface="Calibri"/>
              </a:rPr>
              <a:t>Alternative hypothesis is usually what you’re trying to prove.</a:t>
            </a:r>
          </a:p>
        </p:txBody>
      </p:sp>
      <p:sp>
        <p:nvSpPr>
          <p:cNvPr id="99" name="Shape 99"/>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a:solidFill>
                  <a:schemeClr val="dk1"/>
                </a:solidFill>
                <a:latin typeface="Calibri"/>
                <a:ea typeface="Calibri"/>
                <a:cs typeface="Calibri"/>
                <a:sym typeface="Calibri"/>
              </a:rPr>
              <a:t>15</a:t>
            </a:fld>
            <a:endParaRPr lang="en-US"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032868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Shape 9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98" name="Shape 98"/>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200" b="0" i="0" u="none" strike="noStrike" cap="none">
                <a:solidFill>
                  <a:schemeClr val="dk1"/>
                </a:solidFill>
                <a:latin typeface="Calibri"/>
                <a:ea typeface="Calibri"/>
                <a:cs typeface="Calibri"/>
                <a:sym typeface="Calibri"/>
              </a:rPr>
              <a:t>Alternative hypothesis is usually what you’re trying to prove.</a:t>
            </a:r>
          </a:p>
        </p:txBody>
      </p:sp>
      <p:sp>
        <p:nvSpPr>
          <p:cNvPr id="99" name="Shape 99"/>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a:solidFill>
                  <a:schemeClr val="dk1"/>
                </a:solidFill>
                <a:latin typeface="Calibri"/>
                <a:ea typeface="Calibri"/>
                <a:cs typeface="Calibri"/>
                <a:sym typeface="Calibri"/>
              </a:rPr>
              <a:t>16</a:t>
            </a:fld>
            <a:endParaRPr lang="en-US"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299421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Shape 9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98" name="Shape 98"/>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r>
              <a:rPr lang="en-US" sz="1200" b="0" i="0" u="none" strike="noStrike" cap="none">
                <a:solidFill>
                  <a:schemeClr val="dk1"/>
                </a:solidFill>
                <a:latin typeface="Calibri"/>
                <a:ea typeface="Calibri"/>
                <a:cs typeface="Calibri"/>
                <a:sym typeface="Calibri"/>
              </a:rPr>
              <a:t>Alternative hypothesis is usually what you’re trying to prove.</a:t>
            </a:r>
          </a:p>
        </p:txBody>
      </p:sp>
      <p:sp>
        <p:nvSpPr>
          <p:cNvPr id="99" name="Shape 99"/>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a:solidFill>
                  <a:schemeClr val="dk1"/>
                </a:solidFill>
                <a:latin typeface="Calibri"/>
                <a:ea typeface="Calibri"/>
                <a:cs typeface="Calibri"/>
                <a:sym typeface="Calibri"/>
              </a:rPr>
              <a:t>17</a:t>
            </a:fld>
            <a:endParaRPr lang="en-US"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257815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3C8B963-0F36-48FC-991E-AA63861DA924}"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28D1EF-21B1-4D0B-A764-32B3B9A0ADA1}" type="slidenum">
              <a:rPr lang="en-US" smtClean="0"/>
              <a:t>‹#›</a:t>
            </a:fld>
            <a:endParaRPr lang="en-US"/>
          </a:p>
        </p:txBody>
      </p:sp>
    </p:spTree>
    <p:extLst>
      <p:ext uri="{BB962C8B-B14F-4D97-AF65-F5344CB8AC3E}">
        <p14:creationId xmlns:p14="http://schemas.microsoft.com/office/powerpoint/2010/main" val="14097120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C8B963-0F36-48FC-991E-AA63861DA924}"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28D1EF-21B1-4D0B-A764-32B3B9A0ADA1}" type="slidenum">
              <a:rPr lang="en-US" smtClean="0"/>
              <a:t>‹#›</a:t>
            </a:fld>
            <a:endParaRPr lang="en-US"/>
          </a:p>
        </p:txBody>
      </p:sp>
    </p:spTree>
    <p:extLst>
      <p:ext uri="{BB962C8B-B14F-4D97-AF65-F5344CB8AC3E}">
        <p14:creationId xmlns:p14="http://schemas.microsoft.com/office/powerpoint/2010/main" val="28708981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3C8B963-0F36-48FC-991E-AA63861DA924}"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28D1EF-21B1-4D0B-A764-32B3B9A0ADA1}" type="slidenum">
              <a:rPr lang="en-US" smtClean="0"/>
              <a:t>‹#›</a:t>
            </a:fld>
            <a:endParaRPr lang="en-US"/>
          </a:p>
        </p:txBody>
      </p:sp>
    </p:spTree>
    <p:extLst>
      <p:ext uri="{BB962C8B-B14F-4D97-AF65-F5344CB8AC3E}">
        <p14:creationId xmlns:p14="http://schemas.microsoft.com/office/powerpoint/2010/main" val="1010578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C8B963-0F36-48FC-991E-AA63861DA924}" type="datetimeFigureOut">
              <a:rPr lang="en-US" smtClean="0"/>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28D1EF-21B1-4D0B-A764-32B3B9A0ADA1}" type="slidenum">
              <a:rPr lang="en-US" smtClean="0"/>
              <a:t>‹#›</a:t>
            </a:fld>
            <a:endParaRPr lang="en-US"/>
          </a:p>
        </p:txBody>
      </p:sp>
    </p:spTree>
    <p:extLst>
      <p:ext uri="{BB962C8B-B14F-4D97-AF65-F5344CB8AC3E}">
        <p14:creationId xmlns:p14="http://schemas.microsoft.com/office/powerpoint/2010/main" val="38927923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3C8B963-0F36-48FC-991E-AA63861DA924}" type="datetimeFigureOut">
              <a:rPr lang="en-US" smtClean="0"/>
              <a:t>7/28/2026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28D1EF-21B1-4D0B-A764-32B3B9A0ADA1}" type="slidenum">
              <a:rPr lang="en-US" smtClean="0"/>
              <a:t>‹#›</a:t>
            </a:fld>
            <a:endParaRPr lang="en-US"/>
          </a:p>
        </p:txBody>
      </p:sp>
    </p:spTree>
    <p:extLst>
      <p:ext uri="{BB962C8B-B14F-4D97-AF65-F5344CB8AC3E}">
        <p14:creationId xmlns:p14="http://schemas.microsoft.com/office/powerpoint/2010/main" val="3678459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3C8B963-0F36-48FC-991E-AA63861DA924}" type="datetimeFigureOut">
              <a:rPr lang="en-US" smtClean="0"/>
              <a:t>7/28/2026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28D1EF-21B1-4D0B-A764-32B3B9A0ADA1}" type="slidenum">
              <a:rPr lang="en-US" smtClean="0"/>
              <a:t>‹#›</a:t>
            </a:fld>
            <a:endParaRPr lang="en-US"/>
          </a:p>
        </p:txBody>
      </p:sp>
    </p:spTree>
    <p:extLst>
      <p:ext uri="{BB962C8B-B14F-4D97-AF65-F5344CB8AC3E}">
        <p14:creationId xmlns:p14="http://schemas.microsoft.com/office/powerpoint/2010/main" val="1483560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C8B963-0F36-48FC-991E-AA63861DA924}" type="datetimeFigureOut">
              <a:rPr lang="en-US" smtClean="0"/>
              <a:t>7/28/2026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28D1EF-21B1-4D0B-A764-32B3B9A0ADA1}" type="slidenum">
              <a:rPr lang="en-US" smtClean="0"/>
              <a:t>‹#›</a:t>
            </a:fld>
            <a:endParaRPr lang="en-US"/>
          </a:p>
        </p:txBody>
      </p:sp>
    </p:spTree>
    <p:extLst>
      <p:ext uri="{BB962C8B-B14F-4D97-AF65-F5344CB8AC3E}">
        <p14:creationId xmlns:p14="http://schemas.microsoft.com/office/powerpoint/2010/main" val="4029066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3C8B963-0F36-48FC-991E-AA63861DA924}" type="datetimeFigureOut">
              <a:rPr lang="en-US" smtClean="0"/>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28D1EF-21B1-4D0B-A764-32B3B9A0ADA1}" type="slidenum">
              <a:rPr lang="en-US" smtClean="0"/>
              <a:t>‹#›</a:t>
            </a:fld>
            <a:endParaRPr lang="en-US"/>
          </a:p>
        </p:txBody>
      </p:sp>
    </p:spTree>
    <p:extLst>
      <p:ext uri="{BB962C8B-B14F-4D97-AF65-F5344CB8AC3E}">
        <p14:creationId xmlns:p14="http://schemas.microsoft.com/office/powerpoint/2010/main" val="37362398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3C8B963-0F36-48FC-991E-AA63861DA924}" type="datetimeFigureOut">
              <a:rPr lang="en-US" smtClean="0"/>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28D1EF-21B1-4D0B-A764-32B3B9A0ADA1}" type="slidenum">
              <a:rPr lang="en-US" smtClean="0"/>
              <a:t>‹#›</a:t>
            </a:fld>
            <a:endParaRPr lang="en-US"/>
          </a:p>
        </p:txBody>
      </p:sp>
    </p:spTree>
    <p:extLst>
      <p:ext uri="{BB962C8B-B14F-4D97-AF65-F5344CB8AC3E}">
        <p14:creationId xmlns:p14="http://schemas.microsoft.com/office/powerpoint/2010/main" val="41935935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3C8B963-0F36-48FC-991E-AA63861DA924}" type="datetimeFigureOut">
              <a:rPr lang="en-US" smtClean="0"/>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28D1EF-21B1-4D0B-A764-32B3B9A0ADA1}" type="slidenum">
              <a:rPr lang="en-US" smtClean="0"/>
              <a:t>‹#›</a:t>
            </a:fld>
            <a:endParaRPr lang="en-US"/>
          </a:p>
        </p:txBody>
      </p:sp>
    </p:spTree>
    <p:extLst>
      <p:ext uri="{BB962C8B-B14F-4D97-AF65-F5344CB8AC3E}">
        <p14:creationId xmlns:p14="http://schemas.microsoft.com/office/powerpoint/2010/main" val="2610188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3C8B963-0F36-48FC-991E-AA63861DA924}" type="datetimeFigureOut">
              <a:rPr lang="en-US" smtClean="0"/>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28D1EF-21B1-4D0B-A764-32B3B9A0ADA1}" type="slidenum">
              <a:rPr lang="en-US" smtClean="0"/>
              <a:t>‹#›</a:t>
            </a:fld>
            <a:endParaRPr lang="en-US"/>
          </a:p>
        </p:txBody>
      </p:sp>
    </p:spTree>
    <p:extLst>
      <p:ext uri="{BB962C8B-B14F-4D97-AF65-F5344CB8AC3E}">
        <p14:creationId xmlns:p14="http://schemas.microsoft.com/office/powerpoint/2010/main" val="13563915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3C8B963-0F36-48FC-991E-AA63861DA924}" type="datetimeFigureOut">
              <a:rPr lang="en-US" smtClean="0"/>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28D1EF-21B1-4D0B-A764-32B3B9A0ADA1}"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2299329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3C8B963-0F36-48FC-991E-AA63861DA924}" type="datetimeFigureOut">
              <a:rPr lang="en-US" smtClean="0"/>
              <a:t>7/28/2026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28D1EF-21B1-4D0B-A764-32B3B9A0ADA1}" type="slidenum">
              <a:rPr lang="en-US" smtClean="0"/>
              <a:t>‹#›</a:t>
            </a:fld>
            <a:endParaRPr lang="en-US"/>
          </a:p>
        </p:txBody>
      </p:sp>
    </p:spTree>
    <p:extLst>
      <p:ext uri="{BB962C8B-B14F-4D97-AF65-F5344CB8AC3E}">
        <p14:creationId xmlns:p14="http://schemas.microsoft.com/office/powerpoint/2010/main" val="1535117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93C8B963-0F36-48FC-991E-AA63861DA924}" type="datetimeFigureOut">
              <a:rPr lang="en-US" smtClean="0"/>
              <a:t>7/28/2026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28D1EF-21B1-4D0B-A764-32B3B9A0ADA1}" type="slidenum">
              <a:rPr lang="en-US" smtClean="0"/>
              <a:t>‹#›</a:t>
            </a:fld>
            <a:endParaRPr lang="en-US"/>
          </a:p>
        </p:txBody>
      </p:sp>
    </p:spTree>
    <p:extLst>
      <p:ext uri="{BB962C8B-B14F-4D97-AF65-F5344CB8AC3E}">
        <p14:creationId xmlns:p14="http://schemas.microsoft.com/office/powerpoint/2010/main" val="33089104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93C8B963-0F36-48FC-991E-AA63861DA924}" type="datetimeFigureOut">
              <a:rPr lang="en-US" smtClean="0"/>
              <a:t>7/28/2026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28D1EF-21B1-4D0B-A764-32B3B9A0ADA1}" type="slidenum">
              <a:rPr lang="en-US" smtClean="0"/>
              <a:t>‹#›</a:t>
            </a:fld>
            <a:endParaRPr lang="en-US"/>
          </a:p>
        </p:txBody>
      </p:sp>
    </p:spTree>
    <p:extLst>
      <p:ext uri="{BB962C8B-B14F-4D97-AF65-F5344CB8AC3E}">
        <p14:creationId xmlns:p14="http://schemas.microsoft.com/office/powerpoint/2010/main" val="21556541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C8B963-0F36-48FC-991E-AA63861DA924}"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28D1EF-21B1-4D0B-A764-32B3B9A0ADA1}" type="slidenum">
              <a:rPr lang="en-US" smtClean="0"/>
              <a:t>‹#›</a:t>
            </a:fld>
            <a:endParaRPr lang="en-US"/>
          </a:p>
        </p:txBody>
      </p:sp>
    </p:spTree>
    <p:extLst>
      <p:ext uri="{BB962C8B-B14F-4D97-AF65-F5344CB8AC3E}">
        <p14:creationId xmlns:p14="http://schemas.microsoft.com/office/powerpoint/2010/main" val="35745215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C8B963-0F36-48FC-991E-AA63861DA924}" type="datetimeFigureOut">
              <a:rPr lang="en-US" smtClean="0"/>
              <a:t>7/28/2026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28D1EF-21B1-4D0B-A764-32B3B9A0ADA1}" type="slidenum">
              <a:rPr lang="en-US" smtClean="0"/>
              <a:t>‹#›</a:t>
            </a:fld>
            <a:endParaRPr lang="en-US"/>
          </a:p>
        </p:txBody>
      </p:sp>
    </p:spTree>
    <p:extLst>
      <p:ext uri="{BB962C8B-B14F-4D97-AF65-F5344CB8AC3E}">
        <p14:creationId xmlns:p14="http://schemas.microsoft.com/office/powerpoint/2010/main" val="586616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93C8B963-0F36-48FC-991E-AA63861DA924}" type="datetimeFigureOut">
              <a:rPr lang="en-US" smtClean="0"/>
              <a:t>7/28/2026</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3428D1EF-21B1-4D0B-A764-32B3B9A0ADA1}" type="slidenum">
              <a:rPr lang="en-US" smtClean="0"/>
              <a:t>‹#›</a:t>
            </a:fld>
            <a:endParaRPr lang="en-US"/>
          </a:p>
        </p:txBody>
      </p:sp>
    </p:spTree>
    <p:extLst>
      <p:ext uri="{BB962C8B-B14F-4D97-AF65-F5344CB8AC3E}">
        <p14:creationId xmlns:p14="http://schemas.microsoft.com/office/powerpoint/2010/main" val="235917901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fintechprofessor.com/2018/03/05/export-high-quality-table-correlations-stata-ms-word/"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hyperlink" Target="https://fintechprofessor.com/2018/03/05/export-high-quality-table-correlations-stata-ms-word/"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fintechprofessor.com/2018/03/05/export-high-quality-table-correlations-stata-ms-word/"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DA1E6-0A9B-4FAD-9E42-B37B3CA5D782}"/>
              </a:ext>
            </a:extLst>
          </p:cNvPr>
          <p:cNvSpPr>
            <a:spLocks noGrp="1"/>
          </p:cNvSpPr>
          <p:nvPr>
            <p:ph type="ctrTitle"/>
          </p:nvPr>
        </p:nvSpPr>
        <p:spPr>
          <a:xfrm>
            <a:off x="1504917" y="3979334"/>
            <a:ext cx="9440034" cy="1828801"/>
          </a:xfrm>
        </p:spPr>
        <p:txBody>
          <a:bodyPr>
            <a:normAutofit/>
          </a:bodyPr>
          <a:lstStyle/>
          <a:p>
            <a:r>
              <a:rPr lang="en-US" dirty="0"/>
              <a:t>Week 11: Correlation; Writing about numbers</a:t>
            </a:r>
          </a:p>
        </p:txBody>
      </p:sp>
      <p:sp>
        <p:nvSpPr>
          <p:cNvPr id="3" name="Subtitle 2">
            <a:extLst>
              <a:ext uri="{FF2B5EF4-FFF2-40B4-BE49-F238E27FC236}">
                <a16:creationId xmlns:a16="http://schemas.microsoft.com/office/drawing/2014/main" id="{C16D1488-58DF-4A33-AC86-D6B690A68DB7}"/>
              </a:ext>
            </a:extLst>
          </p:cNvPr>
          <p:cNvSpPr>
            <a:spLocks noGrp="1"/>
          </p:cNvSpPr>
          <p:nvPr>
            <p:ph type="subTitle" idx="1"/>
          </p:nvPr>
        </p:nvSpPr>
        <p:spPr>
          <a:xfrm>
            <a:off x="1504917" y="5808133"/>
            <a:ext cx="9440034" cy="1049867"/>
          </a:xfrm>
        </p:spPr>
        <p:txBody>
          <a:bodyPr>
            <a:normAutofit/>
          </a:bodyPr>
          <a:lstStyle/>
          <a:p>
            <a:r>
              <a:rPr lang="en-US" sz="3200" dirty="0"/>
              <a:t>Geog4300: Harper</a:t>
            </a:r>
          </a:p>
        </p:txBody>
      </p:sp>
      <p:pic>
        <p:nvPicPr>
          <p:cNvPr id="6" name="Shape 433" descr="http://wcr.sonoma.edu/v07n1/20/tab2.gif">
            <a:extLst>
              <a:ext uri="{FF2B5EF4-FFF2-40B4-BE49-F238E27FC236}">
                <a16:creationId xmlns:a16="http://schemas.microsoft.com/office/drawing/2014/main" id="{E2546FC7-38EB-4079-9C8E-DDFC775FF768}"/>
              </a:ext>
            </a:extLst>
          </p:cNvPr>
          <p:cNvPicPr preferRelativeResize="0"/>
          <p:nvPr/>
        </p:nvPicPr>
        <p:blipFill rotWithShape="1">
          <a:blip r:embed="rId2">
            <a:alphaModFix/>
          </a:blip>
          <a:srcRect/>
          <a:stretch/>
        </p:blipFill>
        <p:spPr>
          <a:xfrm>
            <a:off x="3198198" y="123212"/>
            <a:ext cx="5795604" cy="4062894"/>
          </a:xfrm>
          <a:prstGeom prst="rect">
            <a:avLst/>
          </a:prstGeom>
          <a:noFill/>
          <a:ln>
            <a:noFill/>
          </a:ln>
        </p:spPr>
      </p:pic>
    </p:spTree>
    <p:extLst>
      <p:ext uri="{BB962C8B-B14F-4D97-AF65-F5344CB8AC3E}">
        <p14:creationId xmlns:p14="http://schemas.microsoft.com/office/powerpoint/2010/main" val="764645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C2F2E-7A10-C49D-4BB5-F5DA5BEA42C9}"/>
              </a:ext>
            </a:extLst>
          </p:cNvPr>
          <p:cNvSpPr>
            <a:spLocks noGrp="1"/>
          </p:cNvSpPr>
          <p:nvPr>
            <p:ph type="title"/>
          </p:nvPr>
        </p:nvSpPr>
        <p:spPr/>
        <p:txBody>
          <a:bodyPr/>
          <a:lstStyle/>
          <a:p>
            <a:r>
              <a:rPr lang="en-US" dirty="0"/>
              <a:t>Plan for the week</a:t>
            </a:r>
          </a:p>
        </p:txBody>
      </p:sp>
      <p:sp>
        <p:nvSpPr>
          <p:cNvPr id="3" name="Content Placeholder 2">
            <a:extLst>
              <a:ext uri="{FF2B5EF4-FFF2-40B4-BE49-F238E27FC236}">
                <a16:creationId xmlns:a16="http://schemas.microsoft.com/office/drawing/2014/main" id="{C70A4797-1C73-4490-7DC2-30B63822BC58}"/>
              </a:ext>
            </a:extLst>
          </p:cNvPr>
          <p:cNvSpPr>
            <a:spLocks noGrp="1"/>
          </p:cNvSpPr>
          <p:nvPr>
            <p:ph idx="1"/>
          </p:nvPr>
        </p:nvSpPr>
        <p:spPr/>
        <p:txBody>
          <a:bodyPr/>
          <a:lstStyle/>
          <a:p>
            <a:r>
              <a:rPr lang="en-US" dirty="0"/>
              <a:t>Correlation</a:t>
            </a:r>
          </a:p>
          <a:p>
            <a:r>
              <a:rPr lang="en-US" dirty="0"/>
              <a:t>ANOVA</a:t>
            </a:r>
          </a:p>
          <a:p>
            <a:r>
              <a:rPr lang="en-US" dirty="0"/>
              <a:t>Writing and communicating your findings</a:t>
            </a:r>
          </a:p>
        </p:txBody>
      </p:sp>
    </p:spTree>
    <p:extLst>
      <p:ext uri="{BB962C8B-B14F-4D97-AF65-F5344CB8AC3E}">
        <p14:creationId xmlns:p14="http://schemas.microsoft.com/office/powerpoint/2010/main" val="1524803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C064F-5485-FC6D-77EF-C8995110C9D1}"/>
              </a:ext>
            </a:extLst>
          </p:cNvPr>
          <p:cNvSpPr>
            <a:spLocks noGrp="1"/>
          </p:cNvSpPr>
          <p:nvPr>
            <p:ph type="title"/>
          </p:nvPr>
        </p:nvSpPr>
        <p:spPr/>
        <p:txBody>
          <a:bodyPr/>
          <a:lstStyle/>
          <a:p>
            <a:r>
              <a:rPr lang="en-US" dirty="0"/>
              <a:t>Pearson’s correlation coefficient</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B8BD657-1D2F-1731-00E0-B173850C08DB}"/>
                  </a:ext>
                </a:extLst>
              </p:cNvPr>
              <p:cNvSpPr txBox="1"/>
              <p:nvPr/>
            </p:nvSpPr>
            <p:spPr>
              <a:xfrm>
                <a:off x="993421" y="1826205"/>
                <a:ext cx="2585002" cy="6006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m:t>
                      </m:r>
                      <m:f>
                        <m:fPr>
                          <m:ctrlPr>
                            <a:rPr lang="en-US" b="0" i="1" smtClean="0">
                              <a:latin typeface="Cambria Math" panose="02040503050406030204" pitchFamily="18" charset="0"/>
                            </a:rPr>
                          </m:ctrlPr>
                        </m:fPr>
                        <m:num>
                          <m:d>
                            <m:dPr>
                              <m:begChr m:val="["/>
                              <m:endChr m:val="]"/>
                              <m:ctrlPr>
                                <a:rPr lang="en-US" i="1">
                                  <a:latin typeface="Cambria Math" panose="02040503050406030204" pitchFamily="18" charset="0"/>
                                </a:rPr>
                              </m:ctrlPr>
                            </m:dPr>
                            <m:e>
                              <m:r>
                                <m:rPr>
                                  <m:sty m:val="p"/>
                                </m:rPr>
                                <a:rPr lang="en-US">
                                  <a:latin typeface="Cambria Math" panose="02040503050406030204" pitchFamily="18" charset="0"/>
                                </a:rPr>
                                <m:t>Σ</m:t>
                              </m:r>
                              <m:d>
                                <m:dPr>
                                  <m:ctrlPr>
                                    <a:rPr lang="en-US" i="1">
                                      <a:latin typeface="Cambria Math" panose="02040503050406030204" pitchFamily="18" charset="0"/>
                                    </a:rPr>
                                  </m:ctrlPr>
                                </m:dPr>
                                <m:e>
                                  <m:r>
                                    <a:rPr lang="en-US" i="1">
                                      <a:latin typeface="Cambria Math" panose="02040503050406030204" pitchFamily="18" charset="0"/>
                                    </a:rPr>
                                    <m:t>𝑋</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𝑋</m:t>
                                      </m:r>
                                    </m:e>
                                  </m:acc>
                                </m:e>
                              </m:d>
                              <m:d>
                                <m:dPr>
                                  <m:ctrlPr>
                                    <a:rPr lang="en-US" i="1">
                                      <a:latin typeface="Cambria Math" panose="02040503050406030204" pitchFamily="18" charset="0"/>
                                    </a:rPr>
                                  </m:ctrlPr>
                                </m:dPr>
                                <m:e>
                                  <m:r>
                                    <a:rPr lang="en-US" i="1">
                                      <a:latin typeface="Cambria Math" panose="02040503050406030204" pitchFamily="18" charset="0"/>
                                    </a:rPr>
                                    <m:t>𝑌</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𝑌</m:t>
                                      </m:r>
                                    </m:e>
                                  </m:acc>
                                </m:e>
                              </m:d>
                            </m:e>
                          </m:d>
                          <m:r>
                            <a:rPr lang="en-US" i="1">
                              <a:latin typeface="Cambria Math" panose="02040503050406030204" pitchFamily="18" charset="0"/>
                            </a:rPr>
                            <m:t>/</m:t>
                          </m:r>
                          <m:r>
                            <a:rPr lang="en-US" i="1">
                              <a:latin typeface="Cambria Math" panose="02040503050406030204" pitchFamily="18" charset="0"/>
                            </a:rPr>
                            <m:t>𝑁</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𝑋</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𝑌</m:t>
                              </m:r>
                            </m:sub>
                          </m:sSub>
                        </m:den>
                      </m:f>
                    </m:oMath>
                  </m:oMathPara>
                </a14:m>
                <a:endParaRPr lang="en-US" dirty="0"/>
              </a:p>
            </p:txBody>
          </p:sp>
        </mc:Choice>
        <mc:Fallback xmlns="">
          <p:sp>
            <p:nvSpPr>
              <p:cNvPr id="3" name="TextBox 2">
                <a:extLst>
                  <a:ext uri="{FF2B5EF4-FFF2-40B4-BE49-F238E27FC236}">
                    <a16:creationId xmlns:a16="http://schemas.microsoft.com/office/drawing/2014/main" id="{6B8BD657-1D2F-1731-00E0-B173850C08DB}"/>
                  </a:ext>
                </a:extLst>
              </p:cNvPr>
              <p:cNvSpPr txBox="1">
                <a:spLocks noRot="1" noChangeAspect="1" noMove="1" noResize="1" noEditPoints="1" noAdjustHandles="1" noChangeArrowheads="1" noChangeShapeType="1" noTextEdit="1"/>
              </p:cNvSpPr>
              <p:nvPr/>
            </p:nvSpPr>
            <p:spPr>
              <a:xfrm>
                <a:off x="993421" y="1826205"/>
                <a:ext cx="2585002" cy="600677"/>
              </a:xfrm>
              <a:prstGeom prst="rect">
                <a:avLst/>
              </a:prstGeom>
              <a:blipFill>
                <a:blip r:embed="rId2"/>
                <a:stretch>
                  <a:fillRect l="-980" r="-1471" b="-6250"/>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FFC7E32C-E9A8-B21B-89D7-5009B328F099}"/>
              </a:ext>
            </a:extLst>
          </p:cNvPr>
          <p:cNvSpPr txBox="1"/>
          <p:nvPr/>
        </p:nvSpPr>
        <p:spPr>
          <a:xfrm>
            <a:off x="993421" y="3273715"/>
            <a:ext cx="6073424" cy="2031325"/>
          </a:xfrm>
          <a:prstGeom prst="rect">
            <a:avLst/>
          </a:prstGeom>
          <a:noFill/>
        </p:spPr>
        <p:txBody>
          <a:bodyPr wrap="square" rtlCol="0">
            <a:spAutoFit/>
          </a:bodyPr>
          <a:lstStyle/>
          <a:p>
            <a:r>
              <a:rPr lang="en-US" i="1" dirty="0"/>
              <a:t>r</a:t>
            </a:r>
            <a:r>
              <a:rPr lang="en-US" dirty="0"/>
              <a:t>=Pearson’s correlation coefficient</a:t>
            </a:r>
          </a:p>
          <a:p>
            <a:endParaRPr lang="en-US" i="1" dirty="0"/>
          </a:p>
          <a:p>
            <a:r>
              <a:rPr lang="en-US" dirty="0"/>
              <a:t>X and Y are two variables</a:t>
            </a:r>
          </a:p>
          <a:p>
            <a:endParaRPr lang="en-US" dirty="0"/>
          </a:p>
          <a:p>
            <a:r>
              <a:rPr lang="en-US" dirty="0"/>
              <a:t>N= number of paired data values</a:t>
            </a:r>
          </a:p>
          <a:p>
            <a:endParaRPr lang="en-US" dirty="0"/>
          </a:p>
          <a:p>
            <a:r>
              <a:rPr lang="en-US" dirty="0"/>
              <a:t>S</a:t>
            </a:r>
            <a:r>
              <a:rPr lang="en-US" baseline="-25000" dirty="0"/>
              <a:t>X</a:t>
            </a:r>
            <a:r>
              <a:rPr lang="en-US" dirty="0"/>
              <a:t> and S</a:t>
            </a:r>
            <a:r>
              <a:rPr lang="en-US" baseline="-25000" dirty="0"/>
              <a:t>Y</a:t>
            </a:r>
            <a:r>
              <a:rPr lang="en-US" dirty="0"/>
              <a:t> = standard deviations of X and Y, respectively</a:t>
            </a:r>
          </a:p>
        </p:txBody>
      </p:sp>
    </p:spTree>
    <p:extLst>
      <p:ext uri="{BB962C8B-B14F-4D97-AF65-F5344CB8AC3E}">
        <p14:creationId xmlns:p14="http://schemas.microsoft.com/office/powerpoint/2010/main" val="8023903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B2DB7-E5BA-87AD-9C9E-7DFDA4DD92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BEDEB5-9CCE-8B36-8A50-B54C9ACE8E1D}"/>
              </a:ext>
            </a:extLst>
          </p:cNvPr>
          <p:cNvSpPr>
            <a:spLocks noGrp="1"/>
          </p:cNvSpPr>
          <p:nvPr>
            <p:ph type="title"/>
          </p:nvPr>
        </p:nvSpPr>
        <p:spPr/>
        <p:txBody>
          <a:bodyPr/>
          <a:lstStyle/>
          <a:p>
            <a:r>
              <a:rPr lang="en-US" dirty="0"/>
              <a:t>Pearson’s correlation coefficient</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03056E6-BD6E-0C5A-4B8D-BF446A88E202}"/>
                  </a:ext>
                </a:extLst>
              </p:cNvPr>
              <p:cNvSpPr txBox="1"/>
              <p:nvPr/>
            </p:nvSpPr>
            <p:spPr>
              <a:xfrm>
                <a:off x="993421" y="1826205"/>
                <a:ext cx="2585002" cy="6006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m:t>
                      </m:r>
                      <m:f>
                        <m:fPr>
                          <m:ctrlPr>
                            <a:rPr lang="en-US" b="0" i="1" smtClean="0">
                              <a:latin typeface="Cambria Math" panose="02040503050406030204" pitchFamily="18" charset="0"/>
                            </a:rPr>
                          </m:ctrlPr>
                        </m:fPr>
                        <m:num>
                          <m:d>
                            <m:dPr>
                              <m:begChr m:val="["/>
                              <m:endChr m:val="]"/>
                              <m:ctrlPr>
                                <a:rPr lang="en-US" i="1">
                                  <a:latin typeface="Cambria Math" panose="02040503050406030204" pitchFamily="18" charset="0"/>
                                </a:rPr>
                              </m:ctrlPr>
                            </m:dPr>
                            <m:e>
                              <m:r>
                                <m:rPr>
                                  <m:sty m:val="p"/>
                                </m:rPr>
                                <a:rPr lang="en-US">
                                  <a:latin typeface="Cambria Math" panose="02040503050406030204" pitchFamily="18" charset="0"/>
                                </a:rPr>
                                <m:t>Σ</m:t>
                              </m:r>
                              <m:d>
                                <m:dPr>
                                  <m:ctrlPr>
                                    <a:rPr lang="en-US" i="1">
                                      <a:latin typeface="Cambria Math" panose="02040503050406030204" pitchFamily="18" charset="0"/>
                                    </a:rPr>
                                  </m:ctrlPr>
                                </m:dPr>
                                <m:e>
                                  <m:r>
                                    <a:rPr lang="en-US" i="1">
                                      <a:latin typeface="Cambria Math" panose="02040503050406030204" pitchFamily="18" charset="0"/>
                                    </a:rPr>
                                    <m:t>𝑋</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𝑋</m:t>
                                      </m:r>
                                    </m:e>
                                  </m:acc>
                                </m:e>
                              </m:d>
                              <m:d>
                                <m:dPr>
                                  <m:ctrlPr>
                                    <a:rPr lang="en-US" i="1">
                                      <a:latin typeface="Cambria Math" panose="02040503050406030204" pitchFamily="18" charset="0"/>
                                    </a:rPr>
                                  </m:ctrlPr>
                                </m:dPr>
                                <m:e>
                                  <m:r>
                                    <a:rPr lang="en-US" i="1">
                                      <a:latin typeface="Cambria Math" panose="02040503050406030204" pitchFamily="18" charset="0"/>
                                    </a:rPr>
                                    <m:t>𝑌</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𝑌</m:t>
                                      </m:r>
                                    </m:e>
                                  </m:acc>
                                </m:e>
                              </m:d>
                            </m:e>
                          </m:d>
                          <m:r>
                            <a:rPr lang="en-US" i="1">
                              <a:latin typeface="Cambria Math" panose="02040503050406030204" pitchFamily="18" charset="0"/>
                            </a:rPr>
                            <m:t>/</m:t>
                          </m:r>
                          <m:r>
                            <a:rPr lang="en-US" i="1">
                              <a:latin typeface="Cambria Math" panose="02040503050406030204" pitchFamily="18" charset="0"/>
                            </a:rPr>
                            <m:t>𝑁</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𝑋</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𝑌</m:t>
                              </m:r>
                            </m:sub>
                          </m:sSub>
                        </m:den>
                      </m:f>
                    </m:oMath>
                  </m:oMathPara>
                </a14:m>
                <a:endParaRPr lang="en-US" dirty="0"/>
              </a:p>
            </p:txBody>
          </p:sp>
        </mc:Choice>
        <mc:Fallback xmlns="">
          <p:sp>
            <p:nvSpPr>
              <p:cNvPr id="3" name="TextBox 2">
                <a:extLst>
                  <a:ext uri="{FF2B5EF4-FFF2-40B4-BE49-F238E27FC236}">
                    <a16:creationId xmlns:a16="http://schemas.microsoft.com/office/drawing/2014/main" id="{A03056E6-BD6E-0C5A-4B8D-BF446A88E202}"/>
                  </a:ext>
                </a:extLst>
              </p:cNvPr>
              <p:cNvSpPr txBox="1">
                <a:spLocks noRot="1" noChangeAspect="1" noMove="1" noResize="1" noEditPoints="1" noAdjustHandles="1" noChangeArrowheads="1" noChangeShapeType="1" noTextEdit="1"/>
              </p:cNvSpPr>
              <p:nvPr/>
            </p:nvSpPr>
            <p:spPr>
              <a:xfrm>
                <a:off x="993421" y="1826205"/>
                <a:ext cx="2585002" cy="600677"/>
              </a:xfrm>
              <a:prstGeom prst="rect">
                <a:avLst/>
              </a:prstGeom>
              <a:blipFill>
                <a:blip r:embed="rId2"/>
                <a:stretch>
                  <a:fillRect l="-980" r="-1471" b="-6250"/>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73AE0205-09E1-95E3-3C4F-848CF1950DC8}"/>
              </a:ext>
            </a:extLst>
          </p:cNvPr>
          <p:cNvSpPr txBox="1"/>
          <p:nvPr/>
        </p:nvSpPr>
        <p:spPr>
          <a:xfrm>
            <a:off x="993421" y="3251396"/>
            <a:ext cx="6073424" cy="2585323"/>
          </a:xfrm>
          <a:prstGeom prst="rect">
            <a:avLst/>
          </a:prstGeom>
          <a:noFill/>
        </p:spPr>
        <p:txBody>
          <a:bodyPr wrap="square" rtlCol="0">
            <a:spAutoFit/>
          </a:bodyPr>
          <a:lstStyle/>
          <a:p>
            <a:r>
              <a:rPr lang="en-US" i="1" dirty="0"/>
              <a:t>r</a:t>
            </a:r>
            <a:r>
              <a:rPr lang="en-US" dirty="0"/>
              <a:t>=Pearson’s correlation coefficient</a:t>
            </a:r>
          </a:p>
          <a:p>
            <a:endParaRPr lang="en-US" i="1" dirty="0"/>
          </a:p>
          <a:p>
            <a:r>
              <a:rPr lang="en-US" dirty="0"/>
              <a:t>X and Y are two variables</a:t>
            </a:r>
          </a:p>
          <a:p>
            <a:endParaRPr lang="en-US" dirty="0"/>
          </a:p>
          <a:p>
            <a:r>
              <a:rPr lang="en-US" dirty="0"/>
              <a:t>N= number of paired data values</a:t>
            </a:r>
          </a:p>
          <a:p>
            <a:endParaRPr lang="en-US" dirty="0"/>
          </a:p>
          <a:p>
            <a:r>
              <a:rPr lang="en-US" dirty="0" err="1"/>
              <a:t>Xbar</a:t>
            </a:r>
            <a:r>
              <a:rPr lang="en-US" dirty="0"/>
              <a:t> and </a:t>
            </a:r>
            <a:r>
              <a:rPr lang="en-US" dirty="0" err="1"/>
              <a:t>Ybar</a:t>
            </a:r>
            <a:r>
              <a:rPr lang="en-US" dirty="0"/>
              <a:t> are the means of X and Y, respectively</a:t>
            </a:r>
          </a:p>
          <a:p>
            <a:endParaRPr lang="en-US" dirty="0"/>
          </a:p>
          <a:p>
            <a:r>
              <a:rPr lang="en-US" dirty="0"/>
              <a:t>S</a:t>
            </a:r>
            <a:r>
              <a:rPr lang="en-US" baseline="-25000" dirty="0"/>
              <a:t>X</a:t>
            </a:r>
            <a:r>
              <a:rPr lang="en-US" dirty="0"/>
              <a:t> and S</a:t>
            </a:r>
            <a:r>
              <a:rPr lang="en-US" baseline="-25000" dirty="0"/>
              <a:t>Y</a:t>
            </a:r>
            <a:r>
              <a:rPr lang="en-US" dirty="0"/>
              <a:t> = standard deviations of X and Y, respectively</a:t>
            </a:r>
          </a:p>
        </p:txBody>
      </p:sp>
      <p:sp>
        <p:nvSpPr>
          <p:cNvPr id="5" name="TextBox 4">
            <a:extLst>
              <a:ext uri="{FF2B5EF4-FFF2-40B4-BE49-F238E27FC236}">
                <a16:creationId xmlns:a16="http://schemas.microsoft.com/office/drawing/2014/main" id="{FBABB583-809E-9EBC-D26F-2E6165E3D106}"/>
              </a:ext>
            </a:extLst>
          </p:cNvPr>
          <p:cNvSpPr txBox="1"/>
          <p:nvPr/>
        </p:nvSpPr>
        <p:spPr>
          <a:xfrm>
            <a:off x="7824446" y="1757211"/>
            <a:ext cx="3443111" cy="369332"/>
          </a:xfrm>
          <a:prstGeom prst="rect">
            <a:avLst/>
          </a:prstGeom>
          <a:noFill/>
        </p:spPr>
        <p:txBody>
          <a:bodyPr wrap="square" rtlCol="0">
            <a:spAutoFit/>
          </a:bodyPr>
          <a:lstStyle/>
          <a:p>
            <a:r>
              <a:rPr lang="en-US" dirty="0"/>
              <a:t>Do you remember Z scores?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DA22738-FF17-BA01-1A8F-DF6C43DC6300}"/>
                  </a:ext>
                </a:extLst>
              </p:cNvPr>
              <p:cNvSpPr txBox="1"/>
              <p:nvPr/>
            </p:nvSpPr>
            <p:spPr>
              <a:xfrm>
                <a:off x="8013607" y="2426882"/>
                <a:ext cx="1199944" cy="6006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𝑋</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𝑋</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𝑋</m:t>
                              </m:r>
                            </m:sub>
                          </m:sSub>
                        </m:den>
                      </m:f>
                    </m:oMath>
                  </m:oMathPara>
                </a14:m>
                <a:endParaRPr lang="en-US" dirty="0"/>
              </a:p>
            </p:txBody>
          </p:sp>
        </mc:Choice>
        <mc:Fallback xmlns="">
          <p:sp>
            <p:nvSpPr>
              <p:cNvPr id="6" name="TextBox 5">
                <a:extLst>
                  <a:ext uri="{FF2B5EF4-FFF2-40B4-BE49-F238E27FC236}">
                    <a16:creationId xmlns:a16="http://schemas.microsoft.com/office/drawing/2014/main" id="{5DA22738-FF17-BA01-1A8F-DF6C43DC6300}"/>
                  </a:ext>
                </a:extLst>
              </p:cNvPr>
              <p:cNvSpPr txBox="1">
                <a:spLocks noRot="1" noChangeAspect="1" noMove="1" noResize="1" noEditPoints="1" noAdjustHandles="1" noChangeArrowheads="1" noChangeShapeType="1" noTextEdit="1"/>
              </p:cNvSpPr>
              <p:nvPr/>
            </p:nvSpPr>
            <p:spPr>
              <a:xfrm>
                <a:off x="8013607" y="2426882"/>
                <a:ext cx="1199944" cy="600677"/>
              </a:xfrm>
              <a:prstGeom prst="rect">
                <a:avLst/>
              </a:prstGeom>
              <a:blipFill>
                <a:blip r:embed="rId3"/>
                <a:stretch>
                  <a:fillRect l="-4211" r="-3158" b="-62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CB32CB9-FB56-2A12-D409-340A0277EF16}"/>
                  </a:ext>
                </a:extLst>
              </p:cNvPr>
              <p:cNvSpPr txBox="1"/>
              <p:nvPr/>
            </p:nvSpPr>
            <p:spPr>
              <a:xfrm>
                <a:off x="9910141" y="2426881"/>
                <a:ext cx="1175194" cy="6006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𝑌</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𝑌</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𝑌</m:t>
                              </m:r>
                            </m:e>
                          </m:acc>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𝑌</m:t>
                              </m:r>
                            </m:sub>
                          </m:sSub>
                        </m:den>
                      </m:f>
                    </m:oMath>
                  </m:oMathPara>
                </a14:m>
                <a:endParaRPr lang="en-US" dirty="0"/>
              </a:p>
            </p:txBody>
          </p:sp>
        </mc:Choice>
        <mc:Fallback xmlns="">
          <p:sp>
            <p:nvSpPr>
              <p:cNvPr id="7" name="TextBox 6">
                <a:extLst>
                  <a:ext uri="{FF2B5EF4-FFF2-40B4-BE49-F238E27FC236}">
                    <a16:creationId xmlns:a16="http://schemas.microsoft.com/office/drawing/2014/main" id="{ACB32CB9-FB56-2A12-D409-340A0277EF16}"/>
                  </a:ext>
                </a:extLst>
              </p:cNvPr>
              <p:cNvSpPr txBox="1">
                <a:spLocks noRot="1" noChangeAspect="1" noMove="1" noResize="1" noEditPoints="1" noAdjustHandles="1" noChangeArrowheads="1" noChangeShapeType="1" noTextEdit="1"/>
              </p:cNvSpPr>
              <p:nvPr/>
            </p:nvSpPr>
            <p:spPr>
              <a:xfrm>
                <a:off x="9910141" y="2426881"/>
                <a:ext cx="1175194" cy="600677"/>
              </a:xfrm>
              <a:prstGeom prst="rect">
                <a:avLst/>
              </a:prstGeom>
              <a:blipFill>
                <a:blip r:embed="rId4"/>
                <a:stretch>
                  <a:fillRect l="-4301" r="-4301" b="-6250"/>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759FF899-3EE3-56B3-3476-493383398EB3}"/>
              </a:ext>
            </a:extLst>
          </p:cNvPr>
          <p:cNvSpPr txBox="1"/>
          <p:nvPr/>
        </p:nvSpPr>
        <p:spPr>
          <a:xfrm>
            <a:off x="7314272" y="3169355"/>
            <a:ext cx="3183466" cy="3416320"/>
          </a:xfrm>
          <a:prstGeom prst="rect">
            <a:avLst/>
          </a:prstGeom>
          <a:noFill/>
        </p:spPr>
        <p:txBody>
          <a:bodyPr wrap="square" rtlCol="0">
            <a:spAutoFit/>
          </a:bodyPr>
          <a:lstStyle/>
          <a:p>
            <a:r>
              <a:rPr lang="en-US" dirty="0"/>
              <a:t>These are deviations from the mean, normalized by the standard deviation.</a:t>
            </a:r>
          </a:p>
          <a:p>
            <a:endParaRPr lang="en-US" dirty="0"/>
          </a:p>
          <a:p>
            <a:r>
              <a:rPr lang="en-US" dirty="0"/>
              <a:t>Z-scores have a mean of 0 and standard deviation of 1 </a:t>
            </a:r>
            <a:r>
              <a:rPr lang="en-US" dirty="0">
                <a:sym typeface="Wingdings" pitchFamily="2" charset="2"/>
              </a:rPr>
              <a:t> producing a normal distribution.</a:t>
            </a:r>
          </a:p>
          <a:p>
            <a:endParaRPr lang="en-US" dirty="0">
              <a:sym typeface="Wingdings" pitchFamily="2" charset="2"/>
            </a:endParaRPr>
          </a:p>
          <a:p>
            <a:r>
              <a:rPr lang="en-US" dirty="0">
                <a:sym typeface="Wingdings" pitchFamily="2" charset="2"/>
              </a:rPr>
              <a:t>For standardized datasets (each variable converted to its Z-score), the correlation is:</a:t>
            </a:r>
            <a:endParaRPr lang="en-US"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92DAB9B-F80B-E363-19F1-849B7886B811}"/>
                  </a:ext>
                </a:extLst>
              </p:cNvPr>
              <p:cNvSpPr txBox="1"/>
              <p:nvPr/>
            </p:nvSpPr>
            <p:spPr>
              <a:xfrm>
                <a:off x="10635364" y="5836719"/>
                <a:ext cx="1264385" cy="5262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m:rPr>
                              <m:sty m:val="p"/>
                            </m:rPr>
                            <a:rPr lang="en-US">
                              <a:latin typeface="Cambria Math" panose="02040503050406030204" pitchFamily="18" charset="0"/>
                            </a:rPr>
                            <m:t>Σ</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𝑍</m:t>
                              </m:r>
                            </m:e>
                            <m:sub>
                              <m:r>
                                <a:rPr lang="en-US" i="1">
                                  <a:latin typeface="Cambria Math" panose="02040503050406030204" pitchFamily="18" charset="0"/>
                                </a:rPr>
                                <m:t>𝑋</m:t>
                              </m:r>
                            </m:sub>
                          </m:sSub>
                          <m:sSub>
                            <m:sSubPr>
                              <m:ctrlPr>
                                <a:rPr lang="en-US" i="1">
                                  <a:latin typeface="Cambria Math" panose="02040503050406030204" pitchFamily="18" charset="0"/>
                                </a:rPr>
                              </m:ctrlPr>
                            </m:sSubPr>
                            <m:e>
                              <m:r>
                                <a:rPr lang="en-US" i="1">
                                  <a:latin typeface="Cambria Math" panose="02040503050406030204" pitchFamily="18" charset="0"/>
                                </a:rPr>
                                <m:t>𝑍</m:t>
                              </m:r>
                            </m:e>
                            <m:sub>
                              <m:r>
                                <a:rPr lang="en-US" i="1">
                                  <a:latin typeface="Cambria Math" panose="02040503050406030204" pitchFamily="18" charset="0"/>
                                </a:rPr>
                                <m:t>𝑌</m:t>
                              </m:r>
                            </m:sub>
                          </m:sSub>
                          <m:r>
                            <a:rPr lang="en-US" i="1">
                              <a:latin typeface="Cambria Math" panose="02040503050406030204" pitchFamily="18" charset="0"/>
                            </a:rPr>
                            <m:t>]</m:t>
                          </m:r>
                        </m:num>
                        <m:den>
                          <m:r>
                            <a:rPr lang="en-US" b="0" i="1" smtClean="0">
                              <a:latin typeface="Cambria Math" panose="02040503050406030204" pitchFamily="18" charset="0"/>
                            </a:rPr>
                            <m:t>𝑁</m:t>
                          </m:r>
                        </m:den>
                      </m:f>
                    </m:oMath>
                  </m:oMathPara>
                </a14:m>
                <a:endParaRPr lang="en-US" dirty="0"/>
              </a:p>
            </p:txBody>
          </p:sp>
        </mc:Choice>
        <mc:Fallback xmlns="">
          <p:sp>
            <p:nvSpPr>
              <p:cNvPr id="9" name="TextBox 8">
                <a:extLst>
                  <a:ext uri="{FF2B5EF4-FFF2-40B4-BE49-F238E27FC236}">
                    <a16:creationId xmlns:a16="http://schemas.microsoft.com/office/drawing/2014/main" id="{A92DAB9B-F80B-E363-19F1-849B7886B811}"/>
                  </a:ext>
                </a:extLst>
              </p:cNvPr>
              <p:cNvSpPr txBox="1">
                <a:spLocks noRot="1" noChangeAspect="1" noMove="1" noResize="1" noEditPoints="1" noAdjustHandles="1" noChangeArrowheads="1" noChangeShapeType="1" noTextEdit="1"/>
              </p:cNvSpPr>
              <p:nvPr/>
            </p:nvSpPr>
            <p:spPr>
              <a:xfrm>
                <a:off x="10635364" y="5836719"/>
                <a:ext cx="1264385" cy="526234"/>
              </a:xfrm>
              <a:prstGeom prst="rect">
                <a:avLst/>
              </a:prstGeom>
              <a:blipFill>
                <a:blip r:embed="rId5"/>
                <a:stretch>
                  <a:fillRect l="-2000" t="-4651" r="-6000" b="-11628"/>
                </a:stretch>
              </a:blipFill>
            </p:spPr>
            <p:txBody>
              <a:bodyPr/>
              <a:lstStyle/>
              <a:p>
                <a:r>
                  <a:rPr lang="en-US">
                    <a:noFill/>
                  </a:rPr>
                  <a:t> </a:t>
                </a:r>
              </a:p>
            </p:txBody>
          </p:sp>
        </mc:Fallback>
      </mc:AlternateContent>
    </p:spTree>
    <p:extLst>
      <p:ext uri="{BB962C8B-B14F-4D97-AF65-F5344CB8AC3E}">
        <p14:creationId xmlns:p14="http://schemas.microsoft.com/office/powerpoint/2010/main" val="28789998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B5939-5E80-B561-4510-78B7A113DA72}"/>
              </a:ext>
            </a:extLst>
          </p:cNvPr>
          <p:cNvSpPr>
            <a:spLocks noGrp="1"/>
          </p:cNvSpPr>
          <p:nvPr>
            <p:ph type="title"/>
          </p:nvPr>
        </p:nvSpPr>
        <p:spPr/>
        <p:txBody>
          <a:bodyPr/>
          <a:lstStyle/>
          <a:p>
            <a:r>
              <a:rPr lang="en-US" dirty="0"/>
              <a:t>Correlation</a:t>
            </a:r>
          </a:p>
        </p:txBody>
      </p:sp>
      <p:sp>
        <p:nvSpPr>
          <p:cNvPr id="3" name="Content Placeholder 2">
            <a:extLst>
              <a:ext uri="{FF2B5EF4-FFF2-40B4-BE49-F238E27FC236}">
                <a16:creationId xmlns:a16="http://schemas.microsoft.com/office/drawing/2014/main" id="{1E23CAA5-1172-0C8B-7A1F-0DD066F42C6B}"/>
              </a:ext>
            </a:extLst>
          </p:cNvPr>
          <p:cNvSpPr>
            <a:spLocks noGrp="1"/>
          </p:cNvSpPr>
          <p:nvPr>
            <p:ph idx="1"/>
          </p:nvPr>
        </p:nvSpPr>
        <p:spPr/>
        <p:txBody>
          <a:bodyPr/>
          <a:lstStyle/>
          <a:p>
            <a:r>
              <a:rPr lang="en-US" i="1" dirty="0"/>
              <a:t>r </a:t>
            </a:r>
            <a:r>
              <a:rPr lang="en-US" dirty="0"/>
              <a:t> is a useful descriptive statistic indicating the strength of relationship between two variables.</a:t>
            </a:r>
          </a:p>
          <a:p>
            <a:r>
              <a:rPr lang="en-US" dirty="0"/>
              <a:t>Question: Are two datasets correlated?</a:t>
            </a:r>
          </a:p>
          <a:p>
            <a:r>
              <a:rPr lang="en-US" dirty="0"/>
              <a:t>Null Hypothesis: No correlation between the population of two variables. X and Y are independent.</a:t>
            </a:r>
          </a:p>
          <a:p>
            <a:r>
              <a:rPr lang="en-US" dirty="0"/>
              <a:t>Alternative Hypothesis: directional (one-tailed) or non-directional (two-tailed).</a:t>
            </a:r>
          </a:p>
          <a:p>
            <a:pPr lvl="1"/>
            <a:r>
              <a:rPr lang="en-US" dirty="0"/>
              <a:t>One tailed: You have a logical expectation of the correlation being positive or negative.</a:t>
            </a:r>
          </a:p>
          <a:p>
            <a:pPr lvl="1"/>
            <a:r>
              <a:rPr lang="en-US" dirty="0"/>
              <a:t>Two-tailed: No rationale exists to expect positive or negative correlation.</a:t>
            </a:r>
          </a:p>
        </p:txBody>
      </p:sp>
    </p:spTree>
    <p:extLst>
      <p:ext uri="{BB962C8B-B14F-4D97-AF65-F5344CB8AC3E}">
        <p14:creationId xmlns:p14="http://schemas.microsoft.com/office/powerpoint/2010/main" val="17749222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8ACBE-7485-1FBA-BB73-851F69748F3D}"/>
              </a:ext>
            </a:extLst>
          </p:cNvPr>
          <p:cNvSpPr>
            <a:spLocks noGrp="1"/>
          </p:cNvSpPr>
          <p:nvPr>
            <p:ph type="title"/>
          </p:nvPr>
        </p:nvSpPr>
        <p:spPr/>
        <p:txBody>
          <a:bodyPr/>
          <a:lstStyle/>
          <a:p>
            <a:r>
              <a:rPr lang="en-US" dirty="0"/>
              <a:t>Correlation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646A2B4-4F89-6D8C-2B43-BAE337A451DA}"/>
                  </a:ext>
                </a:extLst>
              </p:cNvPr>
              <p:cNvSpPr>
                <a:spLocks noGrp="1"/>
              </p:cNvSpPr>
              <p:nvPr>
                <p:ph idx="1"/>
              </p:nvPr>
            </p:nvSpPr>
            <p:spPr/>
            <p:txBody>
              <a:bodyPr/>
              <a:lstStyle/>
              <a:p>
                <a:r>
                  <a:rPr lang="en-US" dirty="0"/>
                  <a:t>Standard error </a:t>
                </a:r>
                <a:r>
                  <a:rPr lang="en-US" i="1" dirty="0"/>
                  <a:t>(</a:t>
                </a:r>
                <a:r>
                  <a:rPr lang="en-US" i="1" dirty="0" err="1"/>
                  <a:t>s</a:t>
                </a:r>
                <a:r>
                  <a:rPr lang="en-US" baseline="-25000" dirty="0" err="1"/>
                  <a:t>r</a:t>
                </a:r>
                <a:r>
                  <a:rPr lang="en-US" i="1" dirty="0"/>
                  <a:t>)</a:t>
                </a:r>
                <a:r>
                  <a:rPr lang="en-US" dirty="0"/>
                  <a:t> of the correlation estimate:</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𝑟</m:t>
                        </m:r>
                      </m:sub>
                    </m:sSub>
                    <m:r>
                      <a:rPr lang="en-US" b="0" i="1" smtClean="0">
                        <a:latin typeface="Cambria Math" panose="02040503050406030204" pitchFamily="18" charset="0"/>
                      </a:rPr>
                      <m:t>= </m:t>
                    </m:r>
                    <m:rad>
                      <m:radPr>
                        <m:degHide m:val="on"/>
                        <m:ctrlPr>
                          <a:rPr lang="en-US" b="0" i="1" smtClean="0">
                            <a:latin typeface="Cambria Math" panose="02040503050406030204" pitchFamily="18" charset="0"/>
                          </a:rPr>
                        </m:ctrlPr>
                      </m:radPr>
                      <m:deg/>
                      <m:e>
                        <m:f>
                          <m:fPr>
                            <m:ctrlPr>
                              <a:rPr lang="en-US" b="0" i="1" smtClean="0">
                                <a:latin typeface="Cambria Math" panose="02040503050406030204" pitchFamily="18" charset="0"/>
                              </a:rPr>
                            </m:ctrlPr>
                          </m:fPr>
                          <m:num>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𝑟</m:t>
                                </m:r>
                              </m:e>
                              <m:sup>
                                <m:r>
                                  <a:rPr lang="en-US" b="0" i="1" smtClean="0">
                                    <a:latin typeface="Cambria Math" panose="02040503050406030204" pitchFamily="18" charset="0"/>
                                  </a:rPr>
                                  <m:t>2</m:t>
                                </m:r>
                              </m:sup>
                            </m:sSup>
                          </m:num>
                          <m:den>
                            <m:r>
                              <a:rPr lang="en-US" b="0" i="1" smtClean="0">
                                <a:latin typeface="Cambria Math" panose="02040503050406030204" pitchFamily="18" charset="0"/>
                              </a:rPr>
                              <m:t>𝑁</m:t>
                            </m:r>
                            <m:r>
                              <a:rPr lang="en-US" b="0" i="1" smtClean="0">
                                <a:latin typeface="Cambria Math" panose="02040503050406030204" pitchFamily="18" charset="0"/>
                              </a:rPr>
                              <m:t>−2</m:t>
                            </m:r>
                          </m:den>
                        </m:f>
                      </m:e>
                    </m:rad>
                  </m:oMath>
                </a14:m>
                <a:r>
                  <a:rPr lang="en-US" dirty="0"/>
                  <a:t>, where N is the sample size, and </a:t>
                </a:r>
                <a:r>
                  <a:rPr lang="en-US" i="1" dirty="0"/>
                  <a:t>r </a:t>
                </a:r>
                <a:r>
                  <a:rPr lang="en-US" dirty="0"/>
                  <a:t>is the correlation coefficient</a:t>
                </a:r>
              </a:p>
              <a:p>
                <a:r>
                  <a:rPr lang="en-US" dirty="0"/>
                  <a:t>Testing significance:</a:t>
                </a:r>
              </a:p>
              <a:p>
                <a14:m>
                  <m:oMath xmlns:m="http://schemas.openxmlformats.org/officeDocument/2006/math">
                    <m:r>
                      <a:rPr lang="en-US" b="0" i="1" smtClean="0">
                        <a:latin typeface="Cambria Math" panose="02040503050406030204" pitchFamily="18" charset="0"/>
                      </a:rPr>
                      <m:t>𝑡</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𝑟</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𝑟</m:t>
                            </m:r>
                          </m:sub>
                        </m:sSub>
                      </m:den>
                    </m:f>
                  </m:oMath>
                </a14:m>
                <a:endParaRPr lang="en-US" dirty="0"/>
              </a:p>
              <a:p>
                <a:r>
                  <a:rPr lang="en-US" dirty="0"/>
                  <a:t>Let’s try this in R!</a:t>
                </a:r>
              </a:p>
            </p:txBody>
          </p:sp>
        </mc:Choice>
        <mc:Fallback xmlns="">
          <p:sp>
            <p:nvSpPr>
              <p:cNvPr id="3" name="Content Placeholder 2">
                <a:extLst>
                  <a:ext uri="{FF2B5EF4-FFF2-40B4-BE49-F238E27FC236}">
                    <a16:creationId xmlns:a16="http://schemas.microsoft.com/office/drawing/2014/main" id="{1646A2B4-4F89-6D8C-2B43-BAE337A451DA}"/>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65338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Shape 101"/>
          <p:cNvSpPr txBox="1"/>
          <p:nvPr/>
        </p:nvSpPr>
        <p:spPr>
          <a:xfrm>
            <a:off x="536895" y="253767"/>
            <a:ext cx="10695963" cy="584700"/>
          </a:xfrm>
          <a:prstGeom prst="rect">
            <a:avLst/>
          </a:prstGeom>
          <a:noFill/>
          <a:ln>
            <a:noFill/>
          </a:ln>
        </p:spPr>
        <p:txBody>
          <a:bodyPr lIns="91425" tIns="45700" rIns="91425" bIns="45700" anchor="t" anchorCtr="0">
            <a:noAutofit/>
          </a:bodyPr>
          <a:lstStyle/>
          <a:p>
            <a:pPr>
              <a:buSzPct val="25000"/>
            </a:pPr>
            <a:r>
              <a:rPr lang="en-US" sz="4000" b="1" dirty="0">
                <a:latin typeface="+mj-lt"/>
                <a:ea typeface="Gill Sans MT"/>
                <a:cs typeface="Gill Sans MT"/>
                <a:sym typeface="Gill Sans MT"/>
              </a:rPr>
              <a:t>Writing about numbers</a:t>
            </a:r>
          </a:p>
        </p:txBody>
      </p:sp>
      <p:pic>
        <p:nvPicPr>
          <p:cNvPr id="4" name="Picture 3">
            <a:extLst>
              <a:ext uri="{FF2B5EF4-FFF2-40B4-BE49-F238E27FC236}">
                <a16:creationId xmlns:a16="http://schemas.microsoft.com/office/drawing/2014/main" id="{8F8B8432-95C6-4E3E-8DBB-19597ECFEB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895" y="1195124"/>
            <a:ext cx="3540155" cy="5469156"/>
          </a:xfrm>
          <a:prstGeom prst="rect">
            <a:avLst/>
          </a:prstGeom>
        </p:spPr>
      </p:pic>
      <p:sp>
        <p:nvSpPr>
          <p:cNvPr id="5" name="TextBox 4">
            <a:extLst>
              <a:ext uri="{FF2B5EF4-FFF2-40B4-BE49-F238E27FC236}">
                <a16:creationId xmlns:a16="http://schemas.microsoft.com/office/drawing/2014/main" id="{801C265D-0E8B-4619-B9E7-19FA2F3CD80C}"/>
              </a:ext>
            </a:extLst>
          </p:cNvPr>
          <p:cNvSpPr txBox="1"/>
          <p:nvPr/>
        </p:nvSpPr>
        <p:spPr>
          <a:xfrm>
            <a:off x="4404220" y="1342239"/>
            <a:ext cx="7371885" cy="5262979"/>
          </a:xfrm>
          <a:prstGeom prst="rect">
            <a:avLst/>
          </a:prstGeom>
          <a:noFill/>
        </p:spPr>
        <p:txBody>
          <a:bodyPr wrap="square" rtlCol="0">
            <a:spAutoFit/>
          </a:bodyPr>
          <a:lstStyle/>
          <a:p>
            <a:r>
              <a:rPr lang="en-US" sz="2800" dirty="0"/>
              <a:t>“In many ways, writing about numbers is similar to other kinds of expository writing: it should be clear, concise, and written in a logical order. It should start by stating an idea or proposition, then provide evidence to support that thesis. It should include examples that the expected audience can relate to, and descriptive language that enhances their understanding of how the evidence relates to the question[….] In short, it will follow many of the principles of good writing, but with the addition of quantitative information.” (p. 2)</a:t>
            </a:r>
          </a:p>
        </p:txBody>
      </p:sp>
    </p:spTree>
    <p:extLst>
      <p:ext uri="{BB962C8B-B14F-4D97-AF65-F5344CB8AC3E}">
        <p14:creationId xmlns:p14="http://schemas.microsoft.com/office/powerpoint/2010/main" val="15121743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pic>
        <p:nvPicPr>
          <p:cNvPr id="2" name="Picture 1">
            <a:extLst>
              <a:ext uri="{FF2B5EF4-FFF2-40B4-BE49-F238E27FC236}">
                <a16:creationId xmlns:a16="http://schemas.microsoft.com/office/drawing/2014/main" id="{85ED5C07-90BA-40E1-BB77-F430136CF02B}"/>
              </a:ext>
            </a:extLst>
          </p:cNvPr>
          <p:cNvPicPr>
            <a:picLocks noChangeAspect="1"/>
          </p:cNvPicPr>
          <p:nvPr/>
        </p:nvPicPr>
        <p:blipFill rotWithShape="1">
          <a:blip r:embed="rId3"/>
          <a:srcRect b="46055"/>
          <a:stretch/>
        </p:blipFill>
        <p:spPr>
          <a:xfrm>
            <a:off x="211569" y="318782"/>
            <a:ext cx="5295226" cy="4068660"/>
          </a:xfrm>
          <a:prstGeom prst="rect">
            <a:avLst/>
          </a:prstGeom>
        </p:spPr>
      </p:pic>
      <p:pic>
        <p:nvPicPr>
          <p:cNvPr id="6" name="Picture 5">
            <a:extLst>
              <a:ext uri="{FF2B5EF4-FFF2-40B4-BE49-F238E27FC236}">
                <a16:creationId xmlns:a16="http://schemas.microsoft.com/office/drawing/2014/main" id="{715B3B72-789F-47FB-9D70-7E2A0ED30B1F}"/>
              </a:ext>
            </a:extLst>
          </p:cNvPr>
          <p:cNvPicPr>
            <a:picLocks noChangeAspect="1"/>
          </p:cNvPicPr>
          <p:nvPr/>
        </p:nvPicPr>
        <p:blipFill rotWithShape="1">
          <a:blip r:embed="rId3"/>
          <a:srcRect t="53945"/>
          <a:stretch/>
        </p:blipFill>
        <p:spPr>
          <a:xfrm>
            <a:off x="5680376" y="318782"/>
            <a:ext cx="6202376" cy="4068660"/>
          </a:xfrm>
          <a:prstGeom prst="rect">
            <a:avLst/>
          </a:prstGeom>
        </p:spPr>
      </p:pic>
    </p:spTree>
    <p:extLst>
      <p:ext uri="{BB962C8B-B14F-4D97-AF65-F5344CB8AC3E}">
        <p14:creationId xmlns:p14="http://schemas.microsoft.com/office/powerpoint/2010/main" val="6513180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Shape 101"/>
          <p:cNvSpPr txBox="1"/>
          <p:nvPr/>
        </p:nvSpPr>
        <p:spPr>
          <a:xfrm>
            <a:off x="536895" y="253767"/>
            <a:ext cx="10695963" cy="584700"/>
          </a:xfrm>
          <a:prstGeom prst="rect">
            <a:avLst/>
          </a:prstGeom>
          <a:noFill/>
          <a:ln>
            <a:noFill/>
          </a:ln>
        </p:spPr>
        <p:txBody>
          <a:bodyPr lIns="91425" tIns="45700" rIns="91425" bIns="45700" anchor="t" anchorCtr="0">
            <a:noAutofit/>
          </a:bodyPr>
          <a:lstStyle/>
          <a:p>
            <a:pPr>
              <a:buSzPct val="25000"/>
            </a:pPr>
            <a:r>
              <a:rPr lang="en-US" sz="4000" b="1" dirty="0">
                <a:latin typeface="+mj-lt"/>
                <a:ea typeface="Gill Sans MT"/>
                <a:cs typeface="Gill Sans MT"/>
                <a:sym typeface="Gill Sans MT"/>
              </a:rPr>
              <a:t>Principle 2: Picking simple, plausible examples</a:t>
            </a:r>
          </a:p>
        </p:txBody>
      </p:sp>
      <p:sp>
        <p:nvSpPr>
          <p:cNvPr id="5" name="TextBox 4">
            <a:extLst>
              <a:ext uri="{FF2B5EF4-FFF2-40B4-BE49-F238E27FC236}">
                <a16:creationId xmlns:a16="http://schemas.microsoft.com/office/drawing/2014/main" id="{801C265D-0E8B-4619-B9E7-19FA2F3CD80C}"/>
              </a:ext>
            </a:extLst>
          </p:cNvPr>
          <p:cNvSpPr txBox="1"/>
          <p:nvPr/>
        </p:nvSpPr>
        <p:spPr>
          <a:xfrm>
            <a:off x="536896" y="1342239"/>
            <a:ext cx="11239210" cy="3970318"/>
          </a:xfrm>
          <a:prstGeom prst="rect">
            <a:avLst/>
          </a:prstGeom>
          <a:noFill/>
        </p:spPr>
        <p:txBody>
          <a:bodyPr wrap="square" rtlCol="0">
            <a:spAutoFit/>
          </a:bodyPr>
          <a:lstStyle/>
          <a:p>
            <a:r>
              <a:rPr lang="en-US" sz="2800" b="1" dirty="0"/>
              <a:t>Bad: </a:t>
            </a:r>
            <a:r>
              <a:rPr lang="en-US" sz="2800" dirty="0"/>
              <a:t>“In 2001, the average temperature in the New York City area was 56.3 degrees Fahrenheit.”</a:t>
            </a:r>
          </a:p>
          <a:p>
            <a:endParaRPr lang="en-US" sz="2800" b="1" dirty="0"/>
          </a:p>
          <a:p>
            <a:r>
              <a:rPr lang="en-US" sz="2800" b="1" dirty="0"/>
              <a:t>Better: </a:t>
            </a:r>
            <a:r>
              <a:rPr lang="en-US" sz="2800" dirty="0"/>
              <a:t>“In 2001, the average temperature in the New York City area was 56.3 degrees Fahrenheit, 1.5 degrees above normal.”</a:t>
            </a:r>
          </a:p>
          <a:p>
            <a:endParaRPr lang="en-US" sz="2800" dirty="0"/>
          </a:p>
          <a:p>
            <a:r>
              <a:rPr lang="en-US" sz="2800" b="1" dirty="0"/>
              <a:t>Best: </a:t>
            </a:r>
            <a:r>
              <a:rPr lang="en-US" sz="2800" dirty="0"/>
              <a:t>“In 2001, the average temperature in the New York City area was 56.3 degrees Fahrenheit, 1.5 degrees above normal, making it the seventh warmest year on record for the area.”</a:t>
            </a:r>
            <a:endParaRPr lang="en-US" sz="2800" b="1" dirty="0"/>
          </a:p>
        </p:txBody>
      </p:sp>
    </p:spTree>
    <p:extLst>
      <p:ext uri="{BB962C8B-B14F-4D97-AF65-F5344CB8AC3E}">
        <p14:creationId xmlns:p14="http://schemas.microsoft.com/office/powerpoint/2010/main" val="979074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Shape 100"/>
        <p:cNvGrpSpPr/>
        <p:nvPr/>
      </p:nvGrpSpPr>
      <p:grpSpPr>
        <a:xfrm>
          <a:off x="0" y="0"/>
          <a:ext cx="0" cy="0"/>
          <a:chOff x="0" y="0"/>
          <a:chExt cx="0" cy="0"/>
        </a:xfrm>
      </p:grpSpPr>
      <p:sp>
        <p:nvSpPr>
          <p:cNvPr id="101" name="Shape 101"/>
          <p:cNvSpPr txBox="1"/>
          <p:nvPr/>
        </p:nvSpPr>
        <p:spPr>
          <a:xfrm>
            <a:off x="536895" y="253767"/>
            <a:ext cx="10695963" cy="584700"/>
          </a:xfrm>
          <a:prstGeom prst="rect">
            <a:avLst/>
          </a:prstGeom>
          <a:noFill/>
          <a:ln>
            <a:noFill/>
          </a:ln>
        </p:spPr>
        <p:txBody>
          <a:bodyPr lIns="91425" tIns="45700" rIns="91425" bIns="45700" anchor="t" anchorCtr="0">
            <a:noAutofit/>
          </a:bodyPr>
          <a:lstStyle/>
          <a:p>
            <a:pPr>
              <a:buSzPct val="25000"/>
            </a:pPr>
            <a:r>
              <a:rPr lang="en-US" sz="4000" b="1" dirty="0">
                <a:latin typeface="+mj-lt"/>
                <a:ea typeface="Gill Sans MT"/>
                <a:cs typeface="Gill Sans MT"/>
                <a:sym typeface="Gill Sans MT"/>
              </a:rPr>
              <a:t>Principle </a:t>
            </a:r>
            <a:r>
              <a:rPr lang="en-US" sz="4000" b="1" dirty="0">
                <a:ea typeface="Gill Sans MT"/>
                <a:cs typeface="Gill Sans MT"/>
                <a:sym typeface="Gill Sans MT"/>
              </a:rPr>
              <a:t>3: Defining &amp; interpreting your terms</a:t>
            </a:r>
            <a:endParaRPr lang="en-US" sz="4000" b="1" dirty="0">
              <a:latin typeface="+mj-lt"/>
              <a:ea typeface="Gill Sans MT"/>
              <a:cs typeface="Gill Sans MT"/>
              <a:sym typeface="Gill Sans MT"/>
            </a:endParaRPr>
          </a:p>
        </p:txBody>
      </p:sp>
      <p:sp>
        <p:nvSpPr>
          <p:cNvPr id="5" name="TextBox 4">
            <a:extLst>
              <a:ext uri="{FF2B5EF4-FFF2-40B4-BE49-F238E27FC236}">
                <a16:creationId xmlns:a16="http://schemas.microsoft.com/office/drawing/2014/main" id="{801C265D-0E8B-4619-B9E7-19FA2F3CD80C}"/>
              </a:ext>
            </a:extLst>
          </p:cNvPr>
          <p:cNvSpPr txBox="1"/>
          <p:nvPr/>
        </p:nvSpPr>
        <p:spPr>
          <a:xfrm>
            <a:off x="536896" y="1342239"/>
            <a:ext cx="11239210" cy="4893647"/>
          </a:xfrm>
          <a:prstGeom prst="rect">
            <a:avLst/>
          </a:prstGeom>
          <a:noFill/>
        </p:spPr>
        <p:txBody>
          <a:bodyPr wrap="square" rtlCol="0">
            <a:spAutoFit/>
          </a:bodyPr>
          <a:lstStyle/>
          <a:p>
            <a:r>
              <a:rPr lang="en-US" sz="2400" dirty="0"/>
              <a:t>“Those who are not familiar with your topic are unlikely to know which comparisons to make or to have the information for those comparisons immediately at hand. To help them grasp the meaning of the numbers you report, provide the relevant data and explain the comparisons.”</a:t>
            </a:r>
          </a:p>
          <a:p>
            <a:endParaRPr lang="en-US" sz="2400" b="1" dirty="0"/>
          </a:p>
          <a:p>
            <a:r>
              <a:rPr lang="en-US" sz="2400" b="1" dirty="0"/>
              <a:t>Bad: </a:t>
            </a:r>
            <a:r>
              <a:rPr lang="en-US" sz="2400" dirty="0"/>
              <a:t>“In 2011, total expenditures on health care in the United States were estimated to be more than $2.7 trillion (Centers for Medicare and Medicaid Services 2013).”</a:t>
            </a:r>
          </a:p>
          <a:p>
            <a:endParaRPr lang="en-US" sz="2400" dirty="0"/>
          </a:p>
          <a:p>
            <a:r>
              <a:rPr lang="en-US" sz="2400" b="1" dirty="0"/>
              <a:t>Best: </a:t>
            </a:r>
            <a:r>
              <a:rPr lang="en-US" sz="2400" dirty="0"/>
              <a:t>“Between 2000 and 2011, the total costs of health care in the United States nearly doubled, from $1,377 billion to $2,693 billion (Centers for Medicare and Medicaid Services 2013; table 1). Over that same period, the share of gross domestic product (GDP) spent for health care increased from 13.7% to 17.7% (</a:t>
            </a:r>
            <a:r>
              <a:rPr lang="en-US" sz="2400" dirty="0" err="1"/>
              <a:t>Organisation</a:t>
            </a:r>
            <a:r>
              <a:rPr lang="en-US" sz="2400" dirty="0"/>
              <a:t> for Economic Cooperation and Development [OECD]2013, figure 7.2.2).”</a:t>
            </a:r>
            <a:endParaRPr lang="en-US" sz="2400" b="1" dirty="0"/>
          </a:p>
        </p:txBody>
      </p:sp>
    </p:spTree>
    <p:extLst>
      <p:ext uri="{BB962C8B-B14F-4D97-AF65-F5344CB8AC3E}">
        <p14:creationId xmlns:p14="http://schemas.microsoft.com/office/powerpoint/2010/main" val="33600876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Shape 101"/>
          <p:cNvSpPr txBox="1"/>
          <p:nvPr/>
        </p:nvSpPr>
        <p:spPr>
          <a:xfrm>
            <a:off x="536895" y="253767"/>
            <a:ext cx="10695963" cy="584700"/>
          </a:xfrm>
          <a:prstGeom prst="rect">
            <a:avLst/>
          </a:prstGeom>
          <a:noFill/>
          <a:ln>
            <a:noFill/>
          </a:ln>
        </p:spPr>
        <p:txBody>
          <a:bodyPr lIns="91425" tIns="45700" rIns="91425" bIns="45700" anchor="t" anchorCtr="0">
            <a:noAutofit/>
          </a:bodyPr>
          <a:lstStyle/>
          <a:p>
            <a:pPr>
              <a:buSzPct val="25000"/>
            </a:pPr>
            <a:r>
              <a:rPr lang="en-US" sz="4000" b="1" dirty="0">
                <a:latin typeface="+mj-lt"/>
                <a:ea typeface="Gill Sans MT"/>
                <a:cs typeface="Gill Sans MT"/>
                <a:sym typeface="Gill Sans MT"/>
              </a:rPr>
              <a:t>Principle 7: Summarizing patterns</a:t>
            </a:r>
          </a:p>
        </p:txBody>
      </p:sp>
      <p:sp>
        <p:nvSpPr>
          <p:cNvPr id="5" name="TextBox 4">
            <a:extLst>
              <a:ext uri="{FF2B5EF4-FFF2-40B4-BE49-F238E27FC236}">
                <a16:creationId xmlns:a16="http://schemas.microsoft.com/office/drawing/2014/main" id="{801C265D-0E8B-4619-B9E7-19FA2F3CD80C}"/>
              </a:ext>
            </a:extLst>
          </p:cNvPr>
          <p:cNvSpPr txBox="1"/>
          <p:nvPr/>
        </p:nvSpPr>
        <p:spPr>
          <a:xfrm>
            <a:off x="536896" y="1342239"/>
            <a:ext cx="11239210" cy="5262979"/>
          </a:xfrm>
          <a:prstGeom prst="rect">
            <a:avLst/>
          </a:prstGeom>
          <a:noFill/>
        </p:spPr>
        <p:txBody>
          <a:bodyPr wrap="square" rtlCol="0">
            <a:spAutoFit/>
          </a:bodyPr>
          <a:lstStyle/>
          <a:p>
            <a:r>
              <a:rPr lang="en-US" sz="2400" dirty="0"/>
              <a:t>“However, if you provide only a table or chart, you leave it to your readers to figure out for themselves what that evidence says. Instead, digest the patterns to help readers see the general relationship in the table or chart.”</a:t>
            </a:r>
          </a:p>
          <a:p>
            <a:endParaRPr lang="en-US" sz="2400" b="1" dirty="0"/>
          </a:p>
          <a:p>
            <a:r>
              <a:rPr lang="en-US" sz="2400" b="1" dirty="0"/>
              <a:t>Example</a:t>
            </a:r>
            <a:r>
              <a:rPr lang="en-US" sz="2400" dirty="0"/>
              <a:t>: “As shown in figure 2.1, the median price of a new single-family home followed a general upward trend in each of the four major census regions between 1980 and 2000. This trend was interrupted by a leveling off or even a decline in prices around 1990, after which prices resumed their upward trajectory. Throughout most of the period shown, the highest housing prices were found in the Northeast, followed by the West, Midwest, and South (US Census Bureau 2001a).”</a:t>
            </a:r>
          </a:p>
          <a:p>
            <a:endParaRPr lang="en-US" sz="2400" dirty="0"/>
          </a:p>
          <a:p>
            <a:r>
              <a:rPr lang="en-US" sz="2400" b="1" dirty="0"/>
              <a:t>Note exceptions: </a:t>
            </a:r>
            <a:r>
              <a:rPr lang="en-US" sz="2400" dirty="0"/>
              <a:t>“In three of the four regions, housing prices rose throughout the 1980s. In the South, however, housing prices did not begin to rise until 1990, after which they rose at approximately the same rate as in each of the other regions.”</a:t>
            </a:r>
          </a:p>
        </p:txBody>
      </p:sp>
    </p:spTree>
    <p:extLst>
      <p:ext uri="{BB962C8B-B14F-4D97-AF65-F5344CB8AC3E}">
        <p14:creationId xmlns:p14="http://schemas.microsoft.com/office/powerpoint/2010/main" val="16276101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Shape 101">
            <a:extLst>
              <a:ext uri="{FF2B5EF4-FFF2-40B4-BE49-F238E27FC236}">
                <a16:creationId xmlns:a16="http://schemas.microsoft.com/office/drawing/2014/main" id="{B9886DBE-B7EC-461C-8E11-AEB4B910E254}"/>
              </a:ext>
            </a:extLst>
          </p:cNvPr>
          <p:cNvSpPr txBox="1"/>
          <p:nvPr/>
        </p:nvSpPr>
        <p:spPr>
          <a:xfrm>
            <a:off x="536895" y="253767"/>
            <a:ext cx="10695963" cy="584700"/>
          </a:xfrm>
          <a:prstGeom prst="rect">
            <a:avLst/>
          </a:prstGeom>
          <a:noFill/>
          <a:ln>
            <a:noFill/>
          </a:ln>
        </p:spPr>
        <p:txBody>
          <a:bodyPr lIns="91425" tIns="45700" rIns="91425" bIns="45700" anchor="t" anchorCtr="0">
            <a:noAutofit/>
          </a:bodyPr>
          <a:lstStyle/>
          <a:p>
            <a:pPr>
              <a:buSzPct val="25000"/>
            </a:pPr>
            <a:r>
              <a:rPr lang="en-US" sz="4000" b="1" dirty="0">
                <a:latin typeface="+mj-lt"/>
                <a:ea typeface="Gill Sans MT"/>
                <a:cs typeface="Gill Sans MT"/>
                <a:sym typeface="Gill Sans MT"/>
              </a:rPr>
              <a:t>Correlation</a:t>
            </a:r>
          </a:p>
          <a:p>
            <a:pPr>
              <a:buSzPct val="25000"/>
            </a:pPr>
            <a:r>
              <a:rPr lang="en-US" sz="3200" dirty="0">
                <a:latin typeface="+mj-lt"/>
                <a:ea typeface="Gill Sans MT"/>
                <a:cs typeface="Gill Sans MT"/>
                <a:sym typeface="Gill Sans MT"/>
              </a:rPr>
              <a:t>How do variables </a:t>
            </a:r>
            <a:r>
              <a:rPr lang="en-US" sz="3200" b="1" i="1" dirty="0">
                <a:solidFill>
                  <a:srgbClr val="FFC000"/>
                </a:solidFill>
                <a:latin typeface="+mj-lt"/>
                <a:ea typeface="Gill Sans MT"/>
                <a:cs typeface="Gill Sans MT"/>
                <a:sym typeface="Gill Sans MT"/>
              </a:rPr>
              <a:t>co-vary</a:t>
            </a:r>
            <a:r>
              <a:rPr lang="en-US" sz="3200" dirty="0">
                <a:latin typeface="+mj-lt"/>
                <a:ea typeface="Gill Sans MT"/>
                <a:cs typeface="Gill Sans MT"/>
                <a:sym typeface="Gill Sans MT"/>
              </a:rPr>
              <a:t> with one another?</a:t>
            </a:r>
          </a:p>
          <a:p>
            <a:pPr>
              <a:buSzPct val="25000"/>
            </a:pPr>
            <a:r>
              <a:rPr lang="en-US" sz="3200" dirty="0">
                <a:latin typeface="+mj-lt"/>
                <a:ea typeface="Gill Sans MT"/>
                <a:cs typeface="Gill Sans MT"/>
                <a:sym typeface="Gill Sans MT"/>
              </a:rPr>
              <a:t>Range of -1 (inversely correlated) to 1 (positively correlated)</a:t>
            </a:r>
          </a:p>
        </p:txBody>
      </p:sp>
      <p:pic>
        <p:nvPicPr>
          <p:cNvPr id="9" name="Picture 8">
            <a:extLst>
              <a:ext uri="{FF2B5EF4-FFF2-40B4-BE49-F238E27FC236}">
                <a16:creationId xmlns:a16="http://schemas.microsoft.com/office/drawing/2014/main" id="{79EF4C0B-690A-4998-BB1C-4C728423CD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009388"/>
            <a:ext cx="12192000" cy="4215018"/>
          </a:xfrm>
          <a:prstGeom prst="rect">
            <a:avLst/>
          </a:prstGeom>
        </p:spPr>
      </p:pic>
      <p:sp>
        <p:nvSpPr>
          <p:cNvPr id="10" name="Rectangle 9">
            <a:extLst>
              <a:ext uri="{FF2B5EF4-FFF2-40B4-BE49-F238E27FC236}">
                <a16:creationId xmlns:a16="http://schemas.microsoft.com/office/drawing/2014/main" id="{2AE91231-91E0-4682-A895-D782CA770B7F}"/>
              </a:ext>
            </a:extLst>
          </p:cNvPr>
          <p:cNvSpPr/>
          <p:nvPr/>
        </p:nvSpPr>
        <p:spPr>
          <a:xfrm>
            <a:off x="1034641" y="6482403"/>
            <a:ext cx="10475053" cy="369332"/>
          </a:xfrm>
          <a:prstGeom prst="rect">
            <a:avLst/>
          </a:prstGeom>
        </p:spPr>
        <p:txBody>
          <a:bodyPr wrap="square">
            <a:spAutoFit/>
          </a:bodyPr>
          <a:lstStyle/>
          <a:p>
            <a:r>
              <a:rPr lang="en-US" dirty="0">
                <a:hlinkClick r:id="rId4"/>
              </a:rPr>
              <a:t>https://fintechprofessor.com/2018/03/05/export-high-quality-table-correlations-stata-ms-word/</a:t>
            </a:r>
            <a:r>
              <a:rPr lang="en-US" dirty="0"/>
              <a:t> </a:t>
            </a:r>
          </a:p>
        </p:txBody>
      </p:sp>
    </p:spTree>
    <p:extLst>
      <p:ext uri="{BB962C8B-B14F-4D97-AF65-F5344CB8AC3E}">
        <p14:creationId xmlns:p14="http://schemas.microsoft.com/office/powerpoint/2010/main" val="6446689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Shape 101">
            <a:extLst>
              <a:ext uri="{FF2B5EF4-FFF2-40B4-BE49-F238E27FC236}">
                <a16:creationId xmlns:a16="http://schemas.microsoft.com/office/drawing/2014/main" id="{B9886DBE-B7EC-461C-8E11-AEB4B910E254}"/>
              </a:ext>
            </a:extLst>
          </p:cNvPr>
          <p:cNvSpPr txBox="1"/>
          <p:nvPr/>
        </p:nvSpPr>
        <p:spPr>
          <a:xfrm>
            <a:off x="536895" y="253767"/>
            <a:ext cx="10695963" cy="584700"/>
          </a:xfrm>
          <a:prstGeom prst="rect">
            <a:avLst/>
          </a:prstGeom>
          <a:noFill/>
          <a:ln>
            <a:noFill/>
          </a:ln>
        </p:spPr>
        <p:txBody>
          <a:bodyPr lIns="91425" tIns="45700" rIns="91425" bIns="45700" anchor="t" anchorCtr="0">
            <a:noAutofit/>
          </a:bodyPr>
          <a:lstStyle/>
          <a:p>
            <a:pPr>
              <a:buSzPct val="25000"/>
            </a:pPr>
            <a:r>
              <a:rPr lang="en-US" sz="4000" b="1" dirty="0">
                <a:latin typeface="+mj-lt"/>
                <a:ea typeface="Gill Sans MT"/>
                <a:cs typeface="Gill Sans MT"/>
                <a:sym typeface="Gill Sans MT"/>
              </a:rPr>
              <a:t>Correlation</a:t>
            </a:r>
          </a:p>
          <a:p>
            <a:pPr>
              <a:buSzPct val="25000"/>
            </a:pPr>
            <a:r>
              <a:rPr lang="en-US" sz="3200" dirty="0">
                <a:latin typeface="+mj-lt"/>
                <a:ea typeface="Gill Sans MT"/>
                <a:cs typeface="Gill Sans MT"/>
                <a:sym typeface="Gill Sans MT"/>
              </a:rPr>
              <a:t>Correlation is NOT causation</a:t>
            </a:r>
          </a:p>
          <a:p>
            <a:pPr>
              <a:buSzPct val="25000"/>
            </a:pPr>
            <a:r>
              <a:rPr lang="en-US" sz="3200" dirty="0">
                <a:latin typeface="+mj-lt"/>
                <a:ea typeface="Gill Sans MT"/>
                <a:cs typeface="Gill Sans MT"/>
                <a:sym typeface="Gill Sans MT"/>
              </a:rPr>
              <a:t>Correlation is challenging to write about—so many numbers!</a:t>
            </a:r>
          </a:p>
        </p:txBody>
      </p:sp>
      <p:pic>
        <p:nvPicPr>
          <p:cNvPr id="6" name="Picture 5">
            <a:extLst>
              <a:ext uri="{FF2B5EF4-FFF2-40B4-BE49-F238E27FC236}">
                <a16:creationId xmlns:a16="http://schemas.microsoft.com/office/drawing/2014/main" id="{7CC54B51-4356-44E3-8D82-8268D18B10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210724"/>
            <a:ext cx="12192000" cy="4215018"/>
          </a:xfrm>
          <a:prstGeom prst="rect">
            <a:avLst/>
          </a:prstGeom>
        </p:spPr>
      </p:pic>
      <p:sp>
        <p:nvSpPr>
          <p:cNvPr id="7" name="Rectangle 6">
            <a:extLst>
              <a:ext uri="{FF2B5EF4-FFF2-40B4-BE49-F238E27FC236}">
                <a16:creationId xmlns:a16="http://schemas.microsoft.com/office/drawing/2014/main" id="{8024257B-0780-4EFB-A3AB-0C8BFF1CD1EA}"/>
              </a:ext>
            </a:extLst>
          </p:cNvPr>
          <p:cNvSpPr/>
          <p:nvPr/>
        </p:nvSpPr>
        <p:spPr>
          <a:xfrm>
            <a:off x="1034641" y="6482403"/>
            <a:ext cx="10475053" cy="369332"/>
          </a:xfrm>
          <a:prstGeom prst="rect">
            <a:avLst/>
          </a:prstGeom>
        </p:spPr>
        <p:txBody>
          <a:bodyPr wrap="square">
            <a:spAutoFit/>
          </a:bodyPr>
          <a:lstStyle/>
          <a:p>
            <a:r>
              <a:rPr lang="en-US" dirty="0">
                <a:hlinkClick r:id="rId4"/>
              </a:rPr>
              <a:t>https://fintechprofessor.com/2018/03/05/export-high-quality-table-correlations-stata-ms-word/</a:t>
            </a:r>
            <a:r>
              <a:rPr lang="en-US" dirty="0"/>
              <a:t> </a:t>
            </a:r>
          </a:p>
        </p:txBody>
      </p:sp>
    </p:spTree>
    <p:extLst>
      <p:ext uri="{BB962C8B-B14F-4D97-AF65-F5344CB8AC3E}">
        <p14:creationId xmlns:p14="http://schemas.microsoft.com/office/powerpoint/2010/main" val="40278368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Shape 101">
            <a:extLst>
              <a:ext uri="{FF2B5EF4-FFF2-40B4-BE49-F238E27FC236}">
                <a16:creationId xmlns:a16="http://schemas.microsoft.com/office/drawing/2014/main" id="{B9886DBE-B7EC-461C-8E11-AEB4B910E254}"/>
              </a:ext>
            </a:extLst>
          </p:cNvPr>
          <p:cNvSpPr txBox="1"/>
          <p:nvPr/>
        </p:nvSpPr>
        <p:spPr>
          <a:xfrm>
            <a:off x="536895" y="253767"/>
            <a:ext cx="10695963" cy="584700"/>
          </a:xfrm>
          <a:prstGeom prst="rect">
            <a:avLst/>
          </a:prstGeom>
          <a:noFill/>
          <a:ln>
            <a:noFill/>
          </a:ln>
        </p:spPr>
        <p:txBody>
          <a:bodyPr lIns="91425" tIns="45700" rIns="91425" bIns="45700" anchor="t" anchorCtr="0">
            <a:noAutofit/>
          </a:bodyPr>
          <a:lstStyle/>
          <a:p>
            <a:pPr>
              <a:buSzPct val="25000"/>
            </a:pPr>
            <a:r>
              <a:rPr lang="en-US" sz="4000" b="1" dirty="0">
                <a:latin typeface="+mj-lt"/>
                <a:ea typeface="Gill Sans MT"/>
                <a:cs typeface="Gill Sans MT"/>
                <a:sym typeface="Gill Sans MT"/>
              </a:rPr>
              <a:t>Summarizing patterns</a:t>
            </a:r>
          </a:p>
          <a:p>
            <a:pPr>
              <a:buSzPct val="25000"/>
            </a:pPr>
            <a:r>
              <a:rPr lang="en-US" sz="3200" dirty="0">
                <a:latin typeface="+mj-lt"/>
                <a:ea typeface="Gill Sans MT"/>
                <a:cs typeface="Gill Sans MT"/>
                <a:sym typeface="Gill Sans MT"/>
              </a:rPr>
              <a:t>What trends do you see in this table? How would you group these variables based on direction and magnitude?</a:t>
            </a:r>
            <a:endParaRPr lang="en-US" sz="2400" dirty="0">
              <a:latin typeface="+mj-lt"/>
              <a:ea typeface="Gill Sans MT"/>
              <a:cs typeface="Gill Sans MT"/>
              <a:sym typeface="Gill Sans MT"/>
            </a:endParaRPr>
          </a:p>
        </p:txBody>
      </p:sp>
      <p:sp>
        <p:nvSpPr>
          <p:cNvPr id="7" name="Rectangle 6">
            <a:extLst>
              <a:ext uri="{FF2B5EF4-FFF2-40B4-BE49-F238E27FC236}">
                <a16:creationId xmlns:a16="http://schemas.microsoft.com/office/drawing/2014/main" id="{E2DA92E4-DC54-48DE-A3BF-85236FE9F60D}"/>
              </a:ext>
            </a:extLst>
          </p:cNvPr>
          <p:cNvSpPr/>
          <p:nvPr/>
        </p:nvSpPr>
        <p:spPr>
          <a:xfrm>
            <a:off x="1034641" y="6482403"/>
            <a:ext cx="10475053" cy="369332"/>
          </a:xfrm>
          <a:prstGeom prst="rect">
            <a:avLst/>
          </a:prstGeom>
        </p:spPr>
        <p:txBody>
          <a:bodyPr wrap="square">
            <a:spAutoFit/>
          </a:bodyPr>
          <a:lstStyle/>
          <a:p>
            <a:r>
              <a:rPr lang="en-US" dirty="0">
                <a:hlinkClick r:id="rId3"/>
              </a:rPr>
              <a:t>https://fintechprofessor.com/2018/03/05/export-high-quality-table-correlations-stata-ms-word/</a:t>
            </a:r>
            <a:r>
              <a:rPr lang="en-US" dirty="0"/>
              <a:t> </a:t>
            </a:r>
          </a:p>
        </p:txBody>
      </p:sp>
      <p:pic>
        <p:nvPicPr>
          <p:cNvPr id="9" name="Picture 8">
            <a:extLst>
              <a:ext uri="{FF2B5EF4-FFF2-40B4-BE49-F238E27FC236}">
                <a16:creationId xmlns:a16="http://schemas.microsoft.com/office/drawing/2014/main" id="{2EAAF3CA-7084-43D4-87E3-1B6BAE1A28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068111"/>
            <a:ext cx="12192000" cy="4215018"/>
          </a:xfrm>
          <a:prstGeom prst="rect">
            <a:avLst/>
          </a:prstGeom>
        </p:spPr>
      </p:pic>
    </p:spTree>
    <p:extLst>
      <p:ext uri="{BB962C8B-B14F-4D97-AF65-F5344CB8AC3E}">
        <p14:creationId xmlns:p14="http://schemas.microsoft.com/office/powerpoint/2010/main" val="1101975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Shape 101">
            <a:extLst>
              <a:ext uri="{FF2B5EF4-FFF2-40B4-BE49-F238E27FC236}">
                <a16:creationId xmlns:a16="http://schemas.microsoft.com/office/drawing/2014/main" id="{B9886DBE-B7EC-461C-8E11-AEB4B910E254}"/>
              </a:ext>
            </a:extLst>
          </p:cNvPr>
          <p:cNvSpPr txBox="1"/>
          <p:nvPr/>
        </p:nvSpPr>
        <p:spPr>
          <a:xfrm>
            <a:off x="536895" y="253767"/>
            <a:ext cx="10695963" cy="584700"/>
          </a:xfrm>
          <a:prstGeom prst="rect">
            <a:avLst/>
          </a:prstGeom>
          <a:noFill/>
          <a:ln>
            <a:noFill/>
          </a:ln>
        </p:spPr>
        <p:txBody>
          <a:bodyPr lIns="91425" tIns="45700" rIns="91425" bIns="45700" anchor="t" anchorCtr="0">
            <a:noAutofit/>
          </a:bodyPr>
          <a:lstStyle/>
          <a:p>
            <a:pPr>
              <a:buSzPct val="25000"/>
            </a:pPr>
            <a:r>
              <a:rPr lang="en-US" sz="3200" b="1" dirty="0">
                <a:latin typeface="+mj-lt"/>
                <a:ea typeface="Gill Sans MT"/>
                <a:cs typeface="Gill Sans MT"/>
                <a:sym typeface="Gill Sans MT"/>
              </a:rPr>
              <a:t>Let’s try it!</a:t>
            </a:r>
          </a:p>
          <a:p>
            <a:pPr>
              <a:buSzPct val="25000"/>
            </a:pPr>
            <a:r>
              <a:rPr lang="en-US" sz="3200" dirty="0">
                <a:latin typeface="+mj-lt"/>
                <a:ea typeface="Gill Sans MT"/>
                <a:cs typeface="Gill Sans MT"/>
                <a:sym typeface="Gill Sans MT"/>
              </a:rPr>
              <a:t>Correlation of Midwest pollen data in Excel.</a:t>
            </a:r>
          </a:p>
          <a:p>
            <a:pPr>
              <a:buSzPct val="25000"/>
            </a:pPr>
            <a:r>
              <a:rPr lang="en-US" sz="3200" dirty="0">
                <a:latin typeface="+mj-lt"/>
                <a:ea typeface="Gill Sans MT"/>
                <a:cs typeface="Gill Sans MT"/>
                <a:sym typeface="Gill Sans MT"/>
              </a:rPr>
              <a:t>How are species related to one another and </a:t>
            </a:r>
            <a:r>
              <a:rPr lang="en-US" sz="3200" dirty="0" err="1">
                <a:latin typeface="+mj-lt"/>
                <a:ea typeface="Gill Sans MT"/>
                <a:cs typeface="Gill Sans MT"/>
                <a:sym typeface="Gill Sans MT"/>
              </a:rPr>
              <a:t>lat</a:t>
            </a:r>
            <a:r>
              <a:rPr lang="en-US" sz="3200" dirty="0">
                <a:latin typeface="+mj-lt"/>
                <a:ea typeface="Gill Sans MT"/>
                <a:cs typeface="Gill Sans MT"/>
                <a:sym typeface="Gill Sans MT"/>
              </a:rPr>
              <a:t>/long?</a:t>
            </a:r>
          </a:p>
        </p:txBody>
      </p:sp>
      <p:pic>
        <p:nvPicPr>
          <p:cNvPr id="2" name="Picture 1">
            <a:extLst>
              <a:ext uri="{FF2B5EF4-FFF2-40B4-BE49-F238E27FC236}">
                <a16:creationId xmlns:a16="http://schemas.microsoft.com/office/drawing/2014/main" id="{AED906F8-A3B5-45A8-8F5B-C2F06DEE033D}"/>
              </a:ext>
            </a:extLst>
          </p:cNvPr>
          <p:cNvPicPr>
            <a:picLocks noChangeAspect="1"/>
          </p:cNvPicPr>
          <p:nvPr/>
        </p:nvPicPr>
        <p:blipFill>
          <a:blip r:embed="rId3"/>
          <a:stretch>
            <a:fillRect/>
          </a:stretch>
        </p:blipFill>
        <p:spPr>
          <a:xfrm>
            <a:off x="0" y="1976016"/>
            <a:ext cx="12192000" cy="4628217"/>
          </a:xfrm>
          <a:prstGeom prst="rect">
            <a:avLst/>
          </a:prstGeom>
        </p:spPr>
      </p:pic>
    </p:spTree>
    <p:extLst>
      <p:ext uri="{BB962C8B-B14F-4D97-AF65-F5344CB8AC3E}">
        <p14:creationId xmlns:p14="http://schemas.microsoft.com/office/powerpoint/2010/main" val="14348341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Shape 101">
            <a:extLst>
              <a:ext uri="{FF2B5EF4-FFF2-40B4-BE49-F238E27FC236}">
                <a16:creationId xmlns:a16="http://schemas.microsoft.com/office/drawing/2014/main" id="{B9886DBE-B7EC-461C-8E11-AEB4B910E254}"/>
              </a:ext>
            </a:extLst>
          </p:cNvPr>
          <p:cNvSpPr txBox="1"/>
          <p:nvPr/>
        </p:nvSpPr>
        <p:spPr>
          <a:xfrm>
            <a:off x="536895" y="253767"/>
            <a:ext cx="10695963" cy="584700"/>
          </a:xfrm>
          <a:prstGeom prst="rect">
            <a:avLst/>
          </a:prstGeom>
          <a:noFill/>
          <a:ln>
            <a:noFill/>
          </a:ln>
        </p:spPr>
        <p:txBody>
          <a:bodyPr lIns="91425" tIns="45700" rIns="91425" bIns="45700" anchor="t" anchorCtr="0">
            <a:noAutofit/>
          </a:bodyPr>
          <a:lstStyle/>
          <a:p>
            <a:pPr>
              <a:buSzPct val="25000"/>
            </a:pPr>
            <a:r>
              <a:rPr lang="en-US" sz="4000" b="1" dirty="0">
                <a:latin typeface="+mj-lt"/>
                <a:ea typeface="Gill Sans MT"/>
                <a:cs typeface="Gill Sans MT"/>
                <a:sym typeface="Gill Sans MT"/>
              </a:rPr>
              <a:t>Interpreting our results</a:t>
            </a:r>
          </a:p>
          <a:p>
            <a:pPr>
              <a:buSzPct val="25000"/>
            </a:pPr>
            <a:r>
              <a:rPr lang="en-US" sz="4000" dirty="0">
                <a:latin typeface="+mj-lt"/>
                <a:ea typeface="Gill Sans MT"/>
                <a:cs typeface="Gill Sans MT"/>
                <a:sym typeface="Gill Sans MT"/>
              </a:rPr>
              <a:t>What’s the mean and standard deviation of each column?</a:t>
            </a:r>
          </a:p>
        </p:txBody>
      </p:sp>
      <p:pic>
        <p:nvPicPr>
          <p:cNvPr id="2" name="Picture 1">
            <a:extLst>
              <a:ext uri="{FF2B5EF4-FFF2-40B4-BE49-F238E27FC236}">
                <a16:creationId xmlns:a16="http://schemas.microsoft.com/office/drawing/2014/main" id="{AED906F8-A3B5-45A8-8F5B-C2F06DEE033D}"/>
              </a:ext>
            </a:extLst>
          </p:cNvPr>
          <p:cNvPicPr>
            <a:picLocks noChangeAspect="1"/>
          </p:cNvPicPr>
          <p:nvPr/>
        </p:nvPicPr>
        <p:blipFill>
          <a:blip r:embed="rId3"/>
          <a:stretch>
            <a:fillRect/>
          </a:stretch>
        </p:blipFill>
        <p:spPr>
          <a:xfrm>
            <a:off x="0" y="2229783"/>
            <a:ext cx="12192000" cy="4628217"/>
          </a:xfrm>
          <a:prstGeom prst="rect">
            <a:avLst/>
          </a:prstGeom>
        </p:spPr>
      </p:pic>
    </p:spTree>
    <p:extLst>
      <p:ext uri="{BB962C8B-B14F-4D97-AF65-F5344CB8AC3E}">
        <p14:creationId xmlns:p14="http://schemas.microsoft.com/office/powerpoint/2010/main" val="4554312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4" name="Shape 101">
            <a:extLst>
              <a:ext uri="{FF2B5EF4-FFF2-40B4-BE49-F238E27FC236}">
                <a16:creationId xmlns:a16="http://schemas.microsoft.com/office/drawing/2014/main" id="{B9886DBE-B7EC-461C-8E11-AEB4B910E254}"/>
              </a:ext>
            </a:extLst>
          </p:cNvPr>
          <p:cNvSpPr txBox="1"/>
          <p:nvPr/>
        </p:nvSpPr>
        <p:spPr>
          <a:xfrm>
            <a:off x="536895" y="253767"/>
            <a:ext cx="10695963" cy="584700"/>
          </a:xfrm>
          <a:prstGeom prst="rect">
            <a:avLst/>
          </a:prstGeom>
          <a:noFill/>
          <a:ln>
            <a:noFill/>
          </a:ln>
        </p:spPr>
        <p:txBody>
          <a:bodyPr lIns="91425" tIns="45700" rIns="91425" bIns="45700" anchor="t" anchorCtr="0">
            <a:noAutofit/>
          </a:bodyPr>
          <a:lstStyle/>
          <a:p>
            <a:pPr>
              <a:buSzPct val="25000"/>
            </a:pPr>
            <a:r>
              <a:rPr lang="en-US" sz="4000" b="1" dirty="0">
                <a:latin typeface="+mj-lt"/>
                <a:ea typeface="Gill Sans MT"/>
                <a:cs typeface="Gill Sans MT"/>
                <a:sym typeface="Gill Sans MT"/>
              </a:rPr>
              <a:t>Write up your results!</a:t>
            </a:r>
            <a:endParaRPr lang="en-US" sz="4000" dirty="0">
              <a:latin typeface="+mj-lt"/>
              <a:ea typeface="Gill Sans MT"/>
              <a:cs typeface="Gill Sans MT"/>
              <a:sym typeface="Gill Sans MT"/>
            </a:endParaRPr>
          </a:p>
        </p:txBody>
      </p:sp>
      <p:sp>
        <p:nvSpPr>
          <p:cNvPr id="3" name="Rectangle 2">
            <a:extLst>
              <a:ext uri="{FF2B5EF4-FFF2-40B4-BE49-F238E27FC236}">
                <a16:creationId xmlns:a16="http://schemas.microsoft.com/office/drawing/2014/main" id="{F1DD6C92-8035-46D9-8C8E-B501F70046C5}"/>
              </a:ext>
            </a:extLst>
          </p:cNvPr>
          <p:cNvSpPr/>
          <p:nvPr/>
        </p:nvSpPr>
        <p:spPr>
          <a:xfrm>
            <a:off x="771786" y="1126033"/>
            <a:ext cx="10695963" cy="3970318"/>
          </a:xfrm>
          <a:prstGeom prst="rect">
            <a:avLst/>
          </a:prstGeom>
        </p:spPr>
        <p:txBody>
          <a:bodyPr wrap="square">
            <a:spAutoFit/>
          </a:bodyPr>
          <a:lstStyle/>
          <a:p>
            <a:pPr>
              <a:buSzPct val="25000"/>
            </a:pPr>
            <a:r>
              <a:rPr lang="en-US" sz="2800" dirty="0">
                <a:ea typeface="Gill Sans MT"/>
                <a:cs typeface="Gill Sans MT"/>
                <a:sym typeface="Gill Sans MT"/>
              </a:rPr>
              <a:t>Summarize patterns (and exceptions)</a:t>
            </a:r>
          </a:p>
          <a:p>
            <a:pPr marL="457200" indent="-457200">
              <a:buSzPct val="100000"/>
              <a:buFont typeface="Arial" panose="020B0604020202020204" pitchFamily="34" charset="0"/>
              <a:buChar char="•"/>
            </a:pPr>
            <a:r>
              <a:rPr lang="en-US" sz="2800" dirty="0">
                <a:ea typeface="Gill Sans MT"/>
                <a:cs typeface="Gill Sans MT"/>
                <a:sym typeface="Gill Sans MT"/>
              </a:rPr>
              <a:t>Is there a difference? </a:t>
            </a:r>
          </a:p>
          <a:p>
            <a:pPr marL="457200" indent="-457200">
              <a:buSzPct val="100000"/>
              <a:buFont typeface="Arial" panose="020B0604020202020204" pitchFamily="34" charset="0"/>
              <a:buChar char="•"/>
            </a:pPr>
            <a:r>
              <a:rPr lang="en-US" sz="2800" dirty="0">
                <a:ea typeface="Gill Sans MT"/>
                <a:cs typeface="Gill Sans MT"/>
                <a:sym typeface="Gill Sans MT"/>
              </a:rPr>
              <a:t>Generally give attention to direction, magnitude and significance of differences.</a:t>
            </a:r>
          </a:p>
          <a:p>
            <a:pPr>
              <a:buSzPct val="100000"/>
            </a:pPr>
            <a:r>
              <a:rPr lang="en-US" sz="2800" dirty="0">
                <a:ea typeface="Gill Sans MT"/>
                <a:cs typeface="Gill Sans MT"/>
                <a:sym typeface="Gill Sans MT"/>
              </a:rPr>
              <a:t>Interpret your terminology and results</a:t>
            </a:r>
          </a:p>
          <a:p>
            <a:pPr marL="457200" indent="-457200">
              <a:buSzPct val="100000"/>
              <a:buFont typeface="Arial" panose="020B0604020202020204" pitchFamily="34" charset="0"/>
              <a:buChar char="•"/>
            </a:pPr>
            <a:r>
              <a:rPr lang="en-US" sz="2800" dirty="0">
                <a:ea typeface="Gill Sans MT"/>
                <a:cs typeface="Gill Sans MT"/>
                <a:sym typeface="Gill Sans MT"/>
              </a:rPr>
              <a:t>What does significance mean in an ANOVA test? In a post-hoc test?</a:t>
            </a:r>
          </a:p>
          <a:p>
            <a:pPr marL="457200" indent="-457200">
              <a:buClr>
                <a:schemeClr val="tx1"/>
              </a:buClr>
              <a:buSzPct val="100000"/>
              <a:buFont typeface="Arial" panose="020B0604020202020204" pitchFamily="34" charset="0"/>
              <a:buChar char="•"/>
            </a:pPr>
            <a:r>
              <a:rPr lang="en-US" sz="2800" dirty="0">
                <a:ea typeface="Gill Sans MT"/>
                <a:cs typeface="Gill Sans MT"/>
                <a:sym typeface="Gill Sans MT"/>
              </a:rPr>
              <a:t>What examples illustrate the trends you identified? Exceptions to those trends?</a:t>
            </a:r>
          </a:p>
        </p:txBody>
      </p:sp>
    </p:spTree>
    <p:extLst>
      <p:ext uri="{BB962C8B-B14F-4D97-AF65-F5344CB8AC3E}">
        <p14:creationId xmlns:p14="http://schemas.microsoft.com/office/powerpoint/2010/main" val="429014215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TM04033929[[fn=Slate]]</Template>
  <TotalTime>666</TotalTime>
  <Words>1160</Words>
  <Application>Microsoft Office PowerPoint</Application>
  <PresentationFormat>Widescreen</PresentationFormat>
  <Paragraphs>113</Paragraphs>
  <Slides>17</Slides>
  <Notes>11</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Calisto MT</vt:lpstr>
      <vt:lpstr>Cambria Math</vt:lpstr>
      <vt:lpstr>Wingdings 2</vt:lpstr>
      <vt:lpstr>Slate</vt:lpstr>
      <vt:lpstr>Week 11: Correlation; Writing about numbers</vt:lpstr>
      <vt:lpstr>Plan for the week</vt:lpstr>
      <vt:lpstr>Pearson’s correlation coefficient</vt:lpstr>
      <vt:lpstr>Pearson’s correlation coefficient</vt:lpstr>
      <vt:lpstr>Correlation</vt:lpstr>
      <vt:lpstr>Correlation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3: Descriptive statistics</dc:title>
  <dc:creator>Jerry Shannon</dc:creator>
  <cp:lastModifiedBy>Jerry Shannon</cp:lastModifiedBy>
  <cp:revision>128</cp:revision>
  <dcterms:created xsi:type="dcterms:W3CDTF">2021-09-02T15:10:57Z</dcterms:created>
  <dcterms:modified xsi:type="dcterms:W3CDTF">2026-07-28T20:39:12Z</dcterms:modified>
</cp:coreProperties>
</file>