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21"/>
  </p:notesMasterIdLst>
  <p:sldIdLst>
    <p:sldId id="256" r:id="rId2"/>
    <p:sldId id="286" r:id="rId3"/>
    <p:sldId id="300" r:id="rId4"/>
    <p:sldId id="288" r:id="rId5"/>
    <p:sldId id="287" r:id="rId6"/>
    <p:sldId id="289" r:id="rId7"/>
    <p:sldId id="277" r:id="rId8"/>
    <p:sldId id="267" r:id="rId9"/>
    <p:sldId id="298" r:id="rId10"/>
    <p:sldId id="299" r:id="rId11"/>
    <p:sldId id="266" r:id="rId12"/>
    <p:sldId id="274" r:id="rId13"/>
    <p:sldId id="301" r:id="rId14"/>
    <p:sldId id="302" r:id="rId15"/>
    <p:sldId id="303" r:id="rId16"/>
    <p:sldId id="304" r:id="rId17"/>
    <p:sldId id="305" r:id="rId18"/>
    <p:sldId id="306" r:id="rId19"/>
    <p:sldId id="29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72" autoAdjust="0"/>
    <p:restoredTop sz="86396" autoAdjust="0"/>
  </p:normalViewPr>
  <p:slideViewPr>
    <p:cSldViewPr snapToGrid="0">
      <p:cViewPr varScale="1">
        <p:scale>
          <a:sx n="48" d="100"/>
          <a:sy n="48" d="100"/>
        </p:scale>
        <p:origin x="36" y="432"/>
      </p:cViewPr>
      <p:guideLst/>
    </p:cSldViewPr>
  </p:slideViewPr>
  <p:outlineViewPr>
    <p:cViewPr>
      <p:scale>
        <a:sx n="33" d="100"/>
        <a:sy n="33" d="100"/>
      </p:scale>
      <p:origin x="0" y="-280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Shape 87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9" name="Shape 2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Raster data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Shape 250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1959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B7C77631-73E1-5D48-9181-48AFC8987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>
            <a:extLst>
              <a:ext uri="{FF2B5EF4-FFF2-40B4-BE49-F238E27FC236}">
                <a16:creationId xmlns:a16="http://schemas.microsoft.com/office/drawing/2014/main" id="{DC430BDD-AE20-3CD2-1B70-8A25DFFB21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9" name="Shape 249">
            <a:extLst>
              <a:ext uri="{FF2B5EF4-FFF2-40B4-BE49-F238E27FC236}">
                <a16:creationId xmlns:a16="http://schemas.microsoft.com/office/drawing/2014/main" id="{CDDED808-9F77-21FB-9ABA-53678D8B7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Raster data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Shape 250">
            <a:extLst>
              <a:ext uri="{FF2B5EF4-FFF2-40B4-BE49-F238E27FC236}">
                <a16:creationId xmlns:a16="http://schemas.microsoft.com/office/drawing/2014/main" id="{27603A78-5FE7-0B93-A49D-9D2F9A7DA6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806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9" name="Shape 2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Raster data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Comprised of raster cells—all the same size and all with a value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data is always continuous and there are no discrete units—a single point or area.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most of my work has been with vector based data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raster maps? Temperature data (interpolated), land cover, classified remote sensing imagery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you could ask of a land cover map—what percentage of an area is covered by various land cover types. What’s the relationship between type of land cover and other characteristics: elevation, proximity to certain features, etc.?</a:t>
            </a:r>
          </a:p>
        </p:txBody>
      </p:sp>
      <p:sp>
        <p:nvSpPr>
          <p:cNvPr id="250" name="Shape 250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1600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9" name="Shape 2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Shape 250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0583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9" name="Shape 2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Shape 250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9922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8" name="Shape 1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Difference between descriptive and inferential statistics.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rates of cancer in all state counties. </a:t>
            </a:r>
          </a:p>
        </p:txBody>
      </p:sp>
      <p:sp>
        <p:nvSpPr>
          <p:cNvPr id="159" name="Shape 15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1326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makes data geographic?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 variety of data sources and methods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Raster and vector based data sources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about a place in some form—often now through GIS based techniques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RASTER DATA: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Comprised of raster cells—all the same size and all with a value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DATA: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A representation of the world using points, lines, and polygons. Vector models are useful for storing data that has discrete boundaries, such as country borders, land parcels, and streets.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(Jerry uses vector data, I use raster but I don’t call it that)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Shape 173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 its simplest form, a raster consists of a matrix of cells (or pixels) organized into rows and columns (or a grid) where each cell contains a value representing information, such as temperature. </a:t>
            </a:r>
            <a:r>
              <a:rPr lang="en-US" sz="1200" b="0" i="0" u="none" strike="noStrike" kern="1200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Rasters</a:t>
            </a: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are digital aerial photographs, imagery from satellites, digital pictures, or even scanned maps.</a:t>
            </a:r>
          </a:p>
          <a:p>
            <a:endParaRPr lang="en-US" dirty="0"/>
          </a:p>
          <a:p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Data stored in a raster format represents real-world phenomena:</a:t>
            </a:r>
          </a:p>
          <a:p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Thematic data (also known as discrete) represents features such as land-use or soils data.</a:t>
            </a:r>
          </a:p>
          <a:p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Continuous data represents phenomena such as temperature, elevation, or spectral data such as satellite images and aerial photographs.</a:t>
            </a:r>
          </a:p>
          <a:p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Pictures include scanned maps or drawings and building photographs.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br>
              <a:rPr lang="en-US" dirty="0"/>
            </a:b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raster maps? Temperature data (interpolated), land cover, classified remote sensing imagery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you could ask of a land cover map—what percentage of an area is covered by various land cover types. What’s the relationship between type of land cover and other characteristics: elevation, proximity to certain features, etc.?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5319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4" name="Shape 1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Shape 16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0" name="Shape 2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recently, new generation of work on quantitative geography drawing on increased computing power, GIS software, and increasing availability of “big data”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for managing and analyzing datasets of multiple terabytes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Shape 231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52E4A916-FE51-5A4F-1545-8A073BE67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>
            <a:extLst>
              <a:ext uri="{FF2B5EF4-FFF2-40B4-BE49-F238E27FC236}">
                <a16:creationId xmlns:a16="http://schemas.microsoft.com/office/drawing/2014/main" id="{10D2E6BE-F286-E8D5-BCEA-63D4812DB1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0" name="Shape 230">
            <a:extLst>
              <a:ext uri="{FF2B5EF4-FFF2-40B4-BE49-F238E27FC236}">
                <a16:creationId xmlns:a16="http://schemas.microsoft.com/office/drawing/2014/main" id="{B3A515EF-1F0E-A94B-C93E-2C743E580A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recently, new generation of work on quantitative geography drawing on increased computing power, GIS software, and increasing availability of “big data”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for managing and analyzing datasets of multiple terabytes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Shape 231">
            <a:extLst>
              <a:ext uri="{FF2B5EF4-FFF2-40B4-BE49-F238E27FC236}">
                <a16:creationId xmlns:a16="http://schemas.microsoft.com/office/drawing/2014/main" id="{FC0553EA-55AF-146E-0633-4DA1AD6B96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9527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52E4A916-FE51-5A4F-1545-8A073BE67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>
            <a:extLst>
              <a:ext uri="{FF2B5EF4-FFF2-40B4-BE49-F238E27FC236}">
                <a16:creationId xmlns:a16="http://schemas.microsoft.com/office/drawing/2014/main" id="{10D2E6BE-F286-E8D5-BCEA-63D4812DB1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0" name="Shape 230">
            <a:extLst>
              <a:ext uri="{FF2B5EF4-FFF2-40B4-BE49-F238E27FC236}">
                <a16:creationId xmlns:a16="http://schemas.microsoft.com/office/drawing/2014/main" id="{B3A515EF-1F0E-A94B-C93E-2C743E580A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recently, new generation of work on quantitative geography drawing on increased computing power, GIS software, and increasing availability of “big data”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for managing and analyzing datasets of multiple terabytes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Shape 231">
            <a:extLst>
              <a:ext uri="{FF2B5EF4-FFF2-40B4-BE49-F238E27FC236}">
                <a16:creationId xmlns:a16="http://schemas.microsoft.com/office/drawing/2014/main" id="{FC0553EA-55AF-146E-0633-4DA1AD6B96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2411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568BC792-427C-BFDE-CFC6-E767F374A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>
            <a:extLst>
              <a:ext uri="{FF2B5EF4-FFF2-40B4-BE49-F238E27FC236}">
                <a16:creationId xmlns:a16="http://schemas.microsoft.com/office/drawing/2014/main" id="{D28A6BB3-7201-203A-138D-6F7B3E1335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0" name="Shape 230">
            <a:extLst>
              <a:ext uri="{FF2B5EF4-FFF2-40B4-BE49-F238E27FC236}">
                <a16:creationId xmlns:a16="http://schemas.microsoft.com/office/drawing/2014/main" id="{95E4F521-708D-F341-03A5-667DA75299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recently, new generation of work on quantitative geography drawing on increased computing power, GIS software, and increasing availability of “big data”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for managing and analyzing datasets of multiple terabytes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Shape 231">
            <a:extLst>
              <a:ext uri="{FF2B5EF4-FFF2-40B4-BE49-F238E27FC236}">
                <a16:creationId xmlns:a16="http://schemas.microsoft.com/office/drawing/2014/main" id="{6A2697EF-2A51-060A-D13D-696610F761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50428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93648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9" name="Shape 2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Shape 250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4935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22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94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84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3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8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61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65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1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9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</a:schemeClr>
          </a:solidFill>
          <a:latin typeface="Sitka Display Semibold" pitchFamily="2" charset="0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>
            <a:lumMod val="75000"/>
          </a:schemeClr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gif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gif"/><Relationship Id="rId4" Type="http://schemas.openxmlformats.org/officeDocument/2006/relationships/image" Target="../media/image15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sSrzmRawUg?feature=oembed" TargetMode="External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een matrix background. Falling numbers on screen. Technology stream ...">
            <a:extLst>
              <a:ext uri="{FF2B5EF4-FFF2-40B4-BE49-F238E27FC236}">
                <a16:creationId xmlns:a16="http://schemas.microsoft.com/office/drawing/2014/main" id="{EA0AD0F7-D74A-80F6-A0FE-AC53A49853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08" b="4456"/>
          <a:stretch>
            <a:fillRect/>
          </a:stretch>
        </p:blipFill>
        <p:spPr>
          <a:xfrm>
            <a:off x="1" y="-1"/>
            <a:ext cx="12192000" cy="6824911"/>
          </a:xfrm>
          <a:prstGeom prst="rect">
            <a:avLst/>
          </a:prstGeom>
        </p:spPr>
      </p:pic>
      <p:sp>
        <p:nvSpPr>
          <p:cNvPr id="89" name="Shape 89"/>
          <p:cNvSpPr txBox="1">
            <a:spLocks noGrp="1"/>
          </p:cNvSpPr>
          <p:nvPr>
            <p:ph type="title"/>
          </p:nvPr>
        </p:nvSpPr>
        <p:spPr>
          <a:xfrm>
            <a:off x="1097280" y="941360"/>
            <a:ext cx="9977120" cy="68424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rgbClr val="FFFF66"/>
              </a:buClr>
              <a:buSzPct val="25000"/>
            </a:pPr>
            <a:r>
              <a:rPr lang="en-US" sz="3959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Data Science and Coding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5047B0-7E90-131C-4300-F015433AA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F1FDB5-E7F9-4418-A232-5291A07F2AA6}"/>
              </a:ext>
            </a:extLst>
          </p:cNvPr>
          <p:cNvSpPr txBox="1"/>
          <p:nvPr/>
        </p:nvSpPr>
        <p:spPr>
          <a:xfrm>
            <a:off x="1097280" y="5389470"/>
            <a:ext cx="3305713" cy="83099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Sitka Subheading" pitchFamily="2" charset="0"/>
              </a:rPr>
              <a:t>Geog4/6300: Fall 2026</a:t>
            </a:r>
          </a:p>
          <a:p>
            <a:r>
              <a:rPr lang="en-US" sz="2400" dirty="0">
                <a:solidFill>
                  <a:schemeClr val="bg1"/>
                </a:solidFill>
                <a:latin typeface="Sitka Subheading" pitchFamily="2" charset="0"/>
              </a:rPr>
              <a:t>Dr. Shannon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 descr="http://developer.r-project.org/Logo/Rlogo.svg"/>
          <p:cNvSpPr/>
          <p:nvPr/>
        </p:nvSpPr>
        <p:spPr>
          <a:xfrm>
            <a:off x="1679576" y="-144463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Shape 254" descr="http://developer.r-project.org/Logo/Rlogo.svg"/>
          <p:cNvSpPr/>
          <p:nvPr/>
        </p:nvSpPr>
        <p:spPr>
          <a:xfrm>
            <a:off x="1831976" y="7938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Shape 255" descr="http://developer.r-project.org/Logo/Rlogo.svg"/>
          <p:cNvSpPr/>
          <p:nvPr/>
        </p:nvSpPr>
        <p:spPr>
          <a:xfrm>
            <a:off x="1984376" y="160337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Shape 256" descr="http://developer.r-project.org/Logo/Rlogo.svg"/>
          <p:cNvSpPr/>
          <p:nvPr/>
        </p:nvSpPr>
        <p:spPr>
          <a:xfrm>
            <a:off x="2136776" y="312738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AutoShape 6" descr="Image result for r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4F7605-3C29-F07B-44A7-C156DFA4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2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EAA2DA-DEAB-6B17-237B-0579A5F7A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49866" y="4991290"/>
            <a:ext cx="7642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https://www.menti.com/alf1iff3dbnv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384710-F7B3-F8F0-D5F0-620B771CB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986" y="2476689"/>
            <a:ext cx="2232378" cy="223237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B0F933B-F1A3-4994-A108-16DD31F1EE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97280" y="296542"/>
            <a:ext cx="10058400" cy="1450757"/>
          </a:xfrm>
        </p:spPr>
        <p:txBody>
          <a:bodyPr/>
          <a:lstStyle/>
          <a:p>
            <a:pPr rtl="0" eaLnBrk="1" latinLnBrk="0" hangingPunct="1"/>
            <a:r>
              <a:rPr lang="en-US" sz="4400" kern="1200" dirty="0">
                <a:solidFill>
                  <a:srgbClr val="5C5C5C"/>
                </a:solidFill>
                <a:effectLst/>
                <a:latin typeface="Sitka Display Semibold" pitchFamily="2" charset="0"/>
                <a:ea typeface="Calibri" panose="020F0502020204030204" pitchFamily="34" charset="0"/>
                <a:cs typeface="Calibri" panose="020F0502020204030204" pitchFamily="34" charset="0"/>
              </a:rPr>
              <a:t>What words do you think of when you think of statistics?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39941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1">
          <a:extLst>
            <a:ext uri="{FF2B5EF4-FFF2-40B4-BE49-F238E27FC236}">
              <a16:creationId xmlns:a16="http://schemas.microsoft.com/office/drawing/2014/main" id="{728AD02F-2635-20CD-D196-450510D55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 descr="http://developer.r-project.org/Logo/Rlogo.svg">
            <a:extLst>
              <a:ext uri="{FF2B5EF4-FFF2-40B4-BE49-F238E27FC236}">
                <a16:creationId xmlns:a16="http://schemas.microsoft.com/office/drawing/2014/main" id="{DE46378B-4310-C551-058E-B85E7EC882D1}"/>
              </a:ext>
            </a:extLst>
          </p:cNvPr>
          <p:cNvSpPr/>
          <p:nvPr/>
        </p:nvSpPr>
        <p:spPr>
          <a:xfrm>
            <a:off x="1679576" y="-144463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Shape 254" descr="http://developer.r-project.org/Logo/Rlogo.svg">
            <a:extLst>
              <a:ext uri="{FF2B5EF4-FFF2-40B4-BE49-F238E27FC236}">
                <a16:creationId xmlns:a16="http://schemas.microsoft.com/office/drawing/2014/main" id="{04BCA5DA-EE25-283E-566C-8B8A408F21E5}"/>
              </a:ext>
            </a:extLst>
          </p:cNvPr>
          <p:cNvSpPr/>
          <p:nvPr/>
        </p:nvSpPr>
        <p:spPr>
          <a:xfrm>
            <a:off x="1831976" y="7938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Shape 255" descr="http://developer.r-project.org/Logo/Rlogo.svg">
            <a:extLst>
              <a:ext uri="{FF2B5EF4-FFF2-40B4-BE49-F238E27FC236}">
                <a16:creationId xmlns:a16="http://schemas.microsoft.com/office/drawing/2014/main" id="{6DA7F2B5-DC4A-5106-E28E-DFEC0CEE0F2C}"/>
              </a:ext>
            </a:extLst>
          </p:cNvPr>
          <p:cNvSpPr/>
          <p:nvPr/>
        </p:nvSpPr>
        <p:spPr>
          <a:xfrm>
            <a:off x="1984376" y="160337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Shape 256" descr="http://developer.r-project.org/Logo/Rlogo.svg">
            <a:extLst>
              <a:ext uri="{FF2B5EF4-FFF2-40B4-BE49-F238E27FC236}">
                <a16:creationId xmlns:a16="http://schemas.microsoft.com/office/drawing/2014/main" id="{55B306D6-CE0B-E859-32F0-3989FA9891B3}"/>
              </a:ext>
            </a:extLst>
          </p:cNvPr>
          <p:cNvSpPr/>
          <p:nvPr/>
        </p:nvSpPr>
        <p:spPr>
          <a:xfrm>
            <a:off x="2136776" y="312738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AutoShape 6" descr="Image result for r">
            <a:extLst>
              <a:ext uri="{FF2B5EF4-FFF2-40B4-BE49-F238E27FC236}">
                <a16:creationId xmlns:a16="http://schemas.microsoft.com/office/drawing/2014/main" id="{7121A005-05F3-D0D3-744C-1F6912BF91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9" name="Shape 146">
            <a:extLst>
              <a:ext uri="{FF2B5EF4-FFF2-40B4-BE49-F238E27FC236}">
                <a16:creationId xmlns:a16="http://schemas.microsoft.com/office/drawing/2014/main" id="{FC1E7A98-41EB-E5EE-4B2B-8FC21209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9088" y="2572994"/>
            <a:ext cx="2984973" cy="289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Shape 147">
            <a:extLst>
              <a:ext uri="{FF2B5EF4-FFF2-40B4-BE49-F238E27FC236}">
                <a16:creationId xmlns:a16="http://schemas.microsoft.com/office/drawing/2014/main" id="{4B548555-02A6-4F82-B51C-1DDF0598C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57941" y="2449193"/>
            <a:ext cx="3229998" cy="289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28B4E8-CB40-CA40-07A2-EBC6B7C70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888" b="5273"/>
          <a:stretch/>
        </p:blipFill>
        <p:spPr>
          <a:xfrm>
            <a:off x="4752976" y="2719834"/>
            <a:ext cx="2686049" cy="259660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975DF7-9DBE-EAAE-589D-D1EABE10D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3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9E3D55-D622-4EF4-A562-86DCCD5D2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43803"/>
            <a:ext cx="10058400" cy="1450757"/>
          </a:xfrm>
        </p:spPr>
        <p:txBody>
          <a:bodyPr/>
          <a:lstStyle/>
          <a:p>
            <a:pPr rtl="0" eaLnBrk="1" latinLnBrk="0" hangingPunct="1"/>
            <a:r>
              <a:rPr lang="en-US" sz="4400" kern="1200" dirty="0">
                <a:solidFill>
                  <a:srgbClr val="5C5C5C"/>
                </a:solidFill>
                <a:effectLst/>
                <a:latin typeface="Sitka Display Semibold" pitchFamily="2" charset="0"/>
                <a:ea typeface="Calibri" panose="020F0502020204030204" pitchFamily="34" charset="0"/>
                <a:cs typeface="Calibri" panose="020F0502020204030204" pitchFamily="34" charset="0"/>
              </a:rPr>
              <a:t>Types of statistics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782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 descr="http://developer.r-project.org/Logo/Rlogo.svg"/>
          <p:cNvSpPr/>
          <p:nvPr/>
        </p:nvSpPr>
        <p:spPr>
          <a:xfrm>
            <a:off x="1679576" y="-144463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Shape 254" descr="http://developer.r-project.org/Logo/Rlogo.svg"/>
          <p:cNvSpPr/>
          <p:nvPr/>
        </p:nvSpPr>
        <p:spPr>
          <a:xfrm>
            <a:off x="1831976" y="7938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Shape 255" descr="http://developer.r-project.org/Logo/Rlogo.svg"/>
          <p:cNvSpPr/>
          <p:nvPr/>
        </p:nvSpPr>
        <p:spPr>
          <a:xfrm>
            <a:off x="1984376" y="160337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Shape 256" descr="http://developer.r-project.org/Logo/Rlogo.svg"/>
          <p:cNvSpPr/>
          <p:nvPr/>
        </p:nvSpPr>
        <p:spPr>
          <a:xfrm>
            <a:off x="2136776" y="312738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AutoShape 6" descr="Image result for r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9" name="Shape 146">
            <a:extLst>
              <a:ext uri="{FF2B5EF4-FFF2-40B4-BE49-F238E27FC236}">
                <a16:creationId xmlns:a16="http://schemas.microsoft.com/office/drawing/2014/main" id="{C61195E6-5007-4614-9CE0-604BEC194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2370" y="3596321"/>
            <a:ext cx="3152963" cy="26358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CF5879-AF74-4DA1-9B01-1BC05E355968}"/>
              </a:ext>
            </a:extLst>
          </p:cNvPr>
          <p:cNvSpPr/>
          <p:nvPr/>
        </p:nvSpPr>
        <p:spPr>
          <a:xfrm>
            <a:off x="1221582" y="1940776"/>
            <a:ext cx="590170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  <a:sym typeface="Calibri"/>
              </a:rPr>
              <a:t>Central tendency</a:t>
            </a:r>
          </a:p>
          <a:p>
            <a:pPr marL="457200" indent="-457200"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  <a:sym typeface="Calibri"/>
              </a:rPr>
              <a:t>Distribution</a:t>
            </a:r>
          </a:p>
          <a:p>
            <a:pPr marL="457200" indent="-457200"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  <a:sym typeface="Calibri"/>
              </a:rPr>
              <a:t>Change over time</a:t>
            </a:r>
          </a:p>
          <a:p>
            <a:pPr marL="457200" indent="-457200"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  <a:sym typeface="Calibri"/>
              </a:rPr>
              <a:t>Data visualization/exploratory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38B799-D326-40B1-B44B-9094848B2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2250"/>
          <a:stretch/>
        </p:blipFill>
        <p:spPr>
          <a:xfrm>
            <a:off x="7275689" y="33090"/>
            <a:ext cx="4715734" cy="348694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E2223-D89D-BE46-E7C1-D95C7FB8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4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5AD1E01-3E53-4B11-84A8-1B0CA9AFB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54350"/>
            <a:ext cx="10058400" cy="1450757"/>
          </a:xfrm>
        </p:spPr>
        <p:txBody>
          <a:bodyPr/>
          <a:lstStyle/>
          <a:p>
            <a:pPr rtl="0" eaLnBrk="1" latinLnBrk="0" hangingPunct="1"/>
            <a:r>
              <a:rPr lang="en-US" sz="4400" kern="1200" dirty="0">
                <a:solidFill>
                  <a:srgbClr val="5C5C5C"/>
                </a:solidFill>
                <a:effectLst/>
                <a:latin typeface="Sitka Display Semibold" pitchFamily="2" charset="0"/>
                <a:ea typeface="Calibri" panose="020F0502020204030204" pitchFamily="34" charset="0"/>
                <a:cs typeface="Calibri" panose="020F0502020204030204" pitchFamily="34" charset="0"/>
              </a:rPr>
              <a:t>Descriptive statistics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710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 descr="http://developer.r-project.org/Logo/Rlogo.svg"/>
          <p:cNvSpPr/>
          <p:nvPr/>
        </p:nvSpPr>
        <p:spPr>
          <a:xfrm>
            <a:off x="1679576" y="-144463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Shape 254" descr="http://developer.r-project.org/Logo/Rlogo.svg"/>
          <p:cNvSpPr/>
          <p:nvPr/>
        </p:nvSpPr>
        <p:spPr>
          <a:xfrm>
            <a:off x="1831976" y="7938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Shape 255" descr="http://developer.r-project.org/Logo/Rlogo.svg"/>
          <p:cNvSpPr/>
          <p:nvPr/>
        </p:nvSpPr>
        <p:spPr>
          <a:xfrm>
            <a:off x="1984376" y="160337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Shape 256" descr="http://developer.r-project.org/Logo/Rlogo.svg"/>
          <p:cNvSpPr/>
          <p:nvPr/>
        </p:nvSpPr>
        <p:spPr>
          <a:xfrm>
            <a:off x="2136776" y="312738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AutoShape 6" descr="Image result for r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CF5879-AF74-4DA1-9B01-1BC05E355968}"/>
              </a:ext>
            </a:extLst>
          </p:cNvPr>
          <p:cNvSpPr/>
          <p:nvPr/>
        </p:nvSpPr>
        <p:spPr>
          <a:xfrm>
            <a:off x="1271671" y="1909947"/>
            <a:ext cx="7772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ea typeface="Calibri"/>
                <a:cs typeface="Calibri"/>
                <a:sym typeface="Calibri"/>
              </a:rPr>
              <a:t>Difference in means/t-tests</a:t>
            </a:r>
          </a:p>
          <a:p>
            <a:pPr marL="457200" indent="-457200"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ea typeface="Calibri"/>
                <a:cs typeface="Calibri"/>
                <a:sym typeface="Calibri"/>
              </a:rPr>
              <a:t>Confidence intervals</a:t>
            </a:r>
          </a:p>
          <a:p>
            <a:pPr marL="457200" indent="-457200"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ea typeface="Calibri"/>
                <a:cs typeface="Calibri"/>
                <a:sym typeface="Calibri"/>
              </a:rPr>
              <a:t>Correlation</a:t>
            </a:r>
          </a:p>
          <a:p>
            <a:pPr marL="457200" indent="-457200"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ea typeface="Calibri"/>
                <a:cs typeface="Calibri"/>
                <a:sym typeface="Calibri"/>
              </a:rPr>
              <a:t>Regression</a:t>
            </a:r>
          </a:p>
          <a:p>
            <a:pPr marL="457200" indent="-457200"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ea typeface="Calibri"/>
                <a:cs typeface="Calibri"/>
                <a:sym typeface="Calibri"/>
              </a:rPr>
              <a:t>Machine learning</a:t>
            </a:r>
          </a:p>
          <a:p>
            <a:pPr marL="457200" indent="-457200"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ea typeface="Calibri"/>
                <a:cs typeface="Calibri"/>
                <a:sym typeface="Calibri"/>
              </a:rPr>
              <a:t>Clustering</a:t>
            </a:r>
          </a:p>
        </p:txBody>
      </p:sp>
      <p:pic>
        <p:nvPicPr>
          <p:cNvPr id="14" name="Shape 147">
            <a:extLst>
              <a:ext uri="{FF2B5EF4-FFF2-40B4-BE49-F238E27FC236}">
                <a16:creationId xmlns:a16="http://schemas.microsoft.com/office/drawing/2014/main" id="{22C12108-4117-4598-9123-489C46384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1867" y="152400"/>
            <a:ext cx="3769614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D05EAA-0B09-4DB6-A05D-925569AA4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5206" y="3835105"/>
            <a:ext cx="4486275" cy="20383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A680A-D3DD-7375-FF01-B6D6CB30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5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D8506B-51BB-4EF2-BB4A-5F76F58AE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76277"/>
            <a:ext cx="10058400" cy="801449"/>
          </a:xfrm>
        </p:spPr>
        <p:txBody>
          <a:bodyPr/>
          <a:lstStyle/>
          <a:p>
            <a:pPr rtl="0" eaLnBrk="1" latinLnBrk="0" hangingPunct="1"/>
            <a:r>
              <a:rPr lang="en-US" sz="4400" kern="1200" dirty="0">
                <a:solidFill>
                  <a:srgbClr val="2F2F2F"/>
                </a:solidFill>
                <a:effectLst/>
                <a:latin typeface="Sitka Display Semibold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Inferential statistics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20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 descr="http://developer.r-project.org/Logo/Rlogo.svg"/>
          <p:cNvSpPr/>
          <p:nvPr/>
        </p:nvSpPr>
        <p:spPr>
          <a:xfrm>
            <a:off x="1679576" y="-144463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Shape 254" descr="http://developer.r-project.org/Logo/Rlogo.svg"/>
          <p:cNvSpPr/>
          <p:nvPr/>
        </p:nvSpPr>
        <p:spPr>
          <a:xfrm>
            <a:off x="1831976" y="7938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Shape 255" descr="http://developer.r-project.org/Logo/Rlogo.svg"/>
          <p:cNvSpPr/>
          <p:nvPr/>
        </p:nvSpPr>
        <p:spPr>
          <a:xfrm>
            <a:off x="1984376" y="160337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Shape 256" descr="http://developer.r-project.org/Logo/Rlogo.svg"/>
          <p:cNvSpPr/>
          <p:nvPr/>
        </p:nvSpPr>
        <p:spPr>
          <a:xfrm>
            <a:off x="2136776" y="312738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AutoShape 6" descr="Image result for r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Shape 208">
            <a:extLst>
              <a:ext uri="{FF2B5EF4-FFF2-40B4-BE49-F238E27FC236}">
                <a16:creationId xmlns:a16="http://schemas.microsoft.com/office/drawing/2014/main" id="{B5ED5A12-E140-4B27-8ED2-A376D55B0764}"/>
              </a:ext>
            </a:extLst>
          </p:cNvPr>
          <p:cNvSpPr txBox="1"/>
          <p:nvPr/>
        </p:nvSpPr>
        <p:spPr>
          <a:xfrm>
            <a:off x="1128349" y="850322"/>
            <a:ext cx="7772400" cy="7694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CF5879-AF74-4DA1-9B01-1BC05E355968}"/>
              </a:ext>
            </a:extLst>
          </p:cNvPr>
          <p:cNvSpPr/>
          <p:nvPr/>
        </p:nvSpPr>
        <p:spPr>
          <a:xfrm>
            <a:off x="1280749" y="1965420"/>
            <a:ext cx="602316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  <a:sym typeface="Calibri"/>
              </a:rPr>
              <a:t>Spatial autocorrelation/Hotspot analysis</a:t>
            </a:r>
          </a:p>
          <a:p>
            <a:pPr marL="457200" indent="-457200"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  <a:sym typeface="Calibri"/>
              </a:rPr>
              <a:t>Spatial clustering</a:t>
            </a:r>
          </a:p>
          <a:p>
            <a:pPr marL="457200" indent="-457200"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  <a:sym typeface="Calibri"/>
              </a:rPr>
              <a:t>Geographic regression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53B2A5-8BED-4A82-9366-99D73D997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451" y="3551320"/>
            <a:ext cx="4513042" cy="2562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2499F4-4C3B-4B60-BD20-67AA9C85A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923" y="255846"/>
            <a:ext cx="4033706" cy="31226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BB0F4-A2AC-E5EE-680F-03F2B4E8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6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FC90511-6DF6-4370-B2C5-BAC79ED5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  <a:sym typeface="Calibri"/>
              </a:rPr>
              <a:t>Spatial statistics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745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/>
          <p:nvPr/>
        </p:nvSpPr>
        <p:spPr>
          <a:xfrm>
            <a:off x="1097280" y="5526477"/>
            <a:ext cx="10113264" cy="822960"/>
          </a:xfrm>
          <a:prstGeom prst="rect">
            <a:avLst/>
          </a:prstGeom>
        </p:spPr>
        <p:txBody>
          <a:bodyPr vert="horz" lIns="91440" tIns="0" rIns="91440" bIns="0" rtlCol="0" anchor="b" anchorCtr="0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SzPct val="25000"/>
            </a:pPr>
            <a:endParaRPr lang="en-US" sz="4000" b="0" kern="1200" spc="-50" baseline="0" dirty="0">
              <a:solidFill>
                <a:srgbClr val="FFFFFF"/>
              </a:solidFill>
              <a:latin typeface="Sitka Display Semibold" pitchFamily="2" charset="0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20B3CD-3073-5EFD-A081-F74C745D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buSzPct val="25000"/>
            </a:pPr>
            <a:fld id="{00000000-1234-1234-1234-123412341234}" type="slidenum">
              <a:rPr lang="en-US" sz="1200" smtClean="0">
                <a:latin typeface="Calibri"/>
                <a:cs typeface="Calibri"/>
                <a:sym typeface="Calibri"/>
              </a:rPr>
              <a:pPr>
                <a:spcAft>
                  <a:spcPts val="600"/>
                </a:spcAft>
                <a:buSzPct val="25000"/>
              </a:pPr>
              <a:t>7</a:t>
            </a:fld>
            <a:endParaRPr lang="en-US" sz="1200">
              <a:latin typeface="Calibri"/>
              <a:cs typeface="Calibri"/>
              <a:sym typeface="Calibri"/>
            </a:endParaRPr>
          </a:p>
        </p:txBody>
      </p:sp>
      <p:pic>
        <p:nvPicPr>
          <p:cNvPr id="4" name="Shape 153">
            <a:extLst>
              <a:ext uri="{FF2B5EF4-FFF2-40B4-BE49-F238E27FC236}">
                <a16:creationId xmlns:a16="http://schemas.microsoft.com/office/drawing/2014/main" id="{37435F2A-4427-C8BD-6C69-C21E847A6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444" b="15709"/>
          <a:stretch>
            <a:fillRect/>
          </a:stretch>
        </p:blipFill>
        <p:spPr>
          <a:xfrm>
            <a:off x="0" y="0"/>
            <a:ext cx="12192000" cy="54073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01A6997-FAA6-4B5A-87B5-5D07D3147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442667"/>
            <a:ext cx="10113264" cy="822960"/>
          </a:xfrm>
        </p:spPr>
        <p:txBody>
          <a:bodyPr/>
          <a:lstStyle/>
          <a:p>
            <a:pPr rtl="0" eaLnBrk="1" latinLnBrk="0" hangingPunct="1"/>
            <a:r>
              <a:rPr lang="en-US" sz="4000" b="0" kern="1200" spc="-50" baseline="0" dirty="0">
                <a:solidFill>
                  <a:srgbClr val="FFFFFF"/>
                </a:solidFill>
                <a:effectLst/>
                <a:latin typeface="Sitka Display Semibold" pitchFamily="2" charset="0"/>
                <a:ea typeface="+mn-ea"/>
                <a:cs typeface="+mn-cs"/>
              </a:rPr>
              <a:t>What’s distinctive about statistics in geography?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9416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/>
          <p:nvPr/>
        </p:nvSpPr>
        <p:spPr>
          <a:xfrm>
            <a:off x="9460618" y="6400801"/>
            <a:ext cx="1207381" cy="2616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3dgolfcourse.com</a:t>
            </a:r>
          </a:p>
        </p:txBody>
      </p:sp>
      <p:pic>
        <p:nvPicPr>
          <p:cNvPr id="176" name="Shape 17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2346861"/>
            <a:ext cx="5034844" cy="3354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Shape 17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5540" y="2135455"/>
            <a:ext cx="4899772" cy="378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71CDA6-8D65-32CF-1944-0B55EC62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8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F2AC02-C197-43E8-AB6E-0BFD415AB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444" y="815009"/>
            <a:ext cx="10058400" cy="846726"/>
          </a:xfrm>
        </p:spPr>
        <p:txBody>
          <a:bodyPr/>
          <a:lstStyle/>
          <a:p>
            <a:pPr rtl="0" eaLnBrk="1" latinLnBrk="0" hangingPunct="1"/>
            <a:r>
              <a:rPr lang="en-US" sz="4000" kern="1200" dirty="0">
                <a:solidFill>
                  <a:srgbClr val="2F2F2F"/>
                </a:solidFill>
                <a:effectLst/>
                <a:latin typeface="Sitka Display Semibold" pitchFamily="2" charset="0"/>
                <a:ea typeface="Calibri" panose="020F0502020204030204" pitchFamily="34" charset="0"/>
                <a:cs typeface="Calibri" panose="020F0502020204030204" pitchFamily="34" charset="0"/>
              </a:rPr>
              <a:t>1. Data formats and creation methods</a:t>
            </a:r>
            <a:endParaRPr lang="en-US" dirty="0"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land with different colors&#10;&#10;AI-generated content may be incorrect.">
            <a:extLst>
              <a:ext uri="{FF2B5EF4-FFF2-40B4-BE49-F238E27FC236}">
                <a16:creationId xmlns:a16="http://schemas.microsoft.com/office/drawing/2014/main" id="{870FEDE6-D3EA-3D14-B258-4254A70AF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57" y="3725241"/>
            <a:ext cx="7857212" cy="2609298"/>
          </a:xfrm>
          <a:prstGeom prst="rect">
            <a:avLst/>
          </a:prstGeom>
        </p:spPr>
      </p:pic>
      <p:sp>
        <p:nvSpPr>
          <p:cNvPr id="4" name="Shape 178">
            <a:extLst>
              <a:ext uri="{FF2B5EF4-FFF2-40B4-BE49-F238E27FC236}">
                <a16:creationId xmlns:a16="http://schemas.microsoft.com/office/drawing/2014/main" id="{68AAFFCC-7A45-6569-603D-2E65D8426F7A}"/>
              </a:ext>
            </a:extLst>
          </p:cNvPr>
          <p:cNvSpPr txBox="1"/>
          <p:nvPr/>
        </p:nvSpPr>
        <p:spPr>
          <a:xfrm>
            <a:off x="471557" y="3017355"/>
            <a:ext cx="5902739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dirty="0">
                <a:solidFill>
                  <a:schemeClr val="tx1">
                    <a:lumMod val="75000"/>
                  </a:schemeClr>
                </a:solidFill>
                <a:latin typeface="+mj-lt"/>
                <a:ea typeface="Calibri"/>
                <a:cs typeface="Calibri"/>
                <a:sym typeface="Calibri"/>
              </a:rPr>
              <a:t>Thematic (discrete) data</a:t>
            </a:r>
          </a:p>
        </p:txBody>
      </p:sp>
      <p:pic>
        <p:nvPicPr>
          <p:cNvPr id="6" name="Picture 5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28B8791D-D31D-8864-5C4F-89D6E4111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186" y="913295"/>
            <a:ext cx="3788465" cy="2626669"/>
          </a:xfrm>
          <a:prstGeom prst="rect">
            <a:avLst/>
          </a:prstGeom>
        </p:spPr>
      </p:pic>
      <p:sp>
        <p:nvSpPr>
          <p:cNvPr id="7" name="Shape 178">
            <a:extLst>
              <a:ext uri="{FF2B5EF4-FFF2-40B4-BE49-F238E27FC236}">
                <a16:creationId xmlns:a16="http://schemas.microsoft.com/office/drawing/2014/main" id="{73E03BD3-E417-82BC-1287-74B7AA6BA7D4}"/>
              </a:ext>
            </a:extLst>
          </p:cNvPr>
          <p:cNvSpPr txBox="1"/>
          <p:nvPr/>
        </p:nvSpPr>
        <p:spPr>
          <a:xfrm>
            <a:off x="7807186" y="205409"/>
            <a:ext cx="4764157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dirty="0">
                <a:solidFill>
                  <a:schemeClr val="tx1">
                    <a:lumMod val="75000"/>
                  </a:schemeClr>
                </a:solidFill>
                <a:latin typeface="+mj-lt"/>
                <a:ea typeface="Calibri"/>
                <a:cs typeface="Calibri"/>
                <a:sym typeface="Calibri"/>
              </a:rPr>
              <a:t>Continuous data</a:t>
            </a:r>
          </a:p>
        </p:txBody>
      </p:sp>
      <p:pic>
        <p:nvPicPr>
          <p:cNvPr id="9" name="Picture 8" descr="A map of a city&#10;&#10;AI-generated content may be incorrect.">
            <a:extLst>
              <a:ext uri="{FF2B5EF4-FFF2-40B4-BE49-F238E27FC236}">
                <a16:creationId xmlns:a16="http://schemas.microsoft.com/office/drawing/2014/main" id="{4D516178-F925-E216-5075-11FC20AFA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57" y="290995"/>
            <a:ext cx="3944112" cy="238594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4667FE-C247-9E50-6082-B41B47AE9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9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BDFEC31-894A-4C37-9E1B-AB9BAF3CC8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601816" y="286603"/>
            <a:ext cx="6553863" cy="1450757"/>
          </a:xfrm>
        </p:spPr>
        <p:txBody>
          <a:bodyPr/>
          <a:lstStyle/>
          <a:p>
            <a:pPr rtl="0" eaLnBrk="1" latinLnBrk="0" hangingPunct="1"/>
            <a:r>
              <a:rPr lang="en-US" sz="4000" kern="1200" dirty="0">
                <a:solidFill>
                  <a:srgbClr val="2F2F2F"/>
                </a:solidFill>
                <a:effectLst/>
                <a:latin typeface="Sitka Display Semibold" pitchFamily="2" charset="0"/>
                <a:ea typeface="Calibri" panose="020F0502020204030204" pitchFamily="34" charset="0"/>
                <a:cs typeface="Calibri" panose="020F0502020204030204" pitchFamily="34" charset="0"/>
              </a:rPr>
              <a:t>Basemaps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193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red and yellow cubes&#10;&#10;AI-generated content may be incorrect.">
            <a:extLst>
              <a:ext uri="{FF2B5EF4-FFF2-40B4-BE49-F238E27FC236}">
                <a16:creationId xmlns:a16="http://schemas.microsoft.com/office/drawing/2014/main" id="{176C38B3-6ACE-BF49-4BC2-22FCFB9C0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86" y="1319146"/>
            <a:ext cx="5762882" cy="273736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95966E-31C9-BA64-1DC7-18E5334D3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186213" y="3576737"/>
            <a:ext cx="177579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2E7AAE-AC98-6736-DF9B-D42AEBF11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10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Study lowers range for future global warming, but does it matter? - The ...">
            <a:extLst>
              <a:ext uri="{FF2B5EF4-FFF2-40B4-BE49-F238E27FC236}">
                <a16:creationId xmlns:a16="http://schemas.microsoft.com/office/drawing/2014/main" id="{20A7B8A1-7519-AB04-CF27-8CC6E4149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717" y="2393243"/>
            <a:ext cx="5808283" cy="364631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8929820-C320-48FF-9DE6-BA1C21CB91B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98070" y="393776"/>
            <a:ext cx="10058400" cy="849340"/>
          </a:xfrm>
        </p:spPr>
        <p:txBody>
          <a:bodyPr/>
          <a:lstStyle/>
          <a:p>
            <a:pPr rtl="0" eaLnBrk="1" latinLnBrk="0" hangingPunct="1"/>
            <a:r>
              <a:rPr lang="en-US" sz="4000" kern="1200" dirty="0">
                <a:solidFill>
                  <a:srgbClr val="2F2F2F"/>
                </a:solidFill>
                <a:effectLst/>
                <a:latin typeface="Sitka Display Semibold" pitchFamily="2" charset="0"/>
                <a:ea typeface="Calibri" panose="020F0502020204030204" pitchFamily="34" charset="0"/>
                <a:cs typeface="Calibri" panose="020F0502020204030204" pitchFamily="34" charset="0"/>
              </a:rPr>
              <a:t>Arrays (multi-dimensional)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3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Shape 16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5944" y="2059730"/>
            <a:ext cx="4916523" cy="3260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Shape 169"/>
          <p:cNvSpPr txBox="1"/>
          <p:nvPr/>
        </p:nvSpPr>
        <p:spPr>
          <a:xfrm>
            <a:off x="1241779" y="2059730"/>
            <a:ext cx="5144165" cy="193899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FFFF66"/>
              </a:buClr>
              <a:buSzPct val="100000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  <a:sym typeface="Calibri"/>
              </a:rPr>
              <a:t>Spatial clustering</a:t>
            </a:r>
          </a:p>
          <a:p>
            <a:pPr>
              <a:buClr>
                <a:srgbClr val="FFFF66"/>
              </a:buClr>
              <a:buSzPct val="100000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  <a:sym typeface="Calibri"/>
              </a:rPr>
              <a:t>Spatial lag/influence</a:t>
            </a:r>
          </a:p>
          <a:p>
            <a:pPr>
              <a:buClr>
                <a:srgbClr val="FFFF66"/>
              </a:buClr>
              <a:buSzPct val="100000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  <a:sym typeface="Calibri"/>
              </a:rPr>
              <a:t>Space/time geography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5CCDB4-E0E2-9F43-95C8-9EFB9F2E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11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D1FF2B-60FD-45C6-A37F-03B782F8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latinLnBrk="0" hangingPunct="1"/>
            <a:r>
              <a:rPr lang="en-US" sz="4000" kern="1200" dirty="0">
                <a:solidFill>
                  <a:srgbClr val="2F2F2F"/>
                </a:solidFill>
                <a:effectLst/>
                <a:latin typeface="Sitka Display Semibold" pitchFamily="2" charset="0"/>
                <a:ea typeface="Calibri" panose="020F0502020204030204" pitchFamily="34" charset="0"/>
                <a:cs typeface="Calibri" panose="020F0502020204030204" pitchFamily="34" charset="0"/>
              </a:rPr>
              <a:t>2. Methods of analysis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Shape 233" descr="http://prabasiva.files.wordpress.com/2012/04/big-data-iceberg1.jpg&#10;&#10;Big data"/>
          <p:cNvPicPr preferRelativeResize="0"/>
          <p:nvPr/>
        </p:nvPicPr>
        <p:blipFill rotWithShape="1">
          <a:blip r:embed="rId3">
            <a:alphaModFix/>
          </a:blip>
          <a:srcRect r="13310"/>
          <a:stretch/>
        </p:blipFill>
        <p:spPr>
          <a:xfrm>
            <a:off x="719970" y="1998133"/>
            <a:ext cx="3603675" cy="3467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Shape 2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58756" y="3700689"/>
            <a:ext cx="4542626" cy="2333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EFC137-7747-4A7A-BF66-C93A7E7CA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7475"/>
          <a:stretch/>
        </p:blipFill>
        <p:spPr>
          <a:xfrm>
            <a:off x="5705382" y="273483"/>
            <a:ext cx="6096000" cy="300195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96167-1443-E2A5-D9C1-5CB3624F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12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hape 167">
            <a:extLst>
              <a:ext uri="{FF2B5EF4-FFF2-40B4-BE49-F238E27FC236}">
                <a16:creationId xmlns:a16="http://schemas.microsoft.com/office/drawing/2014/main" id="{66D588AE-94F0-4B7A-B69E-F1FEB903CD80}"/>
              </a:ext>
            </a:extLst>
          </p:cNvPr>
          <p:cNvSpPr txBox="1"/>
          <p:nvPr/>
        </p:nvSpPr>
        <p:spPr>
          <a:xfrm>
            <a:off x="539347" y="823470"/>
            <a:ext cx="6917565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endParaRPr lang="en-US" sz="40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F86828-62FC-4A3E-932E-059AF7121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23470"/>
            <a:ext cx="10058400" cy="913890"/>
          </a:xfrm>
        </p:spPr>
        <p:txBody>
          <a:bodyPr/>
          <a:lstStyle/>
          <a:p>
            <a:pPr rtl="0" eaLnBrk="1" latinLnBrk="0" hangingPunct="1"/>
            <a:r>
              <a:rPr lang="en-US" sz="4000" kern="1200" dirty="0">
                <a:solidFill>
                  <a:srgbClr val="5C5C5C"/>
                </a:solidFill>
                <a:effectLst/>
                <a:latin typeface="Sitka Display Semibold" pitchFamily="2" charset="0"/>
                <a:ea typeface="Calibri" panose="020F0502020204030204" pitchFamily="34" charset="0"/>
                <a:cs typeface="Calibri" panose="020F0502020204030204" pitchFamily="34" charset="0"/>
              </a:rPr>
              <a:t>3. Data workflow</a:t>
            </a:r>
            <a:endParaRPr lang="en-US" dirty="0">
              <a:effectLst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32">
          <a:extLst>
            <a:ext uri="{FF2B5EF4-FFF2-40B4-BE49-F238E27FC236}">
              <a16:creationId xmlns:a16="http://schemas.microsoft.com/office/drawing/2014/main" id="{FEEAFE90-EA2B-7055-5DE3-78934A08D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C6BA4-8509-6DA9-DEFC-9600F0815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13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Online Media 4" title="Intro to Data Science: What is Data Science?">
            <a:hlinkClick r:id="" action="ppaction://media"/>
            <a:extLst>
              <a:ext uri="{FF2B5EF4-FFF2-40B4-BE49-F238E27FC236}">
                <a16:creationId xmlns:a16="http://schemas.microsoft.com/office/drawing/2014/main" id="{1EEE41BA-2E8B-6A37-373E-0136B893BC1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126369" y="1928441"/>
            <a:ext cx="7554102" cy="426807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8FDEA74-CBAF-43A1-A803-F95DFAD71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latinLnBrk="0" hangingPunct="1"/>
            <a:r>
              <a:rPr lang="en-US" sz="4000" kern="1200" dirty="0">
                <a:solidFill>
                  <a:srgbClr val="2F2F2F"/>
                </a:solidFill>
                <a:effectLst/>
                <a:latin typeface="Sitka Display Semibold" pitchFamily="2" charset="0"/>
                <a:ea typeface="Calibri" panose="020F0502020204030204" pitchFamily="34" charset="0"/>
                <a:cs typeface="Calibri" panose="020F0502020204030204" pitchFamily="34" charset="0"/>
              </a:rPr>
              <a:t>How is data science different? (Or is it?)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9373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32">
          <a:extLst>
            <a:ext uri="{FF2B5EF4-FFF2-40B4-BE49-F238E27FC236}">
              <a16:creationId xmlns:a16="http://schemas.microsoft.com/office/drawing/2014/main" id="{FEEAFE90-EA2B-7055-5DE3-78934A08D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C6BA4-8509-6DA9-DEFC-9600F0815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14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Logo Arcgis Pro | Logo Arcgis Png - RLPYE">
            <a:extLst>
              <a:ext uri="{FF2B5EF4-FFF2-40B4-BE49-F238E27FC236}">
                <a16:creationId xmlns:a16="http://schemas.microsoft.com/office/drawing/2014/main" id="{4FB48C2E-0D7A-209B-1760-96E9335320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20" t="15992" r="23549" b="20281"/>
          <a:stretch>
            <a:fillRect/>
          </a:stretch>
        </p:blipFill>
        <p:spPr>
          <a:xfrm>
            <a:off x="4989709" y="1812343"/>
            <a:ext cx="2587558" cy="3035030"/>
          </a:xfrm>
          <a:prstGeom prst="rect">
            <a:avLst/>
          </a:prstGeom>
        </p:spPr>
      </p:pic>
      <p:pic>
        <p:nvPicPr>
          <p:cNvPr id="6" name="Picture 5" descr="QGIS Logo - PNG Logo Vector Brand Downloads (SVG, EPS)">
            <a:extLst>
              <a:ext uri="{FF2B5EF4-FFF2-40B4-BE49-F238E27FC236}">
                <a16:creationId xmlns:a16="http://schemas.microsoft.com/office/drawing/2014/main" id="{8B3DB511-AE31-583A-76A1-604B88FBC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693" y="4183711"/>
            <a:ext cx="2458636" cy="2458636"/>
          </a:xfrm>
          <a:prstGeom prst="rect">
            <a:avLst/>
          </a:prstGeom>
        </p:spPr>
      </p:pic>
      <p:pic>
        <p:nvPicPr>
          <p:cNvPr id="7" name="Picture 6" descr="R AnalyticFlow">
            <a:extLst>
              <a:ext uri="{FF2B5EF4-FFF2-40B4-BE49-F238E27FC236}">
                <a16:creationId xmlns:a16="http://schemas.microsoft.com/office/drawing/2014/main" id="{A4F48445-9342-6158-64A4-4221552EB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8326" y="3594052"/>
            <a:ext cx="3161104" cy="2458636"/>
          </a:xfrm>
          <a:prstGeom prst="rect">
            <a:avLst/>
          </a:prstGeom>
        </p:spPr>
      </p:pic>
      <p:pic>
        <p:nvPicPr>
          <p:cNvPr id="8" name="Picture 7" descr="Pythonのよく使う標準ライブラリ一覧と使い方の例 その1: Python ライブラリ 使い方 - FNBVCO">
            <a:extLst>
              <a:ext uri="{FF2B5EF4-FFF2-40B4-BE49-F238E27FC236}">
                <a16:creationId xmlns:a16="http://schemas.microsoft.com/office/drawing/2014/main" id="{F068EE88-2BFE-2EC0-8D7B-E8E495A7D5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145" b="22901"/>
          <a:stretch>
            <a:fillRect/>
          </a:stretch>
        </p:blipFill>
        <p:spPr>
          <a:xfrm>
            <a:off x="7604261" y="2351138"/>
            <a:ext cx="3836346" cy="12937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0D9C14-DF30-8E7E-859C-55A2907A1A5C}"/>
              </a:ext>
            </a:extLst>
          </p:cNvPr>
          <p:cNvSpPr txBox="1"/>
          <p:nvPr/>
        </p:nvSpPr>
        <p:spPr>
          <a:xfrm>
            <a:off x="1126369" y="1943147"/>
            <a:ext cx="40001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cs typeface="Calibri" panose="020F0502020204030204" pitchFamily="34" charset="0"/>
              </a:rPr>
              <a:t>Open-source model (low/no cost)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cs typeface="Calibri" panose="020F0502020204030204" pitchFamily="34" charset="0"/>
              </a:rPr>
              <a:t>Reproducibility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cs typeface="Calibri" panose="020F0502020204030204" pitchFamily="34" charset="0"/>
              </a:rPr>
              <a:t>Shareability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cs typeface="Calibri" panose="020F0502020204030204" pitchFamily="34" charset="0"/>
              </a:rPr>
              <a:t>Spatial &amp; non-spatial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cs typeface="Calibri" panose="020F0502020204030204" pitchFamily="34" charset="0"/>
              </a:rPr>
              <a:t>Advanced analytical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>
                  <a:lumMod val="7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9ACCD9-33D5-4BCE-ACA1-470316F2C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code?</a:t>
            </a:r>
          </a:p>
        </p:txBody>
      </p:sp>
    </p:spTree>
    <p:extLst>
      <p:ext uri="{BB962C8B-B14F-4D97-AF65-F5344CB8AC3E}">
        <p14:creationId xmlns:p14="http://schemas.microsoft.com/office/powerpoint/2010/main" val="3240173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7CD0DC32-3F08-61C4-E375-3D8B9124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7">
            <a:extLst>
              <a:ext uri="{FF2B5EF4-FFF2-40B4-BE49-F238E27FC236}">
                <a16:creationId xmlns:a16="http://schemas.microsoft.com/office/drawing/2014/main" id="{4E2C5144-A98D-281B-19D2-B14535CD1AE1}"/>
              </a:ext>
            </a:extLst>
          </p:cNvPr>
          <p:cNvSpPr txBox="1"/>
          <p:nvPr/>
        </p:nvSpPr>
        <p:spPr>
          <a:xfrm>
            <a:off x="457199" y="594359"/>
            <a:ext cx="3523785" cy="2286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SzPct val="25000"/>
            </a:pPr>
            <a:endParaRPr lang="en-US" sz="4800" b="0" kern="1200" spc="-50" baseline="0" dirty="0">
              <a:solidFill>
                <a:srgbClr val="FFFFFF"/>
              </a:solidFill>
              <a:latin typeface="Sitka Display Semibold" pitchFamily="2" charset="0"/>
              <a:ea typeface="+mj-ea"/>
              <a:cs typeface="+mj-cs"/>
            </a:endParaRPr>
          </a:p>
        </p:txBody>
      </p:sp>
      <p:pic>
        <p:nvPicPr>
          <p:cNvPr id="5" name="Picture 4" descr="10 [FREE] FREE 3D MODEL CARDBOARD BOX HD DOWNLOAD 2020 - * 3D Blender">
            <a:extLst>
              <a:ext uri="{FF2B5EF4-FFF2-40B4-BE49-F238E27FC236}">
                <a16:creationId xmlns:a16="http://schemas.microsoft.com/office/drawing/2014/main" id="{C5BBDE6A-FFE4-8438-9B29-167A25FD1E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02" r="2" b="11814"/>
          <a:stretch>
            <a:fillRect/>
          </a:stretch>
        </p:blipFill>
        <p:spPr>
          <a:xfrm>
            <a:off x="4800600" y="731520"/>
            <a:ext cx="6492240" cy="5257800"/>
          </a:xfrm>
          <a:prstGeom prst="rect">
            <a:avLst/>
          </a:prstGeom>
          <a:noFill/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B15740-9CE2-A810-C5A1-3A8683A0D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222702"/>
            <a:ext cx="3200400" cy="3082502"/>
          </a:xfrm>
        </p:spPr>
        <p:txBody>
          <a:bodyPr>
            <a:normAutofit/>
          </a:bodyPr>
          <a:lstStyle/>
          <a:p>
            <a:r>
              <a:rPr lang="en-US" sz="3200" dirty="0"/>
              <a:t>Data are stored within a coding environment using structures called objects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8CD42-8A81-7D72-2BF6-1CE1C74C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cs typeface="Calibri"/>
                <a:sym typeface="Calibri"/>
              </a:rPr>
              <a:pPr>
                <a:spcAft>
                  <a:spcPts val="600"/>
                </a:spcAft>
                <a:buSzPct val="25000"/>
              </a:pPr>
              <a:t>15</a:t>
            </a:fld>
            <a:endParaRPr lang="en-US" sz="1200">
              <a:solidFill>
                <a:srgbClr val="888888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C907A-6C0B-4E96-B72C-3629A2A7C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 eaLnBrk="1" latinLnBrk="0" hangingPunct="1"/>
            <a:r>
              <a:rPr lang="en-US" sz="4400" b="0" kern="1200" spc="-50" baseline="0" dirty="0">
                <a:solidFill>
                  <a:srgbClr val="FFFFFF"/>
                </a:solidFill>
                <a:effectLst/>
                <a:latin typeface="Sitka Display Semibold" pitchFamily="2" charset="0"/>
                <a:ea typeface="+mn-ea"/>
                <a:cs typeface="+mn-cs"/>
              </a:rPr>
              <a:t>Object-oriented programming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75647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F3459EA-DA0A-B3B1-CD5B-B365E4AF3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What can go inside an object?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0FA9067-5792-71B1-4059-26864157D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143" y="2007218"/>
            <a:ext cx="6423103" cy="4023360"/>
          </a:xfrm>
        </p:spPr>
        <p:txBody>
          <a:bodyPr/>
          <a:lstStyle/>
          <a:p>
            <a:r>
              <a:rPr lang="en-US" dirty="0"/>
              <a:t>Single values (Vectors): Apples, oranges, or bananas</a:t>
            </a:r>
          </a:p>
          <a:p>
            <a:r>
              <a:rPr lang="en-US" dirty="0"/>
              <a:t>Groupings of data (Lists): All the vegetables in a supermarket; All the meats in the same market, etc.</a:t>
            </a:r>
          </a:p>
          <a:p>
            <a:r>
              <a:rPr lang="en-US" dirty="0"/>
              <a:t>Statistical tables (Data frames/matrices): Addresses, coordinates, and sales figures for a supermarket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A8021-6FD9-2CF1-9C47-514334DFE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SzPct val="25000"/>
            </a:pPr>
            <a:fld id="{00000000-1234-1234-1234-123412341234}" type="slidenum">
              <a:rPr lang="en-US" sz="1200" smtClean="0"/>
              <a:pPr>
                <a:spcAft>
                  <a:spcPts val="600"/>
                </a:spcAft>
                <a:buSzPct val="25000"/>
              </a:pPr>
              <a:t>16</a:t>
            </a:fld>
            <a:endParaRPr lang="en-US" sz="1200"/>
          </a:p>
        </p:txBody>
      </p:sp>
      <p:pic>
        <p:nvPicPr>
          <p:cNvPr id="6" name="Picture 5" descr="10 [FREE] FREE 3D MODEL CARDBOARD BOX HD DOWNLOAD 2020 - * 3D Blender">
            <a:extLst>
              <a:ext uri="{FF2B5EF4-FFF2-40B4-BE49-F238E27FC236}">
                <a16:creationId xmlns:a16="http://schemas.microsoft.com/office/drawing/2014/main" id="{E387690E-78EB-0E1B-7517-EC23487E5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306" y="2007218"/>
            <a:ext cx="3759355" cy="375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96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34B8-98D5-8802-CBE0-CDD1BB6E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17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16A53-4F3E-77AC-A1E5-A46628405F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5089" y="354245"/>
            <a:ext cx="4999038" cy="1449387"/>
          </a:xfrm>
        </p:spPr>
        <p:txBody>
          <a:bodyPr/>
          <a:lstStyle/>
          <a:p>
            <a:r>
              <a:rPr lang="en-US" dirty="0"/>
              <a:t>You can manipulate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60AE2-9E30-A600-FE86-AB11B2C2BC8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75089" y="1913170"/>
            <a:ext cx="4879975" cy="4022725"/>
          </a:xfrm>
        </p:spPr>
        <p:txBody>
          <a:bodyPr>
            <a:normAutofit/>
          </a:bodyPr>
          <a:lstStyle/>
          <a:p>
            <a:r>
              <a:rPr lang="en-US" sz="2800" dirty="0"/>
              <a:t>Run calculations</a:t>
            </a:r>
          </a:p>
          <a:p>
            <a:r>
              <a:rPr lang="en-US" sz="2800" dirty="0"/>
              <a:t>Summarize values</a:t>
            </a:r>
          </a:p>
          <a:p>
            <a:r>
              <a:rPr lang="en-US" sz="2800" dirty="0"/>
              <a:t>Create statistical models</a:t>
            </a:r>
          </a:p>
          <a:p>
            <a:r>
              <a:rPr lang="en-US" sz="2800" dirty="0"/>
              <a:t>Join/merge them with other objects</a:t>
            </a:r>
          </a:p>
        </p:txBody>
      </p:sp>
      <p:pic>
        <p:nvPicPr>
          <p:cNvPr id="5" name="Picture 4" descr="Corrugated Box Factory at Ernest Rue blog">
            <a:extLst>
              <a:ext uri="{FF2B5EF4-FFF2-40B4-BE49-F238E27FC236}">
                <a16:creationId xmlns:a16="http://schemas.microsoft.com/office/drawing/2014/main" id="{942F3FF1-09C2-2530-093E-DBDA1CC25F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45" r="35666"/>
          <a:stretch>
            <a:fillRect/>
          </a:stretch>
        </p:blipFill>
        <p:spPr>
          <a:xfrm>
            <a:off x="6401376" y="-14973"/>
            <a:ext cx="5790623" cy="635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06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513F9E-4D87-61D3-32F3-F3FCFDDCB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Article search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22A45-8A67-6DBE-BE16-9FB78DA22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502" y="1874917"/>
            <a:ext cx="9928697" cy="40233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 an article published since 2020 on a topic of interest to you that used </a:t>
            </a:r>
            <a:r>
              <a:rPr lang="en-US" dirty="0" err="1"/>
              <a:t>Rstudio</a:t>
            </a:r>
            <a:r>
              <a:rPr lang="en-US" dirty="0"/>
              <a:t> as part of the analysis.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research question was this article asking?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data did it use?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How was R/</a:t>
            </a:r>
            <a:r>
              <a:rPr lang="en-US" dirty="0" err="1"/>
              <a:t>Rstudio</a:t>
            </a:r>
            <a:r>
              <a:rPr lang="en-US" dirty="0"/>
              <a:t> part of the process?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4202C0-36A5-986C-352D-3776527D0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18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2528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 descr="http://developer.r-project.org/Logo/Rlogo.svg"/>
          <p:cNvSpPr/>
          <p:nvPr/>
        </p:nvSpPr>
        <p:spPr>
          <a:xfrm>
            <a:off x="1679576" y="-144463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Shape 254" descr="http://developer.r-project.org/Logo/Rlogo.svg"/>
          <p:cNvSpPr/>
          <p:nvPr/>
        </p:nvSpPr>
        <p:spPr>
          <a:xfrm>
            <a:off x="1831976" y="7938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Shape 255" descr="http://developer.r-project.org/Logo/Rlogo.svg"/>
          <p:cNvSpPr/>
          <p:nvPr/>
        </p:nvSpPr>
        <p:spPr>
          <a:xfrm>
            <a:off x="1984376" y="160337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Shape 256" descr="http://developer.r-project.org/Logo/Rlogo.svg"/>
          <p:cNvSpPr/>
          <p:nvPr/>
        </p:nvSpPr>
        <p:spPr>
          <a:xfrm>
            <a:off x="2136776" y="312738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AutoShape 6" descr="Image result for r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02709-6223-4EC9-986E-861A9FF9FFB0}"/>
              </a:ext>
            </a:extLst>
          </p:cNvPr>
          <p:cNvSpPr/>
          <p:nvPr/>
        </p:nvSpPr>
        <p:spPr>
          <a:xfrm>
            <a:off x="1233662" y="2159368"/>
            <a:ext cx="978429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cs typeface="Calibri" panose="020F0502020204030204" pitchFamily="34" charset="0"/>
              </a:rPr>
              <a:t>Install R/</a:t>
            </a:r>
            <a:r>
              <a:rPr lang="en-US" sz="2800" dirty="0" err="1">
                <a:solidFill>
                  <a:schemeClr val="tx1">
                    <a:lumMod val="75000"/>
                  </a:schemeClr>
                </a:solidFill>
                <a:cs typeface="Calibri" panose="020F0502020204030204" pitchFamily="34" charset="0"/>
              </a:rPr>
              <a:t>Rstudio</a:t>
            </a:r>
            <a:r>
              <a:rPr lang="en-US" sz="2800" dirty="0">
                <a:solidFill>
                  <a:schemeClr val="tx1">
                    <a:lumMod val="75000"/>
                  </a:schemeClr>
                </a:solidFill>
                <a:cs typeface="Calibri" panose="020F0502020204030204" pitchFamily="34" charset="0"/>
              </a:rPr>
              <a:t> BEFORE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cs typeface="Calibri" panose="020F0502020204030204" pitchFamily="34" charset="0"/>
              </a:rPr>
              <a:t>Take the Introductory Survey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cs typeface="Calibri" panose="020F0502020204030204" pitchFamily="34" charset="0"/>
              </a:rPr>
              <a:t>Answer discussion post: what does an A look like for you?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>
                  <a:lumMod val="75000"/>
                </a:schemeClr>
              </a:solidFill>
              <a:cs typeface="Calibri" panose="020F0502020204030204" pitchFamily="34" charset="0"/>
            </a:endParaRPr>
          </a:p>
          <a:p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cs typeface="Calibri" panose="020F0502020204030204" pitchFamily="34" charset="0"/>
              </a:rPr>
              <a:t>What we will cover: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cs typeface="Calibri" panose="020F0502020204030204" pitchFamily="34" charset="0"/>
              </a:rPr>
              <a:t>How to clone the course repository (“repo”)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cs typeface="Calibri" panose="020F0502020204030204" pitchFamily="34" charset="0"/>
              </a:rPr>
              <a:t>Get started using data in R: Script S01-1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98FA29-D767-894F-6C5A-A0515C1CE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19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AA68DB-ACB7-4CE1-88CF-D0E4A5DAF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latinLnBrk="0" hangingPunct="1"/>
            <a:r>
              <a:rPr lang="en-US" sz="4400" kern="1200" dirty="0">
                <a:solidFill>
                  <a:srgbClr val="2F2F2F"/>
                </a:solidFill>
                <a:effectLst/>
                <a:latin typeface="Sitka Display Semibold" pitchFamily="2" charset="0"/>
                <a:ea typeface="Calibri" panose="020F0502020204030204" pitchFamily="34" charset="0"/>
                <a:cs typeface="Calibri" panose="020F0502020204030204" pitchFamily="34" charset="0"/>
              </a:rPr>
              <a:t>Next time: Getting started with R!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291738"/>
      </p:ext>
    </p:extLst>
  </p:cSld>
  <p:clrMapOvr>
    <a:masterClrMapping/>
  </p:clrMapOvr>
</p:sld>
</file>

<file path=ppt/theme/theme1.xml><?xml version="1.0" encoding="utf-8"?>
<a:theme xmlns:a="http://schemas.openxmlformats.org/drawingml/2006/main" name="4300 theme">
  <a:themeElements>
    <a:clrScheme name="Custom 5">
      <a:dk1>
        <a:srgbClr val="3F3F3F"/>
      </a:dk1>
      <a:lt1>
        <a:sysClr val="window" lastClr="FFFFFF"/>
      </a:lt1>
      <a:dk2>
        <a:srgbClr val="637052"/>
      </a:dk2>
      <a:lt2>
        <a:srgbClr val="CCDDEA"/>
      </a:lt2>
      <a:accent1>
        <a:srgbClr val="E5A99F"/>
      </a:accent1>
      <a:accent2>
        <a:srgbClr val="B2383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itka Display Semibold"/>
        <a:ea typeface=""/>
        <a:cs typeface=""/>
      </a:majorFont>
      <a:minorFont>
        <a:latin typeface="Segoe U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g4300_L01-Introductions" id="{FA51A00F-822B-41B5-AA4A-2C123A5E9355}" vid="{2F9C99DD-B25B-4D9F-92B4-7DCE57BD0F40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</TotalTime>
  <Words>933</Words>
  <Application>Microsoft Office PowerPoint</Application>
  <PresentationFormat>Widescreen</PresentationFormat>
  <Paragraphs>156</Paragraphs>
  <Slides>19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Segoe UI</vt:lpstr>
      <vt:lpstr>Sitka Display Semibold</vt:lpstr>
      <vt:lpstr>Sitka Subheading</vt:lpstr>
      <vt:lpstr>4300 theme</vt:lpstr>
      <vt:lpstr>Data Science and Coding</vt:lpstr>
      <vt:lpstr>What words do you think of when you think of statistics?</vt:lpstr>
      <vt:lpstr>Types of statistics </vt:lpstr>
      <vt:lpstr>Descriptive statistics </vt:lpstr>
      <vt:lpstr>Inferential statistics</vt:lpstr>
      <vt:lpstr>Spatial statistics</vt:lpstr>
      <vt:lpstr>What’s distinctive about statistics in geography?</vt:lpstr>
      <vt:lpstr>1. Data formats and creation methods</vt:lpstr>
      <vt:lpstr>Basemaps</vt:lpstr>
      <vt:lpstr>Arrays (multi-dimensional)</vt:lpstr>
      <vt:lpstr>2. Methods of analysis</vt:lpstr>
      <vt:lpstr>3. Data workflow</vt:lpstr>
      <vt:lpstr>How is data science different? (Or is it?)</vt:lpstr>
      <vt:lpstr>Why code?</vt:lpstr>
      <vt:lpstr>Object-oriented programming</vt:lpstr>
      <vt:lpstr>What can go inside an object?</vt:lpstr>
      <vt:lpstr>You can manipulate objects</vt:lpstr>
      <vt:lpstr>Article search</vt:lpstr>
      <vt:lpstr>Next time: Getting started with 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Numbers: What are they good for?</dc:title>
  <dc:creator>Gerald Shannon</dc:creator>
  <cp:lastModifiedBy>Jerry Shannon</cp:lastModifiedBy>
  <cp:revision>96</cp:revision>
  <dcterms:modified xsi:type="dcterms:W3CDTF">2026-08-14T18:16:13Z</dcterms:modified>
</cp:coreProperties>
</file>