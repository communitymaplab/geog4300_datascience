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21"/>
  </p:notesMasterIdLst>
  <p:sldIdLst>
    <p:sldId id="256" r:id="rId2"/>
    <p:sldId id="286" r:id="rId3"/>
    <p:sldId id="300" r:id="rId4"/>
    <p:sldId id="288" r:id="rId5"/>
    <p:sldId id="287" r:id="rId6"/>
    <p:sldId id="289" r:id="rId7"/>
    <p:sldId id="277" r:id="rId8"/>
    <p:sldId id="267" r:id="rId9"/>
    <p:sldId id="298" r:id="rId10"/>
    <p:sldId id="299" r:id="rId11"/>
    <p:sldId id="266" r:id="rId12"/>
    <p:sldId id="274" r:id="rId13"/>
    <p:sldId id="301" r:id="rId14"/>
    <p:sldId id="302" r:id="rId15"/>
    <p:sldId id="303" r:id="rId16"/>
    <p:sldId id="304" r:id="rId17"/>
    <p:sldId id="305" r:id="rId18"/>
    <p:sldId id="306" r:id="rId19"/>
    <p:sldId id="29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80685"/>
  </p:normalViewPr>
  <p:slideViewPr>
    <p:cSldViewPr snapToGrid="0">
      <p:cViewPr varScale="1">
        <p:scale>
          <a:sx n="98" d="100"/>
          <a:sy n="98" d="100"/>
        </p:scale>
        <p:origin x="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Shape 87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1959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>
          <a:extLst>
            <a:ext uri="{FF2B5EF4-FFF2-40B4-BE49-F238E27FC236}">
              <a16:creationId xmlns:a16="http://schemas.microsoft.com/office/drawing/2014/main" id="{B7C77631-73E1-5D48-9181-48AFC8987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>
            <a:extLst>
              <a:ext uri="{FF2B5EF4-FFF2-40B4-BE49-F238E27FC236}">
                <a16:creationId xmlns:a16="http://schemas.microsoft.com/office/drawing/2014/main" id="{DC430BDD-AE20-3CD2-1B70-8A25DFFB2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>
            <a:extLst>
              <a:ext uri="{FF2B5EF4-FFF2-40B4-BE49-F238E27FC236}">
                <a16:creationId xmlns:a16="http://schemas.microsoft.com/office/drawing/2014/main" id="{CDDED808-9F77-21FB-9ABA-53678D8B73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>
            <a:extLst>
              <a:ext uri="{FF2B5EF4-FFF2-40B4-BE49-F238E27FC236}">
                <a16:creationId xmlns:a16="http://schemas.microsoft.com/office/drawing/2014/main" id="{27603A78-5FE7-0B93-A49D-9D2F9A7DA6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01806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1600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0583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922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8" name="Shape 1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Difference between descriptive and inferential statistics.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rates of cancer in all state counties. </a:t>
            </a:r>
          </a:p>
        </p:txBody>
      </p:sp>
      <p:sp>
        <p:nvSpPr>
          <p:cNvPr id="159" name="Shape 15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1326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2" name="Shape 1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makes data geographic?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 variety of data sources and methods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and vector based data sources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Information about a place in some form—often now through GIS based techniques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DATA: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VECTOR DATA: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A representation of the world using points, lines, and polygons. Vector models are useful for storing data that has discrete boundaries, such as country borders, land parcels, and streets.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(Jerry uses vector data, I use raster but I don’t call it that)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Shape 173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In its simplest form, a raster consists of a matrix of cells (or pixels) organized into rows and columns (or a grid) where each cell contains a value representing information, such as temperature. </a:t>
            </a:r>
            <a:r>
              <a:rPr lang="en-US" sz="1200" b="0" i="0" u="none" strike="noStrike" kern="1200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Rasters</a:t>
            </a: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are digital aerial photographs, imagery from satellites, digital pictures, or even scanned maps.</a:t>
            </a:r>
          </a:p>
          <a:p>
            <a:endParaRPr lang="en-US" dirty="0"/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Data stored in a raster format represents real-world phenomena: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Thematic data (also known as discrete) represents features such as land-use or soils data.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Continuous data represents phenomena such as temperature, elevation, or spectral data such as satellite images and aerial photographs.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Pictures include scanned maps or drawings and building photographs.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br>
              <a:rPr lang="en-US" dirty="0"/>
            </a:b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5319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64" name="Shape 1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Shape 165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52E4A916-FE51-5A4F-1545-8A073BE67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>
            <a:extLst>
              <a:ext uri="{FF2B5EF4-FFF2-40B4-BE49-F238E27FC236}">
                <a16:creationId xmlns:a16="http://schemas.microsoft.com/office/drawing/2014/main" id="{10D2E6BE-F286-E8D5-BCEA-63D4812DB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>
            <a:extLst>
              <a:ext uri="{FF2B5EF4-FFF2-40B4-BE49-F238E27FC236}">
                <a16:creationId xmlns:a16="http://schemas.microsoft.com/office/drawing/2014/main" id="{B3A515EF-1F0E-A94B-C93E-2C743E580A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>
            <a:extLst>
              <a:ext uri="{FF2B5EF4-FFF2-40B4-BE49-F238E27FC236}">
                <a16:creationId xmlns:a16="http://schemas.microsoft.com/office/drawing/2014/main" id="{FC0553EA-55AF-146E-0633-4DA1AD6B96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095277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52E4A916-FE51-5A4F-1545-8A073BE67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>
            <a:extLst>
              <a:ext uri="{FF2B5EF4-FFF2-40B4-BE49-F238E27FC236}">
                <a16:creationId xmlns:a16="http://schemas.microsoft.com/office/drawing/2014/main" id="{10D2E6BE-F286-E8D5-BCEA-63D4812DB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>
            <a:extLst>
              <a:ext uri="{FF2B5EF4-FFF2-40B4-BE49-F238E27FC236}">
                <a16:creationId xmlns:a16="http://schemas.microsoft.com/office/drawing/2014/main" id="{B3A515EF-1F0E-A94B-C93E-2C743E580A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>
            <a:extLst>
              <a:ext uri="{FF2B5EF4-FFF2-40B4-BE49-F238E27FC236}">
                <a16:creationId xmlns:a16="http://schemas.microsoft.com/office/drawing/2014/main" id="{FC0553EA-55AF-146E-0633-4DA1AD6B96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24112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568BC792-427C-BFDE-CFC6-E767F374A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>
            <a:extLst>
              <a:ext uri="{FF2B5EF4-FFF2-40B4-BE49-F238E27FC236}">
                <a16:creationId xmlns:a16="http://schemas.microsoft.com/office/drawing/2014/main" id="{D28A6BB3-7201-203A-138D-6F7B3E1335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>
            <a:extLst>
              <a:ext uri="{FF2B5EF4-FFF2-40B4-BE49-F238E27FC236}">
                <a16:creationId xmlns:a16="http://schemas.microsoft.com/office/drawing/2014/main" id="{95E4F521-708D-F341-03A5-667DA7529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>
            <a:extLst>
              <a:ext uri="{FF2B5EF4-FFF2-40B4-BE49-F238E27FC236}">
                <a16:creationId xmlns:a16="http://schemas.microsoft.com/office/drawing/2014/main" id="{6A2697EF-2A51-060A-D13D-696610F761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05042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93648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4935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gif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gif"/><Relationship Id="rId4" Type="http://schemas.openxmlformats.org/officeDocument/2006/relationships/image" Target="../media/image15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sSrzmRawUg?feature=oembed" TargetMode="External"/><Relationship Id="rId4" Type="http://schemas.openxmlformats.org/officeDocument/2006/relationships/image" Target="../media/image2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een matrix background. Falling numbers on screen. Technology stream ...">
            <a:extLst>
              <a:ext uri="{FF2B5EF4-FFF2-40B4-BE49-F238E27FC236}">
                <a16:creationId xmlns:a16="http://schemas.microsoft.com/office/drawing/2014/main" id="{EA0AD0F7-D74A-80F6-A0FE-AC53A49853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08" b="4456"/>
          <a:stretch>
            <a:fillRect/>
          </a:stretch>
        </p:blipFill>
        <p:spPr>
          <a:xfrm>
            <a:off x="1" y="-1"/>
            <a:ext cx="12192000" cy="6824911"/>
          </a:xfrm>
          <a:prstGeom prst="rect">
            <a:avLst/>
          </a:prstGeom>
        </p:spPr>
      </p:pic>
      <p:sp>
        <p:nvSpPr>
          <p:cNvPr id="89" name="Shape 89"/>
          <p:cNvSpPr txBox="1">
            <a:spLocks noGrp="1"/>
          </p:cNvSpPr>
          <p:nvPr>
            <p:ph type="title"/>
          </p:nvPr>
        </p:nvSpPr>
        <p:spPr>
          <a:xfrm>
            <a:off x="1097280" y="941360"/>
            <a:ext cx="9977120" cy="68424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vert="horz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rgbClr val="FFFF66"/>
              </a:buClr>
              <a:buSzPct val="25000"/>
            </a:pPr>
            <a:r>
              <a:rPr lang="en-US" sz="3959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Data Science and Coding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047B0-7E90-131C-4300-F015433AA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FDB5-E7F9-4418-A232-5291A07F2AA6}"/>
              </a:ext>
            </a:extLst>
          </p:cNvPr>
          <p:cNvSpPr txBox="1"/>
          <p:nvPr/>
        </p:nvSpPr>
        <p:spPr>
          <a:xfrm>
            <a:off x="1097280" y="5389470"/>
            <a:ext cx="3305713" cy="83099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Sitka Subheading" pitchFamily="2" charset="0"/>
              </a:rPr>
              <a:t>Geog4/6300: Fall 2026</a:t>
            </a:r>
          </a:p>
          <a:p>
            <a:r>
              <a:rPr lang="en-US" sz="2400" dirty="0">
                <a:solidFill>
                  <a:schemeClr val="bg1"/>
                </a:solidFill>
                <a:latin typeface="Sitka Subheading" pitchFamily="2" charset="0"/>
              </a:rPr>
              <a:t>Dr. Shannon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049866" y="769939"/>
            <a:ext cx="9674578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What words do you think of when you think of statistics?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4F7605-3C29-F07B-44A7-C156DFA4A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2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EAA2DA-DEAB-6B17-237B-0579A5F7A73E}"/>
              </a:ext>
            </a:extLst>
          </p:cNvPr>
          <p:cNvSpPr txBox="1"/>
          <p:nvPr/>
        </p:nvSpPr>
        <p:spPr>
          <a:xfrm>
            <a:off x="1049866" y="4991290"/>
            <a:ext cx="7642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https://www.menti.com/alf1iff3dbnv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84710-F7B3-F8F0-D5F0-620B771CB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86" y="2476689"/>
            <a:ext cx="2232378" cy="223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41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>
          <a:extLst>
            <a:ext uri="{FF2B5EF4-FFF2-40B4-BE49-F238E27FC236}">
              <a16:creationId xmlns:a16="http://schemas.microsoft.com/office/drawing/2014/main" id="{728AD02F-2635-20CD-D196-450510D55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>
            <a:extLst>
              <a:ext uri="{FF2B5EF4-FFF2-40B4-BE49-F238E27FC236}">
                <a16:creationId xmlns:a16="http://schemas.microsoft.com/office/drawing/2014/main" id="{DE46378B-4310-C551-058E-B85E7EC882D1}"/>
              </a:ext>
            </a:extLst>
          </p:cNvPr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>
            <a:extLst>
              <a:ext uri="{FF2B5EF4-FFF2-40B4-BE49-F238E27FC236}">
                <a16:creationId xmlns:a16="http://schemas.microsoft.com/office/drawing/2014/main" id="{04BCA5DA-EE25-283E-566C-8B8A408F21E5}"/>
              </a:ext>
            </a:extLst>
          </p:cNvPr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>
            <a:extLst>
              <a:ext uri="{FF2B5EF4-FFF2-40B4-BE49-F238E27FC236}">
                <a16:creationId xmlns:a16="http://schemas.microsoft.com/office/drawing/2014/main" id="{6DA7F2B5-DC4A-5106-E28E-DFEC0CEE0F2C}"/>
              </a:ext>
            </a:extLst>
          </p:cNvPr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>
            <a:extLst>
              <a:ext uri="{FF2B5EF4-FFF2-40B4-BE49-F238E27FC236}">
                <a16:creationId xmlns:a16="http://schemas.microsoft.com/office/drawing/2014/main" id="{55B306D6-CE0B-E859-32F0-3989FA9891B3}"/>
              </a:ext>
            </a:extLst>
          </p:cNvPr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>
            <a:extLst>
              <a:ext uri="{FF2B5EF4-FFF2-40B4-BE49-F238E27FC236}">
                <a16:creationId xmlns:a16="http://schemas.microsoft.com/office/drawing/2014/main" id="{7121A005-05F3-D0D3-744C-1F6912BF91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8952DAA7-CAC9-9E63-BBDA-0FF79985C00E}"/>
              </a:ext>
            </a:extLst>
          </p:cNvPr>
          <p:cNvSpPr txBox="1"/>
          <p:nvPr/>
        </p:nvSpPr>
        <p:spPr>
          <a:xfrm>
            <a:off x="1049866" y="769939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Types of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FC1E7A98-41EB-E5EE-4B2B-8FC2120990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9088" y="2572994"/>
            <a:ext cx="2984973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4B548555-02A6-4F82-B51C-1DDF0598C1F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57941" y="2449193"/>
            <a:ext cx="3229998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28B4E8-CB40-CA40-07A2-EBC6B7C7065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888" b="5273"/>
          <a:stretch/>
        </p:blipFill>
        <p:spPr>
          <a:xfrm>
            <a:off x="4752976" y="2719834"/>
            <a:ext cx="2686049" cy="25966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75DF7-9DBE-EAAE-589D-D1EABE10D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3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8782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117600" y="66583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Descriptive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C61195E6-5007-4614-9CE0-604BEC1944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92370" y="3596321"/>
            <a:ext cx="3152963" cy="263583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1221582" y="1940776"/>
            <a:ext cx="5901708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Central tendency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Distribution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Change over time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Data visualization/exploratory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38B799-D326-40B1-B44B-9094848B2B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250"/>
          <a:stretch/>
        </p:blipFill>
        <p:spPr>
          <a:xfrm>
            <a:off x="7275689" y="33090"/>
            <a:ext cx="4715734" cy="34869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E2223-D89D-BE46-E7C1-D95C7FB85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4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771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128889" y="837998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Inferential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1271671" y="1909947"/>
            <a:ext cx="777240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Difference in means/t-tests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Confidence intervals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Correlation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Regression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Machine learning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ea typeface="Calibri"/>
                <a:cs typeface="Calibri"/>
                <a:sym typeface="Calibri"/>
              </a:rPr>
              <a:t>Clustering</a:t>
            </a:r>
          </a:p>
        </p:txBody>
      </p:sp>
      <p:pic>
        <p:nvPicPr>
          <p:cNvPr id="14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22C12108-4117-4598-9123-489C46384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61867" y="152400"/>
            <a:ext cx="3769614" cy="32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5EAA-0B09-4DB6-A05D-925569AA4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206" y="3835105"/>
            <a:ext cx="4486275" cy="20383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A680A-D3DD-7375-FF01-B6D6CB30D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5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02201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128349" y="850322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Spatial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1280749" y="1965420"/>
            <a:ext cx="602316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autocorrelation/Hotspot analysis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clustering</a:t>
            </a:r>
          </a:p>
          <a:p>
            <a:pPr marL="457200" indent="-457200"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Geographic regression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53B2A5-8BED-4A82-9366-99D73D997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51" y="3551320"/>
            <a:ext cx="4513042" cy="2562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2499F4-4C3B-4B60-BD20-67AA9C85A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923" y="255846"/>
            <a:ext cx="4033706" cy="3122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BB0F4-A2AC-E5EE-680F-03F2B4E8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6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53745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/>
          <p:nvPr/>
        </p:nvSpPr>
        <p:spPr>
          <a:xfrm>
            <a:off x="1097280" y="5526477"/>
            <a:ext cx="10113264" cy="822960"/>
          </a:xfrm>
          <a:prstGeom prst="rect">
            <a:avLst/>
          </a:prstGeom>
        </p:spPr>
        <p:txBody>
          <a:bodyPr vert="horz" lIns="91440" tIns="0" rIns="91440" bIns="0" rtlCol="0" anchor="b" anchorCtr="0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buSzPct val="25000"/>
            </a:pPr>
            <a:r>
              <a:rPr lang="en-US" sz="4000" b="0" kern="1200" spc="-50" baseline="0" dirty="0">
                <a:solidFill>
                  <a:srgbClr val="FFFFFF"/>
                </a:solidFill>
                <a:latin typeface="Sitka Display Semibold" pitchFamily="2" charset="0"/>
                <a:ea typeface="+mj-ea"/>
                <a:cs typeface="+mj-cs"/>
              </a:rPr>
              <a:t>What’s distinctive about statistics in geography?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20B3CD-3073-5EFD-A081-F74C745D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latin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7</a:t>
            </a:fld>
            <a:endParaRPr lang="en-US" sz="1200">
              <a:latin typeface="Calibri"/>
              <a:cs typeface="Calibri"/>
              <a:sym typeface="Calibri"/>
            </a:endParaRPr>
          </a:p>
        </p:txBody>
      </p:sp>
      <p:pic>
        <p:nvPicPr>
          <p:cNvPr id="4" name="Shape 153" descr="http://www.forwardmapworks.com/wordpress/wp-content/uploads/2012/03/Census_Bureau_Geographers_Cartographers.jpg">
            <a:extLst>
              <a:ext uri="{FF2B5EF4-FFF2-40B4-BE49-F238E27FC236}">
                <a16:creationId xmlns:a16="http://schemas.microsoft.com/office/drawing/2014/main" id="{37435F2A-4427-C8BD-6C69-C21E847A6E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5444" b="15709"/>
          <a:stretch>
            <a:fillRect/>
          </a:stretch>
        </p:blipFill>
        <p:spPr>
          <a:xfrm>
            <a:off x="0" y="0"/>
            <a:ext cx="12192000" cy="54073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49416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75"/>
          <p:cNvSpPr txBox="1"/>
          <p:nvPr/>
        </p:nvSpPr>
        <p:spPr>
          <a:xfrm>
            <a:off x="9460618" y="6400801"/>
            <a:ext cx="1207381" cy="2616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3dgolfcourse.com</a:t>
            </a:r>
          </a:p>
        </p:txBody>
      </p:sp>
      <p:pic>
        <p:nvPicPr>
          <p:cNvPr id="176" name="Shape 176" descr="http://www.3dgolfcourse.com/wp-content/uploads/2010/02/willow_creek_lidar_2_sm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2346861"/>
            <a:ext cx="5034844" cy="33540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Shape 177" descr="http://www.nass.usda.gov/research/atlas02/Crops/Hay%20and%20Forage%20Crops%20Harvested/Forage%20-%20Land%20Used%20for%20All%20Hay%20and%20All%20Haylage,%20Grass%20Silage,%20and%20Greenchop,%20Harvested%20Acres%202002-choropleth%20map.gif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5540" y="2135455"/>
            <a:ext cx="4899772" cy="378618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Shape 178"/>
          <p:cNvSpPr txBox="1"/>
          <p:nvPr/>
        </p:nvSpPr>
        <p:spPr>
          <a:xfrm>
            <a:off x="1267178" y="803169"/>
            <a:ext cx="845376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1. Data formats and creation methods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71CDA6-8D65-32CF-1944-0B55EC62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8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land with different colors&#10;&#10;AI-generated content may be incorrect.">
            <a:extLst>
              <a:ext uri="{FF2B5EF4-FFF2-40B4-BE49-F238E27FC236}">
                <a16:creationId xmlns:a16="http://schemas.microsoft.com/office/drawing/2014/main" id="{870FEDE6-D3EA-3D14-B258-4254A70AF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57" y="3725241"/>
            <a:ext cx="7857212" cy="2609298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68AAFFCC-7A45-6569-603D-2E65D8426F7A}"/>
              </a:ext>
            </a:extLst>
          </p:cNvPr>
          <p:cNvSpPr txBox="1"/>
          <p:nvPr/>
        </p:nvSpPr>
        <p:spPr>
          <a:xfrm>
            <a:off x="471557" y="3017355"/>
            <a:ext cx="5902739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Thematic (discrete) data</a:t>
            </a:r>
          </a:p>
        </p:txBody>
      </p:sp>
      <p:pic>
        <p:nvPicPr>
          <p:cNvPr id="6" name="Picture 5" descr="A green and yellow background&#10;&#10;AI-generated content may be incorrect.">
            <a:extLst>
              <a:ext uri="{FF2B5EF4-FFF2-40B4-BE49-F238E27FC236}">
                <a16:creationId xmlns:a16="http://schemas.microsoft.com/office/drawing/2014/main" id="{28B8791D-D31D-8864-5C4F-89D6E4111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7186" y="913295"/>
            <a:ext cx="3788465" cy="2626669"/>
          </a:xfrm>
          <a:prstGeom prst="rect">
            <a:avLst/>
          </a:prstGeom>
        </p:spPr>
      </p:pic>
      <p:sp>
        <p:nvSpPr>
          <p:cNvPr id="7" name="Shape 178">
            <a:extLst>
              <a:ext uri="{FF2B5EF4-FFF2-40B4-BE49-F238E27FC236}">
                <a16:creationId xmlns:a16="http://schemas.microsoft.com/office/drawing/2014/main" id="{73E03BD3-E417-82BC-1287-74B7AA6BA7D4}"/>
              </a:ext>
            </a:extLst>
          </p:cNvPr>
          <p:cNvSpPr txBox="1"/>
          <p:nvPr/>
        </p:nvSpPr>
        <p:spPr>
          <a:xfrm>
            <a:off x="7807186" y="205409"/>
            <a:ext cx="4764157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Continuous data</a:t>
            </a:r>
          </a:p>
        </p:txBody>
      </p:sp>
      <p:pic>
        <p:nvPicPr>
          <p:cNvPr id="9" name="Picture 8" descr="A map of a city&#10;&#10;AI-generated content may be incorrect.">
            <a:extLst>
              <a:ext uri="{FF2B5EF4-FFF2-40B4-BE49-F238E27FC236}">
                <a16:creationId xmlns:a16="http://schemas.microsoft.com/office/drawing/2014/main" id="{4D516178-F925-E216-5075-11FC20AFA7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557" y="290995"/>
            <a:ext cx="3944112" cy="2385944"/>
          </a:xfrm>
          <a:prstGeom prst="rect">
            <a:avLst/>
          </a:prstGeom>
        </p:spPr>
      </p:pic>
      <p:sp>
        <p:nvSpPr>
          <p:cNvPr id="10" name="Shape 178">
            <a:extLst>
              <a:ext uri="{FF2B5EF4-FFF2-40B4-BE49-F238E27FC236}">
                <a16:creationId xmlns:a16="http://schemas.microsoft.com/office/drawing/2014/main" id="{D86CFB01-FCC2-4AE5-46B1-F2D8E27EABCA}"/>
              </a:ext>
            </a:extLst>
          </p:cNvPr>
          <p:cNvSpPr txBox="1"/>
          <p:nvPr/>
        </p:nvSpPr>
        <p:spPr>
          <a:xfrm>
            <a:off x="4531570" y="255519"/>
            <a:ext cx="2446679" cy="9039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Basemaps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4667FE-C247-9E50-6082-B41B47AE9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9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31936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d and yellow cubes&#10;&#10;AI-generated content may be incorrect.">
            <a:extLst>
              <a:ext uri="{FF2B5EF4-FFF2-40B4-BE49-F238E27FC236}">
                <a16:creationId xmlns:a16="http://schemas.microsoft.com/office/drawing/2014/main" id="{176C38B3-6ACE-BF49-4BC2-22FCFB9C0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686" y="1319146"/>
            <a:ext cx="5762882" cy="2737369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C3B41642-BA7C-1138-5086-7A61B96A3101}"/>
              </a:ext>
            </a:extLst>
          </p:cNvPr>
          <p:cNvSpPr txBox="1"/>
          <p:nvPr/>
        </p:nvSpPr>
        <p:spPr>
          <a:xfrm>
            <a:off x="631686" y="299647"/>
            <a:ext cx="8884847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Arrays (multi-dimensional)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95966E-31C9-BA64-1DC7-18E5334D3F5E}"/>
              </a:ext>
            </a:extLst>
          </p:cNvPr>
          <p:cNvCxnSpPr/>
          <p:nvPr/>
        </p:nvCxnSpPr>
        <p:spPr>
          <a:xfrm>
            <a:off x="4186213" y="3576737"/>
            <a:ext cx="177579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2E7AAE-AC98-6736-DF9B-D42AEBF11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10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Study lowers range for future global warming, but does it matter? - The ...">
            <a:extLst>
              <a:ext uri="{FF2B5EF4-FFF2-40B4-BE49-F238E27FC236}">
                <a16:creationId xmlns:a16="http://schemas.microsoft.com/office/drawing/2014/main" id="{20A7B8A1-7519-AB04-CF27-8CC6E4149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717" y="2393243"/>
            <a:ext cx="5808283" cy="364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167"/>
          <p:cNvSpPr txBox="1"/>
          <p:nvPr/>
        </p:nvSpPr>
        <p:spPr>
          <a:xfrm>
            <a:off x="1241779" y="773401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2. Methods of analysis</a:t>
            </a:r>
          </a:p>
        </p:txBody>
      </p:sp>
      <p:pic>
        <p:nvPicPr>
          <p:cNvPr id="168" name="Shape 1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5944" y="2059730"/>
            <a:ext cx="4916523" cy="326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Shape 169"/>
          <p:cNvSpPr txBox="1"/>
          <p:nvPr/>
        </p:nvSpPr>
        <p:spPr>
          <a:xfrm>
            <a:off x="1241779" y="2059730"/>
            <a:ext cx="5144165" cy="193899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clustering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lag/influence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Space/time geography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5CCDB4-E0E2-9F43-95C8-9EFB9F2EB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11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Shape 233" descr="http://prabasiva.files.wordpress.com/2012/04/big-data-iceberg1.jpg"/>
          <p:cNvPicPr preferRelativeResize="0"/>
          <p:nvPr/>
        </p:nvPicPr>
        <p:blipFill rotWithShape="1">
          <a:blip r:embed="rId3">
            <a:alphaModFix/>
          </a:blip>
          <a:srcRect r="13310"/>
          <a:stretch/>
        </p:blipFill>
        <p:spPr>
          <a:xfrm>
            <a:off x="719970" y="1998133"/>
            <a:ext cx="3603675" cy="34678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Shape 234" descr="http://qualityandinnovation.files.wordpress.com/2012/09/top-20-data-vis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58756" y="3700689"/>
            <a:ext cx="4542626" cy="23338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EFC137-7747-4A7A-BF66-C93A7E7CA2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7475"/>
          <a:stretch/>
        </p:blipFill>
        <p:spPr>
          <a:xfrm>
            <a:off x="5705382" y="273483"/>
            <a:ext cx="6096000" cy="3001951"/>
          </a:xfrm>
          <a:prstGeom prst="rect">
            <a:avLst/>
          </a:prstGeom>
        </p:spPr>
      </p:pic>
      <p:sp>
        <p:nvSpPr>
          <p:cNvPr id="2" name="Shape 167">
            <a:extLst>
              <a:ext uri="{FF2B5EF4-FFF2-40B4-BE49-F238E27FC236}">
                <a16:creationId xmlns:a16="http://schemas.microsoft.com/office/drawing/2014/main" id="{608A7FA6-E913-20C4-ABDE-B138E0C50A76}"/>
              </a:ext>
            </a:extLst>
          </p:cNvPr>
          <p:cNvSpPr txBox="1"/>
          <p:nvPr/>
        </p:nvSpPr>
        <p:spPr>
          <a:xfrm>
            <a:off x="539347" y="823470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3. Data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96167-1443-E2A5-D9C1-5CB3624FC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12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32">
          <a:extLst>
            <a:ext uri="{FF2B5EF4-FFF2-40B4-BE49-F238E27FC236}">
              <a16:creationId xmlns:a16="http://schemas.microsoft.com/office/drawing/2014/main" id="{FEEAFE90-EA2B-7055-5DE3-78934A08D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7">
            <a:extLst>
              <a:ext uri="{FF2B5EF4-FFF2-40B4-BE49-F238E27FC236}">
                <a16:creationId xmlns:a16="http://schemas.microsoft.com/office/drawing/2014/main" id="{FD6E43AF-9A03-02E4-F28B-81C4F6493ABA}"/>
              </a:ext>
            </a:extLst>
          </p:cNvPr>
          <p:cNvSpPr txBox="1"/>
          <p:nvPr/>
        </p:nvSpPr>
        <p:spPr>
          <a:xfrm>
            <a:off x="1126369" y="778314"/>
            <a:ext cx="944003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How is data science different? (Or is it?)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C6BA4-8509-6DA9-DEFC-9600F081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13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Online Media 4" title="Intro to Data Science: What is Data Science?">
            <a:hlinkClick r:id="" action="ppaction://media"/>
            <a:extLst>
              <a:ext uri="{FF2B5EF4-FFF2-40B4-BE49-F238E27FC236}">
                <a16:creationId xmlns:a16="http://schemas.microsoft.com/office/drawing/2014/main" id="{1EEE41BA-2E8B-6A37-373E-0136B893BC1F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126369" y="1928441"/>
            <a:ext cx="7554102" cy="426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73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32">
          <a:extLst>
            <a:ext uri="{FF2B5EF4-FFF2-40B4-BE49-F238E27FC236}">
              <a16:creationId xmlns:a16="http://schemas.microsoft.com/office/drawing/2014/main" id="{FEEAFE90-EA2B-7055-5DE3-78934A08D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7">
            <a:extLst>
              <a:ext uri="{FF2B5EF4-FFF2-40B4-BE49-F238E27FC236}">
                <a16:creationId xmlns:a16="http://schemas.microsoft.com/office/drawing/2014/main" id="{FD6E43AF-9A03-02E4-F28B-81C4F6493ABA}"/>
              </a:ext>
            </a:extLst>
          </p:cNvPr>
          <p:cNvSpPr txBox="1"/>
          <p:nvPr/>
        </p:nvSpPr>
        <p:spPr>
          <a:xfrm>
            <a:off x="1126369" y="778314"/>
            <a:ext cx="944003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Why code?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C6BA4-8509-6DA9-DEFC-9600F081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14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Logo Arcgis Pro | Logo Arcgis Png - RLPYE">
            <a:extLst>
              <a:ext uri="{FF2B5EF4-FFF2-40B4-BE49-F238E27FC236}">
                <a16:creationId xmlns:a16="http://schemas.microsoft.com/office/drawing/2014/main" id="{4FB48C2E-0D7A-209B-1760-96E9335320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20" t="15992" r="23549" b="20281"/>
          <a:stretch>
            <a:fillRect/>
          </a:stretch>
        </p:blipFill>
        <p:spPr>
          <a:xfrm>
            <a:off x="4989709" y="1812343"/>
            <a:ext cx="2587558" cy="3035030"/>
          </a:xfrm>
          <a:prstGeom prst="rect">
            <a:avLst/>
          </a:prstGeom>
        </p:spPr>
      </p:pic>
      <p:pic>
        <p:nvPicPr>
          <p:cNvPr id="6" name="Picture 5" descr="QGIS Logo - PNG Logo Vector Brand Downloads (SVG, EPS)">
            <a:extLst>
              <a:ext uri="{FF2B5EF4-FFF2-40B4-BE49-F238E27FC236}">
                <a16:creationId xmlns:a16="http://schemas.microsoft.com/office/drawing/2014/main" id="{8B3DB511-AE31-583A-76A1-604B88FBC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3693" y="4183711"/>
            <a:ext cx="2458636" cy="2458636"/>
          </a:xfrm>
          <a:prstGeom prst="rect">
            <a:avLst/>
          </a:prstGeom>
        </p:spPr>
      </p:pic>
      <p:pic>
        <p:nvPicPr>
          <p:cNvPr id="7" name="Picture 6" descr="R AnalyticFlow">
            <a:extLst>
              <a:ext uri="{FF2B5EF4-FFF2-40B4-BE49-F238E27FC236}">
                <a16:creationId xmlns:a16="http://schemas.microsoft.com/office/drawing/2014/main" id="{A4F48445-9342-6158-64A4-4221552EB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326" y="3594052"/>
            <a:ext cx="3161104" cy="2458636"/>
          </a:xfrm>
          <a:prstGeom prst="rect">
            <a:avLst/>
          </a:prstGeom>
        </p:spPr>
      </p:pic>
      <p:pic>
        <p:nvPicPr>
          <p:cNvPr id="8" name="Picture 7" descr="Pythonのよく使う標準ライブラリ一覧と使い方の例 その1: Python ライブラリ 使い方 - FNBVCO">
            <a:extLst>
              <a:ext uri="{FF2B5EF4-FFF2-40B4-BE49-F238E27FC236}">
                <a16:creationId xmlns:a16="http://schemas.microsoft.com/office/drawing/2014/main" id="{F068EE88-2BFE-2EC0-8D7B-E8E495A7D5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7145" b="22901"/>
          <a:stretch>
            <a:fillRect/>
          </a:stretch>
        </p:blipFill>
        <p:spPr>
          <a:xfrm>
            <a:off x="7604261" y="2351138"/>
            <a:ext cx="3836346" cy="12937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0D9C14-DF30-8E7E-859C-55A2907A1A5C}"/>
              </a:ext>
            </a:extLst>
          </p:cNvPr>
          <p:cNvSpPr txBox="1"/>
          <p:nvPr/>
        </p:nvSpPr>
        <p:spPr>
          <a:xfrm>
            <a:off x="1126369" y="1943147"/>
            <a:ext cx="400010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Open-source model (low/no cost)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Shareability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Spatial &amp; non-spatial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Advanced analytical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1">
                  <a:lumMod val="75000"/>
                </a:schemeClr>
              </a:solidFill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173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7CD0DC32-3F08-61C4-E375-3D8B9124F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7">
            <a:extLst>
              <a:ext uri="{FF2B5EF4-FFF2-40B4-BE49-F238E27FC236}">
                <a16:creationId xmlns:a16="http://schemas.microsoft.com/office/drawing/2014/main" id="{4E2C5144-A98D-281B-19D2-B14535CD1AE1}"/>
              </a:ext>
            </a:extLst>
          </p:cNvPr>
          <p:cNvSpPr txBox="1"/>
          <p:nvPr/>
        </p:nvSpPr>
        <p:spPr>
          <a:xfrm>
            <a:off x="457199" y="594359"/>
            <a:ext cx="3523785" cy="22860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 fontScale="92500"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buSzPct val="25000"/>
            </a:pPr>
            <a:r>
              <a:rPr lang="en-US" sz="4800" b="0" kern="1200" spc="-50" baseline="0" dirty="0">
                <a:solidFill>
                  <a:srgbClr val="FFFFFF"/>
                </a:solidFill>
                <a:latin typeface="Sitka Display Semibold" pitchFamily="2" charset="0"/>
                <a:ea typeface="+mj-ea"/>
                <a:cs typeface="+mj-cs"/>
              </a:rPr>
              <a:t>Object-oriented programming</a:t>
            </a:r>
          </a:p>
        </p:txBody>
      </p:sp>
      <p:pic>
        <p:nvPicPr>
          <p:cNvPr id="5" name="Picture 4" descr="10 [FREE] FREE 3D MODEL CARDBOARD BOX HD DOWNLOAD 2020 - * 3D Blender">
            <a:extLst>
              <a:ext uri="{FF2B5EF4-FFF2-40B4-BE49-F238E27FC236}">
                <a16:creationId xmlns:a16="http://schemas.microsoft.com/office/drawing/2014/main" id="{C5BBDE6A-FFE4-8438-9B29-167A25FD1E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02" r="2" b="11814"/>
          <a:stretch>
            <a:fillRect/>
          </a:stretch>
        </p:blipFill>
        <p:spPr>
          <a:xfrm>
            <a:off x="4800600" y="731520"/>
            <a:ext cx="6492240" cy="5257800"/>
          </a:xfrm>
          <a:prstGeom prst="rect">
            <a:avLst/>
          </a:prstGeom>
          <a:noFill/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BB15740-9CE2-A810-C5A1-3A8683A0D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22702"/>
            <a:ext cx="3200400" cy="3082502"/>
          </a:xfrm>
        </p:spPr>
        <p:txBody>
          <a:bodyPr>
            <a:normAutofit/>
          </a:bodyPr>
          <a:lstStyle/>
          <a:p>
            <a:r>
              <a:rPr lang="en-US" sz="3200" dirty="0"/>
              <a:t>Data are stored within a coding environment using structures called objects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8CD42-8A81-7D72-2BF6-1CE1C74C9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15</a:t>
            </a:fld>
            <a:endParaRPr lang="en-US" sz="1200">
              <a:solidFill>
                <a:srgbClr val="888888"/>
              </a:solidFill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75647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F3459EA-DA0A-B3B1-CD5B-B365E4AF3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What can go inside an object?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FA9067-5792-71B1-4059-26864157D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143" y="2007218"/>
            <a:ext cx="6423103" cy="4023360"/>
          </a:xfrm>
        </p:spPr>
        <p:txBody>
          <a:bodyPr/>
          <a:lstStyle/>
          <a:p>
            <a:r>
              <a:rPr lang="en-US" dirty="0"/>
              <a:t>Single values (Vectors): Apples, oranges, or bananas</a:t>
            </a:r>
          </a:p>
          <a:p>
            <a:r>
              <a:rPr lang="en-US" dirty="0"/>
              <a:t>Groupings of data (Lists): All the vegetables in a supermarket; All the meats in the same market, etc.</a:t>
            </a:r>
          </a:p>
          <a:p>
            <a:r>
              <a:rPr lang="en-US" dirty="0"/>
              <a:t>Statistical tables (Data frames/matrices): Addresses, coordinates, and sales figures for a supermarket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4A8021-6FD9-2CF1-9C47-514334DFE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/>
              <a:pPr>
                <a:spcAft>
                  <a:spcPts val="600"/>
                </a:spcAft>
                <a:buSzPct val="25000"/>
              </a:pPr>
              <a:t>16</a:t>
            </a:fld>
            <a:endParaRPr lang="en-US" sz="1200"/>
          </a:p>
        </p:txBody>
      </p:sp>
      <p:pic>
        <p:nvPicPr>
          <p:cNvPr id="6" name="Picture 5" descr="10 [FREE] FREE 3D MODEL CARDBOARD BOX HD DOWNLOAD 2020 - * 3D Blender">
            <a:extLst>
              <a:ext uri="{FF2B5EF4-FFF2-40B4-BE49-F238E27FC236}">
                <a16:creationId xmlns:a16="http://schemas.microsoft.com/office/drawing/2014/main" id="{E387690E-78EB-0E1B-7517-EC23487E5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9306" y="2007218"/>
            <a:ext cx="3759355" cy="375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39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434B8-98D5-8802-CBE0-CDD1BB6E2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17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C16A53-4F3E-77AC-A1E5-A46628405FE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5089" y="354245"/>
            <a:ext cx="4999038" cy="1449387"/>
          </a:xfrm>
        </p:spPr>
        <p:txBody>
          <a:bodyPr/>
          <a:lstStyle/>
          <a:p>
            <a:r>
              <a:rPr lang="en-US" dirty="0"/>
              <a:t>You can manipulate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60AE2-9E30-A600-FE86-AB11B2C2BC8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75089" y="1913170"/>
            <a:ext cx="4879975" cy="4022725"/>
          </a:xfrm>
        </p:spPr>
        <p:txBody>
          <a:bodyPr>
            <a:normAutofit/>
          </a:bodyPr>
          <a:lstStyle/>
          <a:p>
            <a:r>
              <a:rPr lang="en-US" sz="2800" dirty="0"/>
              <a:t>Run calculations</a:t>
            </a:r>
          </a:p>
          <a:p>
            <a:r>
              <a:rPr lang="en-US" sz="2800" dirty="0"/>
              <a:t>Summarize values</a:t>
            </a:r>
          </a:p>
          <a:p>
            <a:r>
              <a:rPr lang="en-US" sz="2800" dirty="0"/>
              <a:t>Create statistical models</a:t>
            </a:r>
          </a:p>
          <a:p>
            <a:r>
              <a:rPr lang="en-US" sz="2800" dirty="0"/>
              <a:t>Join/merge them with other objects</a:t>
            </a:r>
          </a:p>
        </p:txBody>
      </p:sp>
      <p:pic>
        <p:nvPicPr>
          <p:cNvPr id="5" name="Picture 4" descr="Corrugated Box Factory at Ernest Rue blog">
            <a:extLst>
              <a:ext uri="{FF2B5EF4-FFF2-40B4-BE49-F238E27FC236}">
                <a16:creationId xmlns:a16="http://schemas.microsoft.com/office/drawing/2014/main" id="{942F3FF1-09C2-2530-093E-DBDA1CC25F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345" r="35666"/>
          <a:stretch>
            <a:fillRect/>
          </a:stretch>
        </p:blipFill>
        <p:spPr>
          <a:xfrm>
            <a:off x="6401376" y="-14973"/>
            <a:ext cx="5790623" cy="6357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06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9513F9E-4D87-61D3-32F3-F3FCFDDCB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Article search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22A45-8A67-6DBE-BE16-9FB78DA22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6502" y="1874917"/>
            <a:ext cx="9928697" cy="4023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 an article published since 2020 on a topic of interest to you that used </a:t>
            </a:r>
            <a:r>
              <a:rPr lang="en-US" dirty="0" err="1"/>
              <a:t>Rstudio</a:t>
            </a:r>
            <a:r>
              <a:rPr lang="en-US" dirty="0"/>
              <a:t> as part of the analysis.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What research question was this article asking?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What data did it use?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How was R/</a:t>
            </a:r>
            <a:r>
              <a:rPr lang="en-US" dirty="0" err="1"/>
              <a:t>Rstudio</a:t>
            </a:r>
            <a:r>
              <a:rPr lang="en-US" dirty="0"/>
              <a:t> part of the process?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4202C0-36A5-986C-352D-3776527D0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18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82528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002242" y="774603"/>
            <a:ext cx="868045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7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Next time: Getting started with R!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1233662" y="2159368"/>
            <a:ext cx="9784293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Install R/</a:t>
            </a:r>
            <a:r>
              <a:rPr lang="en-US" sz="2800" dirty="0" err="1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Rstudio</a:t>
            </a: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 BEFORE class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Take the Introductory Survey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Answer discussion post: what does an A look like for you?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1">
                  <a:lumMod val="75000"/>
                </a:schemeClr>
              </a:solidFill>
              <a:cs typeface="Calibri" panose="020F0502020204030204" pitchFamily="34" charset="0"/>
            </a:endParaRPr>
          </a:p>
          <a:p>
            <a:r>
              <a:rPr lang="en-US" sz="2800" b="1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What we will cover: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How to clone the course repository (“repo”)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75000"/>
                  </a:schemeClr>
                </a:solidFill>
                <a:cs typeface="Calibri" panose="020F0502020204030204" pitchFamily="34" charset="0"/>
              </a:rPr>
              <a:t>Get started using data in R: Script S01-1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8FA29-D767-894F-6C5A-A0515C1CE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19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3291738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466</TotalTime>
  <Words>933</Words>
  <Application>Microsoft Office PowerPoint</Application>
  <PresentationFormat>Widescreen</PresentationFormat>
  <Paragraphs>156</Paragraphs>
  <Slides>19</Slides>
  <Notes>16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Segoe UI</vt:lpstr>
      <vt:lpstr>Sitka Display Semibold</vt:lpstr>
      <vt:lpstr>Sitka Subheading</vt:lpstr>
      <vt:lpstr>4300 theme</vt:lpstr>
      <vt:lpstr>Data Science and Coding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can go inside an object?</vt:lpstr>
      <vt:lpstr>You can manipulate objects</vt:lpstr>
      <vt:lpstr>Article search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Jerry Shannon</cp:lastModifiedBy>
  <cp:revision>86</cp:revision>
  <dcterms:modified xsi:type="dcterms:W3CDTF">2026-08-11T18:49:44Z</dcterms:modified>
</cp:coreProperties>
</file>