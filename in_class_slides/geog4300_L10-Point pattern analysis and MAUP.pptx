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12"/>
  </p:notesMasterIdLst>
  <p:sldIdLst>
    <p:sldId id="263" r:id="rId2"/>
    <p:sldId id="291" r:id="rId3"/>
    <p:sldId id="284" r:id="rId4"/>
    <p:sldId id="286" r:id="rId5"/>
    <p:sldId id="290" r:id="rId6"/>
    <p:sldId id="285" r:id="rId7"/>
    <p:sldId id="305" r:id="rId8"/>
    <p:sldId id="289" r:id="rId9"/>
    <p:sldId id="287" r:id="rId10"/>
    <p:sldId id="30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19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Locational vs attributes.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69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clustered are the points?</a:t>
            </a:r>
          </a:p>
          <a:p>
            <a:endParaRPr lang="en-US" dirty="0"/>
          </a:p>
          <a:p>
            <a:r>
              <a:rPr lang="en-US" dirty="0"/>
              <a:t>If this is &gt;1 what does it tell you?</a:t>
            </a:r>
          </a:p>
          <a:p>
            <a:r>
              <a:rPr lang="en-US" dirty="0"/>
              <a:t>Actual average distance &gt; random </a:t>
            </a:r>
            <a:r>
              <a:rPr lang="en-US" dirty="0">
                <a:sym typeface="Wingdings" pitchFamily="2" charset="2"/>
              </a:rPr>
              <a:t> spread out.</a:t>
            </a:r>
          </a:p>
          <a:p>
            <a:r>
              <a:rPr lang="en-US" dirty="0">
                <a:sym typeface="Wingdings" pitchFamily="2" charset="2"/>
              </a:rPr>
              <a:t>If &lt;1  closer together.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Turn to neighbor and discuss which is which?</a:t>
            </a:r>
          </a:p>
          <a:p>
            <a:r>
              <a:rPr lang="en-US" dirty="0">
                <a:sym typeface="Wingdings" pitchFamily="2" charset="2"/>
              </a:rPr>
              <a:t>Blue: Random</a:t>
            </a:r>
          </a:p>
          <a:p>
            <a:r>
              <a:rPr lang="en-US" dirty="0">
                <a:sym typeface="Wingdings" pitchFamily="2" charset="2"/>
              </a:rPr>
              <a:t>Red: Dispersed – like magnets pushing each other apart.</a:t>
            </a:r>
          </a:p>
          <a:p>
            <a:r>
              <a:rPr lang="en-US" dirty="0">
                <a:sym typeface="Wingdings" pitchFamily="2" charset="2"/>
              </a:rPr>
              <a:t>Green: Clustered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This is a global measure – it’s describing the whole data set, not individual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77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Rate in a sub-area compared to rate in a whole area.</a:t>
            </a:r>
          </a:p>
          <a:p>
            <a:endParaRPr lang="en-US" dirty="0"/>
          </a:p>
          <a:p>
            <a:r>
              <a:rPr lang="en-US" dirty="0"/>
              <a:t>e.g. how many tornadoes in Minnesota compared to entire Midwest? (30% in </a:t>
            </a:r>
            <a:r>
              <a:rPr lang="en-US" dirty="0" err="1"/>
              <a:t>Minn</a:t>
            </a:r>
            <a:r>
              <a:rPr lang="en-US" dirty="0"/>
              <a:t> vs 20% in Midwest).</a:t>
            </a:r>
          </a:p>
          <a:p>
            <a:endParaRPr lang="en-US" dirty="0"/>
          </a:p>
          <a:p>
            <a:r>
              <a:rPr lang="en-US" dirty="0"/>
              <a:t>When is this useful?</a:t>
            </a:r>
          </a:p>
          <a:p>
            <a:r>
              <a:rPr lang="en-US" dirty="0"/>
              <a:t>It’s a form of hotspot analysis – when is something happening more often in a certain area.</a:t>
            </a:r>
          </a:p>
          <a:p>
            <a:r>
              <a:rPr lang="en-US" dirty="0"/>
              <a:t>Severe vs mild disease maps.</a:t>
            </a:r>
          </a:p>
          <a:p>
            <a:r>
              <a:rPr lang="en-US" dirty="0"/>
              <a:t>% of trees with an insect infection in a subarea compared to larger region.</a:t>
            </a:r>
          </a:p>
          <a:p>
            <a:endParaRPr lang="en-US" dirty="0"/>
          </a:p>
          <a:p>
            <a:r>
              <a:rPr lang="en-US" dirty="0"/>
              <a:t>e.g. 41% of stores are FD, but in each grid you’ve just created the % will be different.</a:t>
            </a:r>
          </a:p>
          <a:p>
            <a:endParaRPr lang="en-US" dirty="0"/>
          </a:p>
          <a:p>
            <a:r>
              <a:rPr lang="en-US" dirty="0"/>
              <a:t>LQ &lt; 1 means the rate is lower than the region average.</a:t>
            </a:r>
          </a:p>
          <a:p>
            <a:r>
              <a:rPr lang="en-US" dirty="0"/>
              <a:t>LQ &gt; 1 means the rate is higher than the region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018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Quadrats:</a:t>
            </a:r>
          </a:p>
          <a:p>
            <a:r>
              <a:rPr lang="en-US" dirty="0"/>
              <a:t>Looks a little like raster.</a:t>
            </a:r>
          </a:p>
          <a:p>
            <a:r>
              <a:rPr lang="en-US" dirty="0" err="1"/>
              <a:t>Tessalation</a:t>
            </a:r>
            <a:r>
              <a:rPr lang="en-US" dirty="0"/>
              <a:t> = ? A shape that’s repeated over and over.</a:t>
            </a:r>
          </a:p>
          <a:p>
            <a:r>
              <a:rPr lang="en-US" dirty="0"/>
              <a:t>Aggregate points into a grid. Enables quantification of the distribution of the data points.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16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sheets and rulers:</a:t>
            </a:r>
          </a:p>
          <a:p>
            <a:r>
              <a:rPr lang="en-US" dirty="0"/>
              <a:t>Dollar stores in Atlanta. </a:t>
            </a:r>
          </a:p>
          <a:p>
            <a:r>
              <a:rPr lang="en-US" dirty="0"/>
              <a:t>Make a grid. Count the stores in each grid cell.</a:t>
            </a:r>
          </a:p>
          <a:p>
            <a:r>
              <a:rPr lang="en-US" dirty="0"/>
              <a:t>Make a table with cell index, FD, DT, total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43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Rate in a sub-area compared to rate in a whole area.</a:t>
            </a:r>
          </a:p>
          <a:p>
            <a:endParaRPr lang="en-US" dirty="0"/>
          </a:p>
          <a:p>
            <a:r>
              <a:rPr lang="en-US" dirty="0"/>
              <a:t>e.g. how many tornadoes in Minnesota compared to entire Midwest? (30% in </a:t>
            </a:r>
            <a:r>
              <a:rPr lang="en-US" dirty="0" err="1"/>
              <a:t>Minn</a:t>
            </a:r>
            <a:r>
              <a:rPr lang="en-US" dirty="0"/>
              <a:t> vs 20% in Midwest).</a:t>
            </a:r>
          </a:p>
          <a:p>
            <a:endParaRPr lang="en-US" dirty="0"/>
          </a:p>
          <a:p>
            <a:r>
              <a:rPr lang="en-US" dirty="0"/>
              <a:t>When is this useful?</a:t>
            </a:r>
          </a:p>
          <a:p>
            <a:r>
              <a:rPr lang="en-US" dirty="0"/>
              <a:t>It’s a form of hotspot analysis – when is something happening more often in a certain area.</a:t>
            </a:r>
          </a:p>
          <a:p>
            <a:r>
              <a:rPr lang="en-US" dirty="0"/>
              <a:t>Severe vs mild disease maps.</a:t>
            </a:r>
          </a:p>
          <a:p>
            <a:r>
              <a:rPr lang="en-US" dirty="0"/>
              <a:t>% of trees with an insect infection in a subarea compared to larger region.</a:t>
            </a:r>
          </a:p>
          <a:p>
            <a:endParaRPr lang="en-US" dirty="0"/>
          </a:p>
          <a:p>
            <a:r>
              <a:rPr lang="en-US" dirty="0"/>
              <a:t>e.g. 41% of stores are FD, but in each grid you’ve just created the % will be different.</a:t>
            </a:r>
          </a:p>
          <a:p>
            <a:endParaRPr lang="en-US" dirty="0"/>
          </a:p>
          <a:p>
            <a:r>
              <a:rPr lang="en-US" dirty="0"/>
              <a:t>LQ &lt; 1 means the rate is lower than the region average.</a:t>
            </a:r>
          </a:p>
          <a:p>
            <a:r>
              <a:rPr lang="en-US" dirty="0"/>
              <a:t>LQ &gt; 1 means the rate is higher than the region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37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MAUP:</a:t>
            </a:r>
          </a:p>
          <a:p>
            <a:r>
              <a:rPr lang="en-US" dirty="0"/>
              <a:t>Gerry-</a:t>
            </a:r>
            <a:r>
              <a:rPr lang="en-US" dirty="0" err="1"/>
              <a:t>mandering</a:t>
            </a:r>
            <a:r>
              <a:rPr lang="en-US" dirty="0"/>
              <a:t> – you change the boundaries and get different results!</a:t>
            </a:r>
          </a:p>
          <a:p>
            <a:endParaRPr lang="en-US" dirty="0"/>
          </a:p>
          <a:p>
            <a:r>
              <a:rPr lang="en-US" dirty="0"/>
              <a:t>Where are the hotspots for </a:t>
            </a:r>
            <a:r>
              <a:rPr lang="en-US" dirty="0" err="1"/>
              <a:t>atl</a:t>
            </a:r>
            <a:r>
              <a:rPr lang="en-US" dirty="0"/>
              <a:t> metro area? People might get slightly different </a:t>
            </a:r>
            <a:r>
              <a:rPr lang="en-US"/>
              <a:t>answers because of MAUP.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215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40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422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41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294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684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8348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619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68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561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165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41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79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</a:schemeClr>
          </a:solidFill>
          <a:latin typeface="Sitka Display Semibold" pitchFamily="2" charset="0"/>
          <a:ea typeface="+mj-ea"/>
          <a:cs typeface="+mj-cs"/>
        </a:defRPr>
      </a:lvl1pPr>
    </p:titleStyle>
    <p:bodyStyle>
      <a:lvl1pPr marL="233363" indent="-2333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>
            <a:lumMod val="75000"/>
          </a:schemeClr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6248" y="2984156"/>
            <a:ext cx="10812163" cy="1099527"/>
          </a:xfrm>
        </p:spPr>
        <p:txBody>
          <a:bodyPr>
            <a:noAutofit/>
          </a:bodyPr>
          <a:lstStyle/>
          <a:p>
            <a:r>
              <a:rPr lang="en-US" sz="4400" dirty="0"/>
              <a:t>Week 5: Spatial data; Point pattern analysis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0A25A50-E1E4-4126-B9CC-C52512D3D3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GEOG4300 /6300: Intro to data science</a:t>
            </a:r>
          </a:p>
          <a:p>
            <a:r>
              <a:rPr lang="en-US" dirty="0"/>
              <a:t>Prof. Jerry Shannon</a:t>
            </a:r>
          </a:p>
        </p:txBody>
      </p:sp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1129019" y="1064425"/>
            <a:ext cx="45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Point pattern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F18F7E-6B87-4776-849F-EB88CF60DA92}"/>
              </a:ext>
            </a:extLst>
          </p:cNvPr>
          <p:cNvSpPr/>
          <p:nvPr/>
        </p:nvSpPr>
        <p:spPr>
          <a:xfrm>
            <a:off x="1129019" y="1815844"/>
            <a:ext cx="583873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How do we identify patterns in the distribution of point data?</a:t>
            </a:r>
          </a:p>
          <a:p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Clustering and dispersion of point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Distribution of point incidents (disease, natural disasters, species, crime, etc.)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Relative frequency of subevents (strong tornadoes, particular disease variants, etc.)</a:t>
            </a:r>
          </a:p>
        </p:txBody>
      </p:sp>
      <p:pic>
        <p:nvPicPr>
          <p:cNvPr id="7" name="Shape 134" descr="Random Distribution of Points">
            <a:extLst>
              <a:ext uri="{FF2B5EF4-FFF2-40B4-BE49-F238E27FC236}">
                <a16:creationId xmlns:a16="http://schemas.microsoft.com/office/drawing/2014/main" id="{7F42CBDD-79A7-495D-B0BE-2A698D1264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24403" y="2368306"/>
            <a:ext cx="2913279" cy="1834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Shape 133" descr="Regular Distribution of Points">
            <a:extLst>
              <a:ext uri="{FF2B5EF4-FFF2-40B4-BE49-F238E27FC236}">
                <a16:creationId xmlns:a16="http://schemas.microsoft.com/office/drawing/2014/main" id="{DD58ECE0-EB30-4D44-A38A-4719E172025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24403" y="385650"/>
            <a:ext cx="2913279" cy="183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Shape 135" descr="Clustered Distribution of Points">
            <a:extLst>
              <a:ext uri="{FF2B5EF4-FFF2-40B4-BE49-F238E27FC236}">
                <a16:creationId xmlns:a16="http://schemas.microsoft.com/office/drawing/2014/main" id="{66DB5254-E20F-4107-914E-7F53C9A1D5B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24403" y="4350961"/>
            <a:ext cx="2913279" cy="18053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6235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1069882" y="1052677"/>
            <a:ext cx="5477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Nearest Neighbor Index</a:t>
            </a:r>
          </a:p>
        </p:txBody>
      </p:sp>
      <p:pic>
        <p:nvPicPr>
          <p:cNvPr id="3" name="Shape 99" descr="Regular Distribution of Points">
            <a:extLst>
              <a:ext uri="{FF2B5EF4-FFF2-40B4-BE49-F238E27FC236}">
                <a16:creationId xmlns:a16="http://schemas.microsoft.com/office/drawing/2014/main" id="{399FC99A-4825-4BE9-91B5-A6C00CBE8A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377" y="3565487"/>
            <a:ext cx="3644315" cy="2498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Shape 100" descr="Random Distribution of Points">
            <a:extLst>
              <a:ext uri="{FF2B5EF4-FFF2-40B4-BE49-F238E27FC236}">
                <a16:creationId xmlns:a16="http://schemas.microsoft.com/office/drawing/2014/main" id="{F0F2D7D7-6779-4D36-B647-4F1CDA336AA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61600" y="3565487"/>
            <a:ext cx="3496811" cy="2498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Shape 101" descr="Clustered Distribution of Points">
            <a:extLst>
              <a:ext uri="{FF2B5EF4-FFF2-40B4-BE49-F238E27FC236}">
                <a16:creationId xmlns:a16="http://schemas.microsoft.com/office/drawing/2014/main" id="{42A03B3E-3D01-465D-98B2-69F74F61736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86319" y="3565487"/>
            <a:ext cx="3772949" cy="249876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7994403-C985-4737-B908-BDCB5C061047}"/>
                  </a:ext>
                </a:extLst>
              </p:cNvPr>
              <p:cNvSpPr txBox="1"/>
              <p:nvPr/>
            </p:nvSpPr>
            <p:spPr>
              <a:xfrm>
                <a:off x="2594688" y="1845621"/>
                <a:ext cx="7002623" cy="8935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𝐴𝑐𝑡𝑢𝑎𝑙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𝑎𝑣𝑒𝑟𝑎𝑔𝑒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𝑑𝑖𝑠𝑡𝑎𝑛𝑐𝑒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𝐴𝑣𝑒𝑟𝑎𝑔𝑒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𝑑𝑖𝑠𝑡𝑎𝑛𝑐𝑒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𝑟𝑎𝑛𝑑𝑜𝑚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𝑑𝑖𝑠𝑡𝑟𝑖𝑏𝑢𝑡𝑖𝑜𝑛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7994403-C985-4737-B908-BDCB5C061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688" y="1845621"/>
                <a:ext cx="7002623" cy="8935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0E6911-360A-4508-97F9-C167F5D373C1}"/>
              </a:ext>
            </a:extLst>
          </p:cNvPr>
          <p:cNvCxnSpPr/>
          <p:nvPr/>
        </p:nvCxnSpPr>
        <p:spPr>
          <a:xfrm flipV="1">
            <a:off x="1853023" y="3863491"/>
            <a:ext cx="266447" cy="58739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93F49CE-9007-4335-972B-9EBC833F1E69}"/>
              </a:ext>
            </a:extLst>
          </p:cNvPr>
          <p:cNvCxnSpPr>
            <a:cxnSpLocks/>
          </p:cNvCxnSpPr>
          <p:nvPr/>
        </p:nvCxnSpPr>
        <p:spPr>
          <a:xfrm>
            <a:off x="2464641" y="4523555"/>
            <a:ext cx="278559" cy="59345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684F4C-78E0-4120-8D8E-669559DE70A2}"/>
              </a:ext>
            </a:extLst>
          </p:cNvPr>
          <p:cNvCxnSpPr>
            <a:cxnSpLocks/>
          </p:cNvCxnSpPr>
          <p:nvPr/>
        </p:nvCxnSpPr>
        <p:spPr>
          <a:xfrm flipH="1">
            <a:off x="1235348" y="5184225"/>
            <a:ext cx="289767" cy="57467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4A4475-DDB4-4D24-9C39-33DC3F2F196C}"/>
              </a:ext>
            </a:extLst>
          </p:cNvPr>
          <p:cNvCxnSpPr>
            <a:cxnSpLocks/>
          </p:cNvCxnSpPr>
          <p:nvPr/>
        </p:nvCxnSpPr>
        <p:spPr>
          <a:xfrm>
            <a:off x="5522841" y="5052010"/>
            <a:ext cx="154901" cy="6499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E8CDFAD-521D-4F06-A39F-019BDD7418E3}"/>
              </a:ext>
            </a:extLst>
          </p:cNvPr>
          <p:cNvCxnSpPr>
            <a:cxnSpLocks/>
          </p:cNvCxnSpPr>
          <p:nvPr/>
        </p:nvCxnSpPr>
        <p:spPr>
          <a:xfrm flipH="1" flipV="1">
            <a:off x="5771015" y="3742379"/>
            <a:ext cx="404138" cy="12111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FBA04F-C0AD-45E0-8DB3-7B66FB73984A}"/>
              </a:ext>
            </a:extLst>
          </p:cNvPr>
          <p:cNvCxnSpPr>
            <a:cxnSpLocks/>
          </p:cNvCxnSpPr>
          <p:nvPr/>
        </p:nvCxnSpPr>
        <p:spPr>
          <a:xfrm flipH="1" flipV="1">
            <a:off x="5600291" y="5710459"/>
            <a:ext cx="372793" cy="21194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3D35641-036F-421A-A96D-C7D8672081AD}"/>
              </a:ext>
            </a:extLst>
          </p:cNvPr>
          <p:cNvCxnSpPr>
            <a:cxnSpLocks/>
          </p:cNvCxnSpPr>
          <p:nvPr/>
        </p:nvCxnSpPr>
        <p:spPr>
          <a:xfrm flipH="1">
            <a:off x="8962331" y="5241754"/>
            <a:ext cx="133224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5439EA2-340B-414E-8442-9A31277D7DA5}"/>
              </a:ext>
            </a:extLst>
          </p:cNvPr>
          <p:cNvCxnSpPr>
            <a:cxnSpLocks/>
          </p:cNvCxnSpPr>
          <p:nvPr/>
        </p:nvCxnSpPr>
        <p:spPr>
          <a:xfrm flipH="1" flipV="1">
            <a:off x="11130246" y="3863491"/>
            <a:ext cx="67622" cy="8942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B544252-3E27-4D34-8E4D-3951D0272A80}"/>
              </a:ext>
            </a:extLst>
          </p:cNvPr>
          <p:cNvCxnSpPr>
            <a:cxnSpLocks/>
          </p:cNvCxnSpPr>
          <p:nvPr/>
        </p:nvCxnSpPr>
        <p:spPr>
          <a:xfrm flipH="1" flipV="1">
            <a:off x="10857743" y="4656779"/>
            <a:ext cx="306314" cy="9547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8A6BF2D-5258-4D79-AB4B-7EFC58C29CD8}"/>
              </a:ext>
            </a:extLst>
          </p:cNvPr>
          <p:cNvCxnSpPr/>
          <p:nvPr/>
        </p:nvCxnSpPr>
        <p:spPr>
          <a:xfrm>
            <a:off x="1132862" y="3336652"/>
            <a:ext cx="10084582" cy="0"/>
          </a:xfrm>
          <a:prstGeom prst="straightConnector1">
            <a:avLst/>
          </a:prstGeom>
          <a:ln w="28575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7581A2C-DFB6-4EA3-A717-770DE02EC39D}"/>
              </a:ext>
            </a:extLst>
          </p:cNvPr>
          <p:cNvSpPr txBox="1"/>
          <p:nvPr/>
        </p:nvSpPr>
        <p:spPr>
          <a:xfrm>
            <a:off x="605563" y="2890805"/>
            <a:ext cx="1677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Dispersed (&gt;1)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B73855-313F-4D48-905B-322449C4490F}"/>
              </a:ext>
            </a:extLst>
          </p:cNvPr>
          <p:cNvSpPr txBox="1"/>
          <p:nvPr/>
        </p:nvSpPr>
        <p:spPr>
          <a:xfrm>
            <a:off x="5148418" y="2899429"/>
            <a:ext cx="15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Random (≈1)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F76B54-2853-4E4A-84C3-DE4604D1E5D9}"/>
              </a:ext>
            </a:extLst>
          </p:cNvPr>
          <p:cNvSpPr txBox="1"/>
          <p:nvPr/>
        </p:nvSpPr>
        <p:spPr>
          <a:xfrm>
            <a:off x="9761674" y="2916972"/>
            <a:ext cx="1625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Clustered (&lt;1)</a:t>
            </a:r>
          </a:p>
        </p:txBody>
      </p:sp>
    </p:spTree>
    <p:extLst>
      <p:ext uri="{BB962C8B-B14F-4D97-AF65-F5344CB8AC3E}">
        <p14:creationId xmlns:p14="http://schemas.microsoft.com/office/powerpoint/2010/main" val="41499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BE6686A-68B2-4197-A7C2-D89CFFCCEBAA}"/>
                  </a:ext>
                </a:extLst>
              </p:cNvPr>
              <p:cNvSpPr/>
              <p:nvPr/>
            </p:nvSpPr>
            <p:spPr>
              <a:xfrm>
                <a:off x="296084" y="4545751"/>
                <a:ext cx="3522631" cy="11865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𝐿𝑄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𝑝𝑐𝑡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𝑠𝑢𝑏𝑎𝑟𝑒𝑎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𝑝𝑐𝑡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𝑎𝑟𝑒𝑎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BE6686A-68B2-4197-A7C2-D89CFFCCEB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84" y="4545751"/>
                <a:ext cx="3522631" cy="11865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Chart 1. Highest location quotients for selected occupations, May 2009">
            <a:extLst>
              <a:ext uri="{FF2B5EF4-FFF2-40B4-BE49-F238E27FC236}">
                <a16:creationId xmlns:a16="http://schemas.microsoft.com/office/drawing/2014/main" id="{0CFFB418-B99B-4E5E-A2A4-E94D37F0B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046" y="120788"/>
            <a:ext cx="4107593" cy="364613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hart 5. Location quotients for bartenders and substance abuse and behavioral disorder counselors in selected states, May 2009">
            <a:extLst>
              <a:ext uri="{FF2B5EF4-FFF2-40B4-BE49-F238E27FC236}">
                <a16:creationId xmlns:a16="http://schemas.microsoft.com/office/drawing/2014/main" id="{B40B178D-6A9B-4FA0-B94A-9EA79240E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990" y="3429000"/>
            <a:ext cx="4418117" cy="336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E6ADD5-976F-4FBD-9120-AAED25C66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1349498"/>
          </a:xfrm>
        </p:spPr>
        <p:txBody>
          <a:bodyPr>
            <a:normAutofit/>
          </a:bodyPr>
          <a:lstStyle/>
          <a:p>
            <a:r>
              <a:rPr lang="en-US" sz="3200" b="1" dirty="0"/>
              <a:t>Location quotient</a:t>
            </a:r>
            <a:endParaRPr lang="en-US" sz="32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01B588-6FF2-4B53-B5D7-52E99FABC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052858"/>
            <a:ext cx="3200400" cy="4252346"/>
          </a:xfrm>
        </p:spPr>
        <p:txBody>
          <a:bodyPr>
            <a:normAutofit/>
          </a:bodyPr>
          <a:lstStyle/>
          <a:p>
            <a:r>
              <a:rPr lang="en-US" sz="2000" dirty="0"/>
              <a:t>Relative incidence of a particular event.</a:t>
            </a:r>
          </a:p>
          <a:p>
            <a:r>
              <a:rPr lang="en-US" sz="2000" dirty="0"/>
              <a:t>This is about location AND an attribute. </a:t>
            </a:r>
          </a:p>
          <a:p>
            <a:r>
              <a:rPr lang="en-US" sz="2000" dirty="0"/>
              <a:t>What is the </a:t>
            </a:r>
            <a:r>
              <a:rPr lang="en-US" sz="2000" b="1" i="1" u="sng" dirty="0"/>
              <a:t>rate</a:t>
            </a:r>
            <a:r>
              <a:rPr lang="en-US" sz="2000" dirty="0"/>
              <a:t> of a given categorical variable?</a:t>
            </a:r>
          </a:p>
          <a:p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5FE251-2508-481C-A392-E91C67F08D7C}"/>
              </a:ext>
            </a:extLst>
          </p:cNvPr>
          <p:cNvSpPr txBox="1"/>
          <p:nvPr/>
        </p:nvSpPr>
        <p:spPr>
          <a:xfrm>
            <a:off x="4410990" y="6483296"/>
            <a:ext cx="364397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https://www.bls.gov/oes/highlight_location_quotients.htm</a:t>
            </a:r>
          </a:p>
        </p:txBody>
      </p:sp>
    </p:spTree>
    <p:extLst>
      <p:ext uri="{BB962C8B-B14F-4D97-AF65-F5344CB8AC3E}">
        <p14:creationId xmlns:p14="http://schemas.microsoft.com/office/powerpoint/2010/main" val="2100983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1207515" y="1096753"/>
            <a:ext cx="2050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Quadrats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F18F7E-6B87-4776-849F-EB88CF60DA92}"/>
              </a:ext>
            </a:extLst>
          </p:cNvPr>
          <p:cNvSpPr/>
          <p:nvPr/>
        </p:nvSpPr>
        <p:spPr>
          <a:xfrm>
            <a:off x="1207515" y="1743084"/>
            <a:ext cx="572568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Aggregating points to a </a:t>
            </a:r>
            <a:r>
              <a:rPr lang="en-US" sz="2800" dirty="0" err="1"/>
              <a:t>tesselated</a:t>
            </a:r>
            <a:r>
              <a:rPr lang="en-US" sz="2800" dirty="0"/>
              <a:t> grid, usually squares or hexagons</a:t>
            </a:r>
          </a:p>
        </p:txBody>
      </p:sp>
      <p:pic>
        <p:nvPicPr>
          <p:cNvPr id="14" name="Shape 199" descr="i3">
            <a:extLst>
              <a:ext uri="{FF2B5EF4-FFF2-40B4-BE49-F238E27FC236}">
                <a16:creationId xmlns:a16="http://schemas.microsoft.com/office/drawing/2014/main" id="{FC80FBA8-D3FC-426D-9DC4-E410117591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57261" y="51160"/>
            <a:ext cx="4434739" cy="4294841"/>
          </a:xfrm>
          <a:prstGeom prst="rect">
            <a:avLst/>
          </a:prstGeom>
          <a:noFill/>
          <a:ln>
            <a:solidFill>
              <a:schemeClr val="tx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2" descr="Image result for quadrats gis">
            <a:extLst>
              <a:ext uri="{FF2B5EF4-FFF2-40B4-BE49-F238E27FC236}">
                <a16:creationId xmlns:a16="http://schemas.microsoft.com/office/drawing/2014/main" id="{D9AE83B5-D7F8-4294-B5F4-F7C26E7C4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4439" y="2758795"/>
            <a:ext cx="3451709" cy="3451709"/>
          </a:xfrm>
          <a:prstGeom prst="rect">
            <a:avLst/>
          </a:prstGeom>
          <a:noFill/>
          <a:ln>
            <a:solidFill>
              <a:schemeClr val="tx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3850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1298B3-8D26-49D4-B154-8FDEBFB8F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209" y="1051940"/>
            <a:ext cx="6639050" cy="46948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B21859-25AB-4FDA-B9CC-5E741EF71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Let’s try it!</a:t>
            </a:r>
            <a:br>
              <a:rPr lang="en-US" sz="3600" b="1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0945C9-833C-4514-BFD7-8CB06330E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Dollar stores in Atlanta</a:t>
            </a:r>
          </a:p>
          <a:p>
            <a:r>
              <a:rPr lang="en-US" sz="2000" dirty="0"/>
              <a:t>Create a quadrat grid of regularly sized squares</a:t>
            </a:r>
          </a:p>
          <a:p>
            <a:r>
              <a:rPr lang="en-US" sz="2000" dirty="0"/>
              <a:t>Count the total stores for each chain in each grid cell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64841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1268071" y="978974"/>
            <a:ext cx="3807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Location quotient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F18F7E-6B87-4776-849F-EB88CF60DA92}"/>
              </a:ext>
            </a:extLst>
          </p:cNvPr>
          <p:cNvSpPr/>
          <p:nvPr/>
        </p:nvSpPr>
        <p:spPr>
          <a:xfrm>
            <a:off x="1184793" y="1831630"/>
            <a:ext cx="87748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Pick a chain and count just those points in a few cells</a:t>
            </a:r>
          </a:p>
          <a:p>
            <a:r>
              <a:rPr lang="en-US" sz="2800" dirty="0"/>
              <a:t>What is the percentage of all stores for each grid cell?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276262-978E-463F-9DEC-F3F16540A5A8}"/>
              </a:ext>
            </a:extLst>
          </p:cNvPr>
          <p:cNvSpPr/>
          <p:nvPr/>
        </p:nvSpPr>
        <p:spPr>
          <a:xfrm>
            <a:off x="1544396" y="4555587"/>
            <a:ext cx="371996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/>
              <a:t>Rate for the whole area: </a:t>
            </a:r>
          </a:p>
          <a:p>
            <a:r>
              <a:rPr lang="en-US" sz="2000" dirty="0"/>
              <a:t>Dollar Tree: 41% (86/212)</a:t>
            </a:r>
          </a:p>
          <a:p>
            <a:r>
              <a:rPr lang="en-US" sz="2000" dirty="0"/>
              <a:t>Family Dollar: 59% (126/212)</a:t>
            </a:r>
          </a:p>
          <a:p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BE6686A-68B2-4197-A7C2-D89CFFCCEBAA}"/>
                  </a:ext>
                </a:extLst>
              </p:cNvPr>
              <p:cNvSpPr/>
              <p:nvPr/>
            </p:nvSpPr>
            <p:spPr>
              <a:xfrm>
                <a:off x="1395091" y="2992062"/>
                <a:ext cx="3142527" cy="10649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𝐿𝑄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𝑝𝑐𝑡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𝑠𝑢𝑏𝑎𝑟𝑒𝑎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𝑝𝑐𝑡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𝑎𝑟𝑒𝑎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BE6686A-68B2-4197-A7C2-D89CFFCCEB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091" y="2992062"/>
                <a:ext cx="3142527" cy="1064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36566DCD-8118-4A8A-9C6A-C684415CF7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639" y="2992062"/>
            <a:ext cx="4559634" cy="322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788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hape 237" descr="http://openi.nlm.nih.gov/imgs/rescaled512/2872318_ijerph-07-01002f2.png">
            <a:extLst>
              <a:ext uri="{FF2B5EF4-FFF2-40B4-BE49-F238E27FC236}">
                <a16:creationId xmlns:a16="http://schemas.microsoft.com/office/drawing/2014/main" id="{BCCD4620-31DB-4BCC-B32E-E1A8C8C940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5728" y="0"/>
            <a:ext cx="43355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B71FAD-2593-4439-9974-B9D068062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The Modifiable Areal Unit Problem</a:t>
            </a:r>
            <a:br>
              <a:rPr lang="en-US" sz="3600" b="1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646D9-E442-4AA2-91B6-41DD23696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How did our quadrat maps vary?</a:t>
            </a:r>
          </a:p>
        </p:txBody>
      </p:sp>
    </p:spTree>
    <p:extLst>
      <p:ext uri="{BB962C8B-B14F-4D97-AF65-F5344CB8AC3E}">
        <p14:creationId xmlns:p14="http://schemas.microsoft.com/office/powerpoint/2010/main" val="1646718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1142402" y="948957"/>
            <a:ext cx="4666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Review: mean center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F18F7E-6B87-4776-849F-EB88CF60DA92}"/>
              </a:ext>
            </a:extLst>
          </p:cNvPr>
          <p:cNvSpPr/>
          <p:nvPr/>
        </p:nvSpPr>
        <p:spPr>
          <a:xfrm>
            <a:off x="1142402" y="1934403"/>
            <a:ext cx="1110702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Open the </a:t>
            </a:r>
            <a:r>
              <a:rPr lang="en-US" sz="2400" dirty="0" err="1"/>
              <a:t>dollarstores_atlcore</a:t>
            </a:r>
            <a:r>
              <a:rPr lang="en-US" sz="2400" dirty="0"/>
              <a:t> CSV file in Excel/Sheets (file is in the repo)</a:t>
            </a:r>
          </a:p>
          <a:p>
            <a:r>
              <a:rPr lang="en-US" sz="2400" dirty="0"/>
              <a:t>What’s the mean X and Y coordinate for each store chain?</a:t>
            </a:r>
          </a:p>
          <a:p>
            <a:r>
              <a:rPr lang="en-US" sz="2400" dirty="0"/>
              <a:t>Where are each of those points located?</a:t>
            </a:r>
          </a:p>
          <a:p>
            <a:r>
              <a:rPr lang="en-US" sz="2400" dirty="0"/>
              <a:t>How do you interpret these two values?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2E7C25-1594-4031-A337-CD6C2A986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9321" y="3667955"/>
            <a:ext cx="3335539" cy="247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17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0C5AC6-DA52-7E39-FD9B-D3110E7CA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26027"/>
            <a:ext cx="7772400" cy="600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468228"/>
      </p:ext>
    </p:extLst>
  </p:cSld>
  <p:clrMapOvr>
    <a:masterClrMapping/>
  </p:clrMapOvr>
</p:sld>
</file>

<file path=ppt/theme/theme1.xml><?xml version="1.0" encoding="utf-8"?>
<a:theme xmlns:a="http://schemas.openxmlformats.org/drawingml/2006/main" name="4300 theme">
  <a:themeElements>
    <a:clrScheme name="Custom 5">
      <a:dk1>
        <a:srgbClr val="3F3F3F"/>
      </a:dk1>
      <a:lt1>
        <a:sysClr val="window" lastClr="FFFFFF"/>
      </a:lt1>
      <a:dk2>
        <a:srgbClr val="637052"/>
      </a:dk2>
      <a:lt2>
        <a:srgbClr val="CCDDEA"/>
      </a:lt2>
      <a:accent1>
        <a:srgbClr val="E5A99F"/>
      </a:accent1>
      <a:accent2>
        <a:srgbClr val="B23838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1">
      <a:majorFont>
        <a:latin typeface="Sitka Display Semibold"/>
        <a:ea typeface=""/>
        <a:cs typeface=""/>
      </a:majorFont>
      <a:minorFont>
        <a:latin typeface="Segoe UI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g4300_L01-Introductions" id="{FA51A00F-822B-41B5-AA4A-2C123A5E9355}" vid="{2F9C99DD-B25B-4D9F-92B4-7DCE57BD0F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740</Words>
  <Application>Microsoft Office PowerPoint</Application>
  <PresentationFormat>Widescreen</PresentationFormat>
  <Paragraphs>98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 Math</vt:lpstr>
      <vt:lpstr>Segoe UI</vt:lpstr>
      <vt:lpstr>Sitka Display Semibold</vt:lpstr>
      <vt:lpstr>4300 theme</vt:lpstr>
      <vt:lpstr>Week 5: Spatial data; Point pattern analysis</vt:lpstr>
      <vt:lpstr>PowerPoint Presentation</vt:lpstr>
      <vt:lpstr>PowerPoint Presentation</vt:lpstr>
      <vt:lpstr>Location quotient</vt:lpstr>
      <vt:lpstr>PowerPoint Presentation</vt:lpstr>
      <vt:lpstr>Let’s try it! </vt:lpstr>
      <vt:lpstr>PowerPoint Presentation</vt:lpstr>
      <vt:lpstr>The Modifiable Areal Unit Problem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 data</dc:title>
  <dc:creator>Gerald Shannon</dc:creator>
  <cp:lastModifiedBy>Jerry Shannon</cp:lastModifiedBy>
  <cp:revision>92</cp:revision>
  <dcterms:modified xsi:type="dcterms:W3CDTF">2026-09-17T21:05:35Z</dcterms:modified>
</cp:coreProperties>
</file>