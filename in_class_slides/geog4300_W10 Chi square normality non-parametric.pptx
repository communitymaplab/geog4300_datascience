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13" r:id="rId3"/>
    <p:sldId id="317" r:id="rId4"/>
    <p:sldId id="314" r:id="rId5"/>
    <p:sldId id="308" r:id="rId6"/>
    <p:sldId id="262" r:id="rId7"/>
    <p:sldId id="318" r:id="rId8"/>
    <p:sldId id="264" r:id="rId9"/>
    <p:sldId id="266" r:id="rId10"/>
    <p:sldId id="316" r:id="rId11"/>
    <p:sldId id="295" r:id="rId12"/>
    <p:sldId id="257" r:id="rId13"/>
    <p:sldId id="310" r:id="rId14"/>
    <p:sldId id="259" r:id="rId15"/>
    <p:sldId id="301" r:id="rId16"/>
    <p:sldId id="302" r:id="rId17"/>
    <p:sldId id="303" r:id="rId18"/>
    <p:sldId id="304" r:id="rId19"/>
    <p:sldId id="309" r:id="rId20"/>
    <p:sldId id="305" r:id="rId21"/>
    <p:sldId id="306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2" autoAdjust="0"/>
    <p:restoredTop sz="79925"/>
  </p:normalViewPr>
  <p:slideViewPr>
    <p:cSldViewPr snapToGrid="0">
      <p:cViewPr varScale="1">
        <p:scale>
          <a:sx n="85" d="100"/>
          <a:sy n="85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Reminder: One sample: We use a t-test, unless the actual standard deviation is known and n&gt;30, then we use the z score. The difference in practice is very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9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354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Shape 153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Shape 17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69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3331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T-test: independent variable vs dependent variable, work when you have a categorical variable and nominal or ratio data.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3764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0662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369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9647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9E4CA04-717E-3B15-DA1D-4C9C598F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>
            <a:extLst>
              <a:ext uri="{FF2B5EF4-FFF2-40B4-BE49-F238E27FC236}">
                <a16:creationId xmlns:a16="http://schemas.microsoft.com/office/drawing/2014/main" id="{7250B2C7-F14D-5474-08E8-60BD2E1E4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>
            <a:extLst>
              <a:ext uri="{FF2B5EF4-FFF2-40B4-BE49-F238E27FC236}">
                <a16:creationId xmlns:a16="http://schemas.microsoft.com/office/drawing/2014/main" id="{326CC8A0-21E3-774E-ECA3-C5B5B02DE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>
            <a:extLst>
              <a:ext uri="{FF2B5EF4-FFF2-40B4-BE49-F238E27FC236}">
                <a16:creationId xmlns:a16="http://schemas.microsoft.com/office/drawing/2014/main" id="{8CCE53A3-C5CF-8E8A-A18F-CCFB02AFF1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3347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8995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2684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630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794273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10:Normality testing;</a:t>
            </a:r>
            <a:br>
              <a:rPr lang="en-US" dirty="0"/>
            </a:br>
            <a:r>
              <a:rPr lang="en-US" dirty="0"/>
              <a:t>Chi-square; Non-parametric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666615"/>
            <a:ext cx="9440034" cy="1049867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Geog4300: Harper</a:t>
            </a:r>
          </a:p>
          <a:p>
            <a:r>
              <a:rPr lang="en-US" sz="3200" dirty="0"/>
              <a:t>October 23, 2025</a:t>
            </a:r>
          </a:p>
        </p:txBody>
      </p:sp>
      <p:pic>
        <p:nvPicPr>
          <p:cNvPr id="7" name="Shape 101">
            <a:extLst>
              <a:ext uri="{FF2B5EF4-FFF2-40B4-BE49-F238E27FC236}">
                <a16:creationId xmlns:a16="http://schemas.microsoft.com/office/drawing/2014/main" id="{20A9834B-95DA-48A0-8E38-0115825B89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61345" y="216790"/>
            <a:ext cx="6167213" cy="3580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ACF5-0661-BE5C-2B8F-DB630049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BBD-7419-43ED-3AB2-D9866AEA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for normality</a:t>
            </a:r>
          </a:p>
          <a:p>
            <a:r>
              <a:rPr lang="en-US" dirty="0"/>
              <a:t>If data is not normally distributed –Wilcoxon test</a:t>
            </a:r>
          </a:p>
          <a:p>
            <a:r>
              <a:rPr lang="en-US" dirty="0"/>
              <a:t>If the two variables being tested are categorical rather than continuous – Chi-squared test</a:t>
            </a:r>
          </a:p>
          <a:p>
            <a:r>
              <a:rPr lang="en-US" dirty="0"/>
              <a:t>Introduce Lab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hart">
            <a:extLst>
              <a:ext uri="{FF2B5EF4-FFF2-40B4-BE49-F238E27FC236}">
                <a16:creationId xmlns:a16="http://schemas.microsoft.com/office/drawing/2014/main" id="{DEA8E926-19CD-E904-44C0-D23342E22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718" y="994407"/>
            <a:ext cx="9733539" cy="35193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86DA4-4C0C-BFF3-41AA-3D3D0A0DA4C5}"/>
              </a:ext>
            </a:extLst>
          </p:cNvPr>
          <p:cNvSpPr txBox="1"/>
          <p:nvPr/>
        </p:nvSpPr>
        <p:spPr>
          <a:xfrm>
            <a:off x="435468" y="4663264"/>
            <a:ext cx="222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Continuous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ym typeface="Noto Sans Symbols"/>
              </a:rPr>
              <a:t>σ</a:t>
            </a:r>
            <a:r>
              <a:rPr lang="en-US" sz="1800" dirty="0"/>
              <a:t> known and n &gt; 30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D6C24-82A9-4089-21DD-CEC83218665F}"/>
              </a:ext>
            </a:extLst>
          </p:cNvPr>
          <p:cNvSpPr txBox="1"/>
          <p:nvPr/>
        </p:nvSpPr>
        <p:spPr>
          <a:xfrm>
            <a:off x="3216768" y="4663264"/>
            <a:ext cx="222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Continuous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ym typeface="Noto Sans Symbols"/>
              </a:rPr>
              <a:t>σ</a:t>
            </a:r>
            <a:r>
              <a:rPr lang="en-US" sz="1800" dirty="0"/>
              <a:t> unknown or n &lt; 30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EFF86-54E6-B2A4-E72F-8067EC97861E}"/>
              </a:ext>
            </a:extLst>
          </p:cNvPr>
          <p:cNvSpPr txBox="1"/>
          <p:nvPr/>
        </p:nvSpPr>
        <p:spPr>
          <a:xfrm>
            <a:off x="208702" y="5546093"/>
            <a:ext cx="2676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Use Z-test and Z statistic. Standard error = </a:t>
            </a:r>
            <a:r>
              <a:rPr lang="en-US" sz="1800" dirty="0">
                <a:solidFill>
                  <a:schemeClr val="accent2"/>
                </a:solidFill>
              </a:rPr>
              <a:t>SE = </a:t>
            </a:r>
            <a:r>
              <a:rPr lang="en-US" sz="1800" dirty="0" err="1">
                <a:solidFill>
                  <a:schemeClr val="accent2"/>
                </a:solidFill>
                <a:sym typeface="Noto Sans Symbols"/>
              </a:rPr>
              <a:t>σ</a:t>
            </a:r>
            <a:r>
              <a:rPr lang="en-US" sz="1800" dirty="0">
                <a:solidFill>
                  <a:schemeClr val="accent2"/>
                </a:solidFill>
              </a:rPr>
              <a:t>/sqrt(n)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8EC602-11DE-7D47-0945-A54E0FEFCA9B}"/>
              </a:ext>
            </a:extLst>
          </p:cNvPr>
          <p:cNvCxnSpPr>
            <a:stCxn id="3" idx="0"/>
          </p:cNvCxnSpPr>
          <p:nvPr/>
        </p:nvCxnSpPr>
        <p:spPr>
          <a:xfrm flipV="1">
            <a:off x="1546718" y="4114800"/>
            <a:ext cx="548782" cy="5484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84D46E-FBFC-8CCD-975C-4E5113C3C844}"/>
              </a:ext>
            </a:extLst>
          </p:cNvPr>
          <p:cNvCxnSpPr>
            <a:cxnSpLocks/>
          </p:cNvCxnSpPr>
          <p:nvPr/>
        </p:nvCxnSpPr>
        <p:spPr>
          <a:xfrm flipH="1" flipV="1">
            <a:off x="3577732" y="4101015"/>
            <a:ext cx="397368" cy="5622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D34397-BE44-CA16-0A1D-44FE7D0883CF}"/>
              </a:ext>
            </a:extLst>
          </p:cNvPr>
          <p:cNvSpPr txBox="1"/>
          <p:nvPr/>
        </p:nvSpPr>
        <p:spPr>
          <a:xfrm>
            <a:off x="3216768" y="5546092"/>
            <a:ext cx="2676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Use t-test and t statistic. Standard error = </a:t>
            </a:r>
            <a:r>
              <a:rPr lang="en-US" sz="1800" dirty="0">
                <a:solidFill>
                  <a:schemeClr val="accent2"/>
                </a:solidFill>
              </a:rPr>
              <a:t>SE = </a:t>
            </a:r>
            <a:r>
              <a:rPr lang="en-US" dirty="0">
                <a:solidFill>
                  <a:schemeClr val="accent2"/>
                </a:solidFill>
                <a:sym typeface="Noto Sans Symbols"/>
              </a:rPr>
              <a:t>s</a:t>
            </a:r>
            <a:r>
              <a:rPr lang="en-US" sz="1800" dirty="0">
                <a:solidFill>
                  <a:schemeClr val="accent2"/>
                </a:solidFill>
              </a:rPr>
              <a:t>/sqrt(n-1)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18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F7B43-90BA-28C9-9F80-E16D85C09E82}"/>
              </a:ext>
            </a:extLst>
          </p:cNvPr>
          <p:cNvSpPr txBox="1"/>
          <p:nvPr/>
        </p:nvSpPr>
        <p:spPr>
          <a:xfrm>
            <a:off x="695922" y="2313077"/>
            <a:ext cx="1048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7E376-A68E-1348-B87B-BD7FC645B14A}"/>
              </a:ext>
            </a:extLst>
          </p:cNvPr>
          <p:cNvSpPr txBox="1"/>
          <p:nvPr/>
        </p:nvSpPr>
        <p:spPr>
          <a:xfrm>
            <a:off x="695922" y="3316377"/>
            <a:ext cx="98958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6AD5C-2113-57C7-ED64-1C2EAE8C5A86}"/>
              </a:ext>
            </a:extLst>
          </p:cNvPr>
          <p:cNvSpPr txBox="1"/>
          <p:nvPr/>
        </p:nvSpPr>
        <p:spPr>
          <a:xfrm>
            <a:off x="3962400" y="481212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How do we test for normality?</a:t>
            </a:r>
          </a:p>
        </p:txBody>
      </p:sp>
    </p:spTree>
    <p:extLst>
      <p:ext uri="{BB962C8B-B14F-4D97-AF65-F5344CB8AC3E}">
        <p14:creationId xmlns:p14="http://schemas.microsoft.com/office/powerpoint/2010/main" val="311680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How do we assess normality?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536896" y="1786855"/>
            <a:ext cx="3144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Histograms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QQ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Normality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6107E-08B7-4E39-B8FE-5ECA5CE48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4" r="3301"/>
          <a:stretch/>
        </p:blipFill>
        <p:spPr>
          <a:xfrm>
            <a:off x="5005146" y="0"/>
            <a:ext cx="718685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B667F-3CAA-4954-87DB-20C02595C032}"/>
              </a:ext>
            </a:extLst>
          </p:cNvPr>
          <p:cNvSpPr txBox="1"/>
          <p:nvPr/>
        </p:nvSpPr>
        <p:spPr>
          <a:xfrm>
            <a:off x="634430" y="5867910"/>
            <a:ext cx="412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</p:spTree>
    <p:extLst>
      <p:ext uri="{BB962C8B-B14F-4D97-AF65-F5344CB8AC3E}">
        <p14:creationId xmlns:p14="http://schemas.microsoft.com/office/powerpoint/2010/main" val="63440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/>
        </p:nvSpPr>
        <p:spPr>
          <a:xfrm>
            <a:off x="2667000" y="1759296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1828800" y="358912"/>
            <a:ext cx="8229598" cy="3108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The </a:t>
            </a:r>
            <a:r>
              <a:rPr lang="en-US" sz="2800" b="1" i="1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Shapiro-Wilk normality test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compares the 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actual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distribution to a 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normal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distribution, measuring the gap between them at multiple points.</a:t>
            </a:r>
          </a:p>
          <a:p>
            <a:endParaRPr sz="2800" dirty="0">
              <a:solidFill>
                <a:srgbClr val="FFFF66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There are other normality test, but this one has more power when compared to other tests, especially with smaller (&lt;50) samples.</a:t>
            </a:r>
          </a:p>
        </p:txBody>
      </p:sp>
      <p:pic>
        <p:nvPicPr>
          <p:cNvPr id="141" name="Shape 141" descr="http://blog.fellstat.com/wp-content/uploads/2011/10/tmp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8515" y="3467456"/>
            <a:ext cx="3899883" cy="3244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98C4-6C36-9DB8-E52F-D3FBCA02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this in R</a:t>
            </a:r>
          </a:p>
        </p:txBody>
      </p:sp>
    </p:spTree>
    <p:extLst>
      <p:ext uri="{BB962C8B-B14F-4D97-AF65-F5344CB8AC3E}">
        <p14:creationId xmlns:p14="http://schemas.microsoft.com/office/powerpoint/2010/main" val="167976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/>
        </p:nvSpPr>
        <p:spPr>
          <a:xfrm>
            <a:off x="1600200" y="223400"/>
            <a:ext cx="89229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What if your samples aren’t normal?</a:t>
            </a:r>
          </a:p>
        </p:txBody>
      </p:sp>
      <p:graphicFrame>
        <p:nvGraphicFramePr>
          <p:cNvPr id="156" name="Shape 156"/>
          <p:cNvGraphicFramePr/>
          <p:nvPr>
            <p:extLst>
              <p:ext uri="{D42A27DB-BD31-4B8C-83A1-F6EECF244321}">
                <p14:modId xmlns:p14="http://schemas.microsoft.com/office/powerpoint/2010/main" val="166391030"/>
              </p:ext>
            </p:extLst>
          </p:nvPr>
        </p:nvGraphicFramePr>
        <p:xfrm>
          <a:off x="6705600" y="1847159"/>
          <a:ext cx="3352800" cy="46299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5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17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7" name="Shape 157"/>
          <p:cNvSpPr txBox="1"/>
          <p:nvPr/>
        </p:nvSpPr>
        <p:spPr>
          <a:xfrm>
            <a:off x="6705601" y="953869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1828801" y="1447800"/>
            <a:ext cx="4038599" cy="483209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Random sample of hurricanes in El Nino and La Nina years—11 each</a:t>
            </a:r>
          </a:p>
          <a:p>
            <a:endParaRPr sz="2800" dirty="0">
              <a:solidFill>
                <a:srgbClr val="FFFF66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You need a </a:t>
            </a:r>
            <a:r>
              <a:rPr lang="en-US" sz="2800" b="1" i="1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non-parametric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test with data that’s not normal.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/>
        </p:nvSpPr>
        <p:spPr>
          <a:xfrm>
            <a:off x="1685500" y="152400"/>
            <a:ext cx="79812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60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Wilcoxon Rank Sum test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6705601" y="953869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sp>
        <p:nvSpPr>
          <p:cNvPr id="175" name="Shape 175"/>
          <p:cNvSpPr txBox="1"/>
          <p:nvPr/>
        </p:nvSpPr>
        <p:spPr>
          <a:xfrm>
            <a:off x="1828801" y="1447800"/>
            <a:ext cx="4038599" cy="440120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Question: Is the number of Atlantic storms significantly different in El Nino years compared to La Nina years?</a:t>
            </a:r>
          </a:p>
        </p:txBody>
      </p:sp>
      <p:graphicFrame>
        <p:nvGraphicFramePr>
          <p:cNvPr id="176" name="Shape 176"/>
          <p:cNvGraphicFramePr/>
          <p:nvPr>
            <p:extLst>
              <p:ext uri="{D42A27DB-BD31-4B8C-83A1-F6EECF244321}">
                <p14:modId xmlns:p14="http://schemas.microsoft.com/office/powerpoint/2010/main" val="274538519"/>
              </p:ext>
            </p:extLst>
          </p:nvPr>
        </p:nvGraphicFramePr>
        <p:xfrm>
          <a:off x="6705600" y="1905000"/>
          <a:ext cx="3352800" cy="4567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5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17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1394E2-8092-F0E6-D5DF-403D74D4B572}"/>
              </a:ext>
            </a:extLst>
          </p:cNvPr>
          <p:cNvSpPr txBox="1"/>
          <p:nvPr/>
        </p:nvSpPr>
        <p:spPr>
          <a:xfrm>
            <a:off x="1828801" y="4763869"/>
            <a:ext cx="360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lecture video for the details of what’s going on ‘under the hood’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92">
            <a:extLst>
              <a:ext uri="{FF2B5EF4-FFF2-40B4-BE49-F238E27FC236}">
                <a16:creationId xmlns:a16="http://schemas.microsoft.com/office/drawing/2014/main" id="{276FC7B9-2499-43B4-9B1E-E89D5E2DD9B8}"/>
              </a:ext>
            </a:extLst>
          </p:cNvPr>
          <p:cNvSpPr txBox="1"/>
          <p:nvPr/>
        </p:nvSpPr>
        <p:spPr>
          <a:xfrm>
            <a:off x="8601445" y="176854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graphicFrame>
        <p:nvGraphicFramePr>
          <p:cNvPr id="9" name="Shape 194">
            <a:extLst>
              <a:ext uri="{FF2B5EF4-FFF2-40B4-BE49-F238E27FC236}">
                <a16:creationId xmlns:a16="http://schemas.microsoft.com/office/drawing/2014/main" id="{EA5853FD-4B07-44EB-8FA8-DDF8A8F1585F}"/>
              </a:ext>
            </a:extLst>
          </p:cNvPr>
          <p:cNvGraphicFramePr/>
          <p:nvPr/>
        </p:nvGraphicFramePr>
        <p:xfrm>
          <a:off x="8366333" y="1061697"/>
          <a:ext cx="3587912" cy="48070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5 (15)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12 (21)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3 (9)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17 (22)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7 (18)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10 (20)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8 (19)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195">
            <a:extLst>
              <a:ext uri="{FF2B5EF4-FFF2-40B4-BE49-F238E27FC236}">
                <a16:creationId xmlns:a16="http://schemas.microsoft.com/office/drawing/2014/main" id="{7AF296E4-9EC1-4EE8-B99B-7EC2EFC070B8}"/>
              </a:ext>
            </a:extLst>
          </p:cNvPr>
          <p:cNvSpPr/>
          <p:nvPr/>
        </p:nvSpPr>
        <p:spPr>
          <a:xfrm>
            <a:off x="9068990" y="1441157"/>
            <a:ext cx="698853" cy="44275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1" name="Shape 196">
            <a:extLst>
              <a:ext uri="{FF2B5EF4-FFF2-40B4-BE49-F238E27FC236}">
                <a16:creationId xmlns:a16="http://schemas.microsoft.com/office/drawing/2014/main" id="{66210E4B-1BD8-423A-8BBB-673B4573A5B6}"/>
              </a:ext>
            </a:extLst>
          </p:cNvPr>
          <p:cNvSpPr/>
          <p:nvPr/>
        </p:nvSpPr>
        <p:spPr>
          <a:xfrm>
            <a:off x="10850004" y="1446621"/>
            <a:ext cx="782246" cy="44220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2" name="Shape 197">
            <a:extLst>
              <a:ext uri="{FF2B5EF4-FFF2-40B4-BE49-F238E27FC236}">
                <a16:creationId xmlns:a16="http://schemas.microsoft.com/office/drawing/2014/main" id="{66DAE1EE-8FA4-4F73-A19E-158C99F9364A}"/>
              </a:ext>
            </a:extLst>
          </p:cNvPr>
          <p:cNvSpPr txBox="1"/>
          <p:nvPr/>
        </p:nvSpPr>
        <p:spPr>
          <a:xfrm>
            <a:off x="8674389" y="6180124"/>
            <a:ext cx="2971799" cy="4001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1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77.5       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2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175.5</a:t>
            </a:r>
          </a:p>
        </p:txBody>
      </p:sp>
      <p:sp>
        <p:nvSpPr>
          <p:cNvPr id="4" name="Shape 101">
            <a:extLst>
              <a:ext uri="{FF2B5EF4-FFF2-40B4-BE49-F238E27FC236}">
                <a16:creationId xmlns:a16="http://schemas.microsoft.com/office/drawing/2014/main" id="{432C8125-4C54-E7FD-FF3F-95EA976D241B}"/>
              </a:ext>
            </a:extLst>
          </p:cNvPr>
          <p:cNvSpPr txBox="1"/>
          <p:nvPr/>
        </p:nvSpPr>
        <p:spPr>
          <a:xfrm>
            <a:off x="536895" y="253767"/>
            <a:ext cx="662423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455B8-8E53-C962-3A6B-CF4E5A68D96E}"/>
              </a:ext>
            </a:extLst>
          </p:cNvPr>
          <p:cNvSpPr txBox="1"/>
          <p:nvPr/>
        </p:nvSpPr>
        <p:spPr>
          <a:xfrm>
            <a:off x="695922" y="1004977"/>
            <a:ext cx="7348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pic>
        <p:nvPicPr>
          <p:cNvPr id="13" name="Picture 12" descr="Chart, bar chart, histogram&#10;&#10;Description automatically generated">
            <a:extLst>
              <a:ext uri="{FF2B5EF4-FFF2-40B4-BE49-F238E27FC236}">
                <a16:creationId xmlns:a16="http://schemas.microsoft.com/office/drawing/2014/main" id="{C5ADD4AD-5FFD-CA89-CF5B-1B5EE3D6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5" y="2248705"/>
            <a:ext cx="5153142" cy="43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Shape 107" descr="https://www.aea267.k12.ia.us/system/assets/uploads/images/1617/parametric-table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6025" y="991801"/>
            <a:ext cx="8737200" cy="48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 descr="http://upload.wikimedia.org/wikipedia/commons/c/c4/2-Dice-Icon.svg"/>
          <p:cNvSpPr/>
          <p:nvPr/>
        </p:nvSpPr>
        <p:spPr>
          <a:xfrm>
            <a:off x="1679576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01" name="Shape 101" descr="http://upload.wikimedia.org/wikipedia/commons/c/c4/2-Dice-Icon.svg"/>
          <p:cNvSpPr/>
          <p:nvPr/>
        </p:nvSpPr>
        <p:spPr>
          <a:xfrm>
            <a:off x="1831976" y="7938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02" name="Shape 102" descr="http://upload.wikimedia.org/wikipedia/commons/c/c4/2-Dice-Icon.svg"/>
          <p:cNvSpPr/>
          <p:nvPr/>
        </p:nvSpPr>
        <p:spPr>
          <a:xfrm>
            <a:off x="1984376" y="160337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graphicFrame>
        <p:nvGraphicFramePr>
          <p:cNvPr id="104" name="Shape 104"/>
          <p:cNvGraphicFramePr/>
          <p:nvPr>
            <p:extLst>
              <p:ext uri="{D42A27DB-BD31-4B8C-83A1-F6EECF244321}">
                <p14:modId xmlns:p14="http://schemas.microsoft.com/office/powerpoint/2010/main" val="3703222452"/>
              </p:ext>
            </p:extLst>
          </p:nvPr>
        </p:nvGraphicFramePr>
        <p:xfrm>
          <a:off x="1763485" y="465138"/>
          <a:ext cx="8665029" cy="522719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305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020">
                  <a:extLst>
                    <a:ext uri="{9D8B030D-6E8A-4147-A177-3AD203B41FA5}">
                      <a16:colId xmlns:a16="http://schemas.microsoft.com/office/drawing/2014/main" val="1879062449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dirty="0"/>
                        <a:t>Characteristics of the data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Tests and test statistics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Standard Error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Continuous; one sample: </a:t>
                      </a:r>
                      <a:r>
                        <a:rPr lang="en-US" sz="1800" dirty="0" err="1">
                          <a:sym typeface="Noto Sans Symbols"/>
                        </a:rPr>
                        <a:t>σ</a:t>
                      </a:r>
                      <a:r>
                        <a:rPr lang="en-US" sz="1800" dirty="0"/>
                        <a:t> known and n &gt; 30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One-sample z-test; Z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SE = </a:t>
                      </a:r>
                      <a:r>
                        <a:rPr lang="en-US" sz="1800" dirty="0" err="1">
                          <a:sym typeface="Noto Sans Symbols"/>
                        </a:rPr>
                        <a:t>σ</a:t>
                      </a:r>
                      <a:r>
                        <a:rPr lang="en-US" sz="1800" dirty="0"/>
                        <a:t>/sqrt(n)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Data is a proportion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Diff. of proportions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613074651"/>
                  </a:ext>
                </a:extLst>
              </a:tr>
              <a:tr h="640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Continuous; one sample: </a:t>
                      </a:r>
                      <a:r>
                        <a:rPr lang="en-US" sz="1800" dirty="0" err="1">
                          <a:sym typeface="Noto Sans Symbols"/>
                        </a:rPr>
                        <a:t>σ</a:t>
                      </a:r>
                      <a:r>
                        <a:rPr lang="en-US" sz="1800" dirty="0"/>
                        <a:t> unknown or n &lt; 30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One-sample t-test; t;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/>
                        <a:t>SE = s/sqrt(n-1)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Continuous; two samples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Student’s t-test for difference of means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Continuous; paired samples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Paired t-test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Continuous; more than two samples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8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ANOVA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8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Discrete; two variables; counts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Chi-square, goodness of fit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>
                          <a:solidFill>
                            <a:srgbClr val="A5A5A5"/>
                          </a:solidFill>
                        </a:rPr>
                        <a:t>Continuous; two or more variables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dirty="0">
                          <a:solidFill>
                            <a:srgbClr val="A5A5A5"/>
                          </a:solidFill>
                        </a:rPr>
                        <a:t>Regression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endParaRPr lang="en-US" sz="1800" dirty="0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5" name="Shape 105"/>
          <p:cNvSpPr/>
          <p:nvPr/>
        </p:nvSpPr>
        <p:spPr>
          <a:xfrm>
            <a:off x="1763485" y="4587433"/>
            <a:ext cx="8229600" cy="47624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cxnSp>
        <p:nvCxnSpPr>
          <p:cNvPr id="106" name="Shape 106"/>
          <p:cNvCxnSpPr/>
          <p:nvPr/>
        </p:nvCxnSpPr>
        <p:spPr>
          <a:xfrm rot="10800000">
            <a:off x="6934199" y="5162550"/>
            <a:ext cx="381000" cy="73939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07" name="Shape 107"/>
          <p:cNvSpPr txBox="1"/>
          <p:nvPr/>
        </p:nvSpPr>
        <p:spPr>
          <a:xfrm>
            <a:off x="7315201" y="5791201"/>
            <a:ext cx="2579745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6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You are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424452" y="186909"/>
            <a:ext cx="10405735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552257" y="861861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When would you use it rather than another one?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127034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Shape 126"/>
          <p:cNvGraphicFramePr/>
          <p:nvPr>
            <p:extLst>
              <p:ext uri="{D42A27DB-BD31-4B8C-83A1-F6EECF244321}">
                <p14:modId xmlns:p14="http://schemas.microsoft.com/office/powerpoint/2010/main" val="1407326438"/>
              </p:ext>
            </p:extLst>
          </p:nvPr>
        </p:nvGraphicFramePr>
        <p:xfrm>
          <a:off x="1524000" y="1214626"/>
          <a:ext cx="9136950" cy="530432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Dependent Variable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Independent  Variable(s)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Example hypotheses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52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Quantitative / ratio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Categorical/ nominal (2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(n &gt; 30): t-test for independent samples;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average speed of cars has changed between the times that speed cameras were operating and the times that they were not.”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(n &lt; 30): Wilcoxon rank sum (non-parametric)</a:t>
                      </a:r>
                    </a:p>
                  </a:txBody>
                  <a:tcPr marL="91450" marR="91450" marT="45725" marB="4572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Categorical/ nominal (more than 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ANOVA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amount the average household gives to charity each year depends on whether the resident lives in the East, the Midwest, the South, or the West.”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Chi-squared 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typical denomination of churches depends on the state (Utah has more LDS churches, New York has more Roman Catholic churches)”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 (1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Correlation/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median household income of a census tract is a good indicator of the voter turnout percentage at primary elections.”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 (more than one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 Multiple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“Student test scores are a function of the median income, amount spent per capita on education, and average number of years of schooling of teachers in a census tract.”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237791" y="253108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Chi-square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9D20A-6DD2-49E0-B8E8-C5F34B628C04}"/>
              </a:ext>
            </a:extLst>
          </p:cNvPr>
          <p:cNvSpPr txBox="1"/>
          <p:nvPr/>
        </p:nvSpPr>
        <p:spPr>
          <a:xfrm>
            <a:off x="237791" y="1110022"/>
            <a:ext cx="6635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For two </a:t>
            </a:r>
            <a:r>
              <a:rPr lang="en-US" sz="3600" b="1" i="1" dirty="0"/>
              <a:t>categorical</a:t>
            </a:r>
            <a:r>
              <a:rPr lang="en-US" sz="3600" dirty="0"/>
              <a:t> variables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13" name="Shape 149" descr="http://2012books.lardbucket.org/books/beginning-statistics/section_15/5a0c7bbacb4242555e8a85c9767c03ee.jpg">
            <a:extLst>
              <a:ext uri="{FF2B5EF4-FFF2-40B4-BE49-F238E27FC236}">
                <a16:creationId xmlns:a16="http://schemas.microsoft.com/office/drawing/2014/main" id="{D06C83D4-AAC6-47AD-B56A-4463301FDA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791" y="2281727"/>
            <a:ext cx="5513529" cy="408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156">
            <a:extLst>
              <a:ext uri="{FF2B5EF4-FFF2-40B4-BE49-F238E27FC236}">
                <a16:creationId xmlns:a16="http://schemas.microsoft.com/office/drawing/2014/main" id="{37608350-C507-42CF-893F-2DE9CF02B4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9302" y="2281727"/>
            <a:ext cx="4284000" cy="16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5" name="Shape 157">
            <a:extLst>
              <a:ext uri="{FF2B5EF4-FFF2-40B4-BE49-F238E27FC236}">
                <a16:creationId xmlns:a16="http://schemas.microsoft.com/office/drawing/2014/main" id="{C9600478-D462-43BD-99F8-5FB9B36E6B00}"/>
              </a:ext>
            </a:extLst>
          </p:cNvPr>
          <p:cNvSpPr txBox="1"/>
          <p:nvPr/>
        </p:nvSpPr>
        <p:spPr>
          <a:xfrm>
            <a:off x="5991072" y="4198322"/>
            <a:ext cx="6200928" cy="13849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</a:t>
            </a:r>
            <a:r>
              <a:rPr lang="en-US" sz="2800" baseline="-25000" dirty="0">
                <a:ea typeface="Gill Sans MT"/>
                <a:cs typeface="Gill Sans MT"/>
                <a:sym typeface="Gill Sans MT"/>
              </a:rPr>
              <a:t>i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 = Observed value for observation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 err="1">
                <a:ea typeface="Gill Sans MT"/>
                <a:cs typeface="Gill Sans MT"/>
                <a:sym typeface="Gill Sans MT"/>
              </a:rPr>
              <a:t>E</a:t>
            </a:r>
            <a:r>
              <a:rPr lang="en-US" sz="2800" baseline="-25000" dirty="0" err="1">
                <a:ea typeface="Gill Sans MT"/>
                <a:cs typeface="Gill Sans MT"/>
                <a:sym typeface="Gill Sans MT"/>
              </a:rPr>
              <a:t>i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 = Expected value for observation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k = Number of observations in all groups</a:t>
            </a:r>
          </a:p>
        </p:txBody>
      </p:sp>
    </p:spTree>
    <p:extLst>
      <p:ext uri="{BB962C8B-B14F-4D97-AF65-F5344CB8AC3E}">
        <p14:creationId xmlns:p14="http://schemas.microsoft.com/office/powerpoint/2010/main" val="3845185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9">
            <a:extLst>
              <a:ext uri="{FF2B5EF4-FFF2-40B4-BE49-F238E27FC236}">
                <a16:creationId xmlns:a16="http://schemas.microsoft.com/office/drawing/2014/main" id="{344AE155-1CAA-4412-96BB-163D67027CE3}"/>
              </a:ext>
            </a:extLst>
          </p:cNvPr>
          <p:cNvSpPr txBox="1"/>
          <p:nvPr/>
        </p:nvSpPr>
        <p:spPr>
          <a:xfrm>
            <a:off x="160360" y="457200"/>
            <a:ext cx="11299550" cy="30469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An example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Does your football team tell you something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about your Thanksgiving meal preference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(dark/white meat or tofurkey)?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200" dirty="0">
              <a:ea typeface="Gill Sans MT"/>
              <a:cs typeface="Gill Sans MT"/>
              <a:sym typeface="Gill Sans MT"/>
            </a:endParaRPr>
          </a:p>
        </p:txBody>
      </p:sp>
      <p:sp>
        <p:nvSpPr>
          <p:cNvPr id="9" name="Shape 140">
            <a:extLst>
              <a:ext uri="{FF2B5EF4-FFF2-40B4-BE49-F238E27FC236}">
                <a16:creationId xmlns:a16="http://schemas.microsoft.com/office/drawing/2014/main" id="{D064FC92-29CF-439B-98CE-C6ADF3C5B51E}"/>
              </a:ext>
            </a:extLst>
          </p:cNvPr>
          <p:cNvSpPr txBox="1"/>
          <p:nvPr/>
        </p:nvSpPr>
        <p:spPr>
          <a:xfrm>
            <a:off x="380998" y="3352800"/>
            <a:ext cx="6686374" cy="26776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independent and dependent variable?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Independent: Football team (Nominal)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Dependent: Meal choice (Nominal)</a:t>
            </a:r>
          </a:p>
        </p:txBody>
      </p:sp>
      <p:pic>
        <p:nvPicPr>
          <p:cNvPr id="10" name="Shape 141" descr="http://2.bp.blogspot.com/__84RWZp_rjE/SQVR1Z6dLNI/AAAAAAAAA7g/QDvFisxHfrY/s400/tofurkey.jpg">
            <a:extLst>
              <a:ext uri="{FF2B5EF4-FFF2-40B4-BE49-F238E27FC236}">
                <a16:creationId xmlns:a16="http://schemas.microsoft.com/office/drawing/2014/main" id="{E6183EAF-5CBB-4560-810D-C75A6C8B9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764" y="2521010"/>
            <a:ext cx="3956169" cy="4081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371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>
                <a:ea typeface="Gill Sans MT"/>
                <a:cs typeface="Gill Sans MT"/>
                <a:sym typeface="Gill Sans MT"/>
              </a:rPr>
              <a:t>ESPN surveyed 85 football fans…</a:t>
            </a:r>
          </a:p>
        </p:txBody>
      </p:sp>
      <p:sp>
        <p:nvSpPr>
          <p:cNvPr id="7" name="Shape 173">
            <a:extLst>
              <a:ext uri="{FF2B5EF4-FFF2-40B4-BE49-F238E27FC236}">
                <a16:creationId xmlns:a16="http://schemas.microsoft.com/office/drawing/2014/main" id="{EED0EF40-CE6C-42B3-BC16-FA49A288A106}"/>
              </a:ext>
            </a:extLst>
          </p:cNvPr>
          <p:cNvSpPr/>
          <p:nvPr/>
        </p:nvSpPr>
        <p:spPr>
          <a:xfrm>
            <a:off x="373165" y="4386129"/>
            <a:ext cx="11573855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This </a:t>
            </a:r>
            <a:r>
              <a:rPr lang="en-US" sz="3200" b="1" dirty="0">
                <a:ea typeface="Gill Sans MT"/>
                <a:cs typeface="Gill Sans MT"/>
                <a:sym typeface="Gill Sans MT"/>
              </a:rPr>
              <a:t>contingency table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 shows turkey preference as a function of (“contingent upon”) team preference.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Degrees of freedom = (#rows -1)*(#cols-1) = (2-1)(3-1) = 2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538216"/>
              </p:ext>
            </p:extLst>
          </p:nvPr>
        </p:nvGraphicFramePr>
        <p:xfrm>
          <a:off x="373166" y="1130751"/>
          <a:ext cx="8534400" cy="268224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70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Calculating expected values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954624"/>
              </p:ext>
            </p:extLst>
          </p:nvPr>
        </p:nvGraphicFramePr>
        <p:xfrm>
          <a:off x="450078" y="902211"/>
          <a:ext cx="8534400" cy="268224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072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F6CC12-EBF2-164E-6EF6-284330C8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D23F8C19-55D7-76E8-279E-E2D6F59CB369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Calculating expected values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2BEDFD2E-D96B-2F6A-EB7E-DA1014FEA7EE}"/>
              </a:ext>
            </a:extLst>
          </p:cNvPr>
          <p:cNvGraphicFramePr/>
          <p:nvPr/>
        </p:nvGraphicFramePr>
        <p:xfrm>
          <a:off x="450078" y="902211"/>
          <a:ext cx="8534400" cy="338330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=.47 * 43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20.2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=.41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17.7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=.12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5.1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=.47 * 42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19.8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=.41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17.3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=.12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4.9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98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What’s the chi-square statistic?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505235"/>
              </p:ext>
            </p:extLst>
          </p:nvPr>
        </p:nvGraphicFramePr>
        <p:xfrm>
          <a:off x="450078" y="902211"/>
          <a:ext cx="8534400" cy="338330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15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20.2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17.7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5.1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19.8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10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17.3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7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4.9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348" y="902211"/>
            <a:ext cx="2913062" cy="113975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515BC-E81E-4987-8F9D-174C21220A7E}"/>
              </a:ext>
            </a:extLst>
          </p:cNvPr>
          <p:cNvSpPr txBox="1"/>
          <p:nvPr/>
        </p:nvSpPr>
        <p:spPr>
          <a:xfrm>
            <a:off x="655889" y="4569006"/>
            <a:ext cx="10359640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a typeface="Noto Sans Symbols"/>
                <a:cs typeface="Noto Sans Symbols"/>
                <a:sym typeface="Noto Sans Symbols"/>
              </a:rPr>
              <a:t>χ</a:t>
            </a:r>
            <a:r>
              <a:rPr lang="en-US" sz="36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600" b="1" baseline="30000" dirty="0">
                <a:ea typeface="Gill Sans MT"/>
                <a:cs typeface="Gill Sans MT"/>
                <a:sym typeface="Gill Sans MT"/>
              </a:rPr>
              <a:t> 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= (15-20.2)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 / 20.2  + … (7-4.9)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/ 4.9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Critical value for 2 degrees of freedom is </a:t>
            </a:r>
            <a:r>
              <a:rPr lang="en-US" sz="3200" b="1" u="sng" dirty="0">
                <a:ea typeface="Gill Sans MT"/>
                <a:cs typeface="Gill Sans MT"/>
                <a:sym typeface="Gill Sans MT"/>
              </a:rPr>
              <a:t>5.99</a:t>
            </a:r>
          </a:p>
        </p:txBody>
      </p:sp>
    </p:spTree>
    <p:extLst>
      <p:ext uri="{BB962C8B-B14F-4D97-AF65-F5344CB8AC3E}">
        <p14:creationId xmlns:p14="http://schemas.microsoft.com/office/powerpoint/2010/main" val="3903051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You try it!</a:t>
            </a:r>
          </a:p>
        </p:txBody>
      </p:sp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365" y="518294"/>
            <a:ext cx="3550436" cy="1478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10" y="1010422"/>
            <a:ext cx="7939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survey was done of Manhattan residents to see if their most common transportation method was related to their income. Here are the results: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17621"/>
              </p:ext>
            </p:extLst>
          </p:nvPr>
        </p:nvGraphicFramePr>
        <p:xfrm>
          <a:off x="510610" y="2575061"/>
          <a:ext cx="9223050" cy="1973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2624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205335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607115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735550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Transit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Walk/bike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Low income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199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266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462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AAD804-16C1-4977-ACFC-49C7BAFB885F}"/>
              </a:ext>
            </a:extLst>
          </p:cNvPr>
          <p:cNvSpPr txBox="1"/>
          <p:nvPr/>
        </p:nvSpPr>
        <p:spPr>
          <a:xfrm>
            <a:off x="510609" y="4712813"/>
            <a:ext cx="101887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Using a chi-square test, check to see if these results show a difference between these groups. You may want to enter this table in Excel to run this analysis.</a:t>
            </a: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103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Writing up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09" y="841460"/>
            <a:ext cx="111458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Results of statistical analysis generally focus on </a:t>
            </a:r>
            <a:r>
              <a:rPr lang="en-US" sz="2400" b="1" dirty="0">
                <a:solidFill>
                  <a:srgbClr val="FFC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direction, magnitude, and significance</a:t>
            </a: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For a chi-square test, calculate the percentage of each income group in each transit type. Then write a paragraph that summarizes your findings. What pattern do you see of higher or lower rates? What is the magnitude of the key differences? Is it statistically significant? 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66785"/>
              </p:ext>
            </p:extLst>
          </p:nvPr>
        </p:nvGraphicFramePr>
        <p:xfrm>
          <a:off x="510609" y="3968025"/>
          <a:ext cx="9223050" cy="1973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2624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205335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607115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735550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Transit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Walk/bike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Low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199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266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462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690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923</TotalTime>
  <Words>1523</Words>
  <Application>Microsoft Macintosh PowerPoint</Application>
  <PresentationFormat>Widescreen</PresentationFormat>
  <Paragraphs>356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Calisto MT</vt:lpstr>
      <vt:lpstr>Gill Sans MT</vt:lpstr>
      <vt:lpstr>Noto Sans Symbols</vt:lpstr>
      <vt:lpstr>Times New Roman</vt:lpstr>
      <vt:lpstr>Wingdings 2</vt:lpstr>
      <vt:lpstr>Slate</vt:lpstr>
      <vt:lpstr>Week 10:Normality testing; Chi-square; Non-parametric tests</vt:lpstr>
      <vt:lpstr>Today’s plan</vt:lpstr>
      <vt:lpstr>PowerPoint Presentation</vt:lpstr>
      <vt:lpstr>PowerPoint Presentation</vt:lpstr>
      <vt:lpstr>PowerPoint Presentation</vt:lpstr>
      <vt:lpstr>PowerPoint Presentation</vt:lpstr>
      <vt:lpstr>Let’s try this in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Anna Harper</cp:lastModifiedBy>
  <cp:revision>86</cp:revision>
  <dcterms:created xsi:type="dcterms:W3CDTF">2021-09-02T15:10:57Z</dcterms:created>
  <dcterms:modified xsi:type="dcterms:W3CDTF">2025-10-23T04:22:17Z</dcterms:modified>
</cp:coreProperties>
</file>