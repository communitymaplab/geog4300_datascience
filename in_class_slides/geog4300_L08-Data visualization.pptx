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2" r:id="rId1"/>
  </p:sldMasterIdLst>
  <p:notesMasterIdLst>
    <p:notesMasterId r:id="rId8"/>
  </p:notesMasterIdLst>
  <p:sldIdLst>
    <p:sldId id="263" r:id="rId2"/>
    <p:sldId id="264" r:id="rId3"/>
    <p:sldId id="265" r:id="rId4"/>
    <p:sldId id="266" r:id="rId5"/>
    <p:sldId id="267" r:id="rId6"/>
    <p:sldId id="268"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158" d="100"/>
          <a:sy n="158" d="100"/>
        </p:scale>
        <p:origin x="19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200" b="0" i="0" u="none" strike="noStrike" cap="none">
                <a:solidFill>
                  <a:schemeClr val="dk1"/>
                </a:solidFill>
                <a:latin typeface="Calibri"/>
                <a:ea typeface="Calibri"/>
                <a:cs typeface="Calibri"/>
                <a:sym typeface="Calibri"/>
              </a:defRPr>
            </a:lvl2pPr>
            <a:lvl3pPr marL="914400" marR="0" lvl="2" indent="0" algn="l" rtl="0">
              <a:spcBef>
                <a:spcPts val="0"/>
              </a:spcBef>
              <a:buNone/>
              <a:defRPr sz="1200" b="0" i="0" u="none" strike="noStrike" cap="none">
                <a:solidFill>
                  <a:schemeClr val="dk1"/>
                </a:solidFill>
                <a:latin typeface="Calibri"/>
                <a:ea typeface="Calibri"/>
                <a:cs typeface="Calibri"/>
                <a:sym typeface="Calibri"/>
              </a:defRPr>
            </a:lvl3pPr>
            <a:lvl4pPr marL="1371600" marR="0" lvl="3" indent="0" algn="l" rtl="0">
              <a:spcBef>
                <a:spcPts val="0"/>
              </a:spcBef>
              <a:buNone/>
              <a:defRPr sz="1200" b="0" i="0" u="none" strike="noStrike" cap="none">
                <a:solidFill>
                  <a:schemeClr val="dk1"/>
                </a:solidFill>
                <a:latin typeface="Calibri"/>
                <a:ea typeface="Calibri"/>
                <a:cs typeface="Calibri"/>
                <a:sym typeface="Calibri"/>
              </a:defRPr>
            </a:lvl4pPr>
            <a:lvl5pPr marL="1828800" marR="0" lvl="4" indent="0" algn="l" rtl="0">
              <a:spcBef>
                <a:spcPts val="0"/>
              </a:spcBef>
              <a:buNone/>
              <a:defRPr sz="1200" b="0" i="0" u="none" strike="noStrike" cap="none">
                <a:solidFill>
                  <a:schemeClr val="dk1"/>
                </a:solidFill>
                <a:latin typeface="Calibri"/>
                <a:ea typeface="Calibri"/>
                <a:cs typeface="Calibri"/>
                <a:sym typeface="Calibri"/>
              </a:defRPr>
            </a:lvl5pPr>
            <a:lvl6pPr marL="2286000" marR="0" lvl="5" indent="0" algn="l" rtl="0">
              <a:spcBef>
                <a:spcPts val="0"/>
              </a:spcBef>
              <a:buNone/>
              <a:defRPr sz="1200" b="0" i="0" u="none" strike="noStrike" cap="none">
                <a:solidFill>
                  <a:schemeClr val="dk1"/>
                </a:solidFill>
                <a:latin typeface="Calibri"/>
                <a:ea typeface="Calibri"/>
                <a:cs typeface="Calibri"/>
                <a:sym typeface="Calibri"/>
              </a:defRPr>
            </a:lvl6pPr>
            <a:lvl7pPr marL="2743200" marR="0" lvl="6" indent="0" algn="l" rtl="0">
              <a:spcBef>
                <a:spcPts val="0"/>
              </a:spcBef>
              <a:buNone/>
              <a:defRPr sz="1200" b="0" i="0" u="none" strike="noStrike" cap="none">
                <a:solidFill>
                  <a:schemeClr val="dk1"/>
                </a:solidFill>
                <a:latin typeface="Calibri"/>
                <a:ea typeface="Calibri"/>
                <a:cs typeface="Calibri"/>
                <a:sym typeface="Calibri"/>
              </a:defRPr>
            </a:lvl7pPr>
            <a:lvl8pPr marL="3200400" marR="0" lvl="7" indent="0" algn="l" rtl="0">
              <a:spcBef>
                <a:spcPts val="0"/>
              </a:spcBef>
              <a:buNone/>
              <a:defRPr sz="1200" b="0" i="0" u="none" strike="noStrike" cap="none">
                <a:solidFill>
                  <a:schemeClr val="dk1"/>
                </a:solidFill>
                <a:latin typeface="Calibri"/>
                <a:ea typeface="Calibri"/>
                <a:cs typeface="Calibri"/>
                <a:sym typeface="Calibri"/>
              </a:defRPr>
            </a:lvl8pPr>
            <a:lvl9pPr marL="3657600" marR="0" lvl="8" indent="0" algn="l" rtl="0">
              <a:spcBef>
                <a:spcPts val="0"/>
              </a:spcBef>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a:t>
            </a:fld>
            <a:endParaRPr lang="en-US"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400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vl1pPr>
            <a:lvl2pPr>
              <a:defRPr sz="20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1114221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7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741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261294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60684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lumMod val="7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2258348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2196197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buSzPct val="25000"/>
            </a:pPr>
            <a:fld id="{00000000-1234-1234-1234-123412341234}" type="slidenum">
              <a:rPr lang="en-US" sz="1200" smtClean="0">
                <a:solidFill>
                  <a:srgbClr val="888888"/>
                </a:solidFill>
                <a:latin typeface="Calibri"/>
                <a:ea typeface="Calibri"/>
                <a:cs typeface="Calibri"/>
                <a:sym typeface="Calibri"/>
              </a:rPr>
              <a:pPr>
                <a:buSzPct val="25000"/>
              </a:pPr>
              <a:t>‹#›</a:t>
            </a:fld>
            <a:endParaRPr lang="en-US" sz="1200">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16682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515616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2941650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0"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latin typeface="Calibri"/>
              <a:ea typeface="Calibri"/>
              <a:cs typeface="Calibri"/>
              <a:sym typeface="Calibri"/>
            </a:endParaRPr>
          </a:p>
        </p:txBody>
      </p:sp>
    </p:spTree>
    <p:extLst>
      <p:ext uri="{BB962C8B-B14F-4D97-AF65-F5344CB8AC3E}">
        <p14:creationId xmlns:p14="http://schemas.microsoft.com/office/powerpoint/2010/main" val="942414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chemeClr val="bg1"/>
                </a:solidFill>
              </a:defRPr>
            </a:lvl1pPr>
          </a:lstStyle>
          <a:p>
            <a:pPr>
              <a:buSzPct val="25000"/>
            </a:pPr>
            <a:fld id="{00000000-1234-1234-1234-123412341234}" type="slidenum">
              <a:rPr lang="en-US" sz="1200" smtClean="0">
                <a:latin typeface="Calibri"/>
                <a:ea typeface="Calibri"/>
                <a:cs typeface="Calibri"/>
                <a:sym typeface="Calibri"/>
              </a:rPr>
              <a:pPr>
                <a:buSzPct val="25000"/>
              </a:pPr>
              <a:t>‹#›</a:t>
            </a:fld>
            <a:endParaRPr lang="en-US" sz="1200" dirty="0">
              <a:solidFill>
                <a:schemeClr val="bg1"/>
              </a:solidFill>
              <a:latin typeface="Calibri"/>
              <a:ea typeface="Calibri"/>
              <a:cs typeface="Calibri"/>
              <a:sym typeface="Calibri"/>
            </a:endParaRP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7943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schemeClr>
          </a:solidFill>
          <a:latin typeface="Sitka Display Semibold" pitchFamily="2" charset="0"/>
          <a:ea typeface="+mj-ea"/>
          <a:cs typeface="+mj-cs"/>
        </a:defRPr>
      </a:lvl1pPr>
    </p:titleStyle>
    <p:bodyStyle>
      <a:lvl1pPr marL="233363" indent="-233363" algn="l" defTabSz="914400" rtl="0" eaLnBrk="1" latinLnBrk="0" hangingPunct="1">
        <a:lnSpc>
          <a:spcPct val="90000"/>
        </a:lnSpc>
        <a:spcBef>
          <a:spcPts val="1200"/>
        </a:spcBef>
        <a:spcAft>
          <a:spcPts val="200"/>
        </a:spcAft>
        <a:buClr>
          <a:schemeClr val="tx1">
            <a:lumMod val="75000"/>
          </a:schemeClr>
        </a:buClr>
        <a:buSzPct val="100000"/>
        <a:buFont typeface="Arial" panose="020B0604020202020204" pitchFamily="34" charset="0"/>
        <a:buChar char="•"/>
        <a:defRPr sz="2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1pPr>
      <a:lvl2pPr marL="38404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24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2pPr>
      <a:lvl3pPr marL="56692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3pPr>
      <a:lvl4pPr marL="74980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4pPr>
      <a:lvl5pPr marL="932688" indent="-182880" algn="l" defTabSz="914400" rtl="0" eaLnBrk="1" latinLnBrk="0" hangingPunct="1">
        <a:lnSpc>
          <a:spcPct val="90000"/>
        </a:lnSpc>
        <a:spcBef>
          <a:spcPts val="200"/>
        </a:spcBef>
        <a:spcAft>
          <a:spcPts val="400"/>
        </a:spcAft>
        <a:buClr>
          <a:schemeClr val="tx1">
            <a:lumMod val="75000"/>
          </a:schemeClr>
        </a:buClr>
        <a:buFont typeface="Arial" panose="020B0604020202020204" pitchFamily="34" charset="0"/>
        <a:buChar char="•"/>
        <a:defRPr sz="1800" kern="1200">
          <a:solidFill>
            <a:schemeClr val="tx1">
              <a:lumMod val="75000"/>
            </a:schemeClr>
          </a:solidFill>
          <a:latin typeface="Segoe UI" panose="020B0502040204020203" pitchFamily="34" charset="0"/>
          <a:ea typeface="Open Sans Medium" pitchFamily="2" charset="0"/>
          <a:cs typeface="Segoe UI" panose="020B0502040204020203"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clauswilke.com/dataviz/aesthetic-mapping.html#fig:temp-normals-vs-tim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DA1E6-0A9B-4FAD-9E42-B37B3CA5D782}"/>
              </a:ext>
            </a:extLst>
          </p:cNvPr>
          <p:cNvSpPr>
            <a:spLocks noGrp="1"/>
          </p:cNvSpPr>
          <p:nvPr>
            <p:ph type="ctrTitle"/>
          </p:nvPr>
        </p:nvSpPr>
        <p:spPr>
          <a:xfrm>
            <a:off x="1186248" y="2984156"/>
            <a:ext cx="10812163" cy="1099527"/>
          </a:xfrm>
        </p:spPr>
        <p:txBody>
          <a:bodyPr>
            <a:noAutofit/>
          </a:bodyPr>
          <a:lstStyle/>
          <a:p>
            <a:r>
              <a:rPr lang="en-US" sz="4400" dirty="0"/>
              <a:t>Data visualization and color theory</a:t>
            </a:r>
          </a:p>
        </p:txBody>
      </p:sp>
      <p:sp>
        <p:nvSpPr>
          <p:cNvPr id="5" name="Subtitle 4">
            <a:extLst>
              <a:ext uri="{FF2B5EF4-FFF2-40B4-BE49-F238E27FC236}">
                <a16:creationId xmlns:a16="http://schemas.microsoft.com/office/drawing/2014/main" id="{70A25A50-E1E4-4126-B9CC-C52512D3D327}"/>
              </a:ext>
            </a:extLst>
          </p:cNvPr>
          <p:cNvSpPr>
            <a:spLocks noGrp="1"/>
          </p:cNvSpPr>
          <p:nvPr>
            <p:ph type="subTitle" idx="1"/>
          </p:nvPr>
        </p:nvSpPr>
        <p:spPr/>
        <p:txBody>
          <a:bodyPr/>
          <a:lstStyle/>
          <a:p>
            <a:r>
              <a:rPr lang="en-US" dirty="0"/>
              <a:t>GEOG4300 /6300: Intro to data science</a:t>
            </a:r>
          </a:p>
          <a:p>
            <a:r>
              <a:rPr lang="en-US" dirty="0"/>
              <a:t>Prof. Jerry Shannon</a:t>
            </a:r>
          </a:p>
        </p:txBody>
      </p:sp>
    </p:spTree>
    <p:extLst>
      <p:ext uri="{BB962C8B-B14F-4D97-AF65-F5344CB8AC3E}">
        <p14:creationId xmlns:p14="http://schemas.microsoft.com/office/powerpoint/2010/main" val="76464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234C-736A-47C0-9C25-421C353BAE9A}"/>
              </a:ext>
            </a:extLst>
          </p:cNvPr>
          <p:cNvSpPr>
            <a:spLocks noGrp="1"/>
          </p:cNvSpPr>
          <p:nvPr>
            <p:ph type="title"/>
          </p:nvPr>
        </p:nvSpPr>
        <p:spPr/>
        <p:txBody>
          <a:bodyPr/>
          <a:lstStyle/>
          <a:p>
            <a:r>
              <a:rPr lang="en-US" dirty="0"/>
              <a:t>Reading review</a:t>
            </a:r>
          </a:p>
        </p:txBody>
      </p:sp>
      <p:sp>
        <p:nvSpPr>
          <p:cNvPr id="3" name="Content Placeholder 2">
            <a:extLst>
              <a:ext uri="{FF2B5EF4-FFF2-40B4-BE49-F238E27FC236}">
                <a16:creationId xmlns:a16="http://schemas.microsoft.com/office/drawing/2014/main" id="{F45F7153-A13F-42AB-9D76-DBBCF211B8EE}"/>
              </a:ext>
            </a:extLst>
          </p:cNvPr>
          <p:cNvSpPr>
            <a:spLocks noGrp="1"/>
          </p:cNvSpPr>
          <p:nvPr>
            <p:ph idx="1"/>
          </p:nvPr>
        </p:nvSpPr>
        <p:spPr/>
        <p:txBody>
          <a:bodyPr/>
          <a:lstStyle/>
          <a:p>
            <a:pPr marL="0" indent="0">
              <a:buNone/>
            </a:pPr>
            <a:r>
              <a:rPr lang="en-US" dirty="0"/>
              <a:t>Wilke’s chapter talks about the importance of “scales” in visualizing data. How is that relevant to this figure from the chapter?</a:t>
            </a:r>
          </a:p>
        </p:txBody>
      </p:sp>
      <p:sp>
        <p:nvSpPr>
          <p:cNvPr id="4" name="Slide Number Placeholder 3">
            <a:extLst>
              <a:ext uri="{FF2B5EF4-FFF2-40B4-BE49-F238E27FC236}">
                <a16:creationId xmlns:a16="http://schemas.microsoft.com/office/drawing/2014/main" id="{582AE8D0-ACB8-4655-9DF9-655F37CB1FF9}"/>
              </a:ext>
            </a:extLst>
          </p:cNvPr>
          <p:cNvSpPr>
            <a:spLocks noGrp="1"/>
          </p:cNvSpPr>
          <p:nvPr>
            <p:ph type="sldNum" sz="quarter" idx="12"/>
          </p:nvPr>
        </p:nvSpPr>
        <p:spPr/>
        <p:txBody>
          <a:bodyPr/>
          <a:lstStyle/>
          <a:p>
            <a:pPr>
              <a:buSzPct val="25000"/>
            </a:pPr>
            <a:fld id="{00000000-1234-1234-1234-123412341234}" type="slidenum">
              <a:rPr lang="en-US" sz="1200" smtClean="0">
                <a:latin typeface="Calibri"/>
                <a:ea typeface="Calibri"/>
                <a:cs typeface="Calibri"/>
                <a:sym typeface="Calibri"/>
              </a:rPr>
              <a:pPr>
                <a:buSzPct val="25000"/>
              </a:pPr>
              <a:t>2</a:t>
            </a:fld>
            <a:endParaRPr lang="en-US" sz="1200" dirty="0">
              <a:latin typeface="Calibri"/>
              <a:ea typeface="Calibri"/>
              <a:cs typeface="Calibri"/>
              <a:sym typeface="Calibri"/>
            </a:endParaRPr>
          </a:p>
        </p:txBody>
      </p:sp>
      <p:pic>
        <p:nvPicPr>
          <p:cNvPr id="10" name="Picture 9">
            <a:extLst>
              <a:ext uri="{FF2B5EF4-FFF2-40B4-BE49-F238E27FC236}">
                <a16:creationId xmlns:a16="http://schemas.microsoft.com/office/drawing/2014/main" id="{8B41BC76-5AA8-4500-950B-04A4AD2A3C19}"/>
              </a:ext>
            </a:extLst>
          </p:cNvPr>
          <p:cNvPicPr>
            <a:picLocks noChangeAspect="1"/>
          </p:cNvPicPr>
          <p:nvPr/>
        </p:nvPicPr>
        <p:blipFill>
          <a:blip r:embed="rId2"/>
          <a:stretch>
            <a:fillRect/>
          </a:stretch>
        </p:blipFill>
        <p:spPr>
          <a:xfrm>
            <a:off x="2359883" y="3020752"/>
            <a:ext cx="7558439" cy="2281010"/>
          </a:xfrm>
          <a:prstGeom prst="rect">
            <a:avLst/>
          </a:prstGeom>
        </p:spPr>
      </p:pic>
    </p:spTree>
    <p:extLst>
      <p:ext uri="{BB962C8B-B14F-4D97-AF65-F5344CB8AC3E}">
        <p14:creationId xmlns:p14="http://schemas.microsoft.com/office/powerpoint/2010/main" val="3982623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234C-736A-47C0-9C25-421C353BAE9A}"/>
              </a:ext>
            </a:extLst>
          </p:cNvPr>
          <p:cNvSpPr>
            <a:spLocks noGrp="1"/>
          </p:cNvSpPr>
          <p:nvPr>
            <p:ph type="title"/>
          </p:nvPr>
        </p:nvSpPr>
        <p:spPr/>
        <p:txBody>
          <a:bodyPr/>
          <a:lstStyle/>
          <a:p>
            <a:r>
              <a:rPr lang="en-US" dirty="0"/>
              <a:t>Reading review, pt. 2</a:t>
            </a:r>
          </a:p>
        </p:txBody>
      </p:sp>
      <p:sp>
        <p:nvSpPr>
          <p:cNvPr id="3" name="Content Placeholder 2">
            <a:extLst>
              <a:ext uri="{FF2B5EF4-FFF2-40B4-BE49-F238E27FC236}">
                <a16:creationId xmlns:a16="http://schemas.microsoft.com/office/drawing/2014/main" id="{F45F7153-A13F-42AB-9D76-DBBCF211B8EE}"/>
              </a:ext>
            </a:extLst>
          </p:cNvPr>
          <p:cNvSpPr>
            <a:spLocks noGrp="1"/>
          </p:cNvSpPr>
          <p:nvPr>
            <p:ph idx="1"/>
          </p:nvPr>
        </p:nvSpPr>
        <p:spPr>
          <a:xfrm>
            <a:off x="1274884" y="1845734"/>
            <a:ext cx="9880795" cy="4023360"/>
          </a:xfrm>
        </p:spPr>
        <p:txBody>
          <a:bodyPr/>
          <a:lstStyle/>
          <a:p>
            <a:pPr marL="0" indent="0">
              <a:buNone/>
            </a:pPr>
            <a:r>
              <a:rPr lang="en-US" dirty="0"/>
              <a:t>How would you describe the differences in how these two figures map temperature data?</a:t>
            </a:r>
          </a:p>
        </p:txBody>
      </p:sp>
      <p:sp>
        <p:nvSpPr>
          <p:cNvPr id="4" name="Slide Number Placeholder 3">
            <a:extLst>
              <a:ext uri="{FF2B5EF4-FFF2-40B4-BE49-F238E27FC236}">
                <a16:creationId xmlns:a16="http://schemas.microsoft.com/office/drawing/2014/main" id="{582AE8D0-ACB8-4655-9DF9-655F37CB1FF9}"/>
              </a:ext>
            </a:extLst>
          </p:cNvPr>
          <p:cNvSpPr>
            <a:spLocks noGrp="1"/>
          </p:cNvSpPr>
          <p:nvPr>
            <p:ph type="sldNum" sz="quarter" idx="12"/>
          </p:nvPr>
        </p:nvSpPr>
        <p:spPr/>
        <p:txBody>
          <a:bodyPr/>
          <a:lstStyle/>
          <a:p>
            <a:pPr>
              <a:buSzPct val="25000"/>
            </a:pPr>
            <a:fld id="{00000000-1234-1234-1234-123412341234}" type="slidenum">
              <a:rPr lang="en-US" sz="1200" smtClean="0">
                <a:latin typeface="Calibri"/>
                <a:ea typeface="Calibri"/>
                <a:cs typeface="Calibri"/>
                <a:sym typeface="Calibri"/>
              </a:rPr>
              <a:pPr>
                <a:buSzPct val="25000"/>
              </a:pPr>
              <a:t>3</a:t>
            </a:fld>
            <a:endParaRPr lang="en-US" sz="1200" dirty="0">
              <a:latin typeface="Calibri"/>
              <a:ea typeface="Calibri"/>
              <a:cs typeface="Calibri"/>
              <a:sym typeface="Calibri"/>
            </a:endParaRPr>
          </a:p>
        </p:txBody>
      </p:sp>
      <p:pic>
        <p:nvPicPr>
          <p:cNvPr id="1026" name="Picture 2" descr="Daily temperature normals for four selected locations in the U.S. Temperature is mapped to the y axis, day of the year to the x axis, and location to line color. Data source: NOAA.">
            <a:extLst>
              <a:ext uri="{FF2B5EF4-FFF2-40B4-BE49-F238E27FC236}">
                <a16:creationId xmlns:a16="http://schemas.microsoft.com/office/drawing/2014/main" id="{F6B6BDC7-F61F-4EB9-A01D-A033B6705F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003" y="2994661"/>
            <a:ext cx="4663869" cy="28744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nthly normal mean temperatures for four locations in the U.S. Data source: NOAA">
            <a:extLst>
              <a:ext uri="{FF2B5EF4-FFF2-40B4-BE49-F238E27FC236}">
                <a16:creationId xmlns:a16="http://schemas.microsoft.com/office/drawing/2014/main" id="{B711C250-340B-4B95-A1B0-96223D1BA5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714" y="2994661"/>
            <a:ext cx="6188846" cy="1855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475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234C-736A-47C0-9C25-421C353BAE9A}"/>
              </a:ext>
            </a:extLst>
          </p:cNvPr>
          <p:cNvSpPr>
            <a:spLocks noGrp="1"/>
          </p:cNvSpPr>
          <p:nvPr>
            <p:ph type="title"/>
          </p:nvPr>
        </p:nvSpPr>
        <p:spPr/>
        <p:txBody>
          <a:bodyPr/>
          <a:lstStyle/>
          <a:p>
            <a:r>
              <a:rPr lang="en-US" dirty="0"/>
              <a:t>Reading review, pt. 2</a:t>
            </a:r>
          </a:p>
        </p:txBody>
      </p:sp>
      <p:sp>
        <p:nvSpPr>
          <p:cNvPr id="3" name="Content Placeholder 2">
            <a:extLst>
              <a:ext uri="{FF2B5EF4-FFF2-40B4-BE49-F238E27FC236}">
                <a16:creationId xmlns:a16="http://schemas.microsoft.com/office/drawing/2014/main" id="{F45F7153-A13F-42AB-9D76-DBBCF211B8EE}"/>
              </a:ext>
            </a:extLst>
          </p:cNvPr>
          <p:cNvSpPr>
            <a:spLocks noGrp="1"/>
          </p:cNvSpPr>
          <p:nvPr>
            <p:ph idx="1"/>
          </p:nvPr>
        </p:nvSpPr>
        <p:spPr>
          <a:xfrm>
            <a:off x="1274884" y="1845734"/>
            <a:ext cx="9880795" cy="4023360"/>
          </a:xfrm>
        </p:spPr>
        <p:txBody>
          <a:bodyPr/>
          <a:lstStyle/>
          <a:p>
            <a:pPr marL="0" indent="0">
              <a:buNone/>
            </a:pPr>
            <a:r>
              <a:rPr lang="en-US"/>
              <a:t>How would you describe the differences in how these two figures map temperature data?</a:t>
            </a:r>
            <a:endParaRPr lang="en-US" dirty="0"/>
          </a:p>
        </p:txBody>
      </p:sp>
      <p:sp>
        <p:nvSpPr>
          <p:cNvPr id="4" name="Slide Number Placeholder 3">
            <a:extLst>
              <a:ext uri="{FF2B5EF4-FFF2-40B4-BE49-F238E27FC236}">
                <a16:creationId xmlns:a16="http://schemas.microsoft.com/office/drawing/2014/main" id="{582AE8D0-ACB8-4655-9DF9-655F37CB1FF9}"/>
              </a:ext>
            </a:extLst>
          </p:cNvPr>
          <p:cNvSpPr>
            <a:spLocks noGrp="1"/>
          </p:cNvSpPr>
          <p:nvPr>
            <p:ph type="sldNum" sz="quarter" idx="12"/>
          </p:nvPr>
        </p:nvSpPr>
        <p:spPr/>
        <p:txBody>
          <a:bodyPr/>
          <a:lstStyle/>
          <a:p>
            <a:pPr>
              <a:buSzPct val="25000"/>
            </a:pPr>
            <a:fld id="{00000000-1234-1234-1234-123412341234}" type="slidenum">
              <a:rPr lang="en-US" sz="1200" smtClean="0">
                <a:latin typeface="Calibri"/>
                <a:ea typeface="Calibri"/>
                <a:cs typeface="Calibri"/>
                <a:sym typeface="Calibri"/>
              </a:rPr>
              <a:pPr>
                <a:buSzPct val="25000"/>
              </a:pPr>
              <a:t>4</a:t>
            </a:fld>
            <a:endParaRPr lang="en-US" sz="1200" dirty="0">
              <a:latin typeface="Calibri"/>
              <a:ea typeface="Calibri"/>
              <a:cs typeface="Calibri"/>
              <a:sym typeface="Calibri"/>
            </a:endParaRPr>
          </a:p>
        </p:txBody>
      </p:sp>
      <p:pic>
        <p:nvPicPr>
          <p:cNvPr id="1026" name="Picture 2" descr="Daily temperature normals for four selected locations in the U.S. Temperature is mapped to the y axis, day of the year to the x axis, and location to line color. Data source: NOAA.">
            <a:extLst>
              <a:ext uri="{FF2B5EF4-FFF2-40B4-BE49-F238E27FC236}">
                <a16:creationId xmlns:a16="http://schemas.microsoft.com/office/drawing/2014/main" id="{F6B6BDC7-F61F-4EB9-A01D-A033B6705F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003" y="2994661"/>
            <a:ext cx="4663869" cy="28744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nthly normal mean temperatures for four locations in the U.S. Data source: NOAA">
            <a:extLst>
              <a:ext uri="{FF2B5EF4-FFF2-40B4-BE49-F238E27FC236}">
                <a16:creationId xmlns:a16="http://schemas.microsoft.com/office/drawing/2014/main" id="{B711C250-340B-4B95-A1B0-96223D1BA5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714" y="2994661"/>
            <a:ext cx="6188846" cy="185501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B8CB2EF-6078-4E4A-9F35-3CE1637D5C78}"/>
              </a:ext>
            </a:extLst>
          </p:cNvPr>
          <p:cNvSpPr txBox="1"/>
          <p:nvPr/>
        </p:nvSpPr>
        <p:spPr>
          <a:xfrm>
            <a:off x="4607545" y="4849673"/>
            <a:ext cx="7378944" cy="1477328"/>
          </a:xfrm>
          <a:prstGeom prst="rect">
            <a:avLst/>
          </a:prstGeom>
          <a:noFill/>
        </p:spPr>
        <p:txBody>
          <a:bodyPr wrap="square">
            <a:spAutoFit/>
          </a:bodyPr>
          <a:lstStyle/>
          <a:p>
            <a:r>
              <a:rPr lang="en-US" dirty="0"/>
              <a:t>Figure </a:t>
            </a:r>
            <a:r>
              <a:rPr lang="en-US" dirty="0">
                <a:hlinkClick r:id="rId4"/>
              </a:rPr>
              <a:t>2.3</a:t>
            </a:r>
            <a:r>
              <a:rPr lang="en-US" dirty="0"/>
              <a:t> is a fairly standard visualization for a temperature curve and likely the visualization most data scientists would intuitively choose first. However, it is up to us which variables we map onto which scales. For example, instead of mapping temperature onto the </a:t>
            </a:r>
            <a:r>
              <a:rPr lang="en-US" i="1" dirty="0"/>
              <a:t>y</a:t>
            </a:r>
            <a:r>
              <a:rPr lang="en-US" dirty="0"/>
              <a:t> axis and location onto color, we can do the opposite. </a:t>
            </a:r>
          </a:p>
        </p:txBody>
      </p:sp>
    </p:spTree>
    <p:extLst>
      <p:ext uri="{BB962C8B-B14F-4D97-AF65-F5344CB8AC3E}">
        <p14:creationId xmlns:p14="http://schemas.microsoft.com/office/powerpoint/2010/main" val="898612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B8C84-8113-4A7E-BB5E-F2783A955220}"/>
              </a:ext>
            </a:extLst>
          </p:cNvPr>
          <p:cNvSpPr>
            <a:spLocks noGrp="1"/>
          </p:cNvSpPr>
          <p:nvPr>
            <p:ph type="title"/>
          </p:nvPr>
        </p:nvSpPr>
        <p:spPr>
          <a:xfrm>
            <a:off x="1066800" y="160126"/>
            <a:ext cx="10058400" cy="851855"/>
          </a:xfrm>
        </p:spPr>
        <p:txBody>
          <a:bodyPr/>
          <a:lstStyle/>
          <a:p>
            <a:r>
              <a:rPr lang="en-US" dirty="0"/>
              <a:t>Thinking about color</a:t>
            </a:r>
          </a:p>
        </p:txBody>
      </p:sp>
      <p:sp>
        <p:nvSpPr>
          <p:cNvPr id="4" name="Slide Number Placeholder 3">
            <a:extLst>
              <a:ext uri="{FF2B5EF4-FFF2-40B4-BE49-F238E27FC236}">
                <a16:creationId xmlns:a16="http://schemas.microsoft.com/office/drawing/2014/main" id="{C2C21C0B-F9DE-4052-9FBF-F05EB2712883}"/>
              </a:ext>
            </a:extLst>
          </p:cNvPr>
          <p:cNvSpPr>
            <a:spLocks noGrp="1"/>
          </p:cNvSpPr>
          <p:nvPr>
            <p:ph type="sldNum" sz="quarter" idx="12"/>
          </p:nvPr>
        </p:nvSpPr>
        <p:spPr/>
        <p:txBody>
          <a:bodyPr/>
          <a:lstStyle/>
          <a:p>
            <a:pPr>
              <a:buSzPct val="25000"/>
            </a:pPr>
            <a:fld id="{00000000-1234-1234-1234-123412341234}" type="slidenum">
              <a:rPr lang="en-US" sz="1200" smtClean="0">
                <a:latin typeface="Calibri"/>
                <a:ea typeface="Calibri"/>
                <a:cs typeface="Calibri"/>
                <a:sym typeface="Calibri"/>
              </a:rPr>
              <a:pPr>
                <a:buSzPct val="25000"/>
              </a:pPr>
              <a:t>5</a:t>
            </a:fld>
            <a:endParaRPr lang="en-US" sz="1200" dirty="0">
              <a:latin typeface="Calibri"/>
              <a:ea typeface="Calibri"/>
              <a:cs typeface="Calibri"/>
              <a:sym typeface="Calibri"/>
            </a:endParaRPr>
          </a:p>
        </p:txBody>
      </p:sp>
      <p:sp>
        <p:nvSpPr>
          <p:cNvPr id="3" name="Content Placeholder 2">
            <a:extLst>
              <a:ext uri="{FF2B5EF4-FFF2-40B4-BE49-F238E27FC236}">
                <a16:creationId xmlns:a16="http://schemas.microsoft.com/office/drawing/2014/main" id="{5F9A496C-C128-417D-B68A-9AD961FF0294}"/>
              </a:ext>
            </a:extLst>
          </p:cNvPr>
          <p:cNvSpPr>
            <a:spLocks noGrp="1"/>
          </p:cNvSpPr>
          <p:nvPr>
            <p:ph idx="4294967295"/>
          </p:nvPr>
        </p:nvSpPr>
        <p:spPr>
          <a:xfrm>
            <a:off x="163502" y="2033349"/>
            <a:ext cx="4420326" cy="1193800"/>
          </a:xfrm>
        </p:spPr>
        <p:txBody>
          <a:bodyPr>
            <a:normAutofit/>
          </a:bodyPr>
          <a:lstStyle/>
          <a:p>
            <a:pPr marL="0" indent="0">
              <a:lnSpc>
                <a:spcPct val="110000"/>
              </a:lnSpc>
              <a:buNone/>
            </a:pPr>
            <a:r>
              <a:rPr lang="en-US" sz="2000" dirty="0"/>
              <a:t>How does Wilke say the following figures use color? </a:t>
            </a:r>
            <a:br>
              <a:rPr lang="en-US" sz="2000" dirty="0"/>
            </a:br>
            <a:r>
              <a:rPr lang="en-US" sz="2000" dirty="0"/>
              <a:t>How do they differ?</a:t>
            </a:r>
          </a:p>
        </p:txBody>
      </p:sp>
      <p:pic>
        <p:nvPicPr>
          <p:cNvPr id="2050" name="Picture 2" descr="Population growth in the U.S. from 2000 to 2010. States in the West and South have seen the largest increases, whereas states in the Midwest and Northeast have seen much smaller increases or even, in the case of Michigan, a decrease. Data source: U.S. Census Bureau">
            <a:extLst>
              <a:ext uri="{FF2B5EF4-FFF2-40B4-BE49-F238E27FC236}">
                <a16:creationId xmlns:a16="http://schemas.microsoft.com/office/drawing/2014/main" id="{392C3419-B368-4545-9B74-968D71E06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7542" y="1484322"/>
            <a:ext cx="3896340" cy="467425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edian annual income in Texas counties. The highest median incomes are seen in major Texas metropolitan areas, in particular near Houston and Dallas. No median income estimate is available for Loving County in West Texas and therefore that county is shown in gray. Data source: 2015 Five-Year American Community Survey">
            <a:extLst>
              <a:ext uri="{FF2B5EF4-FFF2-40B4-BE49-F238E27FC236}">
                <a16:creationId xmlns:a16="http://schemas.microsoft.com/office/drawing/2014/main" id="{359548DD-7A20-4F58-93F7-81CF568451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519" y="3379041"/>
            <a:ext cx="3447672" cy="258575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rom 2000 to 2010, the two neighboring southern states Texas and Louisiana have experienced among the highest and lowest population growth across the U.S. Data source: U.S. Census Bureau">
            <a:extLst>
              <a:ext uri="{FF2B5EF4-FFF2-40B4-BE49-F238E27FC236}">
                <a16:creationId xmlns:a16="http://schemas.microsoft.com/office/drawing/2014/main" id="{D652C9F3-1A0A-49B4-B7C8-BA4CE9629A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1748" y="1489876"/>
            <a:ext cx="3896340" cy="4674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6550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B8C84-8113-4A7E-BB5E-F2783A955220}"/>
              </a:ext>
            </a:extLst>
          </p:cNvPr>
          <p:cNvSpPr>
            <a:spLocks noGrp="1"/>
          </p:cNvSpPr>
          <p:nvPr>
            <p:ph type="title"/>
          </p:nvPr>
        </p:nvSpPr>
        <p:spPr>
          <a:xfrm>
            <a:off x="1128366" y="662743"/>
            <a:ext cx="10058400" cy="851855"/>
          </a:xfrm>
        </p:spPr>
        <p:txBody>
          <a:bodyPr/>
          <a:lstStyle/>
          <a:p>
            <a:r>
              <a:rPr lang="en-US" dirty="0"/>
              <a:t>Going further</a:t>
            </a:r>
          </a:p>
        </p:txBody>
      </p:sp>
      <p:sp>
        <p:nvSpPr>
          <p:cNvPr id="4" name="Slide Number Placeholder 3">
            <a:extLst>
              <a:ext uri="{FF2B5EF4-FFF2-40B4-BE49-F238E27FC236}">
                <a16:creationId xmlns:a16="http://schemas.microsoft.com/office/drawing/2014/main" id="{C2C21C0B-F9DE-4052-9FBF-F05EB2712883}"/>
              </a:ext>
            </a:extLst>
          </p:cNvPr>
          <p:cNvSpPr>
            <a:spLocks noGrp="1"/>
          </p:cNvSpPr>
          <p:nvPr>
            <p:ph type="sldNum" sz="quarter" idx="12"/>
          </p:nvPr>
        </p:nvSpPr>
        <p:spPr>
          <a:xfrm>
            <a:off x="10076071" y="7004792"/>
            <a:ext cx="1312025" cy="365125"/>
          </a:xfrm>
        </p:spPr>
        <p:txBody>
          <a:bodyPr/>
          <a:lstStyle/>
          <a:p>
            <a:pPr>
              <a:buSzPct val="25000"/>
            </a:pPr>
            <a:fld id="{00000000-1234-1234-1234-123412341234}" type="slidenum">
              <a:rPr lang="en-US" sz="1200" smtClean="0">
                <a:latin typeface="Calibri"/>
                <a:ea typeface="Calibri"/>
                <a:cs typeface="Calibri"/>
                <a:sym typeface="Calibri"/>
              </a:rPr>
              <a:pPr>
                <a:buSzPct val="25000"/>
              </a:pPr>
              <a:t>6</a:t>
            </a:fld>
            <a:endParaRPr lang="en-US" sz="1200" dirty="0">
              <a:latin typeface="Calibri"/>
              <a:ea typeface="Calibri"/>
              <a:cs typeface="Calibri"/>
              <a:sym typeface="Calibri"/>
            </a:endParaRPr>
          </a:p>
        </p:txBody>
      </p:sp>
      <p:sp>
        <p:nvSpPr>
          <p:cNvPr id="3" name="Content Placeholder 2">
            <a:extLst>
              <a:ext uri="{FF2B5EF4-FFF2-40B4-BE49-F238E27FC236}">
                <a16:creationId xmlns:a16="http://schemas.microsoft.com/office/drawing/2014/main" id="{5F9A496C-C128-417D-B68A-9AD961FF0294}"/>
              </a:ext>
            </a:extLst>
          </p:cNvPr>
          <p:cNvSpPr>
            <a:spLocks noGrp="1"/>
          </p:cNvSpPr>
          <p:nvPr>
            <p:ph idx="4294967295"/>
          </p:nvPr>
        </p:nvSpPr>
        <p:spPr>
          <a:xfrm>
            <a:off x="1242413" y="1902794"/>
            <a:ext cx="9944353" cy="1193800"/>
          </a:xfrm>
        </p:spPr>
        <p:txBody>
          <a:bodyPr>
            <a:normAutofit/>
          </a:bodyPr>
          <a:lstStyle/>
          <a:p>
            <a:pPr marL="0" indent="0">
              <a:lnSpc>
                <a:spcPct val="110000"/>
              </a:lnSpc>
              <a:buNone/>
            </a:pPr>
            <a:r>
              <a:rPr lang="en-US" sz="2000" dirty="0"/>
              <a:t>Pick one “Visualizing…” chapter from the book (chaps 6-16).</a:t>
            </a:r>
          </a:p>
          <a:p>
            <a:pPr marL="0" indent="0">
              <a:lnSpc>
                <a:spcPct val="110000"/>
              </a:lnSpc>
              <a:buNone/>
            </a:pPr>
            <a:r>
              <a:rPr lang="en-US" sz="2000" dirty="0"/>
              <a:t>Which visualizations do you like/not like? What’s new to you?</a:t>
            </a:r>
          </a:p>
        </p:txBody>
      </p:sp>
    </p:spTree>
    <p:extLst>
      <p:ext uri="{BB962C8B-B14F-4D97-AF65-F5344CB8AC3E}">
        <p14:creationId xmlns:p14="http://schemas.microsoft.com/office/powerpoint/2010/main" val="2925014860"/>
      </p:ext>
    </p:extLst>
  </p:cSld>
  <p:clrMapOvr>
    <a:masterClrMapping/>
  </p:clrMapOvr>
</p:sld>
</file>

<file path=ppt/theme/theme1.xml><?xml version="1.0" encoding="utf-8"?>
<a:theme xmlns:a="http://schemas.openxmlformats.org/drawingml/2006/main" name="4300 theme">
  <a:themeElements>
    <a:clrScheme name="Custom 5">
      <a:dk1>
        <a:srgbClr val="3F3F3F"/>
      </a:dk1>
      <a:lt1>
        <a:sysClr val="window" lastClr="FFFFFF"/>
      </a:lt1>
      <a:dk2>
        <a:srgbClr val="637052"/>
      </a:dk2>
      <a:lt2>
        <a:srgbClr val="CCDDEA"/>
      </a:lt2>
      <a:accent1>
        <a:srgbClr val="E5A99F"/>
      </a:accent1>
      <a:accent2>
        <a:srgbClr val="B23838"/>
      </a:accent2>
      <a:accent3>
        <a:srgbClr val="865640"/>
      </a:accent3>
      <a:accent4>
        <a:srgbClr val="9B8357"/>
      </a:accent4>
      <a:accent5>
        <a:srgbClr val="C2BC80"/>
      </a:accent5>
      <a:accent6>
        <a:srgbClr val="94A088"/>
      </a:accent6>
      <a:hlink>
        <a:srgbClr val="2998E3"/>
      </a:hlink>
      <a:folHlink>
        <a:srgbClr val="8C8C8C"/>
      </a:folHlink>
    </a:clrScheme>
    <a:fontScheme name="Custom 1">
      <a:majorFont>
        <a:latin typeface="Sitka Display Semibold"/>
        <a:ea typeface=""/>
        <a:cs typeface=""/>
      </a:majorFont>
      <a:minorFont>
        <a:latin typeface="Segoe U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geog4300_L01-Introductions" id="{FA51A00F-822B-41B5-AA4A-2C123A5E9355}" vid="{2F9C99DD-B25B-4D9F-92B4-7DCE57BD0F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199</Words>
  <Application>Microsoft Office PowerPoint</Application>
  <PresentationFormat>Widescreen</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Segoe UI</vt:lpstr>
      <vt:lpstr>Sitka Display Semibold</vt:lpstr>
      <vt:lpstr>4300 theme</vt:lpstr>
      <vt:lpstr>Data visualization and color theory</vt:lpstr>
      <vt:lpstr>Reading review</vt:lpstr>
      <vt:lpstr>Reading review, pt. 2</vt:lpstr>
      <vt:lpstr>Reading review, pt. 2</vt:lpstr>
      <vt:lpstr>Thinking about color</vt:lpstr>
      <vt:lpstr>Going further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data</dc:title>
  <dc:creator>Gerald Shannon</dc:creator>
  <cp:lastModifiedBy>Jerry Shannon</cp:lastModifiedBy>
  <cp:revision>34</cp:revision>
  <dcterms:modified xsi:type="dcterms:W3CDTF">2026-09-04T16:44:59Z</dcterms:modified>
</cp:coreProperties>
</file>