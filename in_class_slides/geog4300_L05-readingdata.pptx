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32" r:id="rId1"/>
  </p:sldMasterIdLst>
  <p:notesMasterIdLst>
    <p:notesMasterId r:id="rId7"/>
  </p:notesMasterIdLst>
  <p:sldIdLst>
    <p:sldId id="256" r:id="rId2"/>
    <p:sldId id="262" r:id="rId3"/>
    <p:sldId id="270" r:id="rId4"/>
    <p:sldId id="271" r:id="rId5"/>
    <p:sldId id="272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66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572" autoAdjust="0"/>
    <p:restoredTop sz="86396" autoAdjust="0"/>
  </p:normalViewPr>
  <p:slideViewPr>
    <p:cSldViewPr snapToGrid="0">
      <p:cViewPr varScale="1">
        <p:scale>
          <a:sx n="94" d="100"/>
          <a:sy n="94" d="100"/>
        </p:scale>
        <p:origin x="354" y="78"/>
      </p:cViewPr>
      <p:guideLst/>
    </p:cSldViewPr>
  </p:slideViewPr>
  <p:outlineViewPr>
    <p:cViewPr>
      <p:scale>
        <a:sx n="33" d="100"/>
        <a:sy n="33" d="100"/>
      </p:scale>
      <p:origin x="0" y="-2802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884612" y="0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B84F3F-161C-D647-9920-F983A7A8B54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5732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Think of it as a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bridge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that connects two systems—such as a client and a server—and enables them to work together seamlessly.</a:t>
            </a:r>
          </a:p>
          <a:p>
            <a:pPr rtl="0"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understand it better, imagine you're at a restaurant: 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waiter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(API) takes your order (request), gives it to 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chef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(server), and then brings the prepared food (response) back to your table. Similarly, when you search for a course on a website, your request goes through an API, which then fetches the data from the database and sends it back as a response.</a:t>
            </a:r>
          </a:p>
          <a:p>
            <a:endParaRPr lang="en-US" dirty="0"/>
          </a:p>
          <a:p>
            <a:pPr rtl="0"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APIs work in a simple step-by-step process:</a:t>
            </a:r>
          </a:p>
          <a:p>
            <a:pPr fontAlgn="base"/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Request: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client (user) sends a request through the API's URI (Uniform Resource Identifier).</a:t>
            </a:r>
          </a:p>
          <a:p>
            <a:pPr fontAlgn="base"/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Processing: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API forwards the request to the server.</a:t>
            </a:r>
          </a:p>
          <a:p>
            <a:pPr fontAlgn="base"/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Response: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server processes the request and sends the response back to the API.</a:t>
            </a:r>
          </a:p>
          <a:p>
            <a:pPr fontAlgn="base"/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Delivery: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API returns the server's response to the client.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B84F3F-161C-D647-9920-F983A7A8B54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084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6400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14221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7414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12942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06843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58348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96197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6682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15616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416505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42414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8794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</a:schemeClr>
          </a:solidFill>
          <a:latin typeface="Sitka Display Semibold" pitchFamily="2" charset="0"/>
          <a:ea typeface="+mj-ea"/>
          <a:cs typeface="+mj-cs"/>
        </a:defRPr>
      </a:lvl1pPr>
    </p:titleStyle>
    <p:bodyStyle>
      <a:lvl1pPr marL="233363" indent="-2333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>
            <a:lumMod val="75000"/>
          </a:schemeClr>
        </a:buClr>
        <a:buSzPct val="100000"/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B63C4-13EF-D49B-BFA7-7F975EFBC1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Working with data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D0352E-39EB-2697-F62C-A8F0E3F55A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79"/>
            <a:ext cx="8825658" cy="1475139"/>
          </a:xfrm>
        </p:spPr>
        <p:txBody>
          <a:bodyPr>
            <a:normAutofit/>
          </a:bodyPr>
          <a:lstStyle/>
          <a:p>
            <a:r>
              <a:rPr lang="en-US" dirty="0"/>
              <a:t>GEOG4300 /6300: Intro to data science</a:t>
            </a:r>
          </a:p>
          <a:p>
            <a:r>
              <a:rPr lang="en-US" dirty="0"/>
              <a:t>Prof. Jerry Shannon</a:t>
            </a:r>
          </a:p>
        </p:txBody>
      </p:sp>
    </p:spTree>
    <p:extLst>
      <p:ext uri="{BB962C8B-B14F-4D97-AF65-F5344CB8AC3E}">
        <p14:creationId xmlns:p14="http://schemas.microsoft.com/office/powerpoint/2010/main" val="38909508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32254-4A0C-5998-C72F-381AF98A5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be aware of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120EED-E368-D3A5-6DC2-EECF90CC1E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Lab 0 is due Friday September 4</a:t>
            </a:r>
          </a:p>
          <a:p>
            <a:pPr lvl="1"/>
            <a:r>
              <a:rPr lang="en-US" sz="2800" dirty="0"/>
              <a:t>We’ll start on this on Friday. </a:t>
            </a:r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62903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F2124-7DBC-AD03-50A6-D3AC0171D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94D35-71A6-19A5-3C88-276C26169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an API”?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B8C7C-A8CD-E881-068E-D5835A4BE4E8}"/>
              </a:ext>
            </a:extLst>
          </p:cNvPr>
          <p:cNvSpPr txBox="1"/>
          <p:nvPr/>
        </p:nvSpPr>
        <p:spPr>
          <a:xfrm>
            <a:off x="5607424" y="1344706"/>
            <a:ext cx="4732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Application programming interface</a:t>
            </a:r>
          </a:p>
        </p:txBody>
      </p:sp>
      <p:pic>
        <p:nvPicPr>
          <p:cNvPr id="1026" name="Picture 2" descr="What-is-an-API">
            <a:extLst>
              <a:ext uri="{FF2B5EF4-FFF2-40B4-BE49-F238E27FC236}">
                <a16:creationId xmlns:a16="http://schemas.microsoft.com/office/drawing/2014/main" id="{85ED8693-1837-4A89-A24C-ECF7028CAB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1100" y="1901825"/>
            <a:ext cx="9525000" cy="4476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549FDB-D93F-409D-A225-3667F7B4D971}"/>
              </a:ext>
            </a:extLst>
          </p:cNvPr>
          <p:cNvSpPr txBox="1"/>
          <p:nvPr/>
        </p:nvSpPr>
        <p:spPr>
          <a:xfrm>
            <a:off x="416560" y="6417508"/>
            <a:ext cx="719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https://www.geeksforgeeks.org/web-tech/terminologies-of-web-development/</a:t>
            </a:r>
          </a:p>
        </p:txBody>
      </p:sp>
    </p:spTree>
    <p:extLst>
      <p:ext uri="{BB962C8B-B14F-4D97-AF65-F5344CB8AC3E}">
        <p14:creationId xmlns:p14="http://schemas.microsoft.com/office/powerpoint/2010/main" val="1135782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CCD8796-2D09-4694-86CC-8E6D13491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APIs work in a step-by-step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2CD8FC-E007-2392-5465-A4C08813C8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032000"/>
            <a:ext cx="10058400" cy="3837094"/>
          </a:xfrm>
        </p:spPr>
        <p:txBody>
          <a:bodyPr>
            <a:normAutofit/>
          </a:bodyPr>
          <a:lstStyle/>
          <a:p>
            <a:pPr lvl="1" fontAlgn="base"/>
            <a:r>
              <a:rPr lang="en-US" sz="2800" b="1" dirty="0"/>
              <a:t>Request:</a:t>
            </a:r>
            <a:r>
              <a:rPr lang="en-US" sz="2800" dirty="0"/>
              <a:t> A client (user) sends a request through the API's URI (Uniform Resource Identifier).</a:t>
            </a:r>
          </a:p>
          <a:p>
            <a:pPr lvl="1" fontAlgn="base"/>
            <a:r>
              <a:rPr lang="en-US" sz="2800" b="1" dirty="0"/>
              <a:t>Processing:</a:t>
            </a:r>
            <a:r>
              <a:rPr lang="en-US" sz="2800" dirty="0"/>
              <a:t> The API forwards the request to the server.</a:t>
            </a:r>
          </a:p>
          <a:p>
            <a:pPr lvl="1" fontAlgn="base"/>
            <a:r>
              <a:rPr lang="en-US" sz="2800" b="1" dirty="0"/>
              <a:t>Response:</a:t>
            </a:r>
            <a:r>
              <a:rPr lang="en-US" sz="2800" dirty="0"/>
              <a:t> The server processes the request and sends the response back to the API.</a:t>
            </a:r>
          </a:p>
          <a:p>
            <a:pPr lvl="1" fontAlgn="base"/>
            <a:r>
              <a:rPr lang="en-US" sz="2800" b="1" dirty="0"/>
              <a:t>Delivery:</a:t>
            </a:r>
            <a:r>
              <a:rPr lang="en-US" sz="2800" dirty="0"/>
              <a:t> The API returns the server's response to the client.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AA375F-FF6A-45C0-B0F9-F8090DF0E719}"/>
              </a:ext>
            </a:extLst>
          </p:cNvPr>
          <p:cNvSpPr txBox="1"/>
          <p:nvPr/>
        </p:nvSpPr>
        <p:spPr>
          <a:xfrm>
            <a:off x="1193800" y="5054845"/>
            <a:ext cx="9865360" cy="1015663"/>
          </a:xfrm>
          <a:prstGeom prst="rect">
            <a:avLst/>
          </a:prstGeom>
          <a:solidFill>
            <a:schemeClr val="accent2"/>
          </a:solidFill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Sometimes you need to access data from a website, rather than storing it directly on your computer. An API communicates with a server’s backend system, rather than you having to go into that computer yourself.</a:t>
            </a:r>
          </a:p>
        </p:txBody>
      </p:sp>
    </p:spTree>
    <p:extLst>
      <p:ext uri="{BB962C8B-B14F-4D97-AF65-F5344CB8AC3E}">
        <p14:creationId xmlns:p14="http://schemas.microsoft.com/office/powerpoint/2010/main" val="42146874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F21E7-0761-5E83-3AFC-62D75AF2B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we’ll use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565CB8-4168-884D-BDA2-B4008455DC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daymetr</a:t>
            </a:r>
            <a:r>
              <a:rPr lang="en-US" dirty="0"/>
              <a:t>: used to download and work with </a:t>
            </a:r>
            <a:r>
              <a:rPr lang="en-US" dirty="0" err="1"/>
              <a:t>Daymet</a:t>
            </a:r>
            <a:r>
              <a:rPr lang="en-US" dirty="0"/>
              <a:t> data</a:t>
            </a:r>
          </a:p>
          <a:p>
            <a:r>
              <a:rPr lang="en-US" dirty="0"/>
              <a:t>sf: ‘simple features’ used for reading and working with spatial data</a:t>
            </a:r>
          </a:p>
          <a:p>
            <a:r>
              <a:rPr lang="en-US" dirty="0" err="1"/>
              <a:t>tmap</a:t>
            </a:r>
            <a:r>
              <a:rPr lang="en-US" dirty="0"/>
              <a:t>: used for mapping of spatial data</a:t>
            </a:r>
          </a:p>
          <a:p>
            <a:r>
              <a:rPr lang="en-US" dirty="0" err="1"/>
              <a:t>tidycensus</a:t>
            </a:r>
            <a:r>
              <a:rPr lang="en-US" dirty="0"/>
              <a:t>: working with US census data</a:t>
            </a:r>
          </a:p>
          <a:p>
            <a:pPr lvl="1"/>
            <a:r>
              <a:rPr lang="en-US" dirty="0" err="1"/>
              <a:t>load_variables</a:t>
            </a:r>
            <a:endParaRPr lang="en-US" dirty="0"/>
          </a:p>
          <a:p>
            <a:pPr lvl="1"/>
            <a:r>
              <a:rPr lang="en-US" dirty="0" err="1"/>
              <a:t>get_acs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945966"/>
      </p:ext>
    </p:extLst>
  </p:cSld>
  <p:clrMapOvr>
    <a:masterClrMapping/>
  </p:clrMapOvr>
</p:sld>
</file>

<file path=ppt/theme/theme1.xml><?xml version="1.0" encoding="utf-8"?>
<a:theme xmlns:a="http://schemas.openxmlformats.org/drawingml/2006/main" name="4300 theme">
  <a:themeElements>
    <a:clrScheme name="Custom 5">
      <a:dk1>
        <a:srgbClr val="3F3F3F"/>
      </a:dk1>
      <a:lt1>
        <a:sysClr val="window" lastClr="FFFFFF"/>
      </a:lt1>
      <a:dk2>
        <a:srgbClr val="637052"/>
      </a:dk2>
      <a:lt2>
        <a:srgbClr val="CCDDEA"/>
      </a:lt2>
      <a:accent1>
        <a:srgbClr val="E5A99F"/>
      </a:accent1>
      <a:accent2>
        <a:srgbClr val="B23838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Custom 1">
      <a:majorFont>
        <a:latin typeface="Sitka Display Semibold"/>
        <a:ea typeface=""/>
        <a:cs typeface=""/>
      </a:majorFont>
      <a:minorFont>
        <a:latin typeface="Segoe UI"/>
        <a:ea typeface=""/>
        <a:cs typeface="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g4300_L01-Introductions" id="{FA51A00F-822B-41B5-AA4A-2C123A5E9355}" vid="{2F9C99DD-B25B-4D9F-92B4-7DCE57BD0F40}"/>
    </a:ext>
  </a:extLst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496</TotalTime>
  <Words>380</Words>
  <Application>Microsoft Office PowerPoint</Application>
  <PresentationFormat>Widescreen</PresentationFormat>
  <Paragraphs>32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Segoe UI</vt:lpstr>
      <vt:lpstr>Sitka Display Semibold</vt:lpstr>
      <vt:lpstr>4300 theme</vt:lpstr>
      <vt:lpstr>Working with data</vt:lpstr>
      <vt:lpstr>Things to be aware of</vt:lpstr>
      <vt:lpstr>What is an API”?</vt:lpstr>
      <vt:lpstr>APIs work in a step-by-step process</vt:lpstr>
      <vt:lpstr>Libraries we’ll use today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Numbers: What are they good for?</dc:title>
  <dc:creator>Gerald Shannon</dc:creator>
  <cp:lastModifiedBy>Jerry Shannon</cp:lastModifiedBy>
  <cp:revision>117</cp:revision>
  <dcterms:modified xsi:type="dcterms:W3CDTF">2026-08-19T19:25:13Z</dcterms:modified>
</cp:coreProperties>
</file>