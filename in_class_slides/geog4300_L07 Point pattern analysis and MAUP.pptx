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91" r:id="rId3"/>
    <p:sldId id="284" r:id="rId4"/>
    <p:sldId id="290" r:id="rId5"/>
    <p:sldId id="285" r:id="rId6"/>
    <p:sldId id="286" r:id="rId7"/>
    <p:sldId id="289" r:id="rId8"/>
    <p:sldId id="287" r:id="rId9"/>
    <p:sldId id="303" r:id="rId10"/>
    <p:sldId id="270" r:id="rId11"/>
    <p:sldId id="271" r:id="rId12"/>
    <p:sldId id="272" r:id="rId13"/>
    <p:sldId id="28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45" autoAdjust="0"/>
    <p:restoredTop sz="86918"/>
  </p:normalViewPr>
  <p:slideViewPr>
    <p:cSldViewPr snapToGrid="0">
      <p:cViewPr varScale="1">
        <p:scale>
          <a:sx n="106" d="100"/>
          <a:sy n="106" d="100"/>
        </p:scale>
        <p:origin x="28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23026-85D4-48E8-9219-18000F68802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8D42E2-8102-4E72-B8DC-BA8209884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01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Locational vs attributes.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D42E2-8102-4E72-B8DC-BA8209884EC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369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clustered are the points?</a:t>
            </a:r>
          </a:p>
          <a:p>
            <a:endParaRPr lang="en-US" dirty="0"/>
          </a:p>
          <a:p>
            <a:r>
              <a:rPr lang="en-US" dirty="0"/>
              <a:t>If this is &gt;1 what does it tell you?</a:t>
            </a:r>
          </a:p>
          <a:p>
            <a:r>
              <a:rPr lang="en-US" dirty="0"/>
              <a:t>Actual average distance &gt; random </a:t>
            </a:r>
            <a:r>
              <a:rPr lang="en-US" dirty="0">
                <a:sym typeface="Wingdings" pitchFamily="2" charset="2"/>
              </a:rPr>
              <a:t> spread out.</a:t>
            </a:r>
          </a:p>
          <a:p>
            <a:r>
              <a:rPr lang="en-US" dirty="0">
                <a:sym typeface="Wingdings" pitchFamily="2" charset="2"/>
              </a:rPr>
              <a:t>If &lt;1  closer together.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Turn to neighbor and discuss which is which?</a:t>
            </a:r>
          </a:p>
          <a:p>
            <a:r>
              <a:rPr lang="en-US" dirty="0">
                <a:sym typeface="Wingdings" pitchFamily="2" charset="2"/>
              </a:rPr>
              <a:t>Blue: Random</a:t>
            </a:r>
          </a:p>
          <a:p>
            <a:r>
              <a:rPr lang="en-US" dirty="0">
                <a:sym typeface="Wingdings" pitchFamily="2" charset="2"/>
              </a:rPr>
              <a:t>Red: Dispersed – like magnets pushing each other apart.</a:t>
            </a:r>
          </a:p>
          <a:p>
            <a:r>
              <a:rPr lang="en-US" dirty="0">
                <a:sym typeface="Wingdings" pitchFamily="2" charset="2"/>
              </a:rPr>
              <a:t>Green: Clustered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This is a global measure – it’s describing the whole data set, not individual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D42E2-8102-4E72-B8DC-BA8209884EC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577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Quadrats:</a:t>
            </a:r>
          </a:p>
          <a:p>
            <a:r>
              <a:rPr lang="en-US" dirty="0"/>
              <a:t>Looks a little like raster.</a:t>
            </a:r>
          </a:p>
          <a:p>
            <a:r>
              <a:rPr lang="en-US" dirty="0" err="1"/>
              <a:t>Tessalation</a:t>
            </a:r>
            <a:r>
              <a:rPr lang="en-US" dirty="0"/>
              <a:t> = ? A shape that’s repeated over and over.</a:t>
            </a:r>
          </a:p>
          <a:p>
            <a:r>
              <a:rPr lang="en-US" dirty="0"/>
              <a:t>Aggregate points into a grid. Enables quantification of the distribution of the data points.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D42E2-8102-4E72-B8DC-BA8209884EC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4166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sheets and rulers:</a:t>
            </a:r>
          </a:p>
          <a:p>
            <a:r>
              <a:rPr lang="en-US" dirty="0"/>
              <a:t>Dollar stores in Atlanta. </a:t>
            </a:r>
          </a:p>
          <a:p>
            <a:r>
              <a:rPr lang="en-US" dirty="0"/>
              <a:t>Make a grid. Count the stores in each grid cell.</a:t>
            </a:r>
          </a:p>
          <a:p>
            <a:r>
              <a:rPr lang="en-US" dirty="0"/>
              <a:t>Make a table with cell index, FD, DT, total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D42E2-8102-4E72-B8DC-BA8209884EC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43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Rate in a sub-area compared to rate in a whole area.</a:t>
            </a:r>
          </a:p>
          <a:p>
            <a:endParaRPr lang="en-US" dirty="0"/>
          </a:p>
          <a:p>
            <a:r>
              <a:rPr lang="en-US" dirty="0"/>
              <a:t>e.g. how many tornadoes in Minnesota compared to entire Midwest? (30% in </a:t>
            </a:r>
            <a:r>
              <a:rPr lang="en-US" dirty="0" err="1"/>
              <a:t>Minn</a:t>
            </a:r>
            <a:r>
              <a:rPr lang="en-US" dirty="0"/>
              <a:t> vs 20% in Midwest).</a:t>
            </a:r>
          </a:p>
          <a:p>
            <a:endParaRPr lang="en-US" dirty="0"/>
          </a:p>
          <a:p>
            <a:r>
              <a:rPr lang="en-US" dirty="0"/>
              <a:t>When is this useful?</a:t>
            </a:r>
          </a:p>
          <a:p>
            <a:r>
              <a:rPr lang="en-US" dirty="0"/>
              <a:t>It’s a form of hotspot analysis – when is something happening more often in a certain area.</a:t>
            </a:r>
          </a:p>
          <a:p>
            <a:r>
              <a:rPr lang="en-US" dirty="0"/>
              <a:t>Severe vs mild disease maps.</a:t>
            </a:r>
          </a:p>
          <a:p>
            <a:r>
              <a:rPr lang="en-US" dirty="0"/>
              <a:t>% of trees with an insect infection in a subarea compared to larger region.</a:t>
            </a:r>
          </a:p>
          <a:p>
            <a:endParaRPr lang="en-US" dirty="0"/>
          </a:p>
          <a:p>
            <a:r>
              <a:rPr lang="en-US" dirty="0"/>
              <a:t>e.g. 41% of stores are FD, but in each grid you’ve just created the % will be different.</a:t>
            </a:r>
          </a:p>
          <a:p>
            <a:endParaRPr lang="en-US" dirty="0"/>
          </a:p>
          <a:p>
            <a:r>
              <a:rPr lang="en-US" dirty="0"/>
              <a:t>LQ &lt; 1 means the rate is lower than the region average.</a:t>
            </a:r>
          </a:p>
          <a:p>
            <a:r>
              <a:rPr lang="en-US" dirty="0"/>
              <a:t>LQ &gt; 1 means the rate is higher than the region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D42E2-8102-4E72-B8DC-BA8209884EC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018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MAUP:</a:t>
            </a:r>
          </a:p>
          <a:p>
            <a:r>
              <a:rPr lang="en-US" dirty="0"/>
              <a:t>Gerry-</a:t>
            </a:r>
            <a:r>
              <a:rPr lang="en-US" dirty="0" err="1"/>
              <a:t>mandering</a:t>
            </a:r>
            <a:r>
              <a:rPr lang="en-US" dirty="0"/>
              <a:t> – you change the boundaries and get different results!</a:t>
            </a:r>
          </a:p>
          <a:p>
            <a:endParaRPr lang="en-US" dirty="0"/>
          </a:p>
          <a:p>
            <a:r>
              <a:rPr lang="en-US" dirty="0"/>
              <a:t>Where are the hotspots for </a:t>
            </a:r>
            <a:r>
              <a:rPr lang="en-US" dirty="0" err="1"/>
              <a:t>atl</a:t>
            </a:r>
            <a:r>
              <a:rPr lang="en-US" dirty="0"/>
              <a:t> metro area? People might get slightly different </a:t>
            </a:r>
            <a:r>
              <a:rPr lang="en-US"/>
              <a:t>answers because of MAUP.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D42E2-8102-4E72-B8DC-BA8209884EC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215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12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898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578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79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59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560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066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239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93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188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391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9932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11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910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54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521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616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3C8B963-0F36-48FC-991E-AA63861DA92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1790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DA1E6-0A9B-4FAD-9E42-B37B3CA5D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4917" y="3979334"/>
            <a:ext cx="9440034" cy="1828801"/>
          </a:xfrm>
        </p:spPr>
        <p:txBody>
          <a:bodyPr>
            <a:normAutofit/>
          </a:bodyPr>
          <a:lstStyle/>
          <a:p>
            <a:r>
              <a:rPr lang="en-US" dirty="0"/>
              <a:t>Week 5: Spatial data; Point pattern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6D1488-58DF-4A33-AC86-D6B690A68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4917" y="5808133"/>
            <a:ext cx="9440034" cy="1049867"/>
          </a:xfrm>
        </p:spPr>
        <p:txBody>
          <a:bodyPr>
            <a:normAutofit/>
          </a:bodyPr>
          <a:lstStyle/>
          <a:p>
            <a:r>
              <a:rPr lang="en-US" sz="3200" dirty="0"/>
              <a:t>Geog4300: Harper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225679-AC16-4112-B551-7FD0EDBB1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5449" y="0"/>
            <a:ext cx="5283115" cy="41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64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226503" y="167780"/>
            <a:ext cx="45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Point pattern analysis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F18F7E-6B87-4776-849F-EB88CF60DA92}"/>
              </a:ext>
            </a:extLst>
          </p:cNvPr>
          <p:cNvSpPr/>
          <p:nvPr/>
        </p:nvSpPr>
        <p:spPr>
          <a:xfrm>
            <a:off x="494951" y="1096753"/>
            <a:ext cx="5838737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How do we identify patterns in the distribution of point data?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Clustering and dispersion of point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Distribution of point incidents (disease, natural disasters, species, crime, etc.)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Relative frequency of subevents (strong tornadoes, particular disease variants, etc.)</a:t>
            </a:r>
          </a:p>
        </p:txBody>
      </p:sp>
      <p:pic>
        <p:nvPicPr>
          <p:cNvPr id="7" name="Shape 134" descr="Random Distribution of Points">
            <a:extLst>
              <a:ext uri="{FF2B5EF4-FFF2-40B4-BE49-F238E27FC236}">
                <a16:creationId xmlns:a16="http://schemas.microsoft.com/office/drawing/2014/main" id="{7F42CBDD-79A7-495D-B0BE-2A698D1264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68873" y="2505692"/>
            <a:ext cx="3194108" cy="2029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Shape 133" descr="Regular Distribution of Points">
            <a:extLst>
              <a:ext uri="{FF2B5EF4-FFF2-40B4-BE49-F238E27FC236}">
                <a16:creationId xmlns:a16="http://schemas.microsoft.com/office/drawing/2014/main" id="{DD58ECE0-EB30-4D44-A38A-4719E172025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8873" y="251900"/>
            <a:ext cx="3194108" cy="2029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Shape 135" descr="Clustered Distribution of Points">
            <a:extLst>
              <a:ext uri="{FF2B5EF4-FFF2-40B4-BE49-F238E27FC236}">
                <a16:creationId xmlns:a16="http://schemas.microsoft.com/office/drawing/2014/main" id="{66DB5254-E20F-4107-914E-7F53C9A1D5B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68873" y="4759483"/>
            <a:ext cx="3194108" cy="19971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6235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226503" y="167780"/>
            <a:ext cx="5477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Nearest Neighbor Index</a:t>
            </a:r>
          </a:p>
        </p:txBody>
      </p:sp>
      <p:pic>
        <p:nvPicPr>
          <p:cNvPr id="3" name="Shape 99" descr="Regular Distribution of Points">
            <a:extLst>
              <a:ext uri="{FF2B5EF4-FFF2-40B4-BE49-F238E27FC236}">
                <a16:creationId xmlns:a16="http://schemas.microsoft.com/office/drawing/2014/main" id="{399FC99A-4825-4BE9-91B5-A6C00CBE8A6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2217" y="3892492"/>
            <a:ext cx="3644315" cy="2498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Shape 100" descr="Random Distribution of Points">
            <a:extLst>
              <a:ext uri="{FF2B5EF4-FFF2-40B4-BE49-F238E27FC236}">
                <a16:creationId xmlns:a16="http://schemas.microsoft.com/office/drawing/2014/main" id="{F0F2D7D7-6779-4D36-B647-4F1CDA336AA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6503" y="3892492"/>
            <a:ext cx="3496811" cy="2498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Shape 101" descr="Clustered Distribution of Points">
            <a:extLst>
              <a:ext uri="{FF2B5EF4-FFF2-40B4-BE49-F238E27FC236}">
                <a16:creationId xmlns:a16="http://schemas.microsoft.com/office/drawing/2014/main" id="{42A03B3E-3D01-465D-98B2-69F74F61736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86319" y="3892492"/>
            <a:ext cx="3772949" cy="249876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7994403-C985-4737-B908-BDCB5C061047}"/>
                  </a:ext>
                </a:extLst>
              </p:cNvPr>
              <p:cNvSpPr txBox="1"/>
              <p:nvPr/>
            </p:nvSpPr>
            <p:spPr>
              <a:xfrm>
                <a:off x="2514506" y="1456002"/>
                <a:ext cx="7162987" cy="11489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𝐴𝑐𝑡𝑢𝑎𝑙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𝑎𝑣𝑒𝑟𝑎𝑔𝑒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𝑑𝑖𝑠𝑡𝑎𝑛𝑐𝑒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𝐷𝑖𝑠𝑡𝑎𝑛𝑐𝑒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𝑓𝑜𝑟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𝑟𝑎𝑛𝑑𝑜𝑚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𝑑𝑖𝑠𝑡𝑟𝑖𝑏𝑢𝑡𝑖𝑜𝑛</m:t>
                          </m:r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7994403-C985-4737-B908-BDCB5C061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506" y="1456002"/>
                <a:ext cx="7162987" cy="11489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99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226503" y="167780"/>
            <a:ext cx="20505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Quadrats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F18F7E-6B87-4776-849F-EB88CF60DA92}"/>
              </a:ext>
            </a:extLst>
          </p:cNvPr>
          <p:cNvSpPr/>
          <p:nvPr/>
        </p:nvSpPr>
        <p:spPr>
          <a:xfrm>
            <a:off x="494951" y="1096753"/>
            <a:ext cx="583873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Aggregating points to a </a:t>
            </a:r>
            <a:r>
              <a:rPr lang="en-US" sz="2800" dirty="0" err="1"/>
              <a:t>tessalated</a:t>
            </a:r>
            <a:r>
              <a:rPr lang="en-US" sz="2800" dirty="0"/>
              <a:t> grid, usually squares or hexagons</a:t>
            </a:r>
          </a:p>
        </p:txBody>
      </p:sp>
      <p:pic>
        <p:nvPicPr>
          <p:cNvPr id="14" name="Shape 199" descr="i3">
            <a:extLst>
              <a:ext uri="{FF2B5EF4-FFF2-40B4-BE49-F238E27FC236}">
                <a16:creationId xmlns:a16="http://schemas.microsoft.com/office/drawing/2014/main" id="{FC80FBA8-D3FC-426D-9DC4-E410117591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97086" y="650671"/>
            <a:ext cx="4868411" cy="483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2" descr="Image result for quadrats gis">
            <a:extLst>
              <a:ext uri="{FF2B5EF4-FFF2-40B4-BE49-F238E27FC236}">
                <a16:creationId xmlns:a16="http://schemas.microsoft.com/office/drawing/2014/main" id="{D9AE83B5-D7F8-4294-B5F4-F7C26E7C4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9353" y="2333502"/>
            <a:ext cx="4294841" cy="4294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3850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226503" y="167780"/>
            <a:ext cx="2463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Let’s try it!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F18F7E-6B87-4776-849F-EB88CF60DA92}"/>
              </a:ext>
            </a:extLst>
          </p:cNvPr>
          <p:cNvSpPr/>
          <p:nvPr/>
        </p:nvSpPr>
        <p:spPr>
          <a:xfrm>
            <a:off x="427838" y="814111"/>
            <a:ext cx="1057851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Dollar stores in Atlanta</a:t>
            </a:r>
          </a:p>
          <a:p>
            <a:r>
              <a:rPr lang="en-US" sz="2800" dirty="0"/>
              <a:t>Create a quadrat grid of 1.5 or 3 inch squares</a:t>
            </a:r>
          </a:p>
          <a:p>
            <a:r>
              <a:rPr lang="en-US" sz="2800" dirty="0"/>
              <a:t>Count the total stores for each chain in each grid cell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1298B3-8D26-49D4-B154-8FDEBFB8F9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493" y="2432623"/>
            <a:ext cx="6170427" cy="436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841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226503" y="167780"/>
            <a:ext cx="38074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Location quotient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F18F7E-6B87-4776-849F-EB88CF60DA92}"/>
              </a:ext>
            </a:extLst>
          </p:cNvPr>
          <p:cNvSpPr/>
          <p:nvPr/>
        </p:nvSpPr>
        <p:spPr>
          <a:xfrm>
            <a:off x="427839" y="814111"/>
            <a:ext cx="877488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Relative incidence of a particular event</a:t>
            </a:r>
          </a:p>
          <a:p>
            <a:r>
              <a:rPr lang="en-US" sz="2800" dirty="0"/>
              <a:t>Pick a chain and count just those points</a:t>
            </a:r>
          </a:p>
          <a:p>
            <a:r>
              <a:rPr lang="en-US" sz="2800" dirty="0"/>
              <a:t>What is the percentage of all stores for each grid cell?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276262-978E-463F-9DEC-F3F16540A5A8}"/>
              </a:ext>
            </a:extLst>
          </p:cNvPr>
          <p:cNvSpPr/>
          <p:nvPr/>
        </p:nvSpPr>
        <p:spPr>
          <a:xfrm>
            <a:off x="381790" y="4549316"/>
            <a:ext cx="504178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i="1" dirty="0"/>
              <a:t>For the whole area: </a:t>
            </a:r>
          </a:p>
          <a:p>
            <a:r>
              <a:rPr lang="en-US" sz="2800" dirty="0"/>
              <a:t>Dollar General: 31% (93/305)</a:t>
            </a:r>
          </a:p>
          <a:p>
            <a:r>
              <a:rPr lang="en-US" sz="2800" dirty="0"/>
              <a:t>Dollar Tree: 28% (86/305)</a:t>
            </a:r>
          </a:p>
          <a:p>
            <a:r>
              <a:rPr lang="en-US" sz="2800" dirty="0"/>
              <a:t>Family Dollar: 41% (126/305)</a:t>
            </a:r>
          </a:p>
          <a:p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BE6686A-68B2-4197-A7C2-D89CFFCCEBAA}"/>
                  </a:ext>
                </a:extLst>
              </p:cNvPr>
              <p:cNvSpPr/>
              <p:nvPr/>
            </p:nvSpPr>
            <p:spPr>
              <a:xfrm>
                <a:off x="873126" y="2717957"/>
                <a:ext cx="3142527" cy="10649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𝐿𝑄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𝑝𝑐𝑡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𝑠𝑢𝑏𝑎𝑟𝑒𝑎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𝑝𝑐𝑡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𝑎𝑟𝑒𝑎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BE6686A-68B2-4197-A7C2-D89CFFCCEB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126" y="2717957"/>
                <a:ext cx="3142527" cy="10649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EA817E69-CAB7-4843-BED1-8D4B2680E5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6260" y="2432623"/>
            <a:ext cx="6170427" cy="436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983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226503" y="167780"/>
            <a:ext cx="74286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The Modifiable Areal Unit Problem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F18F7E-6B87-4776-849F-EB88CF60DA92}"/>
              </a:ext>
            </a:extLst>
          </p:cNvPr>
          <p:cNvSpPr/>
          <p:nvPr/>
        </p:nvSpPr>
        <p:spPr>
          <a:xfrm>
            <a:off x="427838" y="814111"/>
            <a:ext cx="111070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How did our quadrat maps vary?</a:t>
            </a:r>
          </a:p>
        </p:txBody>
      </p:sp>
      <p:pic>
        <p:nvPicPr>
          <p:cNvPr id="5" name="Shape 237" descr="http://openi.nlm.nih.gov/imgs/rescaled512/2872318_ijerph-07-01002f2.png">
            <a:extLst>
              <a:ext uri="{FF2B5EF4-FFF2-40B4-BE49-F238E27FC236}">
                <a16:creationId xmlns:a16="http://schemas.microsoft.com/office/drawing/2014/main" id="{BCCD4620-31DB-4BCC-B32E-E1A8C8C940F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56475" y="0"/>
            <a:ext cx="4335525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6718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226503" y="167780"/>
            <a:ext cx="26965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Mean center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F18F7E-6B87-4776-849F-EB88CF60DA92}"/>
              </a:ext>
            </a:extLst>
          </p:cNvPr>
          <p:cNvSpPr/>
          <p:nvPr/>
        </p:nvSpPr>
        <p:spPr>
          <a:xfrm>
            <a:off x="427838" y="814111"/>
            <a:ext cx="1110702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What is the average X/Y coordinate of each point?</a:t>
            </a:r>
          </a:p>
          <a:p>
            <a:r>
              <a:rPr lang="en-US" sz="2400" dirty="0"/>
              <a:t>Open the </a:t>
            </a:r>
            <a:r>
              <a:rPr lang="en-US" sz="2400" dirty="0" err="1"/>
              <a:t>dollarstores_atlcore</a:t>
            </a:r>
            <a:r>
              <a:rPr lang="en-US" sz="2400" dirty="0"/>
              <a:t> CSV file in Excel/Sheets (file is in the repo)</a:t>
            </a:r>
          </a:p>
          <a:p>
            <a:r>
              <a:rPr lang="en-US" sz="2400" dirty="0"/>
              <a:t>What’s the mean X and Y coordinate for each store chain?</a:t>
            </a:r>
          </a:p>
          <a:p>
            <a:r>
              <a:rPr lang="en-US" sz="2400" dirty="0"/>
              <a:t>Where are each of those points located?</a:t>
            </a:r>
          </a:p>
          <a:p>
            <a:r>
              <a:rPr lang="en-US" sz="2400" dirty="0"/>
              <a:t>What does this mean?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2E7C25-1594-4031-A337-CD6C2A986A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183" y="2799436"/>
            <a:ext cx="5198312" cy="386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717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0C5AC6-DA52-7E39-FD9B-D3110E7CA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26027"/>
            <a:ext cx="7772400" cy="600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468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5927" y="155081"/>
            <a:ext cx="7943068" cy="748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ct val="25000"/>
            </a:pPr>
            <a:r>
              <a:rPr lang="en-US" sz="4267" dirty="0">
                <a:latin typeface="Calisto MT" panose="02040603050505030304" pitchFamily="18" charset="0"/>
                <a:ea typeface="Gill Sans MT"/>
                <a:cs typeface="Arial" panose="020B0604020202020204" pitchFamily="34" charset="0"/>
                <a:sym typeface="Gill Sans MT"/>
              </a:rPr>
              <a:t>Kernel density estimation</a:t>
            </a:r>
          </a:p>
        </p:txBody>
      </p:sp>
      <p:pic>
        <p:nvPicPr>
          <p:cNvPr id="1026" name="Picture 2" descr="http://up206a.yohman.com/wp-content/uploads/2012/12/DAYViolenceSF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4920" y="1181448"/>
            <a:ext cx="5716669" cy="5373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5210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5927" y="155081"/>
            <a:ext cx="7943068" cy="748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ct val="25000"/>
            </a:pPr>
            <a:r>
              <a:rPr lang="en-US" sz="4267" dirty="0">
                <a:latin typeface="Calisto MT" panose="02040603050505030304" pitchFamily="18" charset="0"/>
                <a:ea typeface="Gill Sans MT"/>
                <a:cs typeface="Arial" panose="020B0604020202020204" pitchFamily="34" charset="0"/>
                <a:sym typeface="Gill Sans MT"/>
              </a:rPr>
              <a:t>Kernel density estimation</a:t>
            </a:r>
          </a:p>
        </p:txBody>
      </p:sp>
      <p:pic>
        <p:nvPicPr>
          <p:cNvPr id="2050" name="Picture 2" descr="Comparison of the histogram (left) and kernel density estimate (right) constructed using the same data. The 6 individual kernels are the red dashed curves, the kernel density estimate the blue curves. The data points are the rug plot on the horizontal axi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3836" y="3270826"/>
            <a:ext cx="6760633" cy="3380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 result for kernel den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198" y="1497638"/>
            <a:ext cx="3670300" cy="295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1281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5927" y="155082"/>
            <a:ext cx="9907571" cy="748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ct val="25000"/>
            </a:pPr>
            <a:r>
              <a:rPr lang="en-US" sz="4267" dirty="0">
                <a:latin typeface="+mj-lt"/>
                <a:ea typeface="Gill Sans MT"/>
                <a:cs typeface="Arial" panose="020B0604020202020204" pitchFamily="34" charset="0"/>
                <a:sym typeface="Gill Sans MT"/>
              </a:rPr>
              <a:t>Problems with kernel density estimation</a:t>
            </a:r>
          </a:p>
        </p:txBody>
      </p:sp>
      <p:pic>
        <p:nvPicPr>
          <p:cNvPr id="3074" name="Picture 2" descr="Image result for popcorn kernel density ma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1920" y="3713700"/>
            <a:ext cx="5412739" cy="2584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mage result for cedar rapids kernel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64" y="3405027"/>
            <a:ext cx="4948725" cy="3255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hape 198"/>
          <p:cNvSpPr/>
          <p:nvPr/>
        </p:nvSpPr>
        <p:spPr>
          <a:xfrm>
            <a:off x="922985" y="1036044"/>
            <a:ext cx="8698300" cy="267765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733" dirty="0">
                <a:latin typeface="Calisto MT" panose="02040603050505030304" pitchFamily="18" charset="0"/>
                <a:ea typeface="Gill Sans MT"/>
                <a:cs typeface="Gill Sans MT"/>
                <a:sym typeface="Gill Sans MT"/>
              </a:rPr>
              <a:t>Fuzzy estimates rather than precise points</a:t>
            </a:r>
          </a:p>
          <a:p>
            <a:pPr>
              <a:buSzPct val="25000"/>
            </a:pPr>
            <a:r>
              <a:rPr lang="en-US" sz="3733" dirty="0">
                <a:latin typeface="Calisto MT" panose="02040603050505030304" pitchFamily="18" charset="0"/>
                <a:ea typeface="Gill Sans MT"/>
                <a:cs typeface="Gill Sans MT"/>
                <a:sym typeface="Gill Sans MT"/>
              </a:rPr>
              <a:t>Influential outliers</a:t>
            </a:r>
          </a:p>
        </p:txBody>
      </p:sp>
    </p:spTree>
    <p:extLst>
      <p:ext uri="{BB962C8B-B14F-4D97-AF65-F5344CB8AC3E}">
        <p14:creationId xmlns:p14="http://schemas.microsoft.com/office/powerpoint/2010/main" val="3064604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226503" y="167780"/>
            <a:ext cx="13163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Lab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F18F7E-6B87-4776-849F-EB88CF60DA92}"/>
              </a:ext>
            </a:extLst>
          </p:cNvPr>
          <p:cNvSpPr/>
          <p:nvPr/>
        </p:nvSpPr>
        <p:spPr>
          <a:xfrm>
            <a:off x="427838" y="814111"/>
            <a:ext cx="1110702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Mapping reported crime in Spokane, WA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Mean centers by type of offense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Calculating crime rates by precinct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Calculating the LQ for burglaries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Bonus: Creating a quadrat map</a:t>
            </a:r>
          </a:p>
        </p:txBody>
      </p:sp>
    </p:spTree>
    <p:extLst>
      <p:ext uri="{BB962C8B-B14F-4D97-AF65-F5344CB8AC3E}">
        <p14:creationId xmlns:p14="http://schemas.microsoft.com/office/powerpoint/2010/main" val="24575079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440</TotalTime>
  <Words>605</Words>
  <Application>Microsoft Office PowerPoint</Application>
  <PresentationFormat>Widescreen</PresentationFormat>
  <Paragraphs>88</Paragraphs>
  <Slides>13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Calisto MT</vt:lpstr>
      <vt:lpstr>Cambria Math</vt:lpstr>
      <vt:lpstr>Wingdings</vt:lpstr>
      <vt:lpstr>Wingdings 2</vt:lpstr>
      <vt:lpstr>Slate</vt:lpstr>
      <vt:lpstr>Week 5: Spatial data; Point pattern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3: Descriptive statistics</dc:title>
  <dc:creator>Jerry Shannon</dc:creator>
  <cp:lastModifiedBy>Jerry Shannon</cp:lastModifiedBy>
  <cp:revision>38</cp:revision>
  <dcterms:created xsi:type="dcterms:W3CDTF">2021-09-02T15:10:57Z</dcterms:created>
  <dcterms:modified xsi:type="dcterms:W3CDTF">2026-08-20T14:32:19Z</dcterms:modified>
</cp:coreProperties>
</file>