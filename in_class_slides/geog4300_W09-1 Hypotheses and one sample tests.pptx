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95" r:id="rId4"/>
    <p:sldId id="318" r:id="rId5"/>
    <p:sldId id="319" r:id="rId6"/>
    <p:sldId id="297" r:id="rId7"/>
    <p:sldId id="269" r:id="rId8"/>
    <p:sldId id="317" r:id="rId9"/>
    <p:sldId id="305" r:id="rId10"/>
    <p:sldId id="320" r:id="rId11"/>
    <p:sldId id="298" r:id="rId12"/>
    <p:sldId id="321" r:id="rId13"/>
    <p:sldId id="299" r:id="rId14"/>
    <p:sldId id="304" r:id="rId15"/>
    <p:sldId id="296" r:id="rId16"/>
    <p:sldId id="322" r:id="rId17"/>
    <p:sldId id="323" r:id="rId18"/>
    <p:sldId id="306" r:id="rId19"/>
    <p:sldId id="307" r:id="rId20"/>
    <p:sldId id="302" r:id="rId21"/>
    <p:sldId id="315" r:id="rId22"/>
    <p:sldId id="316" r:id="rId23"/>
    <p:sldId id="314" r:id="rId24"/>
    <p:sldId id="308" r:id="rId25"/>
    <p:sldId id="309" r:id="rId26"/>
    <p:sldId id="310" r:id="rId27"/>
    <p:sldId id="311" r:id="rId28"/>
    <p:sldId id="312" r:id="rId29"/>
    <p:sldId id="313" r:id="rId30"/>
    <p:sldId id="300" r:id="rId31"/>
    <p:sldId id="324" r:id="rId32"/>
    <p:sldId id="325" r:id="rId33"/>
    <p:sldId id="326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13" autoAdjust="0"/>
    <p:restoredTop sz="96197"/>
  </p:normalViewPr>
  <p:slideViewPr>
    <p:cSldViewPr snapToGrid="0">
      <p:cViewPr varScale="1">
        <p:scale>
          <a:sx n="109" d="100"/>
          <a:sy n="109" d="100"/>
        </p:scale>
        <p:origin x="18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23026-85D4-48E8-9219-18000F68802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D42E2-8102-4E72-B8DC-BA8209884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9256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3331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7264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712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2492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2984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7691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382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885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2006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5565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118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403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02036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48337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33676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13542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02927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9812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99533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51699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1724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97770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3794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1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7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9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3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8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93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1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54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9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917" y="3979334"/>
            <a:ext cx="9440034" cy="1828801"/>
          </a:xfrm>
        </p:spPr>
        <p:txBody>
          <a:bodyPr>
            <a:normAutofit/>
          </a:bodyPr>
          <a:lstStyle/>
          <a:p>
            <a:r>
              <a:rPr lang="en-US" dirty="0"/>
              <a:t>Week 9: Tests of difference; Midterm reflections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917" y="5808133"/>
            <a:ext cx="9440034" cy="1049867"/>
          </a:xfrm>
        </p:spPr>
        <p:txBody>
          <a:bodyPr>
            <a:normAutofit/>
          </a:bodyPr>
          <a:lstStyle/>
          <a:p>
            <a:r>
              <a:rPr lang="en-US" sz="3200" dirty="0"/>
              <a:t>Geog4300: Harper</a:t>
            </a:r>
          </a:p>
        </p:txBody>
      </p:sp>
      <p:pic>
        <p:nvPicPr>
          <p:cNvPr id="5" name="Shape 121" descr="http://my.execpc.com/~helberg/pitfalls/power.GIF">
            <a:extLst>
              <a:ext uri="{FF2B5EF4-FFF2-40B4-BE49-F238E27FC236}">
                <a16:creationId xmlns:a16="http://schemas.microsoft.com/office/drawing/2014/main" id="{4AE21C7F-A5FA-4EE9-A71D-1365A637BE0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06144" y="357231"/>
            <a:ext cx="4579712" cy="3434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2251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This week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F41FE-C35C-4ABD-80FC-79A98E493CED}"/>
              </a:ext>
            </a:extLst>
          </p:cNvPr>
          <p:cNvSpPr/>
          <p:nvPr/>
        </p:nvSpPr>
        <p:spPr>
          <a:xfrm>
            <a:off x="538528" y="814111"/>
            <a:ext cx="108872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Hypothesis testing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One- and two-sample tests of difference</a:t>
            </a:r>
          </a:p>
        </p:txBody>
      </p:sp>
    </p:spTree>
    <p:extLst>
      <p:ext uri="{BB962C8B-B14F-4D97-AF65-F5344CB8AC3E}">
        <p14:creationId xmlns:p14="http://schemas.microsoft.com/office/powerpoint/2010/main" val="3926810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6" y="253767"/>
            <a:ext cx="5404204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Ingredients of classical hypothesis testing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3DC1E106-D16E-FD3D-A494-FB188A31F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972" y="0"/>
            <a:ext cx="5302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7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AA871-6CBD-627E-43BD-B3CC1BF3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A01F4-EC19-DF86-758F-5A2D790D3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Shape 103">
            <a:extLst>
              <a:ext uri="{FF2B5EF4-FFF2-40B4-BE49-F238E27FC236}">
                <a16:creationId xmlns:a16="http://schemas.microsoft.com/office/drawing/2014/main" id="{D8E98D09-88C8-C2FE-F80F-9E773220642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047" y="2676675"/>
            <a:ext cx="4076749" cy="15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hape 104">
            <a:extLst>
              <a:ext uri="{FF2B5EF4-FFF2-40B4-BE49-F238E27FC236}">
                <a16:creationId xmlns:a16="http://schemas.microsoft.com/office/drawing/2014/main" id="{CA9AA19F-EB7C-4A54-D5D9-27AD677916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5705" y="2676675"/>
            <a:ext cx="4153324" cy="27148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340418-D3E3-6C8E-8187-0DCC205DCD10}"/>
              </a:ext>
            </a:extLst>
          </p:cNvPr>
          <p:cNvSpPr txBox="1"/>
          <p:nvPr/>
        </p:nvSpPr>
        <p:spPr>
          <a:xfrm>
            <a:off x="766790" y="4468194"/>
            <a:ext cx="4882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Focuses on the assumption that no differences exist.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Involves an = sign.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53D115-89BA-575D-745D-3C9BA2A84C2E}"/>
              </a:ext>
            </a:extLst>
          </p:cNvPr>
          <p:cNvSpPr txBox="1"/>
          <p:nvPr/>
        </p:nvSpPr>
        <p:spPr>
          <a:xfrm>
            <a:off x="8932610" y="3761824"/>
            <a:ext cx="223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Two-tailed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56F5D-E5A7-D7F0-59DC-FB4A07FEC4C1}"/>
              </a:ext>
            </a:extLst>
          </p:cNvPr>
          <p:cNvSpPr txBox="1"/>
          <p:nvPr/>
        </p:nvSpPr>
        <p:spPr>
          <a:xfrm>
            <a:off x="8932610" y="4508395"/>
            <a:ext cx="223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One-tailed test</a:t>
            </a:r>
          </a:p>
        </p:txBody>
      </p:sp>
    </p:spTree>
    <p:extLst>
      <p:ext uri="{BB962C8B-B14F-4D97-AF65-F5344CB8AC3E}">
        <p14:creationId xmlns:p14="http://schemas.microsoft.com/office/powerpoint/2010/main" val="2234350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BB351-15C2-F1A0-1A9D-045E17FC6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414F-F76A-5296-ECE0-FF01F467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3139B-A7C5-EC06-B1F5-1ABC74EED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979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>
                <a:ea typeface="Gill Sans MT"/>
                <a:cs typeface="Gill Sans MT"/>
                <a:sym typeface="Gill Sans MT"/>
              </a:rPr>
              <a:t>Tests of difference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552257" y="861861"/>
            <a:ext cx="1016416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What is the specific purpose of this test? When would you use it rather than another one?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One sample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 sample t-test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 sample </a:t>
            </a:r>
            <a:r>
              <a:rPr lang="en-US" sz="2800" u="sng" dirty="0"/>
              <a:t>paired</a:t>
            </a:r>
            <a:r>
              <a:rPr lang="en-US" sz="2800" dirty="0"/>
              <a:t>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Non-parametric (Wilcoxon)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Difference test between two proportions</a:t>
            </a:r>
          </a:p>
        </p:txBody>
      </p:sp>
    </p:spTree>
    <p:extLst>
      <p:ext uri="{BB962C8B-B14F-4D97-AF65-F5344CB8AC3E}">
        <p14:creationId xmlns:p14="http://schemas.microsoft.com/office/powerpoint/2010/main" val="127034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a typeface="Gill Sans MT"/>
                <a:cs typeface="Gill Sans MT"/>
                <a:sym typeface="Gill Sans MT"/>
              </a:rPr>
              <a:t>Tests of difference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552257" y="861861"/>
            <a:ext cx="3300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Is there a difference?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B346CA-0C4A-4799-9F7F-E0258BF65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964" y="2060033"/>
            <a:ext cx="9166223" cy="42679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>
                <a:ea typeface="Gill Sans MT"/>
                <a:cs typeface="Gill Sans MT"/>
                <a:sym typeface="Gill Sans MT"/>
              </a:rPr>
              <a:t>One sample t-test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552257" y="861861"/>
            <a:ext cx="1016416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Example: Are oak trees in our area (n=28) the same age as those throughout the state?</a:t>
            </a:r>
          </a:p>
          <a:p>
            <a:endParaRPr lang="en-US" sz="2800" dirty="0"/>
          </a:p>
          <a:p>
            <a:r>
              <a:rPr lang="en-US" sz="2800" dirty="0"/>
              <a:t>Sample area:</a:t>
            </a:r>
          </a:p>
          <a:p>
            <a:r>
              <a:rPr lang="en-US" sz="2800" dirty="0"/>
              <a:t>	Mean age: 65 years			Standard deviation: 7.3 years</a:t>
            </a:r>
          </a:p>
          <a:p>
            <a:endParaRPr lang="en-US" sz="2800" dirty="0"/>
          </a:p>
          <a:p>
            <a:r>
              <a:rPr lang="en-US" sz="2800" dirty="0"/>
              <a:t>State: </a:t>
            </a:r>
          </a:p>
          <a:p>
            <a:r>
              <a:rPr lang="en-US" sz="2800" dirty="0"/>
              <a:t>	Mean age: 57 years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/>
              <p:nvPr/>
            </p:nvSpPr>
            <p:spPr>
              <a:xfrm>
                <a:off x="1182849" y="4937988"/>
                <a:ext cx="2431884" cy="1533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849" y="4937988"/>
                <a:ext cx="2431884" cy="1533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6EC6C9-C73C-438A-AD9A-33BA97D19785}"/>
              </a:ext>
            </a:extLst>
          </p:cNvPr>
          <p:cNvCxnSpPr>
            <a:cxnSpLocks/>
          </p:cNvCxnSpPr>
          <p:nvPr/>
        </p:nvCxnSpPr>
        <p:spPr>
          <a:xfrm flipH="1">
            <a:off x="3671614" y="4583162"/>
            <a:ext cx="2097938" cy="100352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66D51ED-9670-4976-9834-8DB17E6BFB09}"/>
              </a:ext>
            </a:extLst>
          </p:cNvPr>
          <p:cNvSpPr txBox="1"/>
          <p:nvPr/>
        </p:nvSpPr>
        <p:spPr>
          <a:xfrm>
            <a:off x="5883312" y="3429000"/>
            <a:ext cx="5014451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How many standard errors is the sample mean from the population mean?</a:t>
            </a:r>
          </a:p>
        </p:txBody>
      </p:sp>
    </p:spTree>
    <p:extLst>
      <p:ext uri="{BB962C8B-B14F-4D97-AF65-F5344CB8AC3E}">
        <p14:creationId xmlns:p14="http://schemas.microsoft.com/office/powerpoint/2010/main" val="22052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a typeface="Gill Sans MT"/>
                <a:cs typeface="Gill Sans MT"/>
                <a:sym typeface="Gill Sans MT"/>
              </a:rPr>
              <a:t>One sample t-test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552257" y="861861"/>
            <a:ext cx="1016416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Example: Are oak trees in our area (n=28) the same age as those throughout the state?</a:t>
            </a:r>
          </a:p>
          <a:p>
            <a:endParaRPr lang="en-US" sz="2800" dirty="0"/>
          </a:p>
          <a:p>
            <a:r>
              <a:rPr lang="en-US" sz="2800" dirty="0"/>
              <a:t>Sample area:</a:t>
            </a:r>
          </a:p>
          <a:p>
            <a:r>
              <a:rPr lang="en-US" sz="2800" dirty="0"/>
              <a:t>	Mean age: 65 years			Standard deviation: 7.3 years</a:t>
            </a:r>
          </a:p>
          <a:p>
            <a:endParaRPr lang="en-US" sz="2800" dirty="0"/>
          </a:p>
          <a:p>
            <a:r>
              <a:rPr lang="en-US" sz="2800" dirty="0"/>
              <a:t>State: </a:t>
            </a:r>
          </a:p>
          <a:p>
            <a:r>
              <a:rPr lang="en-US" sz="2800" dirty="0"/>
              <a:t>	Mean age: 57 years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/>
              <p:nvPr/>
            </p:nvSpPr>
            <p:spPr>
              <a:xfrm>
                <a:off x="1182849" y="4937988"/>
                <a:ext cx="2431884" cy="1533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849" y="4937988"/>
                <a:ext cx="2431884" cy="1533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D1972E-BF4E-EE67-206F-B1AE5E4CA2B7}"/>
                  </a:ext>
                </a:extLst>
              </p:cNvPr>
              <p:cNvSpPr txBox="1"/>
              <p:nvPr/>
            </p:nvSpPr>
            <p:spPr>
              <a:xfrm>
                <a:off x="5236689" y="4171432"/>
                <a:ext cx="5887959" cy="1100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4000" b="0" i="1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65 −57</m:t>
                        </m:r>
                      </m:num>
                      <m:den>
                        <m:f>
                          <m:fPr>
                            <m:type m:val="skw"/>
                            <m:ctrlPr>
                              <a:rPr lang="en-US" sz="4000" b="0" i="1" smtClean="0">
                                <a:solidFill>
                                  <a:schemeClr val="accent1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0" i="1" smtClean="0">
                                <a:solidFill>
                                  <a:schemeClr val="accent1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7.3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4000" b="0" i="1" smtClean="0">
                                    <a:solidFill>
                                      <a:schemeClr val="accent1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4000" b="0" i="1" smtClean="0">
                                    <a:solidFill>
                                      <a:schemeClr val="accent1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sz="4000" b="0" i="1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−8</m:t>
                        </m:r>
                      </m:num>
                      <m:den>
                        <m: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1.3796</m:t>
                        </m:r>
                      </m:den>
                    </m:f>
                    <m:r>
                      <a:rPr lang="en-US" sz="4000" b="0" i="1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=−5.8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D1972E-BF4E-EE67-206F-B1AE5E4CA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689" y="4171432"/>
                <a:ext cx="5887959" cy="11007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3262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3A504-F633-0EEC-99D2-3F9625568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AC83-330D-113E-4C64-9277E3B4A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E7EC3-37C4-B133-CC88-8105E8594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level of significance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243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a typeface="Gill Sans MT"/>
                <a:cs typeface="Gill Sans MT"/>
                <a:sym typeface="Gill Sans MT"/>
              </a:rPr>
              <a:t>Select level of significance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pic>
        <p:nvPicPr>
          <p:cNvPr id="4" name="Shape 153" descr="http://www.biochemia-medica.com/sites/default/files/Marusteri_M._Statistical_test_selection_when_comparing_groups_Fig._3.jpg">
            <a:extLst>
              <a:ext uri="{FF2B5EF4-FFF2-40B4-BE49-F238E27FC236}">
                <a16:creationId xmlns:a16="http://schemas.microsoft.com/office/drawing/2014/main" id="{F77A2C1E-7756-44BD-9939-354C512333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9810" y="2140473"/>
            <a:ext cx="6567738" cy="453061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7441C5-4496-43B4-8C0B-7E4EF33586AA}"/>
              </a:ext>
            </a:extLst>
          </p:cNvPr>
          <p:cNvSpPr/>
          <p:nvPr/>
        </p:nvSpPr>
        <p:spPr>
          <a:xfrm>
            <a:off x="545234" y="2140473"/>
            <a:ext cx="442626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P &lt; 0.05:</a:t>
            </a:r>
          </a:p>
          <a:p>
            <a:endParaRPr lang="en-US" sz="2800" dirty="0"/>
          </a:p>
          <a:p>
            <a:r>
              <a:rPr lang="en-US" sz="2800" dirty="0"/>
              <a:t>The probability that this sample comes from a population in which the two means are equal is less than 5%</a:t>
            </a:r>
          </a:p>
        </p:txBody>
      </p:sp>
    </p:spTree>
    <p:extLst>
      <p:ext uri="{BB962C8B-B14F-4D97-AF65-F5344CB8AC3E}">
        <p14:creationId xmlns:p14="http://schemas.microsoft.com/office/powerpoint/2010/main" val="789215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8891-6880-885C-080F-2388AEA1D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36766-EC03-7A13-656F-CB8C6FCD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A7800-9B92-C341-EB7C-1E82A0041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level of significance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Delineate regions of rejection and non-rejection of the null hypothesis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420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64982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Delineate regions of rejection / non-rejection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449333" y="2070175"/>
            <a:ext cx="629242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/>
          </a:p>
          <a:p>
            <a:r>
              <a:rPr lang="en-US" sz="2800" b="1" dirty="0"/>
              <a:t>Degrees of freedom: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One sample test: n-1 (24 in our case)</a:t>
            </a:r>
          </a:p>
          <a:p>
            <a:pPr lvl="0"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 lvl="0"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b="1" dirty="0"/>
              <a:t>Critical value: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Based on confidence level (alpha) and </a:t>
            </a:r>
            <a:r>
              <a:rPr lang="en-US" sz="2800" dirty="0" err="1">
                <a:ea typeface="Gill Sans MT"/>
                <a:cs typeface="Gill Sans MT"/>
                <a:sym typeface="Gill Sans MT"/>
              </a:rPr>
              <a:t>df</a:t>
            </a:r>
            <a:endParaRPr lang="en-US" sz="2800" dirty="0">
              <a:ea typeface="Gill Sans MT"/>
              <a:cs typeface="Gill Sans MT"/>
              <a:sym typeface="Gill Sans MT"/>
            </a:endParaRPr>
          </a:p>
          <a:p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76EA96-E7C3-49FE-8148-26FB35F7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47" y="-1"/>
            <a:ext cx="5054353" cy="685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97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449333" y="2035975"/>
            <a:ext cx="629242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/>
          </a:p>
          <a:p>
            <a:r>
              <a:rPr lang="en-US" sz="2800" b="1" dirty="0"/>
              <a:t>Degrees of freedom: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One sample test: n-1 (24 in our case)</a:t>
            </a:r>
          </a:p>
          <a:p>
            <a:pPr lvl="0"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b="1" dirty="0"/>
              <a:t>Critical value: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Based on confidence level (alpha) and </a:t>
            </a:r>
            <a:r>
              <a:rPr lang="en-US" sz="2800" dirty="0" err="1">
                <a:ea typeface="Gill Sans MT"/>
                <a:cs typeface="Gill Sans MT"/>
                <a:sym typeface="Gill Sans MT"/>
              </a:rPr>
              <a:t>df</a:t>
            </a:r>
            <a:endParaRPr lang="en-US" sz="2800" dirty="0">
              <a:ea typeface="Gill Sans MT"/>
              <a:cs typeface="Gill Sans MT"/>
              <a:sym typeface="Gill Sans MT"/>
            </a:endParaRPr>
          </a:p>
          <a:p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76EA96-E7C3-49FE-8148-26FB35F7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47" y="-1"/>
            <a:ext cx="5054353" cy="68566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205293-1399-BE51-D550-8629D2FF6FFB}"/>
              </a:ext>
            </a:extLst>
          </p:cNvPr>
          <p:cNvSpPr/>
          <p:nvPr/>
        </p:nvSpPr>
        <p:spPr>
          <a:xfrm>
            <a:off x="9170126" y="5048723"/>
            <a:ext cx="357051" cy="148046"/>
          </a:xfrm>
          <a:prstGeom prst="rect">
            <a:avLst/>
          </a:prstGeom>
          <a:solidFill>
            <a:srgbClr val="BC451B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4B9E33-607B-ADA3-25EA-F896ADD8D9E2}"/>
              </a:ext>
            </a:extLst>
          </p:cNvPr>
          <p:cNvCxnSpPr>
            <a:cxnSpLocks/>
          </p:cNvCxnSpPr>
          <p:nvPr/>
        </p:nvCxnSpPr>
        <p:spPr>
          <a:xfrm>
            <a:off x="5054354" y="4724400"/>
            <a:ext cx="4115772" cy="44188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4E09D01-F474-B998-4EC3-80A032AF710D}"/>
              </a:ext>
            </a:extLst>
          </p:cNvPr>
          <p:cNvSpPr/>
          <p:nvPr/>
        </p:nvSpPr>
        <p:spPr>
          <a:xfrm>
            <a:off x="346408" y="283244"/>
            <a:ext cx="64982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Delineate regions of rejection / non-rejection</a:t>
            </a:r>
          </a:p>
        </p:txBody>
      </p:sp>
    </p:spTree>
    <p:extLst>
      <p:ext uri="{BB962C8B-B14F-4D97-AF65-F5344CB8AC3E}">
        <p14:creationId xmlns:p14="http://schemas.microsoft.com/office/powerpoint/2010/main" val="3562080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6" y="253767"/>
            <a:ext cx="7894040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Reject or fail to reject?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D516A0-E7F0-4BE5-B2C9-019EEC54CF54}"/>
              </a:ext>
            </a:extLst>
          </p:cNvPr>
          <p:cNvSpPr/>
          <p:nvPr/>
        </p:nvSpPr>
        <p:spPr>
          <a:xfrm>
            <a:off x="536895" y="990280"/>
            <a:ext cx="1132513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Based on test results, we </a:t>
            </a:r>
            <a:r>
              <a:rPr lang="en-US" sz="3600" b="1" i="1" dirty="0">
                <a:solidFill>
                  <a:srgbClr val="FFC000"/>
                </a:solidFill>
              </a:rPr>
              <a:t>reject</a:t>
            </a:r>
            <a:r>
              <a:rPr lang="en-US" sz="3600" b="1" i="1" dirty="0"/>
              <a:t> </a:t>
            </a:r>
            <a:r>
              <a:rPr lang="en-US" sz="3600" dirty="0"/>
              <a:t>or </a:t>
            </a:r>
            <a:r>
              <a:rPr lang="en-US" sz="3600" b="1" i="1" dirty="0">
                <a:solidFill>
                  <a:srgbClr val="FFC000"/>
                </a:solidFill>
              </a:rPr>
              <a:t>fail to reject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/>
              <a:t>the null hypothesis.</a:t>
            </a:r>
          </a:p>
          <a:p>
            <a:endParaRPr lang="en-US" sz="3600" dirty="0"/>
          </a:p>
          <a:p>
            <a:r>
              <a:rPr lang="en-US" sz="3600" dirty="0"/>
              <a:t>We don’t prove or disprove it, but show it is likely or unlikely to be true.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4C960-41A8-4697-835A-DC13BB9B44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91"/>
          <a:stretch/>
        </p:blipFill>
        <p:spPr>
          <a:xfrm>
            <a:off x="5898226" y="3852602"/>
            <a:ext cx="5963806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97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ED8D2-0AB3-1692-BFF6-098D210A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DC62-446A-50C3-7139-FE8CAEC8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F3CE8-17F9-BDFC-556B-3C881A410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level of significance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Delineate regions of rejection and non-rejection of the null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Calculate the t-statistic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A7F248-CE34-1C3F-0984-A8C1435056E3}"/>
                  </a:ext>
                </a:extLst>
              </p:cNvPr>
              <p:cNvSpPr txBox="1"/>
              <p:nvPr/>
            </p:nvSpPr>
            <p:spPr>
              <a:xfrm>
                <a:off x="4874734" y="4063637"/>
                <a:ext cx="2997615" cy="1533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A7F248-CE34-1C3F-0984-A8C143505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734" y="4063637"/>
                <a:ext cx="2997615" cy="1533112"/>
              </a:xfrm>
              <a:prstGeom prst="rect">
                <a:avLst/>
              </a:prstGeom>
              <a:blipFill>
                <a:blip r:embed="rId2"/>
                <a:stretch>
                  <a:fillRect l="-2542" t="-41322" r="-3390" b="-120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445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CFB61-5206-5EBA-5030-49585C884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A625E-063A-352A-DC76-00AE266F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7CCE0-CD86-05D0-E4DD-1606AF17E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level of significance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Delineate regions of rejection and non-rejection of the null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Calculate the t-statistic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Make a decision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96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97310"/>
            <a:ext cx="7894040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Hypothesizing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D516A0-E7F0-4BE5-B2C9-019EEC54CF54}"/>
              </a:ext>
            </a:extLst>
          </p:cNvPr>
          <p:cNvSpPr/>
          <p:nvPr/>
        </p:nvSpPr>
        <p:spPr>
          <a:xfrm>
            <a:off x="914400" y="990280"/>
            <a:ext cx="1094763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Give the null and alterative hypothesis for the following research questions.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 average commute time higher on Mondays than it is the rest of the week?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 amount of property damage from severe weather different between southern states?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there an association between college teams’ football records and rates of student enrollment?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 rate of flu cases low in our area compared to our state?</a:t>
            </a:r>
          </a:p>
        </p:txBody>
      </p:sp>
    </p:spTree>
    <p:extLst>
      <p:ext uri="{BB962C8B-B14F-4D97-AF65-F5344CB8AC3E}">
        <p14:creationId xmlns:p14="http://schemas.microsoft.com/office/powerpoint/2010/main" val="2478345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30903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Let’s try it 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552258" y="861861"/>
            <a:ext cx="629242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American Community Survey indicates that statewide, the average commute time is 22 minutes</a:t>
            </a:r>
          </a:p>
          <a:p>
            <a:endParaRPr lang="en-US" sz="2800" dirty="0"/>
          </a:p>
          <a:p>
            <a:r>
              <a:rPr lang="en-US" sz="2800" dirty="0"/>
              <a:t>We surveyed 36 community members: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Mean commute: 17.2 minutes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Standard deviation: 3.2 minutes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Is our group different from the state average?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76EA96-E7C3-49FE-8148-26FB35F7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47" y="-1"/>
            <a:ext cx="5054353" cy="68566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09706E-F3C8-431C-B32E-81656C315846}"/>
                  </a:ext>
                </a:extLst>
              </p:cNvPr>
              <p:cNvSpPr txBox="1"/>
              <p:nvPr/>
            </p:nvSpPr>
            <p:spPr>
              <a:xfrm>
                <a:off x="3436807" y="5141323"/>
                <a:ext cx="2431884" cy="1533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09706E-F3C8-431C-B32E-81656C315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6807" y="5141323"/>
                <a:ext cx="2431884" cy="15331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8963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40485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Midterm reflection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168798" y="863379"/>
            <a:ext cx="114394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Revisiting the grading </a:t>
            </a:r>
            <a:r>
              <a:rPr lang="en-US" sz="2400" dirty="0" err="1"/>
              <a:t>rubic</a:t>
            </a:r>
            <a:r>
              <a:rPr lang="en-US" sz="2400" dirty="0"/>
              <a:t>: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F164F9-A827-4966-A052-BBA992CB8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501764"/>
              </p:ext>
            </p:extLst>
          </p:nvPr>
        </p:nvGraphicFramePr>
        <p:xfrm>
          <a:off x="737418" y="1423792"/>
          <a:ext cx="9486165" cy="3418840"/>
        </p:xfrm>
        <a:graphic>
          <a:graphicData uri="http://schemas.openxmlformats.org/drawingml/2006/table">
            <a:tbl>
              <a:tblPr/>
              <a:tblGrid>
                <a:gridCol w="1897233">
                  <a:extLst>
                    <a:ext uri="{9D8B030D-6E8A-4147-A177-3AD203B41FA5}">
                      <a16:colId xmlns:a16="http://schemas.microsoft.com/office/drawing/2014/main" val="858759295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2217997643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3398132657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559065522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19515949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b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B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996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submitted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five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three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4044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marked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five complete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three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two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601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needing revision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three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five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NA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7076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submitted late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two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two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9697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Attendance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&gt;75% of classes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&gt;65% of classes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&gt;50% of classes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&gt;40% of classes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3601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Challenge items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Complete three or more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Complete two or more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Not required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Not required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86293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000F759-6603-4C2D-A5D4-4D7D626D7AEE}"/>
              </a:ext>
            </a:extLst>
          </p:cNvPr>
          <p:cNvSpPr txBox="1"/>
          <p:nvPr/>
        </p:nvSpPr>
        <p:spPr>
          <a:xfrm>
            <a:off x="682851" y="4968421"/>
            <a:ext cx="88151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Student 1:</a:t>
            </a:r>
          </a:p>
          <a:p>
            <a:r>
              <a:rPr lang="en-US" sz="2400" dirty="0"/>
              <a:t>Submitted Lab 0, Lab 1, and Lab 2, but Lab 1 was incomplete. It has been revised. Has attended 80% of classes and completed one challenge question.</a:t>
            </a:r>
          </a:p>
        </p:txBody>
      </p:sp>
    </p:spTree>
    <p:extLst>
      <p:ext uri="{BB962C8B-B14F-4D97-AF65-F5344CB8AC3E}">
        <p14:creationId xmlns:p14="http://schemas.microsoft.com/office/powerpoint/2010/main" val="2658811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40485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Midterm reflection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168798" y="863379"/>
            <a:ext cx="114394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Revisiting the grading </a:t>
            </a:r>
            <a:r>
              <a:rPr lang="en-US" sz="2400" dirty="0" err="1"/>
              <a:t>rubic</a:t>
            </a:r>
            <a:r>
              <a:rPr lang="en-US" sz="2400" dirty="0"/>
              <a:t>: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F164F9-A827-4966-A052-BBA992CB8D13}"/>
              </a:ext>
            </a:extLst>
          </p:cNvPr>
          <p:cNvGraphicFramePr>
            <a:graphicFrameLocks noGrp="1"/>
          </p:cNvGraphicFramePr>
          <p:nvPr/>
        </p:nvGraphicFramePr>
        <p:xfrm>
          <a:off x="737418" y="1423792"/>
          <a:ext cx="9486165" cy="3418840"/>
        </p:xfrm>
        <a:graphic>
          <a:graphicData uri="http://schemas.openxmlformats.org/drawingml/2006/table">
            <a:tbl>
              <a:tblPr/>
              <a:tblGrid>
                <a:gridCol w="1897233">
                  <a:extLst>
                    <a:ext uri="{9D8B030D-6E8A-4147-A177-3AD203B41FA5}">
                      <a16:colId xmlns:a16="http://schemas.microsoft.com/office/drawing/2014/main" val="858759295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2217997643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3398132657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559065522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19515949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b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B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996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submitted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five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three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4044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marked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five complete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three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two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601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needing revision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three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five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NA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7076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submitted late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two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two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9697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Attendance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&gt;75% of classes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&gt;65% of classes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&gt;50% of classes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&gt;40% of classes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3601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Challenge items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Complete three or more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Complete two or more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Not required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Not required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86293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000F759-6603-4C2D-A5D4-4D7D626D7AEE}"/>
              </a:ext>
            </a:extLst>
          </p:cNvPr>
          <p:cNvSpPr txBox="1"/>
          <p:nvPr/>
        </p:nvSpPr>
        <p:spPr>
          <a:xfrm>
            <a:off x="682851" y="4968421"/>
            <a:ext cx="88151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Student 2:</a:t>
            </a:r>
          </a:p>
          <a:p>
            <a:r>
              <a:rPr lang="en-US" sz="2400" dirty="0"/>
              <a:t>Submitted Lab 0, Lab 1, and Lab 2, but Lab 1 and 2 were both incomplete. Lab 1 has been revised. Has attended 90% of classes and completed two challenge questions.</a:t>
            </a:r>
          </a:p>
        </p:txBody>
      </p:sp>
    </p:spTree>
    <p:extLst>
      <p:ext uri="{BB962C8B-B14F-4D97-AF65-F5344CB8AC3E}">
        <p14:creationId xmlns:p14="http://schemas.microsoft.com/office/powerpoint/2010/main" val="1260860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40485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Midterm reflection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168798" y="863379"/>
            <a:ext cx="114394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Revisiting the grading </a:t>
            </a:r>
            <a:r>
              <a:rPr lang="en-US" sz="2400" dirty="0" err="1"/>
              <a:t>rubic</a:t>
            </a:r>
            <a:r>
              <a:rPr lang="en-US" sz="2400" dirty="0"/>
              <a:t>: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F164F9-A827-4966-A052-BBA992CB8D13}"/>
              </a:ext>
            </a:extLst>
          </p:cNvPr>
          <p:cNvGraphicFramePr>
            <a:graphicFrameLocks noGrp="1"/>
          </p:cNvGraphicFramePr>
          <p:nvPr/>
        </p:nvGraphicFramePr>
        <p:xfrm>
          <a:off x="737418" y="1423792"/>
          <a:ext cx="9486165" cy="3418840"/>
        </p:xfrm>
        <a:graphic>
          <a:graphicData uri="http://schemas.openxmlformats.org/drawingml/2006/table">
            <a:tbl>
              <a:tblPr/>
              <a:tblGrid>
                <a:gridCol w="1897233">
                  <a:extLst>
                    <a:ext uri="{9D8B030D-6E8A-4147-A177-3AD203B41FA5}">
                      <a16:colId xmlns:a16="http://schemas.microsoft.com/office/drawing/2014/main" val="858759295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2217997643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3398132657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559065522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19515949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b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B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996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submitted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five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three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4044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marked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five complete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three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two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601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needing revision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three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five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NA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7076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submitted late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two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two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9697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Attendance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&gt;75% of classes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&gt;65% of classes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&gt;50% of classes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&gt;40% of classes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3601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Challenge items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Complete three or more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Complete two or more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Not required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Not required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86293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000F759-6603-4C2D-A5D4-4D7D626D7AEE}"/>
              </a:ext>
            </a:extLst>
          </p:cNvPr>
          <p:cNvSpPr txBox="1"/>
          <p:nvPr/>
        </p:nvSpPr>
        <p:spPr>
          <a:xfrm>
            <a:off x="682851" y="4968421"/>
            <a:ext cx="8815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Where are you currently?</a:t>
            </a:r>
          </a:p>
        </p:txBody>
      </p:sp>
    </p:spTree>
    <p:extLst>
      <p:ext uri="{BB962C8B-B14F-4D97-AF65-F5344CB8AC3E}">
        <p14:creationId xmlns:p14="http://schemas.microsoft.com/office/powerpoint/2010/main" val="407037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40485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Midterm reflection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552257" y="861861"/>
            <a:ext cx="1143944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/>
              <a:t>What are two things you have learned about data science and quantitative analysis that are NOT about learning R/coding?</a:t>
            </a:r>
          </a:p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/>
              <a:t>What is at least one thing you have found valuable about your work in R/</a:t>
            </a:r>
            <a:r>
              <a:rPr lang="en-US" sz="2400" dirty="0" err="1"/>
              <a:t>Rstudio</a:t>
            </a:r>
            <a:r>
              <a:rPr lang="en-US" sz="2400" dirty="0"/>
              <a:t>/Github?</a:t>
            </a:r>
          </a:p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/>
              <a:t>What resources have been most useful for you in completing assignments in this course? How have these been helpful? These could include classmates and/or online options such as </a:t>
            </a:r>
            <a:r>
              <a:rPr lang="en-US" sz="2400" dirty="0" err="1"/>
              <a:t>ChatGPT</a:t>
            </a:r>
            <a:r>
              <a:rPr lang="en-US" sz="2400" dirty="0"/>
              <a:t> or </a:t>
            </a:r>
            <a:r>
              <a:rPr lang="en-US" sz="2400" dirty="0" err="1"/>
              <a:t>StackOverflow</a:t>
            </a:r>
            <a:r>
              <a:rPr lang="en-US" sz="2400" dirty="0"/>
              <a:t>.</a:t>
            </a:r>
          </a:p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/>
              <a:t>What do you want to gain or improve on as a learner from the remainder of this course? </a:t>
            </a:r>
          </a:p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/>
              <a:t>Are there any changes I could make to the course to help you as a learner?</a:t>
            </a:r>
            <a:br>
              <a:rPr lang="en-US" sz="2400" dirty="0"/>
            </a:br>
            <a:endParaRPr lang="en-US" sz="2400" dirty="0"/>
          </a:p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Submit via the ELC Assignments tool</a:t>
            </a:r>
          </a:p>
        </p:txBody>
      </p:sp>
    </p:spTree>
    <p:extLst>
      <p:ext uri="{BB962C8B-B14F-4D97-AF65-F5344CB8AC3E}">
        <p14:creationId xmlns:p14="http://schemas.microsoft.com/office/powerpoint/2010/main" val="3962376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64551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How are proportions different?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552258" y="861861"/>
            <a:ext cx="104119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i="1" dirty="0"/>
              <a:t>standard error</a:t>
            </a:r>
            <a:r>
              <a:rPr lang="en-US" sz="2800" dirty="0"/>
              <a:t> is different for proportions/rates.</a:t>
            </a:r>
          </a:p>
          <a:p>
            <a:r>
              <a:rPr lang="en-US" sz="2800" dirty="0"/>
              <a:t>We also use a z statistic rather than a t-statistic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1B0400-EC0E-41C8-ABB3-8D2577E4F120}"/>
                  </a:ext>
                </a:extLst>
              </p:cNvPr>
              <p:cNvSpPr txBox="1"/>
              <p:nvPr/>
            </p:nvSpPr>
            <p:spPr>
              <a:xfrm>
                <a:off x="1142075" y="2989546"/>
                <a:ext cx="2431884" cy="1533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1B0400-EC0E-41C8-ABB3-8D2577E4F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075" y="2989546"/>
                <a:ext cx="2431884" cy="1533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A066BF-0940-4CA4-B397-089DFA406522}"/>
                  </a:ext>
                </a:extLst>
              </p:cNvPr>
              <p:cNvSpPr txBox="1"/>
              <p:nvPr/>
            </p:nvSpPr>
            <p:spPr>
              <a:xfrm>
                <a:off x="6437088" y="2989546"/>
                <a:ext cx="4540025" cy="1937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skw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∗(1−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A066BF-0940-4CA4-B397-089DFA406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088" y="2989546"/>
                <a:ext cx="4540025" cy="19373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594AC00-7C50-4EEB-BDBA-DB6B8C1EDADA}"/>
              </a:ext>
            </a:extLst>
          </p:cNvPr>
          <p:cNvSpPr txBox="1"/>
          <p:nvPr/>
        </p:nvSpPr>
        <p:spPr>
          <a:xfrm>
            <a:off x="866613" y="2305219"/>
            <a:ext cx="3947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One sample T-test for counts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08FFC6-C989-45F9-90D8-8C634539C221}"/>
              </a:ext>
            </a:extLst>
          </p:cNvPr>
          <p:cNvSpPr txBox="1"/>
          <p:nvPr/>
        </p:nvSpPr>
        <p:spPr>
          <a:xfrm>
            <a:off x="7659209" y="2356776"/>
            <a:ext cx="29418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Z-test for proportions</a:t>
            </a:r>
          </a:p>
        </p:txBody>
      </p:sp>
    </p:spTree>
    <p:extLst>
      <p:ext uri="{BB962C8B-B14F-4D97-AF65-F5344CB8AC3E}">
        <p14:creationId xmlns:p14="http://schemas.microsoft.com/office/powerpoint/2010/main" val="1813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53767"/>
            <a:ext cx="945524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695922" y="991725"/>
            <a:ext cx="104889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Instead of comparing one sample against a predetermined mean, identifying difference between two samples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7CBBC7-4D61-25A5-1ECB-8936DB904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852" y="2364513"/>
            <a:ext cx="8051578" cy="4239720"/>
          </a:xfrm>
          <a:prstGeom prst="rect">
            <a:avLst/>
          </a:prstGeom>
        </p:spPr>
      </p:pic>
      <p:pic>
        <p:nvPicPr>
          <p:cNvPr id="5" name="Shape 150">
            <a:extLst>
              <a:ext uri="{FF2B5EF4-FFF2-40B4-BE49-F238E27FC236}">
                <a16:creationId xmlns:a16="http://schemas.microsoft.com/office/drawing/2014/main" id="{D83ACFD0-E781-9CCC-8F9B-44A0857A2B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43" y="3531873"/>
            <a:ext cx="3089275" cy="19049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8004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53767"/>
            <a:ext cx="945524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695922" y="991725"/>
            <a:ext cx="104889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#1: Is the variance in both samples </a:t>
            </a:r>
            <a:r>
              <a:rPr lang="en-US" sz="3200" b="1" i="1" dirty="0">
                <a:solidFill>
                  <a:srgbClr val="FFC000"/>
                </a:solidFill>
              </a:rPr>
              <a:t>even</a:t>
            </a:r>
            <a:r>
              <a:rPr lang="en-US" sz="3200" b="1" dirty="0"/>
              <a:t> </a:t>
            </a:r>
            <a:r>
              <a:rPr lang="en-US" sz="3200" dirty="0"/>
              <a:t>or</a:t>
            </a:r>
            <a:r>
              <a:rPr lang="en-US" sz="3200" b="1" dirty="0"/>
              <a:t> </a:t>
            </a:r>
            <a:r>
              <a:rPr lang="en-US" sz="3200" b="1" i="1" dirty="0">
                <a:solidFill>
                  <a:srgbClr val="FFC000"/>
                </a:solidFill>
              </a:rPr>
              <a:t>uneven</a:t>
            </a:r>
            <a:r>
              <a:rPr lang="en-US" sz="3200" b="1" i="1" dirty="0"/>
              <a:t>?</a:t>
            </a:r>
            <a:endParaRPr lang="en-US" sz="3200" dirty="0"/>
          </a:p>
        </p:txBody>
      </p:sp>
      <p:pic>
        <p:nvPicPr>
          <p:cNvPr id="5" name="Shape 150">
            <a:extLst>
              <a:ext uri="{FF2B5EF4-FFF2-40B4-BE49-F238E27FC236}">
                <a16:creationId xmlns:a16="http://schemas.microsoft.com/office/drawing/2014/main" id="{D83ACFD0-E781-9CCC-8F9B-44A0857A2B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922" y="2454655"/>
            <a:ext cx="3089275" cy="19049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6" name="Picture 5" descr="Chart, histogram">
            <a:extLst>
              <a:ext uri="{FF2B5EF4-FFF2-40B4-BE49-F238E27FC236}">
                <a16:creationId xmlns:a16="http://schemas.microsoft.com/office/drawing/2014/main" id="{D8849F51-31C1-5AF6-FE25-A0ECDBE1A1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982" y="1907274"/>
            <a:ext cx="6600968" cy="49507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FC2A6E-AAB8-F6F6-4775-13209DC4D873}"/>
              </a:ext>
            </a:extLst>
          </p:cNvPr>
          <p:cNvSpPr/>
          <p:nvPr/>
        </p:nvSpPr>
        <p:spPr>
          <a:xfrm>
            <a:off x="1616765" y="3429000"/>
            <a:ext cx="2001078" cy="930654"/>
          </a:xfrm>
          <a:prstGeom prst="rect">
            <a:avLst/>
          </a:prstGeom>
          <a:solidFill>
            <a:srgbClr val="BC451B">
              <a:alpha val="902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7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442250" y="384091"/>
            <a:ext cx="1048891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#1: Is the variance in both samples </a:t>
            </a:r>
            <a:r>
              <a:rPr lang="en-US" sz="3200" b="1" i="1" dirty="0">
                <a:solidFill>
                  <a:srgbClr val="FFC000"/>
                </a:solidFill>
              </a:rPr>
              <a:t>even</a:t>
            </a:r>
            <a:r>
              <a:rPr lang="en-US" sz="3200" b="1" dirty="0"/>
              <a:t> </a:t>
            </a:r>
            <a:r>
              <a:rPr lang="en-US" sz="3200" dirty="0"/>
              <a:t>or</a:t>
            </a:r>
            <a:r>
              <a:rPr lang="en-US" sz="3200" b="1" dirty="0"/>
              <a:t> </a:t>
            </a:r>
            <a:r>
              <a:rPr lang="en-US" sz="3200" b="1" i="1" dirty="0">
                <a:solidFill>
                  <a:srgbClr val="FFC000"/>
                </a:solidFill>
              </a:rPr>
              <a:t>uneven</a:t>
            </a:r>
            <a:r>
              <a:rPr lang="en-US" sz="3200" b="1" i="1" dirty="0"/>
              <a:t>?</a:t>
            </a:r>
          </a:p>
          <a:p>
            <a:endParaRPr lang="en-US" sz="3200" b="1" i="1" dirty="0"/>
          </a:p>
          <a:p>
            <a:r>
              <a:rPr lang="en-US" sz="3200" dirty="0"/>
              <a:t>Look at the 2019 census data and compute the standard deviation for two categories of racial classification. How do those compare?</a:t>
            </a:r>
          </a:p>
          <a:p>
            <a:endParaRPr lang="en-US" sz="3200" dirty="0"/>
          </a:p>
          <a:p>
            <a:r>
              <a:rPr lang="en-US" sz="3200" dirty="0"/>
              <a:t>Variance = Standard deviation^2</a:t>
            </a:r>
          </a:p>
        </p:txBody>
      </p:sp>
    </p:spTree>
    <p:extLst>
      <p:ext uri="{BB962C8B-B14F-4D97-AF65-F5344CB8AC3E}">
        <p14:creationId xmlns:p14="http://schemas.microsoft.com/office/powerpoint/2010/main" val="3750489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53767"/>
            <a:ext cx="945524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695922" y="1004977"/>
            <a:ext cx="10488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#2: Are the samples </a:t>
            </a:r>
            <a:r>
              <a:rPr lang="en-US" sz="3200" b="1" i="1" dirty="0">
                <a:solidFill>
                  <a:srgbClr val="FFC000"/>
                </a:solidFill>
              </a:rPr>
              <a:t>independent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paired</a:t>
            </a:r>
            <a:r>
              <a:rPr lang="en-US" sz="3200" dirty="0"/>
              <a:t>?</a:t>
            </a:r>
          </a:p>
        </p:txBody>
      </p:sp>
      <p:pic>
        <p:nvPicPr>
          <p:cNvPr id="4" name="Picture 3" descr="A picture containing chart">
            <a:extLst>
              <a:ext uri="{FF2B5EF4-FFF2-40B4-BE49-F238E27FC236}">
                <a16:creationId xmlns:a16="http://schemas.microsoft.com/office/drawing/2014/main" id="{4282F5AA-98F1-AD88-95FB-BA5DC66E0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1" y="2333665"/>
            <a:ext cx="9733539" cy="351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86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341961" y="403243"/>
            <a:ext cx="104889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Are the samples </a:t>
            </a:r>
            <a:r>
              <a:rPr lang="en-US" sz="3200" b="1" i="1" dirty="0">
                <a:solidFill>
                  <a:srgbClr val="FFC000"/>
                </a:solidFill>
              </a:rPr>
              <a:t>independent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paired</a:t>
            </a:r>
            <a:r>
              <a:rPr lang="en-US" sz="3200" dirty="0"/>
              <a:t>?</a:t>
            </a:r>
          </a:p>
          <a:p>
            <a:endParaRPr lang="en-US" sz="3200" dirty="0"/>
          </a:p>
          <a:p>
            <a:r>
              <a:rPr lang="en-US" sz="3200" dirty="0"/>
              <a:t>On a sheet of paper, write down two research questions for your area of interest. One should use two independent samples and one should use a paired sample.</a:t>
            </a:r>
          </a:p>
        </p:txBody>
      </p:sp>
      <p:pic>
        <p:nvPicPr>
          <p:cNvPr id="4" name="Picture 3" descr="A picture containing chart">
            <a:extLst>
              <a:ext uri="{FF2B5EF4-FFF2-40B4-BE49-F238E27FC236}">
                <a16:creationId xmlns:a16="http://schemas.microsoft.com/office/drawing/2014/main" id="{4282F5AA-98F1-AD88-95FB-BA5DC66E0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801" y="5268247"/>
            <a:ext cx="3837519" cy="138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952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92">
            <a:extLst>
              <a:ext uri="{FF2B5EF4-FFF2-40B4-BE49-F238E27FC236}">
                <a16:creationId xmlns:a16="http://schemas.microsoft.com/office/drawing/2014/main" id="{276FC7B9-2499-43B4-9B1E-E89D5E2DD9B8}"/>
              </a:ext>
            </a:extLst>
          </p:cNvPr>
          <p:cNvSpPr txBox="1"/>
          <p:nvPr/>
        </p:nvSpPr>
        <p:spPr>
          <a:xfrm>
            <a:off x="8601445" y="176854"/>
            <a:ext cx="3352799" cy="70788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named Atlantic tropical storms, years</a:t>
            </a:r>
          </a:p>
        </p:txBody>
      </p:sp>
      <p:graphicFrame>
        <p:nvGraphicFramePr>
          <p:cNvPr id="9" name="Shape 194">
            <a:extLst>
              <a:ext uri="{FF2B5EF4-FFF2-40B4-BE49-F238E27FC236}">
                <a16:creationId xmlns:a16="http://schemas.microsoft.com/office/drawing/2014/main" id="{EA5853FD-4B07-44EB-8FA8-DDF8A8F1585F}"/>
              </a:ext>
            </a:extLst>
          </p:cNvPr>
          <p:cNvGraphicFramePr/>
          <p:nvPr/>
        </p:nvGraphicFramePr>
        <p:xfrm>
          <a:off x="8366333" y="1061697"/>
          <a:ext cx="3587912" cy="48070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93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El Nino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</a:rPr>
                        <a:t>La Nina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0 (1.5)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5 (15)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 (3.5)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12 (21)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3 (9)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17 (22)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1 (3.5)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7 (18)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6 (16.5)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10 (20)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0 (1.5)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8 (19)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6 (16.5)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Shape 195">
            <a:extLst>
              <a:ext uri="{FF2B5EF4-FFF2-40B4-BE49-F238E27FC236}">
                <a16:creationId xmlns:a16="http://schemas.microsoft.com/office/drawing/2014/main" id="{7AF296E4-9EC1-4EE8-B99B-7EC2EFC070B8}"/>
              </a:ext>
            </a:extLst>
          </p:cNvPr>
          <p:cNvSpPr/>
          <p:nvPr/>
        </p:nvSpPr>
        <p:spPr>
          <a:xfrm>
            <a:off x="9068990" y="1441157"/>
            <a:ext cx="698853" cy="442754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1" name="Shape 196">
            <a:extLst>
              <a:ext uri="{FF2B5EF4-FFF2-40B4-BE49-F238E27FC236}">
                <a16:creationId xmlns:a16="http://schemas.microsoft.com/office/drawing/2014/main" id="{66210E4B-1BD8-423A-8BBB-673B4573A5B6}"/>
              </a:ext>
            </a:extLst>
          </p:cNvPr>
          <p:cNvSpPr/>
          <p:nvPr/>
        </p:nvSpPr>
        <p:spPr>
          <a:xfrm>
            <a:off x="10850004" y="1446621"/>
            <a:ext cx="782246" cy="4422084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2" name="Shape 197">
            <a:extLst>
              <a:ext uri="{FF2B5EF4-FFF2-40B4-BE49-F238E27FC236}">
                <a16:creationId xmlns:a16="http://schemas.microsoft.com/office/drawing/2014/main" id="{66DAE1EE-8FA4-4F73-A19E-158C99F9364A}"/>
              </a:ext>
            </a:extLst>
          </p:cNvPr>
          <p:cNvSpPr txBox="1"/>
          <p:nvPr/>
        </p:nvSpPr>
        <p:spPr>
          <a:xfrm>
            <a:off x="8674389" y="6180124"/>
            <a:ext cx="2971799" cy="40010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W</a:t>
            </a:r>
            <a:r>
              <a:rPr lang="en-US" sz="2000" baseline="-25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1</a:t>
            </a: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 = 77.5       W</a:t>
            </a:r>
            <a:r>
              <a:rPr lang="en-US" sz="2000" baseline="-25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2</a:t>
            </a: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 = 175.5</a:t>
            </a:r>
          </a:p>
        </p:txBody>
      </p:sp>
      <p:sp>
        <p:nvSpPr>
          <p:cNvPr id="4" name="Shape 101">
            <a:extLst>
              <a:ext uri="{FF2B5EF4-FFF2-40B4-BE49-F238E27FC236}">
                <a16:creationId xmlns:a16="http://schemas.microsoft.com/office/drawing/2014/main" id="{432C8125-4C54-E7FD-FF3F-95EA976D241B}"/>
              </a:ext>
            </a:extLst>
          </p:cNvPr>
          <p:cNvSpPr txBox="1"/>
          <p:nvPr/>
        </p:nvSpPr>
        <p:spPr>
          <a:xfrm>
            <a:off x="536895" y="253767"/>
            <a:ext cx="6624239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455B8-8E53-C962-3A6B-CF4E5A68D96E}"/>
              </a:ext>
            </a:extLst>
          </p:cNvPr>
          <p:cNvSpPr txBox="1"/>
          <p:nvPr/>
        </p:nvSpPr>
        <p:spPr>
          <a:xfrm>
            <a:off x="695922" y="1004977"/>
            <a:ext cx="73484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#3: Are the samples </a:t>
            </a:r>
            <a:r>
              <a:rPr lang="en-US" sz="3200" b="1" i="1" dirty="0">
                <a:solidFill>
                  <a:srgbClr val="FFC000"/>
                </a:solidFill>
              </a:rPr>
              <a:t>parametric (normal)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non-parametric</a:t>
            </a:r>
            <a:r>
              <a:rPr lang="en-US" sz="3200" dirty="0"/>
              <a:t>?</a:t>
            </a:r>
          </a:p>
        </p:txBody>
      </p:sp>
      <p:pic>
        <p:nvPicPr>
          <p:cNvPr id="13" name="Picture 12" descr="Chart, bar chart, histogram&#10;&#10;Description automatically generated">
            <a:extLst>
              <a:ext uri="{FF2B5EF4-FFF2-40B4-BE49-F238E27FC236}">
                <a16:creationId xmlns:a16="http://schemas.microsoft.com/office/drawing/2014/main" id="{C5ADD4AD-5FFD-CA89-CF5B-1B5EE3D63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45" y="2248705"/>
            <a:ext cx="5153142" cy="431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01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6" y="253767"/>
            <a:ext cx="4127384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How do we assess normality?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536896" y="1786855"/>
            <a:ext cx="3144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Histograms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QQ plots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Normality tests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16107E-08B7-4E39-B8FE-5ECA5CE48E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24" r="3301"/>
          <a:stretch/>
        </p:blipFill>
        <p:spPr>
          <a:xfrm>
            <a:off x="5005146" y="0"/>
            <a:ext cx="7186854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FB667F-3CAA-4954-87DB-20C02595C032}"/>
              </a:ext>
            </a:extLst>
          </p:cNvPr>
          <p:cNvSpPr txBox="1"/>
          <p:nvPr/>
        </p:nvSpPr>
        <p:spPr>
          <a:xfrm>
            <a:off x="634430" y="5867910"/>
            <a:ext cx="412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https://www.ucd.ie/ecomodel/Resources/QQplots_WebVersion.html</a:t>
            </a:r>
          </a:p>
        </p:txBody>
      </p:sp>
    </p:spTree>
    <p:extLst>
      <p:ext uri="{BB962C8B-B14F-4D97-AF65-F5344CB8AC3E}">
        <p14:creationId xmlns:p14="http://schemas.microsoft.com/office/powerpoint/2010/main" val="634403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6" y="253767"/>
            <a:ext cx="4127384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QQ plots</a:t>
            </a:r>
          </a:p>
          <a:p>
            <a:pPr>
              <a:buSzPct val="25000"/>
            </a:pPr>
            <a:endParaRPr lang="en-US" sz="4000" b="1" dirty="0">
              <a:latin typeface="+mj-lt"/>
              <a:ea typeface="Gill Sans MT"/>
              <a:cs typeface="Gill Sans MT"/>
              <a:sym typeface="Gill Sans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9924A-94CC-43BD-A7D1-F1B946B98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692" y="980082"/>
            <a:ext cx="6471961" cy="501747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3668188-53B2-420A-A4EF-20DAAB2BA29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006954" y="2613491"/>
            <a:ext cx="4091474" cy="3634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68E1188-AAD6-4058-BAD0-A8A94119ACB4}"/>
              </a:ext>
            </a:extLst>
          </p:cNvPr>
          <p:cNvSpPr txBox="1"/>
          <p:nvPr/>
        </p:nvSpPr>
        <p:spPr>
          <a:xfrm>
            <a:off x="3211270" y="2413436"/>
            <a:ext cx="1795684" cy="4001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75</a:t>
            </a:r>
            <a:r>
              <a:rPr lang="en-US" sz="2000" baseline="30000" dirty="0">
                <a:solidFill>
                  <a:srgbClr val="FF0000"/>
                </a:solidFill>
              </a:rPr>
              <a:t>th</a:t>
            </a:r>
            <a:r>
              <a:rPr lang="en-US" sz="2000" dirty="0">
                <a:solidFill>
                  <a:srgbClr val="FF0000"/>
                </a:solidFill>
              </a:rPr>
              <a:t> percentile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4BFCB8-9A10-44DC-BB2A-C1F10C2BBFFC}"/>
              </a:ext>
            </a:extLst>
          </p:cNvPr>
          <p:cNvCxnSpPr>
            <a:cxnSpLocks/>
          </p:cNvCxnSpPr>
          <p:nvPr/>
        </p:nvCxnSpPr>
        <p:spPr>
          <a:xfrm>
            <a:off x="4685047" y="915874"/>
            <a:ext cx="2771193" cy="11620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D41A9D-F516-48B1-AFBB-4662C89997EA}"/>
              </a:ext>
            </a:extLst>
          </p:cNvPr>
          <p:cNvSpPr txBox="1"/>
          <p:nvPr/>
        </p:nvSpPr>
        <p:spPr>
          <a:xfrm>
            <a:off x="3154827" y="579972"/>
            <a:ext cx="1795684" cy="4001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90</a:t>
            </a:r>
            <a:r>
              <a:rPr lang="en-US" sz="2000" baseline="30000" dirty="0">
                <a:solidFill>
                  <a:srgbClr val="FF0000"/>
                </a:solidFill>
              </a:rPr>
              <a:t>th</a:t>
            </a:r>
            <a:r>
              <a:rPr lang="en-US" sz="2000" dirty="0">
                <a:solidFill>
                  <a:srgbClr val="FF0000"/>
                </a:solidFill>
              </a:rPr>
              <a:t> percentile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41990-40F2-4B52-822A-0EA27D770F7B}"/>
              </a:ext>
            </a:extLst>
          </p:cNvPr>
          <p:cNvSpPr txBox="1"/>
          <p:nvPr/>
        </p:nvSpPr>
        <p:spPr>
          <a:xfrm>
            <a:off x="3211270" y="5642381"/>
            <a:ext cx="1795684" cy="4001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10</a:t>
            </a:r>
            <a:r>
              <a:rPr lang="en-US" sz="2000" baseline="30000" dirty="0">
                <a:solidFill>
                  <a:srgbClr val="FF0000"/>
                </a:solidFill>
              </a:rPr>
              <a:t>th</a:t>
            </a:r>
            <a:r>
              <a:rPr lang="en-US" sz="2000" dirty="0">
                <a:solidFill>
                  <a:srgbClr val="FF0000"/>
                </a:solidFill>
              </a:rPr>
              <a:t> percentile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880F53-774B-416B-95E0-A29BF772EFD5}"/>
              </a:ext>
            </a:extLst>
          </p:cNvPr>
          <p:cNvCxnSpPr>
            <a:cxnSpLocks/>
          </p:cNvCxnSpPr>
          <p:nvPr/>
        </p:nvCxnSpPr>
        <p:spPr>
          <a:xfrm flipV="1">
            <a:off x="5071810" y="3943657"/>
            <a:ext cx="2087822" cy="18987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E52237C-DD88-4574-BFAE-BEABD380A866}"/>
              </a:ext>
            </a:extLst>
          </p:cNvPr>
          <p:cNvSpPr txBox="1"/>
          <p:nvPr/>
        </p:nvSpPr>
        <p:spPr>
          <a:xfrm>
            <a:off x="3211270" y="4542752"/>
            <a:ext cx="1795684" cy="4001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25</a:t>
            </a:r>
            <a:r>
              <a:rPr lang="en-US" sz="2000" baseline="30000" dirty="0">
                <a:solidFill>
                  <a:srgbClr val="FF0000"/>
                </a:solidFill>
              </a:rPr>
              <a:t>th</a:t>
            </a:r>
            <a:r>
              <a:rPr lang="en-US" sz="2000" dirty="0">
                <a:solidFill>
                  <a:srgbClr val="FF0000"/>
                </a:solidFill>
              </a:rPr>
              <a:t> percentile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34FEF1-5585-4C50-AECB-E123473B550C}"/>
              </a:ext>
            </a:extLst>
          </p:cNvPr>
          <p:cNvCxnSpPr>
            <a:cxnSpLocks/>
          </p:cNvCxnSpPr>
          <p:nvPr/>
        </p:nvCxnSpPr>
        <p:spPr>
          <a:xfrm flipV="1">
            <a:off x="5110049" y="3640637"/>
            <a:ext cx="1422460" cy="11013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8C95DE-BF92-4D56-9B34-019F97A5E449}"/>
              </a:ext>
            </a:extLst>
          </p:cNvPr>
          <p:cNvCxnSpPr>
            <a:cxnSpLocks/>
          </p:cNvCxnSpPr>
          <p:nvPr/>
        </p:nvCxnSpPr>
        <p:spPr>
          <a:xfrm>
            <a:off x="4898929" y="816710"/>
            <a:ext cx="4945948" cy="16524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286194-555F-4D44-867F-1294110A2227}"/>
              </a:ext>
            </a:extLst>
          </p:cNvPr>
          <p:cNvCxnSpPr>
            <a:cxnSpLocks/>
          </p:cNvCxnSpPr>
          <p:nvPr/>
        </p:nvCxnSpPr>
        <p:spPr>
          <a:xfrm>
            <a:off x="4950511" y="2750348"/>
            <a:ext cx="1581998" cy="3899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F9BD84-1893-4322-ABD6-711EF43E981E}"/>
              </a:ext>
            </a:extLst>
          </p:cNvPr>
          <p:cNvCxnSpPr>
            <a:cxnSpLocks/>
          </p:cNvCxnSpPr>
          <p:nvPr/>
        </p:nvCxnSpPr>
        <p:spPr>
          <a:xfrm flipV="1">
            <a:off x="5220836" y="3704189"/>
            <a:ext cx="3877592" cy="12011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5054CE-D66B-41DA-B268-EA34F87FD6C6}"/>
              </a:ext>
            </a:extLst>
          </p:cNvPr>
          <p:cNvCxnSpPr>
            <a:cxnSpLocks/>
          </p:cNvCxnSpPr>
          <p:nvPr/>
        </p:nvCxnSpPr>
        <p:spPr>
          <a:xfrm flipV="1">
            <a:off x="5155980" y="4652784"/>
            <a:ext cx="4838187" cy="12538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54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53767"/>
            <a:ext cx="10125511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More on QQ plot shapes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F410E6-A4E4-42F2-A252-9192EF39D6AA}"/>
              </a:ext>
            </a:extLst>
          </p:cNvPr>
          <p:cNvSpPr txBox="1"/>
          <p:nvPr/>
        </p:nvSpPr>
        <p:spPr>
          <a:xfrm>
            <a:off x="117956" y="6354282"/>
            <a:ext cx="11567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https://www.ucd.ie/ecomodel/Resources/QQplots_WebVersion.html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1C0793-B6E3-4BB4-8FD6-CF779B155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71" y="1310512"/>
            <a:ext cx="5346579" cy="47337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8FC5A6-5B58-4852-A688-5318BA91A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513" y="1310512"/>
            <a:ext cx="5321393" cy="473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189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441</TotalTime>
  <Words>1666</Words>
  <Application>Microsoft Macintosh PowerPoint</Application>
  <PresentationFormat>Widescreen</PresentationFormat>
  <Paragraphs>328</Paragraphs>
  <Slides>33</Slides>
  <Notes>25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Calisto MT</vt:lpstr>
      <vt:lpstr>Cambria</vt:lpstr>
      <vt:lpstr>Cambria Math</vt:lpstr>
      <vt:lpstr>Gill Sans MT</vt:lpstr>
      <vt:lpstr>Times New Roman</vt:lpstr>
      <vt:lpstr>Wingdings 2</vt:lpstr>
      <vt:lpstr>Slate</vt:lpstr>
      <vt:lpstr>Week 9: Tests of difference; Midterm reflections</vt:lpstr>
      <vt:lpstr>PowerPoint Presentation</vt:lpstr>
      <vt:lpstr>PowerPoint Presentation</vt:lpstr>
      <vt:lpstr>Steps in hypothesis testing</vt:lpstr>
      <vt:lpstr>Steps in hypothesis testing</vt:lpstr>
      <vt:lpstr>PowerPoint Presentation</vt:lpstr>
      <vt:lpstr>PowerPoint Presentation</vt:lpstr>
      <vt:lpstr>PowerPoint Presentation</vt:lpstr>
      <vt:lpstr>PowerPoint Presentation</vt:lpstr>
      <vt:lpstr>Steps in hypothesis testing</vt:lpstr>
      <vt:lpstr>PowerPoint Presentation</vt:lpstr>
      <vt:lpstr>Steps in hypothesis testing</vt:lpstr>
      <vt:lpstr>PowerPoint Presentation</vt:lpstr>
      <vt:lpstr>PowerPoint Presentation</vt:lpstr>
      <vt:lpstr>PowerPoint Presentation</vt:lpstr>
      <vt:lpstr>Steps in hypothesis testing</vt:lpstr>
      <vt:lpstr>Steps in hypothesis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Descriptive statistics</dc:title>
  <dc:creator>Jerry Shannon</dc:creator>
  <cp:lastModifiedBy>Anna Harper</cp:lastModifiedBy>
  <cp:revision>101</cp:revision>
  <dcterms:created xsi:type="dcterms:W3CDTF">2021-09-02T15:10:57Z</dcterms:created>
  <dcterms:modified xsi:type="dcterms:W3CDTF">2025-10-23T04:22:22Z</dcterms:modified>
</cp:coreProperties>
</file>