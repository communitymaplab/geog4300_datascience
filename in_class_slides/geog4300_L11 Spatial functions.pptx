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732" r:id="rId1"/>
  </p:sldMasterIdLst>
  <p:notesMasterIdLst>
    <p:notesMasterId r:id="rId11"/>
  </p:notesMasterIdLst>
  <p:sldIdLst>
    <p:sldId id="263" r:id="rId2"/>
    <p:sldId id="258" r:id="rId3"/>
    <p:sldId id="260" r:id="rId4"/>
    <p:sldId id="261" r:id="rId5"/>
    <p:sldId id="262" r:id="rId6"/>
    <p:sldId id="264" r:id="rId7"/>
    <p:sldId id="266" r:id="rId8"/>
    <p:sldId id="267" r:id="rId9"/>
    <p:sldId id="268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4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Shape 4"/>
          <p:cNvSpPr txBox="1">
            <a:spLocks noGrp="1"/>
          </p:cNvSpPr>
          <p:nvPr>
            <p:ph type="dt" idx="10"/>
          </p:nvPr>
        </p:nvSpPr>
        <p:spPr>
          <a:xfrm>
            <a:off x="3884612" y="0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Shape 5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" name="Shape 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41fb1d3722_1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41fb1d3722_1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41fb1d3722_1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41fb1d3722_1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41fb1d3722_1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41fb1d3722_1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41fb1d3722_1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41fb1d3722_1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41fb1d3722_1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41fb1d3722_1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41fb1d3722_1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41fb1d3722_1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41fb1d3722_1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41fb1d3722_1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They share these in small groups and then look at the examples on the next page.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 dirty="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6400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142212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 dirty="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74142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129426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SzPct val="25000"/>
            </a:pPr>
            <a:fld id="{00000000-1234-1234-1234-123412341234}" type="slidenum">
              <a:rPr lang="en-US" sz="1200" smtClean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06843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58348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961970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buSzPct val="25000"/>
            </a:pPr>
            <a:fld id="{00000000-1234-1234-1234-123412341234}" type="slidenum">
              <a:rPr lang="en-US" sz="1200" smtClean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66828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15616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416505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424141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1219170" lvl="1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sldNum" idx="12"/>
          </p:nvPr>
        </p:nvSpPr>
        <p:spPr>
          <a:xfrm>
            <a:off x="11320333" y="6241345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6862856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bg1"/>
                </a:solidFill>
              </a:defRPr>
            </a:lvl1pPr>
          </a:lstStyle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87943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</a:schemeClr>
          </a:solidFill>
          <a:latin typeface="Sitka Display Semibold" pitchFamily="2" charset="0"/>
          <a:ea typeface="+mj-ea"/>
          <a:cs typeface="+mj-cs"/>
        </a:defRPr>
      </a:lvl1pPr>
    </p:titleStyle>
    <p:bodyStyle>
      <a:lvl1pPr marL="233363" indent="-233363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tx1">
            <a:lumMod val="75000"/>
          </a:schemeClr>
        </a:buClr>
        <a:buSzPct val="100000"/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</a:schemeClr>
          </a:solidFill>
          <a:latin typeface="Segoe UI" panose="020B0502040204020203" pitchFamily="34" charset="0"/>
          <a:ea typeface="Open Sans Medium" pitchFamily="2" charset="0"/>
          <a:cs typeface="Segoe UI" panose="020B0502040204020203" pitchFamily="34" charset="0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>
            <a:lumMod val="75000"/>
          </a:schemeClr>
        </a:buClr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</a:schemeClr>
          </a:solidFill>
          <a:latin typeface="Segoe UI" panose="020B0502040204020203" pitchFamily="34" charset="0"/>
          <a:ea typeface="Open Sans Medium" pitchFamily="2" charset="0"/>
          <a:cs typeface="Segoe UI" panose="020B0502040204020203" pitchFamily="34" charset="0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>
            <a:lumMod val="75000"/>
          </a:schemeClr>
        </a:buClr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</a:schemeClr>
          </a:solidFill>
          <a:latin typeface="Segoe UI" panose="020B0502040204020203" pitchFamily="34" charset="0"/>
          <a:ea typeface="Open Sans Medium" pitchFamily="2" charset="0"/>
          <a:cs typeface="Segoe UI" panose="020B0502040204020203" pitchFamily="34" charset="0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>
            <a:lumMod val="75000"/>
          </a:schemeClr>
        </a:buClr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</a:schemeClr>
          </a:solidFill>
          <a:latin typeface="Segoe UI" panose="020B0502040204020203" pitchFamily="34" charset="0"/>
          <a:ea typeface="Open Sans Medium" pitchFamily="2" charset="0"/>
          <a:cs typeface="Segoe UI" panose="020B0502040204020203" pitchFamily="34" charset="0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>
            <a:lumMod val="75000"/>
          </a:schemeClr>
        </a:buClr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</a:schemeClr>
          </a:solidFill>
          <a:latin typeface="Segoe UI" panose="020B0502040204020203" pitchFamily="34" charset="0"/>
          <a:ea typeface="Open Sans Medium" pitchFamily="2" charset="0"/>
          <a:cs typeface="Segoe UI" panose="020B0502040204020203" pitchFamily="34" charset="0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www.researchgate.net/publication/270292236_The_influence_of_the_built_environment_on_outcomes_from_a_walking_school_bus_study_A_cross-sectional_analysis_using_geographical_information_systems/figures?lo=1&amp;utm_source=google&amp;utm_medium=organic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desktop.arcgis.com/en/arcmap/10.3/manage-data/raster-and-images/clip-function.htm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doc.esri.com/en/arcgis-pro/latest/tool-reference/data-management/dissolve.html?tabs=dialog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vis.blog/2022/01/06/spatial-joins-in-tableau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qgis.org/3.4/en/docs/user_manual/processing_algs/qgis/vectoroverlay.html#union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DA1E6-0A9B-4FAD-9E42-B37B3CA5D7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6248" y="2984156"/>
            <a:ext cx="10812163" cy="1099527"/>
          </a:xfrm>
        </p:spPr>
        <p:txBody>
          <a:bodyPr>
            <a:noAutofit/>
          </a:bodyPr>
          <a:lstStyle/>
          <a:p>
            <a:r>
              <a:rPr lang="en-US" sz="4400" dirty="0"/>
              <a:t>Visualizing and describing spatial data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70A25A50-E1E4-4126-B9CC-C52512D3D3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GEOG4300 /6300: Intro to data science</a:t>
            </a:r>
          </a:p>
          <a:p>
            <a:r>
              <a:rPr lang="en-US" dirty="0"/>
              <a:t>Prof. Jerry Shannon</a:t>
            </a:r>
          </a:p>
        </p:txBody>
      </p:sp>
    </p:spTree>
    <p:extLst>
      <p:ext uri="{BB962C8B-B14F-4D97-AF65-F5344CB8AC3E}">
        <p14:creationId xmlns:p14="http://schemas.microsoft.com/office/powerpoint/2010/main" val="7646456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>
            <a:spLocks noGrp="1"/>
          </p:cNvSpPr>
          <p:nvPr>
            <p:ph type="title"/>
          </p:nvPr>
        </p:nvSpPr>
        <p:spPr>
          <a:xfrm>
            <a:off x="1186962" y="706222"/>
            <a:ext cx="8168053" cy="1006475"/>
          </a:xfr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r>
              <a:rPr lang="en-US" dirty="0"/>
              <a:t>What is a spatial operation?</a:t>
            </a:r>
          </a:p>
        </p:txBody>
      </p:sp>
      <p:sp>
        <p:nvSpPr>
          <p:cNvPr id="72" name="Google Shape;72;p15"/>
          <p:cNvSpPr txBox="1"/>
          <p:nvPr/>
        </p:nvSpPr>
        <p:spPr>
          <a:xfrm>
            <a:off x="932868" y="1864800"/>
            <a:ext cx="10688800" cy="984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2400" dirty="0">
                <a:latin typeface="Average"/>
                <a:ea typeface="Average"/>
                <a:cs typeface="Average"/>
                <a:sym typeface="Average"/>
              </a:rPr>
              <a:t>Altering the structure of spatial data based on its attributes, location, and/or topology.</a:t>
            </a:r>
            <a:endParaRPr sz="2400" dirty="0">
              <a:latin typeface="Average"/>
              <a:ea typeface="Average"/>
              <a:cs typeface="Average"/>
              <a:sym typeface="Average"/>
            </a:endParaRPr>
          </a:p>
        </p:txBody>
      </p:sp>
      <p:pic>
        <p:nvPicPr>
          <p:cNvPr id="73" name="Google Shape;7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4251" y="3478400"/>
            <a:ext cx="9486035" cy="227300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5"/>
          <p:cNvSpPr txBox="1"/>
          <p:nvPr/>
        </p:nvSpPr>
        <p:spPr>
          <a:xfrm>
            <a:off x="5761100" y="2480333"/>
            <a:ext cx="5692000" cy="615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endParaRPr sz="2400"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>
            <a:spLocks noGrp="1"/>
          </p:cNvSpPr>
          <p:nvPr>
            <p:ph type="title"/>
          </p:nvPr>
        </p:nvSpPr>
        <p:spPr>
          <a:xfrm>
            <a:off x="1030069" y="362802"/>
            <a:ext cx="3743325" cy="1006475"/>
          </a:xfr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r>
              <a:rPr lang="en-US" dirty="0"/>
              <a:t>Buffer</a:t>
            </a:r>
          </a:p>
        </p:txBody>
      </p:sp>
      <p:sp>
        <p:nvSpPr>
          <p:cNvPr id="88" name="Google Shape;88;p17"/>
          <p:cNvSpPr txBox="1"/>
          <p:nvPr/>
        </p:nvSpPr>
        <p:spPr>
          <a:xfrm>
            <a:off x="5761100" y="2480333"/>
            <a:ext cx="5692000" cy="615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endParaRPr sz="2400">
              <a:latin typeface="Average"/>
              <a:ea typeface="Average"/>
              <a:cs typeface="Average"/>
              <a:sym typeface="Average"/>
            </a:endParaRPr>
          </a:p>
        </p:txBody>
      </p:sp>
      <p:pic>
        <p:nvPicPr>
          <p:cNvPr id="89" name="Google Shape;8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13200" y="2072867"/>
            <a:ext cx="8724800" cy="41879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7"/>
          <p:cNvSpPr txBox="1"/>
          <p:nvPr/>
        </p:nvSpPr>
        <p:spPr>
          <a:xfrm>
            <a:off x="1011800" y="1162156"/>
            <a:ext cx="10168400" cy="615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2400" dirty="0">
                <a:latin typeface="Average"/>
                <a:ea typeface="Average"/>
                <a:cs typeface="Average"/>
                <a:sym typeface="Average"/>
              </a:rPr>
              <a:t>Identifies the area within a set distance of a vector feature</a:t>
            </a:r>
            <a:endParaRPr dirty="0"/>
          </a:p>
        </p:txBody>
      </p:sp>
      <p:sp>
        <p:nvSpPr>
          <p:cNvPr id="91" name="Google Shape;91;p17"/>
          <p:cNvSpPr txBox="1"/>
          <p:nvPr/>
        </p:nvSpPr>
        <p:spPr>
          <a:xfrm>
            <a:off x="9733600" y="6324400"/>
            <a:ext cx="1186000" cy="615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2400" u="sng">
                <a:solidFill>
                  <a:schemeClr val="hlink"/>
                </a:solidFill>
                <a:hlinkClick r:id="rId4"/>
              </a:rPr>
              <a:t>Link</a:t>
            </a:r>
            <a:endParaRPr sz="2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 txBox="1">
            <a:spLocks noGrp="1"/>
          </p:cNvSpPr>
          <p:nvPr>
            <p:ph type="title"/>
          </p:nvPr>
        </p:nvSpPr>
        <p:spPr>
          <a:xfrm>
            <a:off x="1011800" y="235383"/>
            <a:ext cx="3743325" cy="1006475"/>
          </a:xfr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r>
              <a:rPr lang="en-US" dirty="0"/>
              <a:t>Clip</a:t>
            </a:r>
          </a:p>
        </p:txBody>
      </p:sp>
      <p:sp>
        <p:nvSpPr>
          <p:cNvPr id="97" name="Google Shape;97;p18"/>
          <p:cNvSpPr txBox="1"/>
          <p:nvPr/>
        </p:nvSpPr>
        <p:spPr>
          <a:xfrm>
            <a:off x="5761100" y="2480333"/>
            <a:ext cx="5692000" cy="615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endParaRPr sz="2400"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98" name="Google Shape;98;p18"/>
          <p:cNvSpPr txBox="1"/>
          <p:nvPr/>
        </p:nvSpPr>
        <p:spPr>
          <a:xfrm>
            <a:off x="1011800" y="1102802"/>
            <a:ext cx="10168400" cy="615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2400" dirty="0">
                <a:latin typeface="Average"/>
                <a:ea typeface="Average"/>
                <a:cs typeface="Average"/>
                <a:sym typeface="Average"/>
              </a:rPr>
              <a:t>Deletes any features or parts of features not within another layer.</a:t>
            </a:r>
            <a:endParaRPr dirty="0"/>
          </a:p>
        </p:txBody>
      </p:sp>
      <p:sp>
        <p:nvSpPr>
          <p:cNvPr id="99" name="Google Shape;99;p18"/>
          <p:cNvSpPr txBox="1"/>
          <p:nvPr/>
        </p:nvSpPr>
        <p:spPr>
          <a:xfrm>
            <a:off x="8735533" y="6324400"/>
            <a:ext cx="1186000" cy="615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2400" u="sng">
                <a:solidFill>
                  <a:schemeClr val="hlink"/>
                </a:solidFill>
                <a:hlinkClick r:id="rId3"/>
              </a:rPr>
              <a:t>Link</a:t>
            </a:r>
            <a:endParaRPr sz="2400"/>
          </a:p>
        </p:txBody>
      </p:sp>
      <p:pic>
        <p:nvPicPr>
          <p:cNvPr id="100" name="Google Shape;100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77083" y="2109277"/>
            <a:ext cx="7237833" cy="39490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 txBox="1">
            <a:spLocks noGrp="1"/>
          </p:cNvSpPr>
          <p:nvPr>
            <p:ph type="title"/>
          </p:nvPr>
        </p:nvSpPr>
        <p:spPr>
          <a:xfrm>
            <a:off x="1011800" y="-59174"/>
            <a:ext cx="3743325" cy="1006475"/>
          </a:xfr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r>
              <a:rPr lang="en-US" dirty="0"/>
              <a:t>Dissolve</a:t>
            </a:r>
          </a:p>
        </p:txBody>
      </p:sp>
      <p:sp>
        <p:nvSpPr>
          <p:cNvPr id="106" name="Google Shape;106;p19"/>
          <p:cNvSpPr txBox="1"/>
          <p:nvPr/>
        </p:nvSpPr>
        <p:spPr>
          <a:xfrm>
            <a:off x="5761100" y="2480333"/>
            <a:ext cx="5692000" cy="615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endParaRPr sz="2400"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07" name="Google Shape;107;p19"/>
          <p:cNvSpPr txBox="1"/>
          <p:nvPr/>
        </p:nvSpPr>
        <p:spPr>
          <a:xfrm>
            <a:off x="1011800" y="783819"/>
            <a:ext cx="10168400" cy="984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2400" dirty="0">
                <a:latin typeface="Average"/>
                <a:ea typeface="Average"/>
                <a:cs typeface="Average"/>
                <a:sym typeface="Average"/>
              </a:rPr>
              <a:t>Combines observations, often based on a categorical variable (e.g., census blocks by school attendance zone)</a:t>
            </a:r>
            <a:endParaRPr dirty="0"/>
          </a:p>
        </p:txBody>
      </p:sp>
      <p:sp>
        <p:nvSpPr>
          <p:cNvPr id="108" name="Google Shape;108;p19"/>
          <p:cNvSpPr txBox="1"/>
          <p:nvPr/>
        </p:nvSpPr>
        <p:spPr>
          <a:xfrm>
            <a:off x="9118913" y="6331172"/>
            <a:ext cx="1186000" cy="615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2400" u="sng" dirty="0">
                <a:solidFill>
                  <a:schemeClr val="hlink"/>
                </a:solidFill>
                <a:hlinkClick r:id="rId3"/>
              </a:rPr>
              <a:t>Link</a:t>
            </a:r>
            <a:endParaRPr sz="2400" dirty="0"/>
          </a:p>
        </p:txBody>
      </p:sp>
      <p:pic>
        <p:nvPicPr>
          <p:cNvPr id="1026" name="Picture 2" descr="Dissolve tool illustration">
            <a:extLst>
              <a:ext uri="{FF2B5EF4-FFF2-40B4-BE49-F238E27FC236}">
                <a16:creationId xmlns:a16="http://schemas.microsoft.com/office/drawing/2014/main" id="{74CDD789-FBB6-4F8A-BA6F-A291577F38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7728" y="2624586"/>
            <a:ext cx="7712181" cy="2580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0"/>
          <p:cNvSpPr txBox="1">
            <a:spLocks noGrp="1"/>
          </p:cNvSpPr>
          <p:nvPr>
            <p:ph type="title"/>
          </p:nvPr>
        </p:nvSpPr>
        <p:spPr>
          <a:xfrm>
            <a:off x="1011800" y="-132608"/>
            <a:ext cx="3743325" cy="1006475"/>
          </a:xfr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r>
              <a:rPr lang="en-US" dirty="0"/>
              <a:t>Spatial join</a:t>
            </a:r>
          </a:p>
        </p:txBody>
      </p:sp>
      <p:sp>
        <p:nvSpPr>
          <p:cNvPr id="115" name="Google Shape;115;p20"/>
          <p:cNvSpPr txBox="1"/>
          <p:nvPr/>
        </p:nvSpPr>
        <p:spPr>
          <a:xfrm>
            <a:off x="5761100" y="2480333"/>
            <a:ext cx="5692000" cy="615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endParaRPr sz="2400"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16" name="Google Shape;116;p20"/>
          <p:cNvSpPr txBox="1"/>
          <p:nvPr/>
        </p:nvSpPr>
        <p:spPr>
          <a:xfrm>
            <a:off x="1011800" y="812466"/>
            <a:ext cx="10168400" cy="861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2000" dirty="0">
                <a:latin typeface="Average"/>
                <a:ea typeface="Average"/>
                <a:cs typeface="Average"/>
                <a:sym typeface="Average"/>
              </a:rPr>
              <a:t>Combine the attributes of two features based on a spatial relationship (e.g., add county name to survey responses)</a:t>
            </a:r>
            <a:endParaRPr sz="1600" dirty="0"/>
          </a:p>
        </p:txBody>
      </p:sp>
      <p:sp>
        <p:nvSpPr>
          <p:cNvPr id="117" name="Google Shape;117;p20"/>
          <p:cNvSpPr txBox="1"/>
          <p:nvPr/>
        </p:nvSpPr>
        <p:spPr>
          <a:xfrm>
            <a:off x="10855167" y="6205100"/>
            <a:ext cx="1186000" cy="615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2400" u="sng">
                <a:solidFill>
                  <a:schemeClr val="hlink"/>
                </a:solidFill>
                <a:hlinkClick r:id="rId3"/>
              </a:rPr>
              <a:t>Link</a:t>
            </a:r>
            <a:endParaRPr sz="2400"/>
          </a:p>
        </p:txBody>
      </p:sp>
      <p:pic>
        <p:nvPicPr>
          <p:cNvPr id="118" name="Google Shape;118;p20" descr="Spatial Joins in Tableau – datavis.blo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15816" y="1951800"/>
            <a:ext cx="8560368" cy="404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2"/>
          <p:cNvSpPr txBox="1">
            <a:spLocks noGrp="1"/>
          </p:cNvSpPr>
          <p:nvPr>
            <p:ph type="title"/>
          </p:nvPr>
        </p:nvSpPr>
        <p:spPr>
          <a:xfrm>
            <a:off x="1011800" y="0"/>
            <a:ext cx="3743325" cy="1006475"/>
          </a:xfr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r>
              <a:rPr lang="en-US" dirty="0"/>
              <a:t>Union</a:t>
            </a:r>
          </a:p>
        </p:txBody>
      </p:sp>
      <p:sp>
        <p:nvSpPr>
          <p:cNvPr id="132" name="Google Shape;132;p22"/>
          <p:cNvSpPr txBox="1"/>
          <p:nvPr/>
        </p:nvSpPr>
        <p:spPr>
          <a:xfrm>
            <a:off x="5761100" y="2480333"/>
            <a:ext cx="5692000" cy="615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endParaRPr sz="2400"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33" name="Google Shape;133;p22"/>
          <p:cNvSpPr txBox="1"/>
          <p:nvPr/>
        </p:nvSpPr>
        <p:spPr>
          <a:xfrm>
            <a:off x="1011800" y="766000"/>
            <a:ext cx="10168400" cy="984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2400" dirty="0">
                <a:latin typeface="Average"/>
                <a:ea typeface="Average"/>
                <a:cs typeface="Average"/>
                <a:sym typeface="Average"/>
              </a:rPr>
              <a:t>Combine two polygon layers, often keeping all borders in both layers. (e.g., census tracts and police districts)</a:t>
            </a:r>
            <a:endParaRPr dirty="0"/>
          </a:p>
        </p:txBody>
      </p:sp>
      <p:sp>
        <p:nvSpPr>
          <p:cNvPr id="134" name="Google Shape;134;p22"/>
          <p:cNvSpPr txBox="1"/>
          <p:nvPr/>
        </p:nvSpPr>
        <p:spPr>
          <a:xfrm>
            <a:off x="8696871" y="6254175"/>
            <a:ext cx="1186000" cy="615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2400" u="sng">
                <a:solidFill>
                  <a:schemeClr val="hlink"/>
                </a:solidFill>
                <a:hlinkClick r:id="rId3"/>
              </a:rPr>
              <a:t>Link</a:t>
            </a:r>
            <a:endParaRPr sz="2400"/>
          </a:p>
        </p:txBody>
      </p:sp>
      <p:pic>
        <p:nvPicPr>
          <p:cNvPr id="135" name="Google Shape;135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17900" y="2656633"/>
            <a:ext cx="6566603" cy="33072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3"/>
          <p:cNvSpPr txBox="1">
            <a:spLocks noGrp="1"/>
          </p:cNvSpPr>
          <p:nvPr>
            <p:ph type="title"/>
          </p:nvPr>
        </p:nvSpPr>
        <p:spPr>
          <a:xfrm>
            <a:off x="1142999" y="472708"/>
            <a:ext cx="10759867" cy="1007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r>
              <a:rPr lang="en" sz="3600"/>
              <a:t>Which spatial function should be used?</a:t>
            </a:r>
            <a:endParaRPr sz="3600"/>
          </a:p>
        </p:txBody>
      </p:sp>
      <p:sp>
        <p:nvSpPr>
          <p:cNvPr id="141" name="Google Shape;141;p23"/>
          <p:cNvSpPr txBox="1"/>
          <p:nvPr/>
        </p:nvSpPr>
        <p:spPr>
          <a:xfrm>
            <a:off x="5761100" y="2480333"/>
            <a:ext cx="5692000" cy="615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endParaRPr sz="2400"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42" name="Google Shape;142;p23"/>
          <p:cNvSpPr txBox="1"/>
          <p:nvPr/>
        </p:nvSpPr>
        <p:spPr>
          <a:xfrm>
            <a:off x="972200" y="1828582"/>
            <a:ext cx="10247600" cy="2616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609585" indent="-474121">
              <a:buClr>
                <a:schemeClr val="accent6"/>
              </a:buClr>
              <a:buSzPts val="2000"/>
              <a:buFont typeface="Average"/>
              <a:buChar char="●"/>
            </a:pPr>
            <a:r>
              <a:rPr lang="en" sz="2200" dirty="0">
                <a:latin typeface="Average"/>
                <a:ea typeface="Average"/>
                <a:cs typeface="Average"/>
                <a:sym typeface="Average"/>
              </a:rPr>
              <a:t>Identifying how many fast food restaurants are within 3 miles of a school.</a:t>
            </a:r>
            <a:endParaRPr sz="2200" dirty="0">
              <a:latin typeface="Average"/>
              <a:ea typeface="Average"/>
              <a:cs typeface="Average"/>
              <a:sym typeface="Average"/>
            </a:endParaRPr>
          </a:p>
          <a:p>
            <a:pPr marL="609585" indent="-474121">
              <a:buClr>
                <a:schemeClr val="accent6"/>
              </a:buClr>
              <a:buSzPts val="2000"/>
              <a:buFont typeface="Average"/>
              <a:buChar char="●"/>
            </a:pPr>
            <a:r>
              <a:rPr lang="en" sz="2200" dirty="0">
                <a:latin typeface="Average"/>
                <a:ea typeface="Average"/>
                <a:cs typeface="Average"/>
                <a:sym typeface="Average"/>
              </a:rPr>
              <a:t>Cutting out those parts of a census tract that are NOT zoned for residential housing.</a:t>
            </a:r>
            <a:endParaRPr sz="2200" dirty="0">
              <a:latin typeface="Average"/>
              <a:ea typeface="Average"/>
              <a:cs typeface="Average"/>
              <a:sym typeface="Average"/>
            </a:endParaRPr>
          </a:p>
          <a:p>
            <a:pPr marL="609585" indent="-474121">
              <a:buClr>
                <a:schemeClr val="accent6"/>
              </a:buClr>
              <a:buSzPts val="2000"/>
              <a:buFont typeface="Average"/>
              <a:buChar char="●"/>
            </a:pPr>
            <a:r>
              <a:rPr lang="en" sz="2200" dirty="0">
                <a:latin typeface="Average"/>
                <a:ea typeface="Average"/>
                <a:cs typeface="Average"/>
                <a:sym typeface="Average"/>
              </a:rPr>
              <a:t>Combine local political districts with school attendance zones, creating new polygons for each unique combination of the two.</a:t>
            </a:r>
            <a:endParaRPr sz="2200" dirty="0">
              <a:latin typeface="Average"/>
              <a:ea typeface="Average"/>
              <a:cs typeface="Average"/>
              <a:sym typeface="Average"/>
            </a:endParaRPr>
          </a:p>
          <a:p>
            <a:pPr marL="609585" indent="-474121">
              <a:buClr>
                <a:schemeClr val="accent6"/>
              </a:buClr>
              <a:buSzPts val="2000"/>
              <a:buFont typeface="Average"/>
              <a:buChar char="●"/>
            </a:pPr>
            <a:r>
              <a:rPr lang="en" sz="2200" dirty="0">
                <a:latin typeface="Average"/>
                <a:ea typeface="Average"/>
                <a:cs typeface="Average"/>
                <a:sym typeface="Average"/>
              </a:rPr>
              <a:t>Creating a new country polygon from a dataset showing its state boundaries.</a:t>
            </a:r>
            <a:endParaRPr sz="2200" dirty="0"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43" name="Google Shape;143;p23"/>
          <p:cNvSpPr txBox="1"/>
          <p:nvPr/>
        </p:nvSpPr>
        <p:spPr>
          <a:xfrm>
            <a:off x="2108567" y="4836233"/>
            <a:ext cx="3379600" cy="21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609585" indent="-482588">
              <a:buClr>
                <a:schemeClr val="dk1"/>
              </a:buClr>
              <a:buSzPts val="2100"/>
              <a:buFont typeface="Average"/>
              <a:buChar char="➔"/>
            </a:pPr>
            <a:r>
              <a:rPr lang="en" sz="28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Buffer</a:t>
            </a:r>
            <a:endParaRPr sz="280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609585" indent="-482588">
              <a:buClr>
                <a:schemeClr val="dk1"/>
              </a:buClr>
              <a:buSzPts val="2100"/>
              <a:buFont typeface="Average"/>
              <a:buChar char="➔"/>
            </a:pPr>
            <a:r>
              <a:rPr lang="en" sz="28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Clip</a:t>
            </a:r>
            <a:endParaRPr sz="280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609585" indent="-482588">
              <a:buClr>
                <a:schemeClr val="dk1"/>
              </a:buClr>
              <a:buSzPts val="2100"/>
              <a:buFont typeface="Average"/>
              <a:buChar char="➔"/>
            </a:pPr>
            <a:r>
              <a:rPr lang="en" sz="28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Spatial Join</a:t>
            </a:r>
            <a:endParaRPr sz="280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44" name="Google Shape;144;p23"/>
          <p:cNvSpPr txBox="1"/>
          <p:nvPr/>
        </p:nvSpPr>
        <p:spPr>
          <a:xfrm>
            <a:off x="5315200" y="4885667"/>
            <a:ext cx="4000000" cy="1477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609585" indent="-482588">
              <a:buClr>
                <a:schemeClr val="dk1"/>
              </a:buClr>
              <a:buSzPts val="2100"/>
              <a:buFont typeface="Average"/>
              <a:buChar char="➔"/>
            </a:pPr>
            <a:r>
              <a:rPr lang="en" sz="28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Dissolve</a:t>
            </a:r>
            <a:endParaRPr sz="280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609585" indent="-482588">
              <a:buClr>
                <a:schemeClr val="dk1"/>
              </a:buClr>
              <a:buSzPts val="2100"/>
              <a:buFont typeface="Average"/>
              <a:buChar char="➔"/>
            </a:pPr>
            <a:r>
              <a:rPr lang="en" sz="28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Union</a:t>
            </a:r>
            <a:endParaRPr sz="280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  <a:p>
            <a:endParaRPr sz="2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228BA9B-105D-4849-AE27-17E02D240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try them out!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8B7E32-DFB4-46C2-B3CD-59A172272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9</a:t>
            </a:fld>
            <a:endParaRPr lang="e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3B24761-5F9C-4F07-B320-728F62700A2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262" t="3785" r="4463" b="11186"/>
          <a:stretch/>
        </p:blipFill>
        <p:spPr>
          <a:xfrm>
            <a:off x="4208015" y="1944210"/>
            <a:ext cx="6462944" cy="4110361"/>
          </a:xfrm>
          <a:prstGeom prst="rect">
            <a:avLst/>
          </a:prstGeom>
          <a:ln>
            <a:solidFill>
              <a:schemeClr val="tx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10647633"/>
      </p:ext>
    </p:extLst>
  </p:cSld>
  <p:clrMapOvr>
    <a:masterClrMapping/>
  </p:clrMapOvr>
</p:sld>
</file>

<file path=ppt/theme/theme1.xml><?xml version="1.0" encoding="utf-8"?>
<a:theme xmlns:a="http://schemas.openxmlformats.org/drawingml/2006/main" name="4300 theme">
  <a:themeElements>
    <a:clrScheme name="Custom 5">
      <a:dk1>
        <a:srgbClr val="3F3F3F"/>
      </a:dk1>
      <a:lt1>
        <a:sysClr val="window" lastClr="FFFFFF"/>
      </a:lt1>
      <a:dk2>
        <a:srgbClr val="637052"/>
      </a:dk2>
      <a:lt2>
        <a:srgbClr val="CCDDEA"/>
      </a:lt2>
      <a:accent1>
        <a:srgbClr val="E5A99F"/>
      </a:accent1>
      <a:accent2>
        <a:srgbClr val="B23838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Custom 1">
      <a:majorFont>
        <a:latin typeface="Sitka Display Semibold"/>
        <a:ea typeface=""/>
        <a:cs typeface=""/>
      </a:majorFont>
      <a:minorFont>
        <a:latin typeface="Segoe UI"/>
        <a:ea typeface=""/>
        <a:cs typeface="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g4300_L01-Introductions" id="{FA51A00F-822B-41B5-AA4A-2C123A5E9355}" vid="{2F9C99DD-B25B-4D9F-92B4-7DCE57BD0F4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</TotalTime>
  <Words>242</Words>
  <Application>Microsoft Office PowerPoint</Application>
  <PresentationFormat>Widescreen</PresentationFormat>
  <Paragraphs>33</Paragraphs>
  <Slides>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Average</vt:lpstr>
      <vt:lpstr>Calibri</vt:lpstr>
      <vt:lpstr>Segoe UI</vt:lpstr>
      <vt:lpstr>Sitka Display Semibold</vt:lpstr>
      <vt:lpstr>4300 theme</vt:lpstr>
      <vt:lpstr>Visualizing and describing spatial data</vt:lpstr>
      <vt:lpstr>What is a spatial operation?</vt:lpstr>
      <vt:lpstr>Buffer</vt:lpstr>
      <vt:lpstr>Clip</vt:lpstr>
      <vt:lpstr>Dissolve</vt:lpstr>
      <vt:lpstr>Spatial join</vt:lpstr>
      <vt:lpstr>Union</vt:lpstr>
      <vt:lpstr>Which spatial function should be used?</vt:lpstr>
      <vt:lpstr>Let’s try them out!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Spatial data</dc:title>
  <dc:creator>Gerald Shannon</dc:creator>
  <cp:lastModifiedBy>Jerry Shannon</cp:lastModifiedBy>
  <cp:revision>75</cp:revision>
  <dcterms:modified xsi:type="dcterms:W3CDTF">2026-09-29T19:53:17Z</dcterms:modified>
</cp:coreProperties>
</file>