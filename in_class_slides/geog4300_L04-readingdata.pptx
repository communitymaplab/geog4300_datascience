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32" r:id="rId1"/>
  </p:sldMasterIdLst>
  <p:notesMasterIdLst>
    <p:notesMasterId r:id="rId15"/>
  </p:notesMasterIdLst>
  <p:sldIdLst>
    <p:sldId id="256" r:id="rId2"/>
    <p:sldId id="262" r:id="rId3"/>
    <p:sldId id="274" r:id="rId4"/>
    <p:sldId id="275" r:id="rId5"/>
    <p:sldId id="276" r:id="rId6"/>
    <p:sldId id="272" r:id="rId7"/>
    <p:sldId id="280" r:id="rId8"/>
    <p:sldId id="281" r:id="rId9"/>
    <p:sldId id="270" r:id="rId10"/>
    <p:sldId id="271" r:id="rId11"/>
    <p:sldId id="277" r:id="rId12"/>
    <p:sldId id="278" r:id="rId13"/>
    <p:sldId id="27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66"/>
    <a:srgbClr val="CC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4572" autoAdjust="0"/>
    <p:restoredTop sz="86396" autoAdjust="0"/>
  </p:normalViewPr>
  <p:slideViewPr>
    <p:cSldViewPr snapToGrid="0">
      <p:cViewPr varScale="1">
        <p:scale>
          <a:sx n="136" d="100"/>
          <a:sy n="136" d="100"/>
        </p:scale>
        <p:origin x="672" y="114"/>
      </p:cViewPr>
      <p:guideLst/>
    </p:cSldViewPr>
  </p:slideViewPr>
  <p:outlineViewPr>
    <p:cViewPr>
      <p:scale>
        <a:sx n="33" d="100"/>
        <a:sy n="33" d="100"/>
      </p:scale>
      <p:origin x="0" y="-2802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Shape 4"/>
          <p:cNvSpPr txBox="1">
            <a:spLocks noGrp="1"/>
          </p:cNvSpPr>
          <p:nvPr>
            <p:ph type="dt" idx="10"/>
          </p:nvPr>
        </p:nvSpPr>
        <p:spPr>
          <a:xfrm>
            <a:off x="3884612" y="0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Shape 5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" name="Shape 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Shape 7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Shape 8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B84F3F-161C-D647-9920-F983A7A8B54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5732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B84F3F-161C-D647-9920-F983A7A8B54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4817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B84F3F-161C-D647-9920-F983A7A8B54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30527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B84F3F-161C-D647-9920-F983A7A8B54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8245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Think of it as a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bridge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that connects two systems—such as a client and a server—and enables them to work together seamlessly.</a:t>
            </a:r>
          </a:p>
          <a:p>
            <a:pPr rtl="0"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 understand it better, imagine you're at a restaurant: the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waiter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(API) takes your order (request), gives it to the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chef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(server), and then brings the prepared food (response) back to your table. Similarly, when you search for a course on a website, your request goes through an API, which then fetches the data from the database and sends it back as a response.</a:t>
            </a:r>
          </a:p>
          <a:p>
            <a:endParaRPr lang="en-US" dirty="0"/>
          </a:p>
          <a:p>
            <a:pPr rtl="0"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APIs work in a simple step-by-step process:</a:t>
            </a:r>
          </a:p>
          <a:p>
            <a:pPr fontAlgn="base"/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Request: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client (user) sends a request through the API's URI (Uniform Resource Identifier).</a:t>
            </a:r>
          </a:p>
          <a:p>
            <a:pPr fontAlgn="base"/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Processing: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The API forwards the request to the server.</a:t>
            </a:r>
          </a:p>
          <a:p>
            <a:pPr fontAlgn="base"/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Response: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The server processes the request and sends the response back to the API.</a:t>
            </a:r>
          </a:p>
          <a:p>
            <a:pPr fontAlgn="base"/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Delivery: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The API returns the server's response to the client.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B84F3F-161C-D647-9920-F983A7A8B54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0843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6400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142212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7414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12942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06843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583480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96197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6682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15616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416505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42414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87943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</a:schemeClr>
          </a:solidFill>
          <a:latin typeface="Sitka Display Semibold" pitchFamily="2" charset="0"/>
          <a:ea typeface="+mj-ea"/>
          <a:cs typeface="+mj-cs"/>
        </a:defRPr>
      </a:lvl1pPr>
    </p:titleStyle>
    <p:bodyStyle>
      <a:lvl1pPr marL="233363" indent="-233363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>
            <a:lumMod val="75000"/>
          </a:schemeClr>
        </a:buClr>
        <a:buSzPct val="100000"/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</a:schemeClr>
          </a:solidFill>
          <a:latin typeface="Segoe UI" panose="020B0502040204020203" pitchFamily="34" charset="0"/>
          <a:ea typeface="Open Sans Medium" pitchFamily="2" charset="0"/>
          <a:cs typeface="Segoe UI" panose="020B0502040204020203" pitchFamily="34" charset="0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>
            <a:lumMod val="75000"/>
          </a:schemeClr>
        </a:buClr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</a:schemeClr>
          </a:solidFill>
          <a:latin typeface="Segoe UI" panose="020B0502040204020203" pitchFamily="34" charset="0"/>
          <a:ea typeface="Open Sans Medium" pitchFamily="2" charset="0"/>
          <a:cs typeface="Segoe UI" panose="020B0502040204020203" pitchFamily="34" charset="0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</a:schemeClr>
          </a:solidFill>
          <a:latin typeface="Segoe UI" panose="020B0502040204020203" pitchFamily="34" charset="0"/>
          <a:ea typeface="Open Sans Medium" pitchFamily="2" charset="0"/>
          <a:cs typeface="Segoe UI" panose="020B0502040204020203" pitchFamily="34" charset="0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</a:schemeClr>
          </a:solidFill>
          <a:latin typeface="Segoe UI" panose="020B0502040204020203" pitchFamily="34" charset="0"/>
          <a:ea typeface="Open Sans Medium" pitchFamily="2" charset="0"/>
          <a:cs typeface="Segoe UI" panose="020B0502040204020203" pitchFamily="34" charset="0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</a:schemeClr>
          </a:solidFill>
          <a:latin typeface="Segoe UI" panose="020B0502040204020203" pitchFamily="34" charset="0"/>
          <a:ea typeface="Open Sans Medium" pitchFamily="2" charset="0"/>
          <a:cs typeface="Segoe UI" panose="020B0502040204020203" pitchFamily="34" charset="0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B63C4-13EF-D49B-BFA7-7F975EFBC1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Reading data in 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D0352E-39EB-2697-F62C-A8F0E3F55A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79"/>
            <a:ext cx="8825658" cy="1475139"/>
          </a:xfrm>
        </p:spPr>
        <p:txBody>
          <a:bodyPr>
            <a:normAutofit/>
          </a:bodyPr>
          <a:lstStyle/>
          <a:p>
            <a:r>
              <a:rPr lang="en-US" dirty="0"/>
              <a:t>GEOG4300 /6300: Intro to data science</a:t>
            </a:r>
          </a:p>
          <a:p>
            <a:r>
              <a:rPr lang="en-US" dirty="0"/>
              <a:t>Prof. Jerry Shannon</a:t>
            </a:r>
          </a:p>
        </p:txBody>
      </p:sp>
    </p:spTree>
    <p:extLst>
      <p:ext uri="{BB962C8B-B14F-4D97-AF65-F5344CB8AC3E}">
        <p14:creationId xmlns:p14="http://schemas.microsoft.com/office/powerpoint/2010/main" val="38909508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32254-4A0C-5998-C72F-381AF98A5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to be aware of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120EED-E368-D3A5-6DC2-EECF90CC1E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Lab 0 is due Friday September 4</a:t>
            </a:r>
          </a:p>
          <a:p>
            <a:pPr lvl="1"/>
            <a:r>
              <a:rPr lang="en-US" sz="2800" dirty="0"/>
              <a:t>We’ll start on this on Friday. </a:t>
            </a:r>
          </a:p>
          <a:p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5629039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32254-4A0C-5998-C72F-381AF98A5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Assigned reading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120EED-E368-D3A5-6DC2-EECF90CC1E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9674" y="1845734"/>
            <a:ext cx="5394325" cy="40233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Locate a csv dataset on our course data page. Download and open it.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r>
              <a:rPr lang="en-US" sz="3200" dirty="0"/>
              <a:t>Classify each column as nominal, ordinal, interval, or ratio.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CDC862-A97C-490D-A536-D256E807B6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335" y="286603"/>
            <a:ext cx="5529905" cy="4691797"/>
          </a:xfrm>
          <a:prstGeom prst="rect">
            <a:avLst/>
          </a:prstGeom>
          <a:ln w="1905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764968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32254-4A0C-5998-C72F-381AF98A5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 variable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120EED-E368-D3A5-6DC2-EECF90CC1E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29360" y="1845734"/>
            <a:ext cx="5090161" cy="40233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For these variables, how do you think R would read them?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419C1CA-2073-4E1A-AD04-5F045C7181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5898021"/>
              </p:ext>
            </p:extLst>
          </p:nvPr>
        </p:nvGraphicFramePr>
        <p:xfrm>
          <a:off x="6705600" y="2384214"/>
          <a:ext cx="5222241" cy="3756240"/>
        </p:xfrm>
        <a:graphic>
          <a:graphicData uri="http://schemas.openxmlformats.org/drawingml/2006/table">
            <a:tbl>
              <a:tblPr/>
              <a:tblGrid>
                <a:gridCol w="1595121">
                  <a:extLst>
                    <a:ext uri="{9D8B030D-6E8A-4147-A177-3AD203B41FA5}">
                      <a16:colId xmlns:a16="http://schemas.microsoft.com/office/drawing/2014/main" val="2559440208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1681699256"/>
                    </a:ext>
                  </a:extLst>
                </a:gridCol>
              </a:tblGrid>
              <a:tr h="375624">
                <a:tc>
                  <a:txBody>
                    <a:bodyPr/>
                    <a:lstStyle/>
                    <a:p>
                      <a:r>
                        <a:rPr lang="en-US" sz="1800" b="1">
                          <a:effectLst/>
                        </a:rPr>
                        <a:t>Abbreviation</a:t>
                      </a:r>
                    </a:p>
                  </a:txBody>
                  <a:tcPr marL="91426" marR="91426" marT="45713" marB="45713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Type</a:t>
                      </a:r>
                    </a:p>
                  </a:txBody>
                  <a:tcPr marL="91426" marR="91426" marT="45713" marB="45713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2125653"/>
                  </a:ext>
                </a:extLst>
              </a:tr>
              <a:tr h="37562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chr</a:t>
                      </a:r>
                    </a:p>
                  </a:txBody>
                  <a:tcPr marL="91426" marR="91426" marT="45713" marB="45713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character</a:t>
                      </a:r>
                    </a:p>
                  </a:txBody>
                  <a:tcPr marL="91426" marR="91426" marT="45713" marB="45713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9710345"/>
                  </a:ext>
                </a:extLst>
              </a:tr>
              <a:tr h="375624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int</a:t>
                      </a:r>
                    </a:p>
                  </a:txBody>
                  <a:tcPr marL="91426" marR="91426" marT="45713" marB="45713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integer</a:t>
                      </a:r>
                    </a:p>
                  </a:txBody>
                  <a:tcPr marL="91426" marR="91426" marT="45713" marB="45713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645475"/>
                  </a:ext>
                </a:extLst>
              </a:tr>
              <a:tr h="37562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dbl</a:t>
                      </a:r>
                    </a:p>
                  </a:txBody>
                  <a:tcPr marL="91426" marR="91426" marT="45713" marB="45713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double (numeric with decimals)</a:t>
                      </a:r>
                    </a:p>
                  </a:txBody>
                  <a:tcPr marL="91426" marR="91426" marT="45713" marB="45713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4783920"/>
                  </a:ext>
                </a:extLst>
              </a:tr>
              <a:tr h="37562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lgl</a:t>
                      </a:r>
                    </a:p>
                  </a:txBody>
                  <a:tcPr marL="91426" marR="91426" marT="45713" marB="45713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logical (TRUE/FALSE)</a:t>
                      </a:r>
                    </a:p>
                  </a:txBody>
                  <a:tcPr marL="91426" marR="91426" marT="45713" marB="45713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496402"/>
                  </a:ext>
                </a:extLst>
              </a:tr>
              <a:tr h="37562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fct</a:t>
                      </a:r>
                    </a:p>
                  </a:txBody>
                  <a:tcPr marL="91426" marR="91426" marT="45713" marB="45713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factor</a:t>
                      </a:r>
                    </a:p>
                  </a:txBody>
                  <a:tcPr marL="91426" marR="91426" marT="45713" marB="45713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669342"/>
                  </a:ext>
                </a:extLst>
              </a:tr>
              <a:tr h="37562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date</a:t>
                      </a:r>
                    </a:p>
                  </a:txBody>
                  <a:tcPr marL="91426" marR="91426" marT="45713" marB="45713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Date</a:t>
                      </a:r>
                    </a:p>
                  </a:txBody>
                  <a:tcPr marL="91426" marR="91426" marT="45713" marB="45713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0887926"/>
                  </a:ext>
                </a:extLst>
              </a:tr>
              <a:tr h="37562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dttm</a:t>
                      </a:r>
                    </a:p>
                  </a:txBody>
                  <a:tcPr marL="91426" marR="91426" marT="45713" marB="45713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date-time (POSIXct)</a:t>
                      </a:r>
                    </a:p>
                  </a:txBody>
                  <a:tcPr marL="91426" marR="91426" marT="45713" marB="45713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5744067"/>
                  </a:ext>
                </a:extLst>
              </a:tr>
              <a:tr h="37562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time</a:t>
                      </a:r>
                    </a:p>
                  </a:txBody>
                  <a:tcPr marL="91426" marR="91426" marT="45713" marB="45713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time (hms)</a:t>
                      </a:r>
                    </a:p>
                  </a:txBody>
                  <a:tcPr marL="91426" marR="91426" marT="45713" marB="45713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3420464"/>
                  </a:ext>
                </a:extLst>
              </a:tr>
              <a:tr h="37562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list</a:t>
                      </a:r>
                    </a:p>
                  </a:txBody>
                  <a:tcPr marL="91426" marR="91426" marT="45713" marB="45713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list column</a:t>
                      </a:r>
                    </a:p>
                  </a:txBody>
                  <a:tcPr marL="91426" marR="91426" marT="45713" marB="45713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53293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53950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32254-4A0C-5998-C72F-381AF98A5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 variable types </a:t>
            </a:r>
            <a:r>
              <a:rPr lang="en-US" dirty="0" err="1"/>
              <a:t>pt</a:t>
            </a:r>
            <a:r>
              <a:rPr lang="en-US" dirty="0"/>
              <a:t>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120EED-E368-D3A5-6DC2-EECF90CC1E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29360" y="1845734"/>
            <a:ext cx="5090161" cy="40233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For these variables, how do you think R would read them?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419C1CA-2073-4E1A-AD04-5F045C7181C5}"/>
              </a:ext>
            </a:extLst>
          </p:cNvPr>
          <p:cNvGraphicFramePr>
            <a:graphicFrameLocks noGrp="1"/>
          </p:cNvGraphicFramePr>
          <p:nvPr/>
        </p:nvGraphicFramePr>
        <p:xfrm>
          <a:off x="6705600" y="2384214"/>
          <a:ext cx="5222241" cy="3756240"/>
        </p:xfrm>
        <a:graphic>
          <a:graphicData uri="http://schemas.openxmlformats.org/drawingml/2006/table">
            <a:tbl>
              <a:tblPr/>
              <a:tblGrid>
                <a:gridCol w="1595121">
                  <a:extLst>
                    <a:ext uri="{9D8B030D-6E8A-4147-A177-3AD203B41FA5}">
                      <a16:colId xmlns:a16="http://schemas.microsoft.com/office/drawing/2014/main" val="2559440208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1681699256"/>
                    </a:ext>
                  </a:extLst>
                </a:gridCol>
              </a:tblGrid>
              <a:tr h="375624">
                <a:tc>
                  <a:txBody>
                    <a:bodyPr/>
                    <a:lstStyle/>
                    <a:p>
                      <a:r>
                        <a:rPr lang="en-US" sz="1800" b="1">
                          <a:effectLst/>
                        </a:rPr>
                        <a:t>Abbreviation</a:t>
                      </a:r>
                    </a:p>
                  </a:txBody>
                  <a:tcPr marL="91426" marR="91426" marT="45713" marB="45713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Type</a:t>
                      </a:r>
                    </a:p>
                  </a:txBody>
                  <a:tcPr marL="91426" marR="91426" marT="45713" marB="45713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2125653"/>
                  </a:ext>
                </a:extLst>
              </a:tr>
              <a:tr h="37562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chr</a:t>
                      </a:r>
                    </a:p>
                  </a:txBody>
                  <a:tcPr marL="91426" marR="91426" marT="45713" marB="45713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character</a:t>
                      </a:r>
                    </a:p>
                  </a:txBody>
                  <a:tcPr marL="91426" marR="91426" marT="45713" marB="45713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9710345"/>
                  </a:ext>
                </a:extLst>
              </a:tr>
              <a:tr h="375624"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int</a:t>
                      </a:r>
                    </a:p>
                  </a:txBody>
                  <a:tcPr marL="91426" marR="91426" marT="45713" marB="45713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integer</a:t>
                      </a:r>
                    </a:p>
                  </a:txBody>
                  <a:tcPr marL="91426" marR="91426" marT="45713" marB="45713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6645475"/>
                  </a:ext>
                </a:extLst>
              </a:tr>
              <a:tr h="37562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dbl</a:t>
                      </a:r>
                    </a:p>
                  </a:txBody>
                  <a:tcPr marL="91426" marR="91426" marT="45713" marB="45713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double (numeric with decimals)</a:t>
                      </a:r>
                    </a:p>
                  </a:txBody>
                  <a:tcPr marL="91426" marR="91426" marT="45713" marB="45713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4783920"/>
                  </a:ext>
                </a:extLst>
              </a:tr>
              <a:tr h="37562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lgl</a:t>
                      </a:r>
                    </a:p>
                  </a:txBody>
                  <a:tcPr marL="91426" marR="91426" marT="45713" marB="45713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logical (TRUE/FALSE)</a:t>
                      </a:r>
                    </a:p>
                  </a:txBody>
                  <a:tcPr marL="91426" marR="91426" marT="45713" marB="45713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496402"/>
                  </a:ext>
                </a:extLst>
              </a:tr>
              <a:tr h="37562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fct</a:t>
                      </a:r>
                    </a:p>
                  </a:txBody>
                  <a:tcPr marL="91426" marR="91426" marT="45713" marB="45713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factor</a:t>
                      </a:r>
                    </a:p>
                  </a:txBody>
                  <a:tcPr marL="91426" marR="91426" marT="45713" marB="45713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669342"/>
                  </a:ext>
                </a:extLst>
              </a:tr>
              <a:tr h="37562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date</a:t>
                      </a:r>
                    </a:p>
                  </a:txBody>
                  <a:tcPr marL="91426" marR="91426" marT="45713" marB="45713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Date</a:t>
                      </a:r>
                    </a:p>
                  </a:txBody>
                  <a:tcPr marL="91426" marR="91426" marT="45713" marB="45713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0887926"/>
                  </a:ext>
                </a:extLst>
              </a:tr>
              <a:tr h="37562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dttm</a:t>
                      </a:r>
                    </a:p>
                  </a:txBody>
                  <a:tcPr marL="91426" marR="91426" marT="45713" marB="45713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date-time (POSIXct)</a:t>
                      </a:r>
                    </a:p>
                  </a:txBody>
                  <a:tcPr marL="91426" marR="91426" marT="45713" marB="45713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5744067"/>
                  </a:ext>
                </a:extLst>
              </a:tr>
              <a:tr h="37562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time</a:t>
                      </a:r>
                    </a:p>
                  </a:txBody>
                  <a:tcPr marL="91426" marR="91426" marT="45713" marB="45713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time (hms)</a:t>
                      </a:r>
                    </a:p>
                  </a:txBody>
                  <a:tcPr marL="91426" marR="91426" marT="45713" marB="45713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3420464"/>
                  </a:ext>
                </a:extLst>
              </a:tr>
              <a:tr h="375624">
                <a:tc>
                  <a:txBody>
                    <a:bodyPr/>
                    <a:lstStyle/>
                    <a:p>
                      <a:r>
                        <a:rPr lang="en-US" sz="1800">
                          <a:effectLst/>
                        </a:rPr>
                        <a:t>list</a:t>
                      </a:r>
                    </a:p>
                  </a:txBody>
                  <a:tcPr marL="91426" marR="91426" marT="45713" marB="45713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effectLst/>
                        </a:rPr>
                        <a:t>list column</a:t>
                      </a:r>
                    </a:p>
                  </a:txBody>
                  <a:tcPr marL="91426" marR="91426" marT="45713" marB="45713" anchor="ctr">
                    <a:lnL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532932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B33B3D4-09FA-41C1-9F58-7D457AFACAA3}"/>
              </a:ext>
            </a:extLst>
          </p:cNvPr>
          <p:cNvSpPr txBox="1"/>
          <p:nvPr/>
        </p:nvSpPr>
        <p:spPr>
          <a:xfrm>
            <a:off x="1097280" y="3857414"/>
            <a:ext cx="4990465" cy="187285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Try it out!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Use `</a:t>
            </a:r>
            <a:r>
              <a:rPr lang="en-US" sz="2000" dirty="0" err="1">
                <a:solidFill>
                  <a:schemeClr val="bg1"/>
                </a:solidFill>
              </a:rPr>
              <a:t>read_csv</a:t>
            </a:r>
            <a:r>
              <a:rPr lang="en-US" sz="2000" dirty="0">
                <a:solidFill>
                  <a:schemeClr val="bg1"/>
                </a:solidFill>
              </a:rPr>
              <a:t>` to load this data into R.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Use `str` or `glimpse` to inspect them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Do the abbreviations match your predictions?</a:t>
            </a:r>
          </a:p>
        </p:txBody>
      </p:sp>
    </p:spTree>
    <p:extLst>
      <p:ext uri="{BB962C8B-B14F-4D97-AF65-F5344CB8AC3E}">
        <p14:creationId xmlns:p14="http://schemas.microsoft.com/office/powerpoint/2010/main" val="6741868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ABAF7-6D45-4663-AD5F-41C4461AD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other file types do you see in our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7CFF49-6B41-4AE0-A375-7006BBA9A1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971040"/>
            <a:ext cx="10058400" cy="2194560"/>
          </a:xfrm>
        </p:spPr>
        <p:txBody>
          <a:bodyPr>
            <a:normAutofit/>
          </a:bodyPr>
          <a:lstStyle/>
          <a:p>
            <a:r>
              <a:rPr lang="en-US" sz="3200" dirty="0"/>
              <a:t>Full name of the file type</a:t>
            </a:r>
          </a:p>
          <a:p>
            <a:r>
              <a:rPr lang="en-US" sz="3200" dirty="0"/>
              <a:t>Its extension (e.g., “.csv”)</a:t>
            </a:r>
          </a:p>
          <a:p>
            <a:r>
              <a:rPr lang="en-US" sz="3200" dirty="0"/>
              <a:t>What it’s used for</a:t>
            </a:r>
          </a:p>
          <a:p>
            <a:endParaRPr lang="en-US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A95856-95F6-4516-A21E-BF7FF5FE8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6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173307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A95856-95F6-4516-A21E-BF7FF5FE8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7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 descr="Data Structures in R | Data structures, Machine learning, Coding">
            <a:extLst>
              <a:ext uri="{FF2B5EF4-FFF2-40B4-BE49-F238E27FC236}">
                <a16:creationId xmlns:a16="http://schemas.microsoft.com/office/drawing/2014/main" id="{7E2B856E-9436-45CE-AC1C-C0CA5B30B4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483" b="7699"/>
          <a:stretch/>
        </p:blipFill>
        <p:spPr bwMode="auto">
          <a:xfrm>
            <a:off x="1824644" y="93518"/>
            <a:ext cx="8267700" cy="6764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E46B4B68-42FB-4F79-B34C-DA35FF16A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 Data structures</a:t>
            </a:r>
          </a:p>
        </p:txBody>
      </p:sp>
    </p:spTree>
    <p:extLst>
      <p:ext uri="{BB962C8B-B14F-4D97-AF65-F5344CB8AC3E}">
        <p14:creationId xmlns:p14="http://schemas.microsoft.com/office/powerpoint/2010/main" val="32011493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46B4B68-42FB-4F79-B34C-DA35FF16A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 Data structures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7F1E0BA-614F-4E69-A316-FEE7CECD46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Open the dataset you download in Excel/Google Sheets</a:t>
            </a:r>
          </a:p>
          <a:p>
            <a:r>
              <a:rPr lang="en-US" dirty="0"/>
              <a:t>How could you extract a </a:t>
            </a:r>
            <a:r>
              <a:rPr lang="en-US" b="1" i="1" dirty="0"/>
              <a:t>vector</a:t>
            </a:r>
            <a:r>
              <a:rPr lang="en-US" dirty="0"/>
              <a:t> from this data?</a:t>
            </a:r>
          </a:p>
          <a:p>
            <a:r>
              <a:rPr lang="en-US" dirty="0"/>
              <a:t>How could you extract a </a:t>
            </a:r>
            <a:r>
              <a:rPr lang="en-US" b="1" i="1" dirty="0"/>
              <a:t>matrix</a:t>
            </a:r>
            <a:r>
              <a:rPr lang="en-US" dirty="0"/>
              <a:t> from this data?</a:t>
            </a:r>
          </a:p>
          <a:p>
            <a:r>
              <a:rPr lang="en-US" dirty="0"/>
              <a:t>How might this data become an </a:t>
            </a:r>
            <a:r>
              <a:rPr lang="en-US" b="1" i="1" dirty="0"/>
              <a:t>array</a:t>
            </a:r>
            <a:r>
              <a:rPr lang="en-US" dirty="0"/>
              <a:t>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A95856-95F6-4516-A21E-BF7FF5FE8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8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2810620-8FA8-4FDE-8C7B-31FBAC6A01F2}"/>
              </a:ext>
            </a:extLst>
          </p:cNvPr>
          <p:cNvSpPr txBox="1">
            <a:spLocks/>
          </p:cNvSpPr>
          <p:nvPr/>
        </p:nvSpPr>
        <p:spPr>
          <a:xfrm>
            <a:off x="1097280" y="286603"/>
            <a:ext cx="10058400" cy="1196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</a:schemeClr>
                </a:solidFill>
                <a:latin typeface="Sitka Display Semibold" pitchFamily="2" charset="0"/>
                <a:ea typeface="+mj-ea"/>
                <a:cs typeface="+mj-cs"/>
              </a:defRPr>
            </a:lvl1pPr>
          </a:lstStyle>
          <a:p>
            <a:r>
              <a:rPr lang="en-US" sz="4000" dirty="0"/>
              <a:t>Data transformations</a:t>
            </a:r>
          </a:p>
        </p:txBody>
      </p:sp>
      <p:pic>
        <p:nvPicPr>
          <p:cNvPr id="7" name="Picture 2" descr="Data Structures in R | Data structures, Machine learning, Coding">
            <a:extLst>
              <a:ext uri="{FF2B5EF4-FFF2-40B4-BE49-F238E27FC236}">
                <a16:creationId xmlns:a16="http://schemas.microsoft.com/office/drawing/2014/main" id="{50E0224D-7FA2-48B7-AF90-F5AED03F5E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483" b="7699"/>
          <a:stretch/>
        </p:blipFill>
        <p:spPr bwMode="auto">
          <a:xfrm>
            <a:off x="7800108" y="2768849"/>
            <a:ext cx="4200699" cy="34369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706501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7F2124-7DBC-AD03-50A6-D3AC0171D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94D35-71A6-19A5-3C88-276C26169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an “API”?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4B8C7C-A8CD-E881-068E-D5835A4BE4E8}"/>
              </a:ext>
            </a:extLst>
          </p:cNvPr>
          <p:cNvSpPr txBox="1"/>
          <p:nvPr/>
        </p:nvSpPr>
        <p:spPr>
          <a:xfrm>
            <a:off x="6206864" y="1265595"/>
            <a:ext cx="4732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2">
                    <a:lumMod val="50000"/>
                  </a:schemeClr>
                </a:solidFill>
              </a:rPr>
              <a:t>Application programming interface</a:t>
            </a:r>
          </a:p>
        </p:txBody>
      </p:sp>
      <p:pic>
        <p:nvPicPr>
          <p:cNvPr id="1026" name="Picture 2" descr="What-is-an-API">
            <a:extLst>
              <a:ext uri="{FF2B5EF4-FFF2-40B4-BE49-F238E27FC236}">
                <a16:creationId xmlns:a16="http://schemas.microsoft.com/office/drawing/2014/main" id="{85ED8693-1837-4A89-A24C-ECF7028CAB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1100" y="1901825"/>
            <a:ext cx="9525000" cy="4476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2549FDB-D93F-409D-A225-3667F7B4D971}"/>
              </a:ext>
            </a:extLst>
          </p:cNvPr>
          <p:cNvSpPr txBox="1"/>
          <p:nvPr/>
        </p:nvSpPr>
        <p:spPr>
          <a:xfrm>
            <a:off x="416560" y="6417508"/>
            <a:ext cx="71932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https://www.geeksforgeeks.org/web-tech/terminologies-of-web-development/</a:t>
            </a:r>
          </a:p>
        </p:txBody>
      </p:sp>
    </p:spTree>
    <p:extLst>
      <p:ext uri="{BB962C8B-B14F-4D97-AF65-F5344CB8AC3E}">
        <p14:creationId xmlns:p14="http://schemas.microsoft.com/office/powerpoint/2010/main" val="1135782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CCD8796-2D09-4694-86CC-8E6D13491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APIs work in a step-by-step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2CD8FC-E007-2392-5465-A4C08813C8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2032000"/>
            <a:ext cx="10058400" cy="3837094"/>
          </a:xfrm>
        </p:spPr>
        <p:txBody>
          <a:bodyPr>
            <a:normAutofit/>
          </a:bodyPr>
          <a:lstStyle/>
          <a:p>
            <a:pPr lvl="1" fontAlgn="base"/>
            <a:r>
              <a:rPr lang="en-US" sz="2800" b="1" dirty="0"/>
              <a:t>Request:</a:t>
            </a:r>
            <a:r>
              <a:rPr lang="en-US" sz="2800" dirty="0"/>
              <a:t> A client (user) sends a request through the API's URI (Uniform Resource Identifier).</a:t>
            </a:r>
          </a:p>
          <a:p>
            <a:pPr lvl="1" fontAlgn="base"/>
            <a:r>
              <a:rPr lang="en-US" sz="2800" b="1" dirty="0"/>
              <a:t>Processing:</a:t>
            </a:r>
            <a:r>
              <a:rPr lang="en-US" sz="2800" dirty="0"/>
              <a:t> The API forwards the request to the server.</a:t>
            </a:r>
          </a:p>
          <a:p>
            <a:pPr lvl="1" fontAlgn="base"/>
            <a:r>
              <a:rPr lang="en-US" sz="2800" b="1" dirty="0"/>
              <a:t>Response:</a:t>
            </a:r>
            <a:r>
              <a:rPr lang="en-US" sz="2800" dirty="0"/>
              <a:t> The server processes the request and sends the response back to the API.</a:t>
            </a:r>
          </a:p>
          <a:p>
            <a:pPr lvl="1" fontAlgn="base"/>
            <a:r>
              <a:rPr lang="en-US" sz="2800" b="1" dirty="0"/>
              <a:t>Delivery:</a:t>
            </a:r>
            <a:r>
              <a:rPr lang="en-US" sz="2800" dirty="0"/>
              <a:t> The API returns the server's response to the client.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AA375F-FF6A-45C0-B0F9-F8090DF0E719}"/>
              </a:ext>
            </a:extLst>
          </p:cNvPr>
          <p:cNvSpPr txBox="1"/>
          <p:nvPr/>
        </p:nvSpPr>
        <p:spPr>
          <a:xfrm>
            <a:off x="1193800" y="5054845"/>
            <a:ext cx="9865360" cy="1015663"/>
          </a:xfrm>
          <a:prstGeom prst="rect">
            <a:avLst/>
          </a:prstGeom>
          <a:solidFill>
            <a:schemeClr val="accent2"/>
          </a:solidFill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Sometimes you need to access data from a website, rather than storing it directly on your computer. An API communicates with a server’s backend system, rather than you having to go into that computer yourself.</a:t>
            </a:r>
          </a:p>
        </p:txBody>
      </p:sp>
    </p:spTree>
    <p:extLst>
      <p:ext uri="{BB962C8B-B14F-4D97-AF65-F5344CB8AC3E}">
        <p14:creationId xmlns:p14="http://schemas.microsoft.com/office/powerpoint/2010/main" val="42146874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CCD8796-2D09-4694-86CC-8E6D134917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196757"/>
          </a:xfrm>
        </p:spPr>
        <p:txBody>
          <a:bodyPr>
            <a:normAutofit/>
          </a:bodyPr>
          <a:lstStyle/>
          <a:p>
            <a:r>
              <a:rPr lang="en-US" sz="4000" dirty="0"/>
              <a:t>Example: </a:t>
            </a:r>
            <a:r>
              <a:rPr lang="en-US" sz="4000" dirty="0" err="1"/>
              <a:t>Daymet</a:t>
            </a:r>
            <a:endParaRPr lang="en-US" sz="40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A51A4F-0A14-47F1-B545-1FF0130F26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9840" y="1845734"/>
            <a:ext cx="4947920" cy="40233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Gridded climate data from 1980-present</a:t>
            </a:r>
          </a:p>
          <a:p>
            <a:pPr marL="0" indent="0">
              <a:buNone/>
            </a:pPr>
            <a:r>
              <a:rPr lang="en-US" dirty="0"/>
              <a:t>Uses a “REST” API:</a:t>
            </a:r>
          </a:p>
          <a:p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https://daymet.ornl.gov/single-pixel/api/data?lat=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Latitude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&amp;lon=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Longitude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&amp;vars=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CommaSeparatedVariables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&amp;years=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CommaSeparatedYears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EBE4CB-6040-4D5C-A647-A9D3F82241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320" y="81280"/>
            <a:ext cx="4080466" cy="4771512"/>
          </a:xfrm>
          <a:prstGeom prst="rect">
            <a:avLst/>
          </a:prstGeom>
          <a:ln w="127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B635139-67E5-412C-B309-D8C7A5CA5BA3}"/>
              </a:ext>
            </a:extLst>
          </p:cNvPr>
          <p:cNvSpPr txBox="1"/>
          <p:nvPr/>
        </p:nvSpPr>
        <p:spPr>
          <a:xfrm>
            <a:off x="791845" y="4966719"/>
            <a:ext cx="6797040" cy="1804749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Try it for the Geography Building: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Lat: 33.948716, Long: -83.3754414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Variables: </a:t>
            </a:r>
            <a:r>
              <a:rPr lang="en-US" sz="2000" dirty="0" err="1">
                <a:solidFill>
                  <a:schemeClr val="bg1"/>
                </a:solidFill>
              </a:rPr>
              <a:t>tmax</a:t>
            </a:r>
            <a:r>
              <a:rPr lang="en-US" sz="2000" dirty="0">
                <a:solidFill>
                  <a:schemeClr val="bg1"/>
                </a:solidFill>
              </a:rPr>
              <a:t>, </a:t>
            </a:r>
            <a:r>
              <a:rPr lang="en-US" sz="2000" dirty="0" err="1">
                <a:solidFill>
                  <a:schemeClr val="bg1"/>
                </a:solidFill>
              </a:rPr>
              <a:t>tmin</a:t>
            </a:r>
            <a:r>
              <a:rPr lang="en-US" sz="2000" dirty="0">
                <a:solidFill>
                  <a:schemeClr val="bg1"/>
                </a:solidFill>
              </a:rPr>
              <a:t>, </a:t>
            </a:r>
            <a:r>
              <a:rPr lang="en-US" sz="2000" dirty="0" err="1">
                <a:solidFill>
                  <a:schemeClr val="bg1"/>
                </a:solidFill>
              </a:rPr>
              <a:t>prcp</a:t>
            </a:r>
            <a:r>
              <a:rPr lang="en-US" sz="2000" dirty="0">
                <a:solidFill>
                  <a:schemeClr val="bg1"/>
                </a:solidFill>
              </a:rPr>
              <a:t> (Max and min temperatures and precipitation in mm)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1"/>
                </a:solidFill>
              </a:rPr>
              <a:t>Years: 1990, 2000, 2010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EE24C8-B2E4-4BFE-B04D-8657307FAA48}"/>
              </a:ext>
            </a:extLst>
          </p:cNvPr>
          <p:cNvSpPr txBox="1"/>
          <p:nvPr/>
        </p:nvSpPr>
        <p:spPr>
          <a:xfrm>
            <a:off x="8111534" y="4868820"/>
            <a:ext cx="40804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https://daymet.ornl.gov/web_services</a:t>
            </a:r>
          </a:p>
        </p:txBody>
      </p:sp>
    </p:spTree>
    <p:extLst>
      <p:ext uri="{BB962C8B-B14F-4D97-AF65-F5344CB8AC3E}">
        <p14:creationId xmlns:p14="http://schemas.microsoft.com/office/powerpoint/2010/main" val="6978788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CCD8796-2D09-4694-86CC-8E6D134917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196757"/>
          </a:xfrm>
        </p:spPr>
        <p:txBody>
          <a:bodyPr>
            <a:normAutofit/>
          </a:bodyPr>
          <a:lstStyle/>
          <a:p>
            <a:r>
              <a:rPr lang="en-US" sz="4000" dirty="0"/>
              <a:t>Practice!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A51A4F-0A14-47F1-B545-1FF0130F26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9840" y="4470400"/>
            <a:ext cx="9895840" cy="13986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https://daymet.ornl.gov/single-pixel/api/data?lat=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Latitude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&amp;lon=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Longitude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&amp;vars=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CommaSeparatedVariables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&amp;years=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CommaSeparatedYears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FD555BC6-F78A-4424-ACCC-98B9F50ECCA8}"/>
              </a:ext>
            </a:extLst>
          </p:cNvPr>
          <p:cNvSpPr txBox="1">
            <a:spLocks/>
          </p:cNvSpPr>
          <p:nvPr/>
        </p:nvSpPr>
        <p:spPr>
          <a:xfrm>
            <a:off x="1259840" y="1940560"/>
            <a:ext cx="9895840" cy="1398694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233363" indent="-233363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tx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75000"/>
                  </a:schemeClr>
                </a:solidFill>
                <a:latin typeface="Segoe UI" panose="020B0502040204020203" pitchFamily="34" charset="0"/>
                <a:ea typeface="Open Sans Medium" pitchFamily="2" charset="0"/>
                <a:cs typeface="Segoe UI" panose="020B0502040204020203" pitchFamily="34" charset="0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tx1">
                  <a:lumMod val="75000"/>
                </a:schemeClr>
              </a:buClr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</a:schemeClr>
                </a:solidFill>
                <a:latin typeface="Segoe UI" panose="020B0502040204020203" pitchFamily="34" charset="0"/>
                <a:ea typeface="Open Sans Medium" pitchFamily="2" charset="0"/>
                <a:cs typeface="Segoe UI" panose="020B0502040204020203" pitchFamily="34" charset="0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tx1">
                  <a:lumMod val="75000"/>
                </a:schemeClr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</a:schemeClr>
                </a:solidFill>
                <a:latin typeface="Segoe UI" panose="020B0502040204020203" pitchFamily="34" charset="0"/>
                <a:ea typeface="Open Sans Medium" pitchFamily="2" charset="0"/>
                <a:cs typeface="Segoe UI" panose="020B0502040204020203" pitchFamily="34" charset="0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tx1">
                  <a:lumMod val="75000"/>
                </a:schemeClr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</a:schemeClr>
                </a:solidFill>
                <a:latin typeface="Segoe UI" panose="020B0502040204020203" pitchFamily="34" charset="0"/>
                <a:ea typeface="Open Sans Medium" pitchFamily="2" charset="0"/>
                <a:cs typeface="Segoe UI" panose="020B0502040204020203" pitchFamily="34" charset="0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tx1">
                  <a:lumMod val="75000"/>
                </a:schemeClr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</a:schemeClr>
                </a:solidFill>
                <a:latin typeface="Segoe UI" panose="020B0502040204020203" pitchFamily="34" charset="0"/>
                <a:ea typeface="Open Sans Medium" pitchFamily="2" charset="0"/>
                <a:cs typeface="Segoe UI" panose="020B0502040204020203" pitchFamily="34" charset="0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/>
                </a:solidFill>
                <a:latin typeface="Arial Unicode MS"/>
              </a:rPr>
              <a:t>Adapt this to the location, years, and variables of your choosing.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/>
                </a:solidFill>
                <a:latin typeface="Arial Unicode MS"/>
              </a:rPr>
              <a:t>Then load the csv you download into 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21097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CCD8796-2D09-4694-86CC-8E6D134917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196757"/>
          </a:xfrm>
        </p:spPr>
        <p:txBody>
          <a:bodyPr>
            <a:normAutofit/>
          </a:bodyPr>
          <a:lstStyle/>
          <a:p>
            <a:r>
              <a:rPr lang="en-US" sz="4000" dirty="0"/>
              <a:t>You can also load csv’s directly from websites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FD555BC6-F78A-4424-ACCC-98B9F50ECCA8}"/>
              </a:ext>
            </a:extLst>
          </p:cNvPr>
          <p:cNvSpPr txBox="1">
            <a:spLocks/>
          </p:cNvSpPr>
          <p:nvPr/>
        </p:nvSpPr>
        <p:spPr>
          <a:xfrm>
            <a:off x="1259840" y="1940560"/>
            <a:ext cx="9895840" cy="1398694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233363" indent="-233363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tx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lumMod val="75000"/>
                  </a:schemeClr>
                </a:solidFill>
                <a:latin typeface="Segoe UI" panose="020B0502040204020203" pitchFamily="34" charset="0"/>
                <a:ea typeface="Open Sans Medium" pitchFamily="2" charset="0"/>
                <a:cs typeface="Segoe UI" panose="020B0502040204020203" pitchFamily="34" charset="0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tx1">
                  <a:lumMod val="75000"/>
                </a:schemeClr>
              </a:buClr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75000"/>
                  </a:schemeClr>
                </a:solidFill>
                <a:latin typeface="Segoe UI" panose="020B0502040204020203" pitchFamily="34" charset="0"/>
                <a:ea typeface="Open Sans Medium" pitchFamily="2" charset="0"/>
                <a:cs typeface="Segoe UI" panose="020B0502040204020203" pitchFamily="34" charset="0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tx1">
                  <a:lumMod val="75000"/>
                </a:schemeClr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</a:schemeClr>
                </a:solidFill>
                <a:latin typeface="Segoe UI" panose="020B0502040204020203" pitchFamily="34" charset="0"/>
                <a:ea typeface="Open Sans Medium" pitchFamily="2" charset="0"/>
                <a:cs typeface="Segoe UI" panose="020B0502040204020203" pitchFamily="34" charset="0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tx1">
                  <a:lumMod val="75000"/>
                </a:schemeClr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</a:schemeClr>
                </a:solidFill>
                <a:latin typeface="Segoe UI" panose="020B0502040204020203" pitchFamily="34" charset="0"/>
                <a:ea typeface="Open Sans Medium" pitchFamily="2" charset="0"/>
                <a:cs typeface="Segoe UI" panose="020B0502040204020203" pitchFamily="34" charset="0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tx1">
                  <a:lumMod val="75000"/>
                </a:schemeClr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75000"/>
                  </a:schemeClr>
                </a:solidFill>
                <a:latin typeface="Segoe UI" panose="020B0502040204020203" pitchFamily="34" charset="0"/>
                <a:ea typeface="Open Sans Medium" pitchFamily="2" charset="0"/>
                <a:cs typeface="Segoe UI" panose="020B0502040204020203" pitchFamily="34" charset="0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/>
                </a:solidFill>
                <a:latin typeface="Arial Unicode MS"/>
              </a:rPr>
              <a:t>Example: Google Drive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72A9B96-6BD0-4FBE-836C-B5532E621F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840" y="2495192"/>
            <a:ext cx="5384800" cy="2602523"/>
          </a:xfrm>
          <a:prstGeom prst="rect">
            <a:avLst/>
          </a:prstGeom>
          <a:ln>
            <a:solidFill>
              <a:schemeClr val="tx1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6371867-DC02-412C-9C8D-F3BE4182E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5423" y="1852941"/>
            <a:ext cx="5106113" cy="4391638"/>
          </a:xfrm>
          <a:prstGeom prst="rect">
            <a:avLst/>
          </a:prstGeom>
          <a:ln>
            <a:solidFill>
              <a:schemeClr val="tx1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62115842"/>
      </p:ext>
    </p:extLst>
  </p:cSld>
  <p:clrMapOvr>
    <a:masterClrMapping/>
  </p:clrMapOvr>
</p:sld>
</file>

<file path=ppt/theme/theme1.xml><?xml version="1.0" encoding="utf-8"?>
<a:theme xmlns:a="http://schemas.openxmlformats.org/drawingml/2006/main" name="4300 theme">
  <a:themeElements>
    <a:clrScheme name="Custom 5">
      <a:dk1>
        <a:srgbClr val="3F3F3F"/>
      </a:dk1>
      <a:lt1>
        <a:sysClr val="window" lastClr="FFFFFF"/>
      </a:lt1>
      <a:dk2>
        <a:srgbClr val="637052"/>
      </a:dk2>
      <a:lt2>
        <a:srgbClr val="CCDDEA"/>
      </a:lt2>
      <a:accent1>
        <a:srgbClr val="E5A99F"/>
      </a:accent1>
      <a:accent2>
        <a:srgbClr val="B23838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Custom 1">
      <a:majorFont>
        <a:latin typeface="Sitka Display Semibold"/>
        <a:ea typeface=""/>
        <a:cs typeface=""/>
      </a:majorFont>
      <a:minorFont>
        <a:latin typeface="Segoe UI"/>
        <a:ea typeface=""/>
        <a:cs typeface="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eog4300_L01-Introductions" id="{FA51A00F-822B-41B5-AA4A-2C123A5E9355}" vid="{2F9C99DD-B25B-4D9F-92B4-7DCE57BD0F40}"/>
    </a:ext>
  </a:extLst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581</TotalTime>
  <Words>749</Words>
  <Application>Microsoft Office PowerPoint</Application>
  <PresentationFormat>Widescreen</PresentationFormat>
  <Paragraphs>109</Paragraphs>
  <Slides>13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Arial Unicode MS</vt:lpstr>
      <vt:lpstr>Calibri</vt:lpstr>
      <vt:lpstr>Segoe UI</vt:lpstr>
      <vt:lpstr>Sitka Display Semibold</vt:lpstr>
      <vt:lpstr>4300 theme</vt:lpstr>
      <vt:lpstr>Reading data in R</vt:lpstr>
      <vt:lpstr>Things to be aware of</vt:lpstr>
      <vt:lpstr>Assigned reading</vt:lpstr>
      <vt:lpstr>R variable types</vt:lpstr>
      <vt:lpstr>R variable types pt 2</vt:lpstr>
      <vt:lpstr>What other file types do you see in our data?</vt:lpstr>
      <vt:lpstr>R Data structures</vt:lpstr>
      <vt:lpstr>R Data structures</vt:lpstr>
      <vt:lpstr>What is an “API”?</vt:lpstr>
      <vt:lpstr>APIs work in a step-by-step process</vt:lpstr>
      <vt:lpstr>Example: Daymet</vt:lpstr>
      <vt:lpstr>Practice!</vt:lpstr>
      <vt:lpstr>You can also load csv’s directly from websites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Numbers: What are they good for?</dc:title>
  <dc:creator>Gerald Shannon</dc:creator>
  <cp:lastModifiedBy>Jerry Shannon</cp:lastModifiedBy>
  <cp:revision>153</cp:revision>
  <dcterms:modified xsi:type="dcterms:W3CDTF">2026-08-24T15:41:59Z</dcterms:modified>
</cp:coreProperties>
</file>