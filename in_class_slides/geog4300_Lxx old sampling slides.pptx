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732" r:id="rId1"/>
  </p:sldMasterIdLst>
  <p:notesMasterIdLst>
    <p:notesMasterId r:id="rId8"/>
  </p:notesMasterIdLst>
  <p:sldIdLst>
    <p:sldId id="263" r:id="rId2"/>
    <p:sldId id="277" r:id="rId3"/>
    <p:sldId id="258" r:id="rId4"/>
    <p:sldId id="259" r:id="rId5"/>
    <p:sldId id="261" r:id="rId6"/>
    <p:sldId id="278" r:id="rId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84E427A-3D55-4303-BF80-6455036E1DE7}" styleName="Themed Style 1 - Accent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993" autoAdjust="0"/>
    <p:restoredTop sz="94660"/>
  </p:normalViewPr>
  <p:slideViewPr>
    <p:cSldViewPr snapToGrid="0">
      <p:cViewPr varScale="1">
        <p:scale>
          <a:sx n="118" d="100"/>
          <a:sy n="118" d="100"/>
        </p:scale>
        <p:origin x="114" y="21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3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799" cy="4572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/>
          <a:lstStyle>
            <a:lvl1pPr marL="0" marR="0" lvl="0" indent="0" algn="l" rtl="0">
              <a:spcBef>
                <a:spcPts val="0"/>
              </a:spcBef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457200" marR="0" lvl="1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914400" marR="0" lvl="2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371600" marR="0" lvl="3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1828800" marR="0" lvl="4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286000" marR="0" lvl="5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2743200" marR="0" lvl="6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200400" marR="0" lvl="7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3657600" marR="0" lvl="8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Shape 4"/>
          <p:cNvSpPr txBox="1">
            <a:spLocks noGrp="1"/>
          </p:cNvSpPr>
          <p:nvPr>
            <p:ph type="dt" idx="10"/>
          </p:nvPr>
        </p:nvSpPr>
        <p:spPr>
          <a:xfrm>
            <a:off x="3884612" y="0"/>
            <a:ext cx="2971799" cy="4572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/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457200" marR="0" lvl="1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914400" marR="0" lvl="2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371600" marR="0" lvl="3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1828800" marR="0" lvl="4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286000" marR="0" lvl="5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2743200" marR="0" lvl="6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200400" marR="0" lvl="7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3657600" marR="0" lvl="8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Shape 5"/>
          <p:cNvSpPr>
            <a:spLocks noGrp="1" noRot="1" noChangeAspect="1"/>
          </p:cNvSpPr>
          <p:nvPr>
            <p:ph type="sldImg" idx="3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6" name="Shape 6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/>
          <a:lstStyle>
            <a:lvl1pPr marL="0" marR="0" lvl="0" indent="0" algn="l" rtl="0">
              <a:spcBef>
                <a:spcPts val="0"/>
              </a:spcBef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457200" marR="0" lvl="1" indent="0" algn="l" rtl="0">
              <a:spcBef>
                <a:spcPts val="0"/>
              </a:spcBef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914400" marR="0" lvl="2" indent="0" algn="l" rtl="0">
              <a:spcBef>
                <a:spcPts val="0"/>
              </a:spcBef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371600" marR="0" lvl="3" indent="0" algn="l" rtl="0">
              <a:spcBef>
                <a:spcPts val="0"/>
              </a:spcBef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1828800" marR="0" lvl="4" indent="0" algn="l" rtl="0">
              <a:spcBef>
                <a:spcPts val="0"/>
              </a:spcBef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286000" marR="0" lvl="5" indent="0" algn="l" rtl="0">
              <a:spcBef>
                <a:spcPts val="0"/>
              </a:spcBef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2743200" marR="0" lvl="6" indent="0" algn="l" rtl="0">
              <a:spcBef>
                <a:spcPts val="0"/>
              </a:spcBef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200400" marR="0" lvl="7" indent="0" algn="l" rtl="0">
              <a:spcBef>
                <a:spcPts val="0"/>
              </a:spcBef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3657600" marR="0" lvl="8" indent="0" algn="l" rtl="0">
              <a:spcBef>
                <a:spcPts val="0"/>
              </a:spcBef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Shape 7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799" cy="4572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b" anchorCtr="0"/>
          <a:lstStyle>
            <a:lvl1pPr marL="0" marR="0" lvl="0" indent="0" algn="l" rtl="0">
              <a:spcBef>
                <a:spcPts val="0"/>
              </a:spcBef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457200" marR="0" lvl="1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914400" marR="0" lvl="2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371600" marR="0" lvl="3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1828800" marR="0" lvl="4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286000" marR="0" lvl="5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2743200" marR="0" lvl="6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200400" marR="0" lvl="7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3657600" marR="0" lvl="8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Shape 8"/>
          <p:cNvSpPr txBox="1">
            <a:spLocks noGrp="1"/>
          </p:cNvSpPr>
          <p:nvPr>
            <p:ph type="sldNum" idx="12"/>
          </p:nvPr>
        </p:nvSpPr>
        <p:spPr>
          <a:xfrm>
            <a:off x="3884612" y="8685213"/>
            <a:ext cx="2971799" cy="457200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buSzPct val="25000"/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lang="en-US"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Shape 127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128" name="Shape 128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buSzPct val="25000"/>
              <a:buNone/>
            </a:pP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" name="Shape 129"/>
          <p:cNvSpPr txBox="1">
            <a:spLocks noGrp="1"/>
          </p:cNvSpPr>
          <p:nvPr>
            <p:ph type="sldNum" idx="12"/>
          </p:nvPr>
        </p:nvSpPr>
        <p:spPr>
          <a:xfrm>
            <a:off x="3884612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buSzPct val="25000"/>
              <a:buNone/>
            </a:pPr>
            <a:fld id="{00000000-1234-1234-1234-123412341234}" type="slidenum">
              <a:rPr lang="en-US" sz="1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2</a:t>
            </a:fld>
            <a:endParaRPr lang="en-US" sz="12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78552818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Shape 104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105" name="Shape 105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buSzPct val="25000"/>
              <a:buNone/>
            </a:pP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" name="Shape 106"/>
          <p:cNvSpPr txBox="1">
            <a:spLocks noGrp="1"/>
          </p:cNvSpPr>
          <p:nvPr>
            <p:ph type="sldNum" idx="12"/>
          </p:nvPr>
        </p:nvSpPr>
        <p:spPr>
          <a:xfrm>
            <a:off x="3884612" y="8685213"/>
            <a:ext cx="2971799" cy="457200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buSzPct val="25000"/>
              <a:buNone/>
            </a:pPr>
            <a:fld id="{00000000-1234-1234-1234-123412341234}" type="slidenum"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</a:t>
            </a:fld>
            <a:endParaRPr lang="en-US"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Shape 117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118" name="Shape 118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buSzPct val="25000"/>
              <a:buNone/>
            </a:pP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" name="Shape 119"/>
          <p:cNvSpPr txBox="1">
            <a:spLocks noGrp="1"/>
          </p:cNvSpPr>
          <p:nvPr>
            <p:ph type="sldNum" idx="12"/>
          </p:nvPr>
        </p:nvSpPr>
        <p:spPr>
          <a:xfrm>
            <a:off x="3884612" y="8685213"/>
            <a:ext cx="2971799" cy="457200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buSzPct val="25000"/>
              <a:buNone/>
            </a:pPr>
            <a:fld id="{00000000-1234-1234-1234-123412341234}" type="slidenum"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</a:t>
            </a:fld>
            <a:endParaRPr lang="en-US"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Shape 134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135" name="Shape 135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buSzPct val="25000"/>
              <a:buNone/>
            </a:pP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" name="Shape 136"/>
          <p:cNvSpPr txBox="1">
            <a:spLocks noGrp="1"/>
          </p:cNvSpPr>
          <p:nvPr>
            <p:ph type="sldNum" idx="12"/>
          </p:nvPr>
        </p:nvSpPr>
        <p:spPr>
          <a:xfrm>
            <a:off x="3884612" y="8685213"/>
            <a:ext cx="2971799" cy="457200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buSzPct val="25000"/>
              <a:buNone/>
            </a:pPr>
            <a:fld id="{00000000-1234-1234-1234-123412341234}" type="slidenum"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5</a:t>
            </a:fld>
            <a:endParaRPr lang="en-US"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Shape 134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135" name="Shape 135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buSzPct val="25000"/>
              <a:buNone/>
            </a:pP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" name="Shape 136"/>
          <p:cNvSpPr txBox="1">
            <a:spLocks noGrp="1"/>
          </p:cNvSpPr>
          <p:nvPr>
            <p:ph type="sldNum" idx="12"/>
          </p:nvPr>
        </p:nvSpPr>
        <p:spPr>
          <a:xfrm>
            <a:off x="3884612" y="8685213"/>
            <a:ext cx="2971799" cy="457200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buSzPct val="25000"/>
              <a:buNone/>
            </a:pPr>
            <a:fld id="{00000000-1234-1234-1234-123412341234}" type="slidenum"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6</a:t>
            </a:fld>
            <a:endParaRPr lang="en-US"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15027763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75000"/>
                  </a:schemeClr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0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>
              <a:buSzPct val="25000"/>
            </a:pPr>
            <a:fld id="{00000000-1234-1234-1234-123412341234}" type="slidenum">
              <a:rPr lang="en-US" sz="1200" smtClean="0">
                <a:latin typeface="Calibri"/>
                <a:ea typeface="Calibri"/>
                <a:cs typeface="Calibri"/>
                <a:sym typeface="Calibri"/>
              </a:rPr>
              <a:pPr>
                <a:buSzPct val="25000"/>
              </a:pPr>
              <a:t>‹#›</a:t>
            </a:fld>
            <a:endParaRPr lang="en-US" sz="1200" dirty="0"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664002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marL="0"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>
              <a:buSzPct val="25000"/>
            </a:pPr>
            <a:fld id="{00000000-1234-1234-1234-123412341234}" type="slidenum">
              <a:rPr lang="en-US" sz="1200" smtClean="0">
                <a:latin typeface="Calibri"/>
                <a:ea typeface="Calibri"/>
                <a:cs typeface="Calibri"/>
                <a:sym typeface="Calibri"/>
              </a:rPr>
              <a:pPr>
                <a:buSzPct val="25000"/>
              </a:pPr>
              <a:t>‹#›</a:t>
            </a:fld>
            <a:endParaRPr lang="en-US" sz="1200" dirty="0"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11422128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 dirty="0"/>
          </a:p>
        </p:txBody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75000"/>
                  </a:schemeClr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>
              <a:buSzPct val="25000"/>
            </a:pPr>
            <a:fld id="{00000000-1234-1234-1234-123412341234}" type="slidenum">
              <a:rPr lang="en-US" sz="1200" smtClean="0">
                <a:latin typeface="Calibri"/>
                <a:ea typeface="Calibri"/>
                <a:cs typeface="Calibri"/>
                <a:sym typeface="Calibri"/>
              </a:rPr>
              <a:pPr>
                <a:buSzPct val="25000"/>
              </a:pPr>
              <a:t>‹#›</a:t>
            </a:fld>
            <a:endParaRPr lang="en-US" sz="1200" dirty="0"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8741426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79" y="1845734"/>
            <a:ext cx="49377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>
              <a:buSzPct val="25000"/>
            </a:pPr>
            <a:fld id="{00000000-1234-1234-1234-123412341234}" type="slidenum">
              <a:rPr lang="en-US" sz="1200" smtClean="0">
                <a:latin typeface="Calibri"/>
                <a:ea typeface="Calibri"/>
                <a:cs typeface="Calibri"/>
                <a:sym typeface="Calibri"/>
              </a:rPr>
              <a:pPr>
                <a:buSzPct val="25000"/>
              </a:pPr>
              <a:t>‹#›</a:t>
            </a:fld>
            <a:endParaRPr lang="en-US" sz="1200" dirty="0"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61294268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4"/>
            <a:ext cx="4937760" cy="337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37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buSzPct val="25000"/>
            </a:pPr>
            <a:fld id="{00000000-1234-1234-1234-123412341234}" type="slidenum">
              <a:rPr lang="en-US" sz="1200" smtClean="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pPr>
                <a:buSzPct val="25000"/>
              </a:pPr>
              <a:t>‹#›</a:t>
            </a:fld>
            <a:endParaRPr lang="en-US" sz="1200">
              <a:solidFill>
                <a:srgbClr val="88888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6068430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75000"/>
                  </a:schemeClr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>
              <a:buSzPct val="25000"/>
            </a:pPr>
            <a:fld id="{00000000-1234-1234-1234-123412341234}" type="slidenum">
              <a:rPr lang="en-US" sz="1200" smtClean="0">
                <a:latin typeface="Calibri"/>
                <a:ea typeface="Calibri"/>
                <a:cs typeface="Calibri"/>
                <a:sym typeface="Calibri"/>
              </a:rPr>
              <a:pPr>
                <a:buSzPct val="25000"/>
              </a:pPr>
              <a:t>‹#›</a:t>
            </a:fld>
            <a:endParaRPr lang="en-US" sz="1200" dirty="0">
              <a:solidFill>
                <a:schemeClr val="bg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25834809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>
              <a:buSzPct val="25000"/>
            </a:pPr>
            <a:fld id="{00000000-1234-1234-1234-123412341234}" type="slidenum">
              <a:rPr lang="en-US" sz="1200" smtClean="0">
                <a:latin typeface="Calibri"/>
                <a:ea typeface="Calibri"/>
                <a:cs typeface="Calibri"/>
                <a:sym typeface="Calibri"/>
              </a:rPr>
              <a:pPr>
                <a:buSzPct val="25000"/>
              </a:pPr>
              <a:t>‹#›</a:t>
            </a:fld>
            <a:endParaRPr lang="en-US" sz="1200" dirty="0"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1961970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pPr>
              <a:buSzPct val="25000"/>
            </a:pPr>
            <a:fld id="{00000000-1234-1234-1234-123412341234}" type="slidenum">
              <a:rPr lang="en-US" sz="1200" smtClean="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pPr>
                <a:buSzPct val="25000"/>
              </a:pPr>
              <a:t>‹#›</a:t>
            </a:fld>
            <a:endParaRPr lang="en-US" sz="1200">
              <a:solidFill>
                <a:srgbClr val="88888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1668281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264" cy="822960"/>
          </a:xfrm>
        </p:spPr>
        <p:txBody>
          <a:bodyPr lIns="91440" tIns="0" rIns="9144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blipFill>
            <a:blip r:embed="rId2"/>
            <a:stretch>
              <a:fillRect/>
            </a:stretch>
          </a:blipFill>
        </p:spPr>
        <p:txBody>
          <a:bodyPr lIns="457200" tIns="457200"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3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>
              <a:buSzPct val="25000"/>
            </a:pPr>
            <a:fld id="{00000000-1234-1234-1234-123412341234}" type="slidenum">
              <a:rPr lang="en-US" sz="1200" smtClean="0">
                <a:latin typeface="Calibri"/>
                <a:ea typeface="Calibri"/>
                <a:cs typeface="Calibri"/>
                <a:sym typeface="Calibri"/>
              </a:rPr>
              <a:pPr>
                <a:buSzPct val="25000"/>
              </a:pPr>
              <a:t>‹#›</a:t>
            </a:fld>
            <a:endParaRPr lang="en-US" sz="1200" dirty="0"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51561642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>
              <a:buSzPct val="25000"/>
            </a:pPr>
            <a:fld id="{00000000-1234-1234-1234-123412341234}" type="slidenum">
              <a:rPr lang="en-US" sz="1200" smtClean="0">
                <a:latin typeface="Calibri"/>
                <a:ea typeface="Calibri"/>
                <a:cs typeface="Calibri"/>
                <a:sym typeface="Calibri"/>
              </a:rPr>
              <a:pPr>
                <a:buSzPct val="25000"/>
              </a:pPr>
              <a:t>‹#›</a:t>
            </a:fld>
            <a:endParaRPr lang="en-US" sz="1200" dirty="0"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94165059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 dirty="0"/>
          </a:p>
        </p:txBody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4778"/>
            <a:ext cx="2628900" cy="575742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4778"/>
            <a:ext cx="7734300" cy="5757422"/>
          </a:xfrm>
        </p:spPr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>
              <a:buSzPct val="25000"/>
            </a:pPr>
            <a:fld id="{00000000-1234-1234-1234-123412341234}" type="slidenum">
              <a:rPr lang="en-US" sz="1200" smtClean="0">
                <a:latin typeface="Calibri"/>
                <a:ea typeface="Calibri"/>
                <a:cs typeface="Calibri"/>
                <a:sym typeface="Calibri"/>
              </a:rPr>
              <a:pPr>
                <a:buSzPct val="25000"/>
              </a:pPr>
              <a:t>‹#›</a:t>
            </a:fld>
            <a:endParaRPr lang="en-US" sz="1200" dirty="0"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9424141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0" y="6334316"/>
            <a:ext cx="12192001" cy="659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bg1"/>
                </a:solidFill>
              </a:defRPr>
            </a:lvl1pPr>
          </a:lstStyle>
          <a:p>
            <a:pPr>
              <a:buSzPct val="25000"/>
            </a:pPr>
            <a:fld id="{00000000-1234-1234-1234-123412341234}" type="slidenum">
              <a:rPr lang="en-US" sz="1200" smtClean="0">
                <a:latin typeface="Calibri"/>
                <a:ea typeface="Calibri"/>
                <a:cs typeface="Calibri"/>
                <a:sym typeface="Calibri"/>
              </a:rPr>
              <a:pPr>
                <a:buSzPct val="25000"/>
              </a:pPr>
              <a:t>‹#›</a:t>
            </a:fld>
            <a:endParaRPr lang="en-US" sz="1200" dirty="0">
              <a:solidFill>
                <a:schemeClr val="bg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0" name="Straight Connector 9"/>
          <p:cNvCxnSpPr/>
          <p:nvPr/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8879430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3" r:id="rId1"/>
    <p:sldLayoutId id="2147483734" r:id="rId2"/>
    <p:sldLayoutId id="2147483735" r:id="rId3"/>
    <p:sldLayoutId id="2147483736" r:id="rId4"/>
    <p:sldLayoutId id="2147483737" r:id="rId5"/>
    <p:sldLayoutId id="2147483738" r:id="rId6"/>
    <p:sldLayoutId id="2147483739" r:id="rId7"/>
    <p:sldLayoutId id="2147483740" r:id="rId8"/>
    <p:sldLayoutId id="2147483741" r:id="rId9"/>
    <p:sldLayoutId id="2147483742" r:id="rId10"/>
    <p:sldLayoutId id="2147483743" r:id="rId11"/>
  </p:sldLayoutIdLst>
  <p:hf hdr="0" ftr="0" dt="0"/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</a:schemeClr>
          </a:solidFill>
          <a:latin typeface="Sitka Display Semibold" pitchFamily="2" charset="0"/>
          <a:ea typeface="+mj-ea"/>
          <a:cs typeface="+mj-cs"/>
        </a:defRPr>
      </a:lvl1pPr>
    </p:titleStyle>
    <p:bodyStyle>
      <a:lvl1pPr marL="233363" indent="-233363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tx1">
            <a:lumMod val="75000"/>
          </a:schemeClr>
        </a:buClr>
        <a:buSzPct val="100000"/>
        <a:buFont typeface="Arial" panose="020B0604020202020204" pitchFamily="34" charset="0"/>
        <a:buChar char="•"/>
        <a:defRPr sz="2800" kern="1200">
          <a:solidFill>
            <a:schemeClr val="tx1">
              <a:lumMod val="75000"/>
            </a:schemeClr>
          </a:solidFill>
          <a:latin typeface="Segoe UI" panose="020B0502040204020203" pitchFamily="34" charset="0"/>
          <a:ea typeface="Open Sans Medium" pitchFamily="2" charset="0"/>
          <a:cs typeface="Segoe UI" panose="020B0502040204020203" pitchFamily="34" charset="0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tx1">
            <a:lumMod val="75000"/>
          </a:schemeClr>
        </a:buClr>
        <a:buFont typeface="Arial" panose="020B0604020202020204" pitchFamily="34" charset="0"/>
        <a:buChar char="•"/>
        <a:defRPr sz="2400" kern="1200">
          <a:solidFill>
            <a:schemeClr val="tx1">
              <a:lumMod val="75000"/>
            </a:schemeClr>
          </a:solidFill>
          <a:latin typeface="Segoe UI" panose="020B0502040204020203" pitchFamily="34" charset="0"/>
          <a:ea typeface="Open Sans Medium" pitchFamily="2" charset="0"/>
          <a:cs typeface="Segoe UI" panose="020B0502040204020203" pitchFamily="34" charset="0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tx1">
            <a:lumMod val="75000"/>
          </a:schemeClr>
        </a:buClr>
        <a:buFont typeface="Arial" panose="020B0604020202020204" pitchFamily="34" charset="0"/>
        <a:buChar char="•"/>
        <a:defRPr sz="1800" kern="1200">
          <a:solidFill>
            <a:schemeClr val="tx1">
              <a:lumMod val="75000"/>
            </a:schemeClr>
          </a:solidFill>
          <a:latin typeface="Segoe UI" panose="020B0502040204020203" pitchFamily="34" charset="0"/>
          <a:ea typeface="Open Sans Medium" pitchFamily="2" charset="0"/>
          <a:cs typeface="Segoe UI" panose="020B0502040204020203" pitchFamily="34" charset="0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tx1">
            <a:lumMod val="75000"/>
          </a:schemeClr>
        </a:buClr>
        <a:buFont typeface="Arial" panose="020B0604020202020204" pitchFamily="34" charset="0"/>
        <a:buChar char="•"/>
        <a:defRPr sz="1800" kern="1200">
          <a:solidFill>
            <a:schemeClr val="tx1">
              <a:lumMod val="75000"/>
            </a:schemeClr>
          </a:solidFill>
          <a:latin typeface="Segoe UI" panose="020B0502040204020203" pitchFamily="34" charset="0"/>
          <a:ea typeface="Open Sans Medium" pitchFamily="2" charset="0"/>
          <a:cs typeface="Segoe UI" panose="020B0502040204020203" pitchFamily="34" charset="0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tx1">
            <a:lumMod val="75000"/>
          </a:schemeClr>
        </a:buClr>
        <a:buFont typeface="Arial" panose="020B0604020202020204" pitchFamily="34" charset="0"/>
        <a:buChar char="•"/>
        <a:defRPr sz="1800" kern="1200">
          <a:solidFill>
            <a:schemeClr val="tx1">
              <a:lumMod val="75000"/>
            </a:schemeClr>
          </a:solidFill>
          <a:latin typeface="Segoe UI" panose="020B0502040204020203" pitchFamily="34" charset="0"/>
          <a:ea typeface="Open Sans Medium" pitchFamily="2" charset="0"/>
          <a:cs typeface="Segoe UI" panose="020B0502040204020203" pitchFamily="34" charset="0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0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1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2DA1E6-0A9B-4FAD-9E42-B37B3CA5D78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86248" y="2984156"/>
            <a:ext cx="10812163" cy="1099527"/>
          </a:xfrm>
        </p:spPr>
        <p:txBody>
          <a:bodyPr>
            <a:noAutofit/>
          </a:bodyPr>
          <a:lstStyle/>
          <a:p>
            <a:r>
              <a:rPr lang="en-US" sz="4400" dirty="0"/>
              <a:t>Central limit theorem and confidence intervals</a:t>
            </a: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70A25A50-E1E4-4126-B9CC-C52512D3D32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GEOG4300 /6300: Intro to data science</a:t>
            </a:r>
          </a:p>
          <a:p>
            <a:r>
              <a:rPr lang="en-US" dirty="0"/>
              <a:t>Prof. Jerry Shannon</a:t>
            </a:r>
          </a:p>
        </p:txBody>
      </p:sp>
    </p:spTree>
    <p:extLst>
      <p:ext uri="{BB962C8B-B14F-4D97-AF65-F5344CB8AC3E}">
        <p14:creationId xmlns:p14="http://schemas.microsoft.com/office/powerpoint/2010/main" val="76464569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Shape 132"/>
          <p:cNvSpPr txBox="1"/>
          <p:nvPr/>
        </p:nvSpPr>
        <p:spPr>
          <a:xfrm>
            <a:off x="296662" y="34771"/>
            <a:ext cx="9655206" cy="6426895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t" anchorCtr="0">
            <a:noAutofit/>
          </a:bodyPr>
          <a:lstStyle/>
          <a:p>
            <a:pPr>
              <a:spcBef>
                <a:spcPts val="560"/>
              </a:spcBef>
              <a:buClr>
                <a:srgbClr val="FFFF66"/>
              </a:buClr>
              <a:buSzPct val="25000"/>
            </a:pPr>
            <a:r>
              <a:rPr lang="en-US" sz="4800" dirty="0">
                <a:effectLst/>
                <a:latin typeface="+mj-lt"/>
                <a:ea typeface="Gill Sans MT"/>
                <a:cs typeface="Gill Sans MT"/>
                <a:sym typeface="Gill Sans MT"/>
              </a:rPr>
              <a:t>Let’s talk about sampling!</a:t>
            </a:r>
            <a:endParaRPr lang="en-US" sz="3000" dirty="0">
              <a:effectLst/>
              <a:ea typeface="Gill Sans MT"/>
              <a:cs typeface="Gill Sans MT"/>
              <a:sym typeface="Gill Sans MT"/>
            </a:endParaRPr>
          </a:p>
        </p:txBody>
      </p:sp>
      <p:pic>
        <p:nvPicPr>
          <p:cNvPr id="11" name="Shape 94" descr="http://media.cleveland.com/business_impact/photo/heinens-samples-cheesecake-bites-and-eggnogjpg-18875e4df01fff3c.jpg">
            <a:extLst>
              <a:ext uri="{FF2B5EF4-FFF2-40B4-BE49-F238E27FC236}">
                <a16:creationId xmlns:a16="http://schemas.microsoft.com/office/drawing/2014/main" id="{9C466EF7-F841-4B29-96F5-90608067C44C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861850" y="1390279"/>
            <a:ext cx="6468300" cy="463650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420006977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Shape 108"/>
          <p:cNvSpPr txBox="1"/>
          <p:nvPr/>
        </p:nvSpPr>
        <p:spPr>
          <a:xfrm>
            <a:off x="511730" y="116858"/>
            <a:ext cx="7280297" cy="584774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t" anchorCtr="0">
            <a:noAutofit/>
          </a:bodyPr>
          <a:lstStyle/>
          <a:p>
            <a:pPr>
              <a:buSzPct val="25000"/>
            </a:pPr>
            <a:r>
              <a:rPr lang="en-US" sz="3200" b="1" dirty="0">
                <a:latin typeface="+mj-lt"/>
                <a:ea typeface="Gill Sans MT"/>
                <a:cs typeface="Gill Sans MT"/>
                <a:sym typeface="Gill Sans MT"/>
              </a:rPr>
              <a:t>Sample research question:</a:t>
            </a:r>
          </a:p>
        </p:txBody>
      </p:sp>
      <p:sp>
        <p:nvSpPr>
          <p:cNvPr id="109" name="Shape 109"/>
          <p:cNvSpPr txBox="1"/>
          <p:nvPr/>
        </p:nvSpPr>
        <p:spPr>
          <a:xfrm>
            <a:off x="511729" y="701632"/>
            <a:ext cx="10704351" cy="4419600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t" anchorCtr="0">
            <a:noAutofit/>
          </a:bodyPr>
          <a:lstStyle/>
          <a:p>
            <a:pPr>
              <a:buClr>
                <a:srgbClr val="FFFF66"/>
              </a:buClr>
              <a:buSzPct val="25000"/>
            </a:pPr>
            <a:r>
              <a:rPr lang="en-US" sz="2800" dirty="0">
                <a:ea typeface="Gill Sans MT"/>
                <a:cs typeface="Gill Sans MT"/>
                <a:sym typeface="Gill Sans MT"/>
              </a:rPr>
              <a:t>What are the most significant obstacles homeowners face in maintaining their homes? How does this vary by the homeowners’ age? 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A62756E-A55D-4542-9478-8DB0D69687E4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b="13546"/>
          <a:stretch/>
        </p:blipFill>
        <p:spPr>
          <a:xfrm>
            <a:off x="3635934" y="2646715"/>
            <a:ext cx="4920131" cy="3435654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9F0CA4B-FA1F-4682-854B-60EED434981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52601" y="2338014"/>
            <a:ext cx="7878274" cy="1381318"/>
          </a:xfrm>
          <a:prstGeom prst="rect">
            <a:avLst/>
          </a:prstGeom>
        </p:spPr>
      </p:pic>
      <p:sp>
        <p:nvSpPr>
          <p:cNvPr id="122" name="Shape 122"/>
          <p:cNvSpPr txBox="1"/>
          <p:nvPr/>
        </p:nvSpPr>
        <p:spPr>
          <a:xfrm>
            <a:off x="1752601" y="268459"/>
            <a:ext cx="8686800" cy="4419599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t" anchorCtr="0">
            <a:noAutofit/>
          </a:bodyPr>
          <a:lstStyle/>
          <a:p>
            <a:pPr>
              <a:buClr>
                <a:srgbClr val="FFFF66"/>
              </a:buClr>
              <a:buSzPct val="25000"/>
            </a:pPr>
            <a:r>
              <a:rPr lang="en-US" sz="3600" b="1" dirty="0">
                <a:ea typeface="Gill Sans MT"/>
                <a:cs typeface="Gill Sans MT"/>
                <a:sym typeface="Gill Sans MT"/>
              </a:rPr>
              <a:t>Sampling frame: </a:t>
            </a:r>
          </a:p>
          <a:p>
            <a:pPr>
              <a:buClr>
                <a:srgbClr val="FFFF66"/>
              </a:buClr>
              <a:buSzPct val="25000"/>
            </a:pPr>
            <a:r>
              <a:rPr lang="en-US" sz="3600" dirty="0">
                <a:ea typeface="Gill Sans MT"/>
                <a:cs typeface="Gill Sans MT"/>
                <a:sym typeface="Gill Sans MT"/>
              </a:rPr>
              <a:t>List of ALL possible households you could interview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256E219D-3081-41A2-A1B8-6EF7BEE05D2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17975" y="3506680"/>
            <a:ext cx="6421425" cy="3213436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Shape 138"/>
          <p:cNvSpPr txBox="1"/>
          <p:nvPr/>
        </p:nvSpPr>
        <p:spPr>
          <a:xfrm>
            <a:off x="1141801" y="1587212"/>
            <a:ext cx="4420800" cy="1815900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t" anchorCtr="0">
            <a:noAutofit/>
          </a:bodyPr>
          <a:lstStyle/>
          <a:p>
            <a:pPr>
              <a:buSzPct val="25000"/>
            </a:pPr>
            <a:r>
              <a:rPr lang="en-US" sz="3200" u="sng" dirty="0">
                <a:ea typeface="Gill Sans MT"/>
                <a:cs typeface="Gill Sans MT"/>
                <a:sym typeface="Gill Sans MT"/>
              </a:rPr>
              <a:t>Non-probability sample</a:t>
            </a:r>
            <a:br>
              <a:rPr lang="en-US" sz="3200" u="sng" dirty="0">
                <a:ea typeface="Gill Sans MT"/>
                <a:cs typeface="Gill Sans MT"/>
                <a:sym typeface="Gill Sans MT"/>
              </a:rPr>
            </a:br>
            <a:r>
              <a:rPr lang="en-US" sz="3200" dirty="0">
                <a:ea typeface="Gill Sans MT"/>
                <a:cs typeface="Gill Sans MT"/>
                <a:sym typeface="Gill Sans MT"/>
              </a:rPr>
              <a:t>Convenience</a:t>
            </a:r>
          </a:p>
          <a:p>
            <a:pPr>
              <a:buSzPct val="25000"/>
            </a:pPr>
            <a:r>
              <a:rPr lang="en-US" sz="3200" dirty="0">
                <a:ea typeface="Gill Sans MT"/>
                <a:cs typeface="Gill Sans MT"/>
                <a:sym typeface="Gill Sans MT"/>
              </a:rPr>
              <a:t>Snowball</a:t>
            </a:r>
          </a:p>
          <a:p>
            <a:pPr>
              <a:buSzPct val="25000"/>
            </a:pPr>
            <a:r>
              <a:rPr lang="en-US" sz="3200" dirty="0">
                <a:ea typeface="Gill Sans MT"/>
                <a:cs typeface="Gill Sans MT"/>
                <a:sym typeface="Gill Sans MT"/>
              </a:rPr>
              <a:t>Quota</a:t>
            </a:r>
          </a:p>
        </p:txBody>
      </p:sp>
      <p:sp>
        <p:nvSpPr>
          <p:cNvPr id="139" name="Shape 139"/>
          <p:cNvSpPr txBox="1"/>
          <p:nvPr/>
        </p:nvSpPr>
        <p:spPr>
          <a:xfrm>
            <a:off x="6929253" y="1600604"/>
            <a:ext cx="3618600" cy="2246700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t" anchorCtr="0">
            <a:noAutofit/>
          </a:bodyPr>
          <a:lstStyle/>
          <a:p>
            <a:pPr>
              <a:buSzPct val="25000"/>
            </a:pPr>
            <a:r>
              <a:rPr lang="en-US" sz="3200" u="sng" dirty="0">
                <a:ea typeface="Gill Sans MT"/>
                <a:cs typeface="Gill Sans MT"/>
                <a:sym typeface="Gill Sans MT"/>
              </a:rPr>
              <a:t>Probability sample</a:t>
            </a:r>
          </a:p>
          <a:p>
            <a:pPr>
              <a:buSzPct val="25000"/>
            </a:pPr>
            <a:r>
              <a:rPr lang="en-US" sz="3200" dirty="0">
                <a:ea typeface="Gill Sans MT"/>
                <a:cs typeface="Gill Sans MT"/>
                <a:sym typeface="Gill Sans MT"/>
              </a:rPr>
              <a:t>Random</a:t>
            </a:r>
          </a:p>
          <a:p>
            <a:pPr>
              <a:buSzPct val="25000"/>
            </a:pPr>
            <a:r>
              <a:rPr lang="en-US" sz="3200" dirty="0">
                <a:ea typeface="Gill Sans MT"/>
                <a:cs typeface="Gill Sans MT"/>
                <a:sym typeface="Gill Sans MT"/>
              </a:rPr>
              <a:t>Systematic</a:t>
            </a:r>
          </a:p>
          <a:p>
            <a:pPr>
              <a:buSzPct val="25000"/>
            </a:pPr>
            <a:r>
              <a:rPr lang="en-US" sz="3200" dirty="0">
                <a:ea typeface="Gill Sans MT"/>
                <a:cs typeface="Gill Sans MT"/>
                <a:sym typeface="Gill Sans MT"/>
              </a:rPr>
              <a:t>Stratified</a:t>
            </a:r>
          </a:p>
          <a:p>
            <a:pPr>
              <a:buSzPct val="25000"/>
            </a:pPr>
            <a:r>
              <a:rPr lang="en-US" sz="3200" dirty="0">
                <a:ea typeface="Gill Sans MT"/>
                <a:cs typeface="Gill Sans MT"/>
                <a:sym typeface="Gill Sans MT"/>
              </a:rPr>
              <a:t>Cluster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4F7614B-0303-B269-F538-B586834F9F97}"/>
              </a:ext>
            </a:extLst>
          </p:cNvPr>
          <p:cNvSpPr txBox="1"/>
          <p:nvPr/>
        </p:nvSpPr>
        <p:spPr>
          <a:xfrm>
            <a:off x="541035" y="259951"/>
            <a:ext cx="7051001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4800" b="1" dirty="0">
                <a:ea typeface="Gill Sans MT"/>
                <a:cs typeface="Gill Sans MT"/>
                <a:sym typeface="Gill Sans MT"/>
              </a:rPr>
              <a:t>Sampling strategy</a:t>
            </a:r>
            <a:endParaRPr lang="en-US" sz="4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Shape 140"/>
          <p:cNvSpPr txBox="1"/>
          <p:nvPr/>
        </p:nvSpPr>
        <p:spPr>
          <a:xfrm>
            <a:off x="310393" y="3613011"/>
            <a:ext cx="9550461" cy="1569660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t" anchorCtr="0">
            <a:noAutofit/>
          </a:bodyPr>
          <a:lstStyle/>
          <a:p>
            <a:pPr>
              <a:buSzPct val="25000"/>
            </a:pPr>
            <a:r>
              <a:rPr lang="en-US" sz="2800" dirty="0">
                <a:ea typeface="Gill Sans MT"/>
                <a:cs typeface="Gill Sans MT"/>
                <a:sym typeface="Gill Sans MT"/>
              </a:rPr>
              <a:t>We asked 20 homeowners if they were worried about losing their homes in the next year. Four said yes. What’s the confidence interval?</a:t>
            </a:r>
          </a:p>
          <a:p>
            <a:pPr>
              <a:buSzPct val="25000"/>
            </a:pPr>
            <a:endParaRPr lang="en-US" sz="2800" dirty="0">
              <a:ea typeface="Gill Sans MT"/>
              <a:cs typeface="Gill Sans MT"/>
              <a:sym typeface="Gill Sans MT"/>
            </a:endParaRPr>
          </a:p>
          <a:p>
            <a:pPr>
              <a:buSzPct val="25000"/>
            </a:pPr>
            <a:r>
              <a:rPr lang="en-US" sz="2800" dirty="0">
                <a:ea typeface="Gill Sans MT"/>
                <a:cs typeface="Gill Sans MT"/>
                <a:sym typeface="Gill Sans MT"/>
              </a:rPr>
              <a:t>How big a sample would we need to get a margin of error </a:t>
            </a:r>
            <a:r>
              <a:rPr lang="en-US" sz="2800" u="sng" dirty="0">
                <a:ea typeface="Gill Sans MT"/>
                <a:cs typeface="Gill Sans MT"/>
                <a:sym typeface="Gill Sans MT"/>
              </a:rPr>
              <a:t>of less than 1.5%</a:t>
            </a:r>
            <a:r>
              <a:rPr lang="en-US" sz="2800" dirty="0">
                <a:ea typeface="Gill Sans MT"/>
                <a:cs typeface="Gill Sans MT"/>
                <a:sym typeface="Gill Sans MT"/>
              </a:rPr>
              <a:t>?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8D824DDA-D760-43DD-874B-6B5006E0327E}"/>
              </a:ext>
            </a:extLst>
          </p:cNvPr>
          <p:cNvSpPr/>
          <p:nvPr/>
        </p:nvSpPr>
        <p:spPr>
          <a:xfrm>
            <a:off x="224715" y="127632"/>
            <a:ext cx="2811988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4000" b="1" dirty="0">
                <a:ea typeface="Gill Sans MT"/>
                <a:cs typeface="Gill Sans MT"/>
                <a:sym typeface="Gill Sans MT"/>
              </a:rPr>
              <a:t>Sample size</a:t>
            </a:r>
            <a:endParaRPr lang="en-US" sz="40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75E5B63C-8721-4E18-89B0-B7FF9A58D182}"/>
                  </a:ext>
                </a:extLst>
              </p:cNvPr>
              <p:cNvSpPr txBox="1"/>
              <p:nvPr/>
            </p:nvSpPr>
            <p:spPr>
              <a:xfrm>
                <a:off x="4044392" y="2187327"/>
                <a:ext cx="5274200" cy="111184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sz="3600" b="0" i="1" smtClean="0"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en-US" sz="36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36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US" sz="36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3600" b="0" i="1" smtClean="0">
                                  <a:latin typeface="Cambria Math" panose="02040503050406030204" pitchFamily="18" charset="0"/>
                                </a:rPr>
                                <m:t>𝑍</m:t>
                              </m:r>
                            </m:e>
                            <m:sup>
                              <m:r>
                                <a:rPr lang="en-US" sz="36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num>
                        <m:den>
                          <m:sSup>
                            <m:sSupPr>
                              <m:ctrlPr>
                                <a:rPr lang="en-US" sz="36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3600" b="0" i="1" smtClean="0">
                                  <a:latin typeface="Cambria Math" panose="02040503050406030204" pitchFamily="18" charset="0"/>
                                </a:rPr>
                                <m:t>𝑀𝑂𝐸</m:t>
                              </m:r>
                            </m:e>
                            <m:sup>
                              <m:r>
                                <a:rPr lang="en-US" sz="36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  <m:r>
                        <a:rPr lang="en-US" sz="3600" b="0" i="1" smtClean="0">
                          <a:latin typeface="Cambria Math" panose="02040503050406030204" pitchFamily="18" charset="0"/>
                        </a:rPr>
                        <m:t>∗(</m:t>
                      </m:r>
                      <m:r>
                        <a:rPr lang="en-US" sz="3600" b="0" i="1" smtClean="0">
                          <a:latin typeface="Cambria Math" panose="02040503050406030204" pitchFamily="18" charset="0"/>
                        </a:rPr>
                        <m:t>𝑝</m:t>
                      </m:r>
                      <m:r>
                        <a:rPr lang="en-US" sz="3600" b="0" i="1" smtClean="0">
                          <a:latin typeface="Cambria Math" panose="02040503050406030204" pitchFamily="18" charset="0"/>
                        </a:rPr>
                        <m:t> ∗</m:t>
                      </m:r>
                      <m:d>
                        <m:dPr>
                          <m:ctrlPr>
                            <a:rPr lang="en-US" sz="36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3600" b="0" i="1" smtClean="0">
                              <a:latin typeface="Cambria Math" panose="02040503050406030204" pitchFamily="18" charset="0"/>
                            </a:rPr>
                            <m:t>1−</m:t>
                          </m:r>
                          <m:r>
                            <a:rPr lang="en-US" sz="3600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</m:d>
                      <m:r>
                        <a:rPr lang="en-US" sz="3600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3600" dirty="0"/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75E5B63C-8721-4E18-89B0-B7FF9A58D18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44392" y="2187327"/>
                <a:ext cx="5274200" cy="1111843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Rectangle 3">
            <a:extLst>
              <a:ext uri="{FF2B5EF4-FFF2-40B4-BE49-F238E27FC236}">
                <a16:creationId xmlns:a16="http://schemas.microsoft.com/office/drawing/2014/main" id="{10C3ABDB-6B49-4397-81D4-8EC880A511F7}"/>
              </a:ext>
            </a:extLst>
          </p:cNvPr>
          <p:cNvSpPr/>
          <p:nvPr/>
        </p:nvSpPr>
        <p:spPr>
          <a:xfrm>
            <a:off x="310393" y="1133520"/>
            <a:ext cx="4051882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800" dirty="0">
                <a:ea typeface="Gill Sans MT"/>
                <a:cs typeface="Gill Sans MT"/>
                <a:sym typeface="Gill Sans MT"/>
              </a:rPr>
              <a:t>If the MOE for proportions is</a:t>
            </a:r>
            <a:endParaRPr lang="en-US" sz="28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1A5418F6-A3D4-4E36-BDFB-20E78988BD77}"/>
                  </a:ext>
                </a:extLst>
              </p:cNvPr>
              <p:cNvSpPr txBox="1"/>
              <p:nvPr/>
            </p:nvSpPr>
            <p:spPr>
              <a:xfrm>
                <a:off x="4044392" y="380462"/>
                <a:ext cx="4546566" cy="163685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m:rPr>
                          <m:sty m:val="p"/>
                        </m:rPr>
                        <a:rPr lang="en-US" sz="360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M</m:t>
                      </m:r>
                      <m:r>
                        <m:rPr>
                          <m:sty m:val="p"/>
                        </m:rPr>
                        <a:rPr lang="en-US" sz="3600" b="0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OE</m:t>
                      </m:r>
                      <m:r>
                        <a:rPr lang="en-US" sz="36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36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𝑍</m:t>
                      </m:r>
                      <m:r>
                        <a:rPr lang="en-US" sz="36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∗</m:t>
                      </m:r>
                      <m:rad>
                        <m:radPr>
                          <m:degHide m:val="on"/>
                          <m:ctrlPr>
                            <a:rPr lang="en-US" sz="3600" i="1" smtClean="0">
                              <a:ln w="0"/>
                              <a:solidFill>
                                <a:schemeClr val="tx1"/>
                              </a:solidFill>
                              <a:effectLst>
                                <a:outerShdw blurRad="38100" dist="25400" dir="5400000" algn="ctr" rotWithShape="0">
                                  <a:srgbClr val="6E747A">
                                    <a:alpha val="43000"/>
                                  </a:srgbClr>
                                </a:outerShdw>
                              </a:effectLst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f>
                            <m:fPr>
                              <m:ctrlPr>
                                <a:rPr lang="en-US" sz="3600" b="0" i="1" smtClean="0">
                                  <a:ln w="0"/>
                                  <a:solidFill>
                                    <a:schemeClr val="tx1"/>
                                  </a:solidFill>
                                  <a:effectLst>
                                    <a:outerShdw blurRad="38100" dist="25400" dir="5400000" algn="ctr" rotWithShape="0">
                                      <a:srgbClr val="6E747A">
                                        <a:alpha val="43000"/>
                                      </a:srgbClr>
                                    </a:outerShdw>
                                  </a:effectLst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3600" b="0" i="1" smtClean="0">
                                  <a:ln w="0"/>
                                  <a:solidFill>
                                    <a:schemeClr val="tx1"/>
                                  </a:solidFill>
                                  <a:effectLst>
                                    <a:outerShdw blurRad="38100" dist="25400" dir="5400000" algn="ctr" rotWithShape="0">
                                      <a:srgbClr val="6E747A">
                                        <a:alpha val="43000"/>
                                      </a:srgbClr>
                                    </a:outerShdw>
                                  </a:effectLst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  <m:r>
                                <a:rPr lang="en-US" sz="3600" b="0" i="1" smtClean="0">
                                  <a:ln w="0"/>
                                  <a:solidFill>
                                    <a:schemeClr val="tx1"/>
                                  </a:solidFill>
                                  <a:effectLst>
                                    <a:outerShdw blurRad="38100" dist="25400" dir="5400000" algn="ctr" rotWithShape="0">
                                      <a:srgbClr val="6E747A">
                                        <a:alpha val="43000"/>
                                      </a:srgbClr>
                                    </a:outerShdw>
                                  </a:effectLst>
                                  <a:latin typeface="Cambria Math" panose="02040503050406030204" pitchFamily="18" charset="0"/>
                                </a:rPr>
                                <m:t>(1−</m:t>
                              </m:r>
                              <m:r>
                                <a:rPr lang="en-US" sz="3600" b="0" i="1" smtClean="0">
                                  <a:ln w="0"/>
                                  <a:solidFill>
                                    <a:schemeClr val="tx1"/>
                                  </a:solidFill>
                                  <a:effectLst>
                                    <a:outerShdw blurRad="38100" dist="25400" dir="5400000" algn="ctr" rotWithShape="0">
                                      <a:srgbClr val="6E747A">
                                        <a:alpha val="43000"/>
                                      </a:srgbClr>
                                    </a:outerShdw>
                                  </a:effectLst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  <m:r>
                                <a:rPr lang="en-US" sz="3600" b="0" i="1" smtClean="0">
                                  <a:ln w="0"/>
                                  <a:solidFill>
                                    <a:schemeClr val="tx1"/>
                                  </a:solidFill>
                                  <a:effectLst>
                                    <a:outerShdw blurRad="38100" dist="25400" dir="5400000" algn="ctr" rotWithShape="0">
                                      <a:srgbClr val="6E747A">
                                        <a:alpha val="43000"/>
                                      </a:srgbClr>
                                    </a:outerShdw>
                                  </a:effectLst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num>
                            <m:den>
                              <m:r>
                                <a:rPr lang="en-US" sz="3600" b="0" i="1" smtClean="0">
                                  <a:ln w="0"/>
                                  <a:solidFill>
                                    <a:schemeClr val="tx1"/>
                                  </a:solidFill>
                                  <a:effectLst>
                                    <a:outerShdw blurRad="38100" dist="25400" dir="5400000" algn="ctr" rotWithShape="0">
                                      <a:srgbClr val="6E747A">
                                        <a:alpha val="43000"/>
                                      </a:srgbClr>
                                    </a:outerShdw>
                                  </a:effectLst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den>
                          </m:f>
                        </m:e>
                      </m:rad>
                    </m:oMath>
                  </m:oMathPara>
                </a14:m>
                <a:endParaRPr lang="en-US" sz="36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1A5418F6-A3D4-4E36-BDFB-20E78988BD7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44392" y="380462"/>
                <a:ext cx="4546566" cy="1636858"/>
              </a:xfrm>
              <a:prstGeom prst="rect">
                <a:avLst/>
              </a:prstGeom>
              <a:blipFill>
                <a:blip r:embed="rId4"/>
                <a:stretch>
                  <a:fillRect b="-48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Rectangle 13">
            <a:extLst>
              <a:ext uri="{FF2B5EF4-FFF2-40B4-BE49-F238E27FC236}">
                <a16:creationId xmlns:a16="http://schemas.microsoft.com/office/drawing/2014/main" id="{A03585F4-0730-42C3-8172-4566BBD01898}"/>
              </a:ext>
            </a:extLst>
          </p:cNvPr>
          <p:cNvSpPr/>
          <p:nvPr/>
        </p:nvSpPr>
        <p:spPr>
          <a:xfrm>
            <a:off x="310393" y="2231181"/>
            <a:ext cx="4276261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800" dirty="0">
                <a:ea typeface="Gill Sans MT"/>
                <a:cs typeface="Gill Sans MT"/>
                <a:sym typeface="Gill Sans MT"/>
              </a:rPr>
              <a:t>Then we can compute sample size as </a:t>
            </a: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17406362"/>
      </p:ext>
    </p:extLst>
  </p:cSld>
  <p:clrMapOvr>
    <a:masterClrMapping/>
  </p:clrMapOvr>
</p:sld>
</file>

<file path=ppt/theme/theme1.xml><?xml version="1.0" encoding="utf-8"?>
<a:theme xmlns:a="http://schemas.openxmlformats.org/drawingml/2006/main" name="4300 theme">
  <a:themeElements>
    <a:clrScheme name="Custom 5">
      <a:dk1>
        <a:srgbClr val="3F3F3F"/>
      </a:dk1>
      <a:lt1>
        <a:sysClr val="window" lastClr="FFFFFF"/>
      </a:lt1>
      <a:dk2>
        <a:srgbClr val="637052"/>
      </a:dk2>
      <a:lt2>
        <a:srgbClr val="CCDDEA"/>
      </a:lt2>
      <a:accent1>
        <a:srgbClr val="E5A99F"/>
      </a:accent1>
      <a:accent2>
        <a:srgbClr val="B23838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Custom 1">
      <a:majorFont>
        <a:latin typeface="Sitka Display Semibold"/>
        <a:ea typeface=""/>
        <a:cs typeface=""/>
      </a:majorFont>
      <a:minorFont>
        <a:latin typeface="Segoe UI"/>
        <a:ea typeface=""/>
        <a:cs typeface="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geog4300_L01-Introductions" id="{FA51A00F-822B-41B5-AA4A-2C123A5E9355}" vid="{2F9C99DD-B25B-4D9F-92B4-7DCE57BD0F40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206</TotalTime>
  <Words>153</Words>
  <Application>Microsoft Office PowerPoint</Application>
  <PresentationFormat>Widescreen</PresentationFormat>
  <Paragraphs>30</Paragraphs>
  <Slides>6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3" baseType="lpstr">
      <vt:lpstr>Arial</vt:lpstr>
      <vt:lpstr>Calibri</vt:lpstr>
      <vt:lpstr>Cambria Math</vt:lpstr>
      <vt:lpstr>Gill Sans MT</vt:lpstr>
      <vt:lpstr>Segoe UI</vt:lpstr>
      <vt:lpstr>Sitka Display Semibold</vt:lpstr>
      <vt:lpstr>4300 theme</vt:lpstr>
      <vt:lpstr>Central limit theorem and confidence intervals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Spatial data</dc:title>
  <dc:creator>Gerald Shannon</dc:creator>
  <cp:lastModifiedBy>Jerry Shannon</cp:lastModifiedBy>
  <cp:revision>77</cp:revision>
  <dcterms:modified xsi:type="dcterms:W3CDTF">2026-10-15T15:30:50Z</dcterms:modified>
</cp:coreProperties>
</file>