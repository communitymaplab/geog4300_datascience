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4"/>
  </p:notesMasterIdLst>
  <p:sldIdLst>
    <p:sldId id="263" r:id="rId2"/>
    <p:sldId id="300" r:id="rId3"/>
    <p:sldId id="264" r:id="rId4"/>
    <p:sldId id="301" r:id="rId5"/>
    <p:sldId id="302" r:id="rId6"/>
    <p:sldId id="303" r:id="rId7"/>
    <p:sldId id="304" r:id="rId8"/>
    <p:sldId id="268" r:id="rId9"/>
    <p:sldId id="306" r:id="rId10"/>
    <p:sldId id="305" r:id="rId11"/>
    <p:sldId id="307" r:id="rId12"/>
    <p:sldId id="30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lsoc.org.uk/~/media/Files/GSL/shared/Sup_pubs/2015/18849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Visualizing and describing spatial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E2F8-4E98-5102-62C1-95F55386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/>
          <a:p>
            <a:r>
              <a:rPr lang="en-US" dirty="0"/>
              <a:t>Review: </a:t>
            </a:r>
            <a:br>
              <a:rPr lang="en-US" dirty="0"/>
            </a:br>
            <a:r>
              <a:rPr lang="en-US" dirty="0"/>
              <a:t>How are vector and raster data different?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F26E1-2921-395D-A230-4E31506BC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0" y="113597"/>
            <a:ext cx="5753099" cy="6500677"/>
          </a:xfrm>
          <a:prstGeom prst="rect">
            <a:avLst/>
          </a:prstGeom>
          <a:noFill/>
        </p:spPr>
      </p:pic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BC68664-1B16-1E62-890E-AC0C3A6B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2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633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234C-736A-47C0-9C25-421C353B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stats for 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7153-A13F-42AB-9D76-DBBCF211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238" y="1845734"/>
            <a:ext cx="4051215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Where is/are the center(s)?</a:t>
            </a:r>
          </a:p>
          <a:p>
            <a:pPr marL="0" indent="0">
              <a:buNone/>
            </a:pPr>
            <a:r>
              <a:rPr lang="en-US" dirty="0"/>
              <a:t>How far is the spread?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E8D0-ACB8-4655-9DF9-655F37CB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3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41A8C-30F1-4C5C-AA19-ADAF0E37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587" y="1845734"/>
            <a:ext cx="3879584" cy="4420231"/>
          </a:xfrm>
          <a:prstGeom prst="rect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419FE5-8712-4B77-8944-6AB2A6D569B5}"/>
              </a:ext>
            </a:extLst>
          </p:cNvPr>
          <p:cNvSpPr txBox="1"/>
          <p:nvPr/>
        </p:nvSpPr>
        <p:spPr>
          <a:xfrm>
            <a:off x="4246510" y="5781338"/>
            <a:ext cx="2814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Waffle Houses in Georgia</a:t>
            </a:r>
          </a:p>
        </p:txBody>
      </p:sp>
    </p:spTree>
    <p:extLst>
      <p:ext uri="{BB962C8B-B14F-4D97-AF65-F5344CB8AC3E}">
        <p14:creationId xmlns:p14="http://schemas.microsoft.com/office/powerpoint/2010/main" val="39826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234C-736A-47C0-9C25-421C353B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stats for 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7153-A13F-42AB-9D76-DBBCF211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238" y="1845734"/>
            <a:ext cx="4051215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Where is/are the center(s)?</a:t>
            </a:r>
          </a:p>
          <a:p>
            <a:pPr marL="0" indent="0">
              <a:buNone/>
            </a:pPr>
            <a:r>
              <a:rPr lang="en-US" dirty="0"/>
              <a:t>How far is the spread?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How is this different than mean/standard deviation?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E8D0-ACB8-4655-9DF9-655F37CB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4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41A8C-30F1-4C5C-AA19-ADAF0E37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587" y="1845734"/>
            <a:ext cx="3879584" cy="4420231"/>
          </a:xfrm>
          <a:prstGeom prst="rect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419FE5-8712-4B77-8944-6AB2A6D569B5}"/>
              </a:ext>
            </a:extLst>
          </p:cNvPr>
          <p:cNvSpPr txBox="1"/>
          <p:nvPr/>
        </p:nvSpPr>
        <p:spPr>
          <a:xfrm>
            <a:off x="4246510" y="5781338"/>
            <a:ext cx="2814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Waffle Houses in Georgia</a:t>
            </a:r>
          </a:p>
        </p:txBody>
      </p:sp>
    </p:spTree>
    <p:extLst>
      <p:ext uri="{BB962C8B-B14F-4D97-AF65-F5344CB8AC3E}">
        <p14:creationId xmlns:p14="http://schemas.microsoft.com/office/powerpoint/2010/main" val="330999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234C-736A-47C0-9C25-421C353B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center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E8D0-ACB8-4655-9DF9-655F37CB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5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A8DB562-DC65-4D2E-B5DB-0561C1998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383" y="2241330"/>
            <a:ext cx="4798100" cy="3562946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FC5A87-A849-44C2-87B5-30B1136BB543}"/>
              </a:ext>
            </a:extLst>
          </p:cNvPr>
          <p:cNvSpPr txBox="1">
            <a:spLocks/>
          </p:cNvSpPr>
          <p:nvPr/>
        </p:nvSpPr>
        <p:spPr>
          <a:xfrm>
            <a:off x="1223238" y="1845734"/>
            <a:ext cx="4462998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What’s the average longitude and latitude of each point?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Open </a:t>
            </a:r>
            <a:br>
              <a:rPr lang="en-US" i="1" dirty="0"/>
            </a:br>
            <a:r>
              <a:rPr lang="en-US" i="1" dirty="0"/>
              <a:t>“wh_Georgia_Safegraph_xy.csv”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Calculate the mean center</a:t>
            </a:r>
          </a:p>
        </p:txBody>
      </p:sp>
    </p:spTree>
    <p:extLst>
      <p:ext uri="{BB962C8B-B14F-4D97-AF65-F5344CB8AC3E}">
        <p14:creationId xmlns:p14="http://schemas.microsoft.com/office/powerpoint/2010/main" val="203237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234C-736A-47C0-9C25-421C353B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</a:t>
            </a:r>
            <a:br>
              <a:rPr lang="en-US" dirty="0"/>
            </a:br>
            <a:r>
              <a:rPr lang="en-US" dirty="0"/>
              <a:t>mean center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E8D0-ACB8-4655-9DF9-655F37CB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6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FC5A87-A849-44C2-87B5-30B1136BB543}"/>
              </a:ext>
            </a:extLst>
          </p:cNvPr>
          <p:cNvSpPr txBox="1">
            <a:spLocks/>
          </p:cNvSpPr>
          <p:nvPr/>
        </p:nvSpPr>
        <p:spPr>
          <a:xfrm>
            <a:off x="1223238" y="1845734"/>
            <a:ext cx="4462998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Open “tornado_pointsSE.csv”.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Save just Georgia points (ST is “GA”) in a new tab. What’s the mean center of those points?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does it compare to Waffle House?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What does that tell us?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CDD6BD-08C3-4CB7-BA55-229E4857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13" y="496560"/>
            <a:ext cx="5252768" cy="553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7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234C-736A-47C0-9C25-421C353B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spread:</a:t>
            </a:r>
            <a:br>
              <a:rPr lang="en-US" dirty="0"/>
            </a:br>
            <a:r>
              <a:rPr lang="en-US" dirty="0"/>
              <a:t>Standard deviation ellipse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E8D0-ACB8-4655-9DF9-655F37CB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7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3ACBA-C741-418A-8719-CA2340B07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16" y="1774504"/>
            <a:ext cx="3808952" cy="4085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11FC40-33D2-4B61-B012-B25E95BF9E92}"/>
              </a:ext>
            </a:extLst>
          </p:cNvPr>
          <p:cNvSpPr txBox="1"/>
          <p:nvPr/>
        </p:nvSpPr>
        <p:spPr>
          <a:xfrm>
            <a:off x="442061" y="5841418"/>
            <a:ext cx="49840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dirty="0"/>
              <a:t>The Geological Society </a:t>
            </a:r>
            <a:r>
              <a:rPr lang="en-US" sz="1050" dirty="0">
                <a:hlinkClick r:id="rId3"/>
              </a:rPr>
              <a:t>https://www.geolsoc.org.uk/~/media/Files/GSL/shared/Sup_pubs/2015/18849.pdf</a:t>
            </a:r>
            <a:r>
              <a:rPr lang="en-US" sz="105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89FA3-6181-4CE3-BA5D-4439FC439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272" y="1875595"/>
            <a:ext cx="4677428" cy="48679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8BF465-F96C-416C-A8D7-13D97F74494B}"/>
              </a:ext>
            </a:extLst>
          </p:cNvPr>
          <p:cNvSpPr txBox="1"/>
          <p:nvPr/>
        </p:nvSpPr>
        <p:spPr>
          <a:xfrm>
            <a:off x="0" y="-738664"/>
            <a:ext cx="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eolog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87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8C84-8113-4A7E-BB5E-F2783A95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366" y="662743"/>
            <a:ext cx="10058400" cy="851855"/>
          </a:xfrm>
        </p:spPr>
        <p:txBody>
          <a:bodyPr/>
          <a:lstStyle/>
          <a:p>
            <a:r>
              <a:rPr lang="en-US" dirty="0"/>
              <a:t>Maps 101: Choropleth 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21C0B-F9DE-4052-9FBF-F05EB271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6071" y="7004792"/>
            <a:ext cx="1312025" cy="365125"/>
          </a:xfrm>
        </p:spPr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FB94F-BE2E-434A-9DF7-94C2A77A1D8D}"/>
              </a:ext>
            </a:extLst>
          </p:cNvPr>
          <p:cNvSpPr txBox="1"/>
          <p:nvPr/>
        </p:nvSpPr>
        <p:spPr>
          <a:xfrm>
            <a:off x="6970816" y="5867884"/>
            <a:ext cx="39770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 Census</a:t>
            </a:r>
          </a:p>
        </p:txBody>
      </p:sp>
      <p:pic>
        <p:nvPicPr>
          <p:cNvPr id="2052" name="Picture 4" descr="What Is The Difference Between A Thematic Map And A Choropleth Map at ...">
            <a:extLst>
              <a:ext uri="{FF2B5EF4-FFF2-40B4-BE49-F238E27FC236}">
                <a16:creationId xmlns:a16="http://schemas.microsoft.com/office/drawing/2014/main" id="{4D999C4C-C601-4D7A-B31B-B9D80D009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149" y="2003377"/>
            <a:ext cx="5655479" cy="424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01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8C84-8113-4A7E-BB5E-F2783A95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366" y="662743"/>
            <a:ext cx="10058400" cy="851855"/>
          </a:xfrm>
        </p:spPr>
        <p:txBody>
          <a:bodyPr/>
          <a:lstStyle/>
          <a:p>
            <a:r>
              <a:rPr lang="en-US" dirty="0"/>
              <a:t>Maps 101: Graduated symbol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21C0B-F9DE-4052-9FBF-F05EB271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6071" y="7004792"/>
            <a:ext cx="1312025" cy="365125"/>
          </a:xfrm>
        </p:spPr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FB94F-BE2E-434A-9DF7-94C2A77A1D8D}"/>
              </a:ext>
            </a:extLst>
          </p:cNvPr>
          <p:cNvSpPr txBox="1"/>
          <p:nvPr/>
        </p:nvSpPr>
        <p:spPr>
          <a:xfrm>
            <a:off x="5584805" y="5918258"/>
            <a:ext cx="1724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Penn State Geography</a:t>
            </a:r>
          </a:p>
        </p:txBody>
      </p:sp>
      <p:pic>
        <p:nvPicPr>
          <p:cNvPr id="3074" name="Picture 2" descr="Multivariate Dot and Proportional Symbol Maps | GEOG 486: Cartography ...">
            <a:extLst>
              <a:ext uri="{FF2B5EF4-FFF2-40B4-BE49-F238E27FC236}">
                <a16:creationId xmlns:a16="http://schemas.microsoft.com/office/drawing/2014/main" id="{958D8F2E-2DC8-4733-9A5B-0556C1714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015" y="1904794"/>
            <a:ext cx="6192067" cy="4013463"/>
          </a:xfrm>
          <a:prstGeom prst="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62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45D8-5F3E-473C-8E2F-9D7F3A0D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101: Dot density 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07AD8-D5FE-43ED-932A-B6D18618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10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199FC-D7AE-4083-9B96-72809C26467B}"/>
              </a:ext>
            </a:extLst>
          </p:cNvPr>
          <p:cNvSpPr txBox="1"/>
          <p:nvPr/>
        </p:nvSpPr>
        <p:spPr>
          <a:xfrm>
            <a:off x="8576284" y="5798264"/>
            <a:ext cx="1766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Flowing Data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1DD40-F472-4FCE-9A85-68BEC20A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105659"/>
            <a:ext cx="6999023" cy="41800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091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45D8-5F3E-473C-8E2F-9D7F3A0D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101: Kernel density map (heatmap)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07AD8-D5FE-43ED-932A-B6D18618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11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199FC-D7AE-4083-9B96-72809C26467B}"/>
              </a:ext>
            </a:extLst>
          </p:cNvPr>
          <p:cNvSpPr txBox="1"/>
          <p:nvPr/>
        </p:nvSpPr>
        <p:spPr>
          <a:xfrm>
            <a:off x="4639619" y="5813454"/>
            <a:ext cx="50973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University of Toronto Libraries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0E02682-25EC-4E7B-8FD0-148BE3EB3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312" y="1824037"/>
            <a:ext cx="7185236" cy="378347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97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45D8-5F3E-473C-8E2F-9D7F3A0D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have projections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56098-40BF-4948-AC97-FE34617DA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07AD8-D5FE-43ED-932A-B6D18618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12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AFRICA-MAP-GEOGRAPHY-GRAPHIC ">
            <a:extLst>
              <a:ext uri="{FF2B5EF4-FFF2-40B4-BE49-F238E27FC236}">
                <a16:creationId xmlns:a16="http://schemas.microsoft.com/office/drawing/2014/main" id="{F0F783E2-8A67-4149-9DD9-8C3620981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340" y="198942"/>
            <a:ext cx="6449136" cy="662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7975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250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Sitka Display Semibold</vt:lpstr>
      <vt:lpstr>4300 theme</vt:lpstr>
      <vt:lpstr>Visualizing and describing spatial data</vt:lpstr>
      <vt:lpstr>Review:  How are vector and raster data different?</vt:lpstr>
      <vt:lpstr>Descriptive stats for spatial data</vt:lpstr>
      <vt:lpstr>Descriptive stats for spatial data</vt:lpstr>
      <vt:lpstr>Mean center</vt:lpstr>
      <vt:lpstr>Interpreting  mean center</vt:lpstr>
      <vt:lpstr>Measuring spread: Standard deviation ellipse</vt:lpstr>
      <vt:lpstr>Maps 101: Choropleth map</vt:lpstr>
      <vt:lpstr>Maps 101: Graduated symbol</vt:lpstr>
      <vt:lpstr>Maps 101: Dot density map</vt:lpstr>
      <vt:lpstr>Maps 101: Kernel density map (heatmap)</vt:lpstr>
      <vt:lpstr>Maps have projections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67</cp:revision>
  <dcterms:modified xsi:type="dcterms:W3CDTF">2026-09-10T18:35:47Z</dcterms:modified>
</cp:coreProperties>
</file>