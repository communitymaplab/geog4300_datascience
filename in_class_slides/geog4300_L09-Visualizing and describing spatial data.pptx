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732" r:id="rId1"/>
  </p:sldMasterIdLst>
  <p:notesMasterIdLst>
    <p:notesMasterId r:id="rId14"/>
  </p:notesMasterIdLst>
  <p:sldIdLst>
    <p:sldId id="263" r:id="rId2"/>
    <p:sldId id="300" r:id="rId3"/>
    <p:sldId id="264" r:id="rId4"/>
    <p:sldId id="301" r:id="rId5"/>
    <p:sldId id="302" r:id="rId6"/>
    <p:sldId id="303" r:id="rId7"/>
    <p:sldId id="304" r:id="rId8"/>
    <p:sldId id="268" r:id="rId9"/>
    <p:sldId id="306" r:id="rId10"/>
    <p:sldId id="305" r:id="rId11"/>
    <p:sldId id="307" r:id="rId12"/>
    <p:sldId id="308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993" autoAdjust="0"/>
    <p:restoredTop sz="94660"/>
  </p:normalViewPr>
  <p:slideViewPr>
    <p:cSldViewPr snapToGrid="0">
      <p:cViewPr varScale="1">
        <p:scale>
          <a:sx n="158" d="100"/>
          <a:sy n="158" d="100"/>
        </p:scale>
        <p:origin x="192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799" cy="4572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marL="0" marR="0" lvl="0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457200" marR="0" lvl="1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914400" marR="0" lvl="2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371600" marR="0" lvl="3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1828800" marR="0" lvl="4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286000" marR="0" lvl="5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2743200" marR="0" lvl="6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200400" marR="0" lvl="7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3657600" marR="0" lvl="8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Shape 4"/>
          <p:cNvSpPr txBox="1">
            <a:spLocks noGrp="1"/>
          </p:cNvSpPr>
          <p:nvPr>
            <p:ph type="dt" idx="10"/>
          </p:nvPr>
        </p:nvSpPr>
        <p:spPr>
          <a:xfrm>
            <a:off x="3884612" y="0"/>
            <a:ext cx="2971799" cy="4572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457200" marR="0" lvl="1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914400" marR="0" lvl="2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371600" marR="0" lvl="3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1828800" marR="0" lvl="4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286000" marR="0" lvl="5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2743200" marR="0" lvl="6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200400" marR="0" lvl="7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3657600" marR="0" lvl="8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Shape 5"/>
          <p:cNvSpPr>
            <a:spLocks noGrp="1" noRot="1" noChangeAspect="1"/>
          </p:cNvSpPr>
          <p:nvPr>
            <p:ph type="sldImg" idx="3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6" name="Shape 6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marL="0" marR="0" lvl="0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457200" marR="0" lvl="1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914400" marR="0" lvl="2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371600" marR="0" lvl="3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1828800" marR="0" lvl="4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286000" marR="0" lvl="5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2743200" marR="0" lvl="6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200400" marR="0" lvl="7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3657600" marR="0" lvl="8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Shape 7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799" cy="4572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b" anchorCtr="0"/>
          <a:lstStyle>
            <a:lvl1pPr marL="0" marR="0" lvl="0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457200" marR="0" lvl="1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914400" marR="0" lvl="2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371600" marR="0" lvl="3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1828800" marR="0" lvl="4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286000" marR="0" lvl="5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2743200" marR="0" lvl="6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200400" marR="0" lvl="7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3657600" marR="0" lvl="8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Shape 8"/>
          <p:cNvSpPr txBox="1">
            <a:spLocks noGrp="1"/>
          </p:cNvSpPr>
          <p:nvPr>
            <p:ph type="sldNum" idx="12"/>
          </p:nvPr>
        </p:nvSpPr>
        <p:spPr>
          <a:xfrm>
            <a:off x="3884612" y="8685213"/>
            <a:ext cx="2971799" cy="4572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buSzPct val="25000"/>
            </a:pPr>
            <a:fld id="{00000000-1234-1234-1234-123412341234}" type="slidenum">
              <a:rPr lang="en-US" sz="1200" smtClean="0">
                <a:latin typeface="Calibri"/>
                <a:ea typeface="Calibri"/>
                <a:cs typeface="Calibri"/>
                <a:sym typeface="Calibri"/>
              </a:rPr>
              <a:pPr>
                <a:buSzPct val="25000"/>
              </a:pPr>
              <a:t>‹#›</a:t>
            </a:fld>
            <a:endParaRPr lang="en-US" sz="1200" dirty="0"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664002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buSzPct val="25000"/>
            </a:pPr>
            <a:fld id="{00000000-1234-1234-1234-123412341234}" type="slidenum">
              <a:rPr lang="en-US" sz="1200" smtClean="0">
                <a:latin typeface="Calibri"/>
                <a:ea typeface="Calibri"/>
                <a:cs typeface="Calibri"/>
                <a:sym typeface="Calibri"/>
              </a:rPr>
              <a:pPr>
                <a:buSzPct val="25000"/>
              </a:pPr>
              <a:t>‹#›</a:t>
            </a:fld>
            <a:endParaRPr lang="en-US" sz="1200" dirty="0"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1142212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buSzPct val="25000"/>
            </a:pPr>
            <a:fld id="{00000000-1234-1234-1234-123412341234}" type="slidenum">
              <a:rPr lang="en-US" sz="1200" smtClean="0">
                <a:latin typeface="Calibri"/>
                <a:ea typeface="Calibri"/>
                <a:cs typeface="Calibri"/>
                <a:sym typeface="Calibri"/>
              </a:rPr>
              <a:pPr>
                <a:buSzPct val="25000"/>
              </a:pPr>
              <a:t>‹#›</a:t>
            </a:fld>
            <a:endParaRPr lang="en-US" sz="1200" dirty="0"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874142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buSzPct val="25000"/>
            </a:pPr>
            <a:fld id="{00000000-1234-1234-1234-123412341234}" type="slidenum">
              <a:rPr lang="en-US" sz="1200" smtClean="0">
                <a:latin typeface="Calibri"/>
                <a:ea typeface="Calibri"/>
                <a:cs typeface="Calibri"/>
                <a:sym typeface="Calibri"/>
              </a:rPr>
              <a:pPr>
                <a:buSzPct val="25000"/>
              </a:pPr>
              <a:t>‹#›</a:t>
            </a:fld>
            <a:endParaRPr lang="en-US" sz="1200" dirty="0"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6129426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buSzPct val="25000"/>
            </a:pPr>
            <a:fld id="{00000000-1234-1234-1234-123412341234}" type="slidenum">
              <a:rPr lang="en-US" sz="1200" smtClean="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pPr>
                <a:buSzPct val="25000"/>
              </a:pPr>
              <a:t>‹#›</a:t>
            </a:fld>
            <a:endParaRPr lang="en-US" sz="1200">
              <a:solidFill>
                <a:srgbClr val="88888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6068430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buSzPct val="25000"/>
            </a:pPr>
            <a:fld id="{00000000-1234-1234-1234-123412341234}" type="slidenum">
              <a:rPr lang="en-US" sz="1200" smtClean="0">
                <a:latin typeface="Calibri"/>
                <a:ea typeface="Calibri"/>
                <a:cs typeface="Calibri"/>
                <a:sym typeface="Calibri"/>
              </a:rPr>
              <a:pPr>
                <a:buSzPct val="25000"/>
              </a:pPr>
              <a:t>‹#›</a:t>
            </a:fld>
            <a:endParaRPr lang="en-US" sz="1200" dirty="0">
              <a:solidFill>
                <a:schemeClr val="bg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2583480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buSzPct val="25000"/>
            </a:pPr>
            <a:fld id="{00000000-1234-1234-1234-123412341234}" type="slidenum">
              <a:rPr lang="en-US" sz="1200" smtClean="0">
                <a:latin typeface="Calibri"/>
                <a:ea typeface="Calibri"/>
                <a:cs typeface="Calibri"/>
                <a:sym typeface="Calibri"/>
              </a:rPr>
              <a:pPr>
                <a:buSzPct val="25000"/>
              </a:pPr>
              <a:t>‹#›</a:t>
            </a:fld>
            <a:endParaRPr lang="en-US" sz="1200" dirty="0"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1961970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>
              <a:buSzPct val="25000"/>
            </a:pPr>
            <a:fld id="{00000000-1234-1234-1234-123412341234}" type="slidenum">
              <a:rPr lang="en-US" sz="1200" smtClean="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pPr>
                <a:buSzPct val="25000"/>
              </a:pPr>
              <a:t>‹#›</a:t>
            </a:fld>
            <a:endParaRPr lang="en-US" sz="1200">
              <a:solidFill>
                <a:srgbClr val="88888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166828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buSzPct val="25000"/>
            </a:pPr>
            <a:fld id="{00000000-1234-1234-1234-123412341234}" type="slidenum">
              <a:rPr lang="en-US" sz="1200" smtClean="0">
                <a:latin typeface="Calibri"/>
                <a:ea typeface="Calibri"/>
                <a:cs typeface="Calibri"/>
                <a:sym typeface="Calibri"/>
              </a:rPr>
              <a:pPr>
                <a:buSzPct val="25000"/>
              </a:pPr>
              <a:t>‹#›</a:t>
            </a:fld>
            <a:endParaRPr lang="en-US" sz="1200" dirty="0"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5156164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buSzPct val="25000"/>
            </a:pPr>
            <a:fld id="{00000000-1234-1234-1234-123412341234}" type="slidenum">
              <a:rPr lang="en-US" sz="1200" smtClean="0">
                <a:latin typeface="Calibri"/>
                <a:ea typeface="Calibri"/>
                <a:cs typeface="Calibri"/>
                <a:sym typeface="Calibri"/>
              </a:rPr>
              <a:pPr>
                <a:buSzPct val="25000"/>
              </a:pPr>
              <a:t>‹#›</a:t>
            </a:fld>
            <a:endParaRPr lang="en-US" sz="1200" dirty="0"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9416505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buSzPct val="25000"/>
            </a:pPr>
            <a:fld id="{00000000-1234-1234-1234-123412341234}" type="slidenum">
              <a:rPr lang="en-US" sz="1200" smtClean="0">
                <a:latin typeface="Calibri"/>
                <a:ea typeface="Calibri"/>
                <a:cs typeface="Calibri"/>
                <a:sym typeface="Calibri"/>
              </a:rPr>
              <a:pPr>
                <a:buSzPct val="25000"/>
              </a:pPr>
              <a:t>‹#›</a:t>
            </a:fld>
            <a:endParaRPr lang="en-US" sz="1200" dirty="0"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9424141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bg1"/>
                </a:solidFill>
              </a:defRPr>
            </a:lvl1pPr>
          </a:lstStyle>
          <a:p>
            <a:pPr>
              <a:buSzPct val="25000"/>
            </a:pPr>
            <a:fld id="{00000000-1234-1234-1234-123412341234}" type="slidenum">
              <a:rPr lang="en-US" sz="1200" smtClean="0">
                <a:latin typeface="Calibri"/>
                <a:ea typeface="Calibri"/>
                <a:cs typeface="Calibri"/>
                <a:sym typeface="Calibri"/>
              </a:rPr>
              <a:pPr>
                <a:buSzPct val="25000"/>
              </a:pPr>
              <a:t>‹#›</a:t>
            </a:fld>
            <a:endParaRPr lang="en-US" sz="1200" dirty="0">
              <a:solidFill>
                <a:schemeClr val="bg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887943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hf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</a:schemeClr>
          </a:solidFill>
          <a:latin typeface="Sitka Display Semibold" pitchFamily="2" charset="0"/>
          <a:ea typeface="+mj-ea"/>
          <a:cs typeface="+mj-cs"/>
        </a:defRPr>
      </a:lvl1pPr>
    </p:titleStyle>
    <p:bodyStyle>
      <a:lvl1pPr marL="233363" indent="-233363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tx1">
            <a:lumMod val="75000"/>
          </a:schemeClr>
        </a:buClr>
        <a:buSzPct val="100000"/>
        <a:buFont typeface="Arial" panose="020B0604020202020204" pitchFamily="34" charset="0"/>
        <a:buChar char="•"/>
        <a:defRPr sz="2800" kern="1200">
          <a:solidFill>
            <a:schemeClr val="tx1">
              <a:lumMod val="75000"/>
            </a:schemeClr>
          </a:solidFill>
          <a:latin typeface="Segoe UI" panose="020B0502040204020203" pitchFamily="34" charset="0"/>
          <a:ea typeface="Open Sans Medium" pitchFamily="2" charset="0"/>
          <a:cs typeface="Segoe UI" panose="020B0502040204020203" pitchFamily="34" charset="0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>
            <a:lumMod val="75000"/>
          </a:schemeClr>
        </a:buClr>
        <a:buFont typeface="Arial" panose="020B0604020202020204" pitchFamily="34" charset="0"/>
        <a:buChar char="•"/>
        <a:defRPr sz="2400" kern="1200">
          <a:solidFill>
            <a:schemeClr val="tx1">
              <a:lumMod val="75000"/>
            </a:schemeClr>
          </a:solidFill>
          <a:latin typeface="Segoe UI" panose="020B0502040204020203" pitchFamily="34" charset="0"/>
          <a:ea typeface="Open Sans Medium" pitchFamily="2" charset="0"/>
          <a:cs typeface="Segoe UI" panose="020B0502040204020203" pitchFamily="34" charset="0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>
            <a:lumMod val="75000"/>
          </a:schemeClr>
        </a:buClr>
        <a:buFont typeface="Arial" panose="020B0604020202020204" pitchFamily="34" charset="0"/>
        <a:buChar char="•"/>
        <a:defRPr sz="1800" kern="1200">
          <a:solidFill>
            <a:schemeClr val="tx1">
              <a:lumMod val="75000"/>
            </a:schemeClr>
          </a:solidFill>
          <a:latin typeface="Segoe UI" panose="020B0502040204020203" pitchFamily="34" charset="0"/>
          <a:ea typeface="Open Sans Medium" pitchFamily="2" charset="0"/>
          <a:cs typeface="Segoe UI" panose="020B0502040204020203" pitchFamily="34" charset="0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>
            <a:lumMod val="75000"/>
          </a:schemeClr>
        </a:buClr>
        <a:buFont typeface="Arial" panose="020B0604020202020204" pitchFamily="34" charset="0"/>
        <a:buChar char="•"/>
        <a:defRPr sz="1800" kern="1200">
          <a:solidFill>
            <a:schemeClr val="tx1">
              <a:lumMod val="75000"/>
            </a:schemeClr>
          </a:solidFill>
          <a:latin typeface="Segoe UI" panose="020B0502040204020203" pitchFamily="34" charset="0"/>
          <a:ea typeface="Open Sans Medium" pitchFamily="2" charset="0"/>
          <a:cs typeface="Segoe UI" panose="020B0502040204020203" pitchFamily="34" charset="0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>
            <a:lumMod val="75000"/>
          </a:schemeClr>
        </a:buClr>
        <a:buFont typeface="Arial" panose="020B0604020202020204" pitchFamily="34" charset="0"/>
        <a:buChar char="•"/>
        <a:defRPr sz="1800" kern="1200">
          <a:solidFill>
            <a:schemeClr val="tx1">
              <a:lumMod val="75000"/>
            </a:schemeClr>
          </a:solidFill>
          <a:latin typeface="Segoe UI" panose="020B0502040204020203" pitchFamily="34" charset="0"/>
          <a:ea typeface="Open Sans Medium" pitchFamily="2" charset="0"/>
          <a:cs typeface="Segoe UI" panose="020B0502040204020203" pitchFamily="34" charset="0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eolsoc.org.uk/~/media/Files/GSL/shared/Sup_pubs/2015/18849.pdf" TargetMode="External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hyperlink" Target="https://www.youtube.com/watch?v=8KXaKM3N3ko" TargetMode="Externa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2DA1E6-0A9B-4FAD-9E42-B37B3CA5D78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86248" y="2984156"/>
            <a:ext cx="10812163" cy="1099527"/>
          </a:xfrm>
        </p:spPr>
        <p:txBody>
          <a:bodyPr>
            <a:noAutofit/>
          </a:bodyPr>
          <a:lstStyle/>
          <a:p>
            <a:r>
              <a:rPr lang="en-US" sz="4400" dirty="0"/>
              <a:t>Visualizing and describing spatial data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70A25A50-E1E4-4126-B9CC-C52512D3D32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GEOG4300 /6300: Intro to data science</a:t>
            </a:r>
          </a:p>
          <a:p>
            <a:r>
              <a:rPr lang="en-US" dirty="0"/>
              <a:t>Prof. Jerry Shannon</a:t>
            </a:r>
          </a:p>
        </p:txBody>
      </p:sp>
    </p:spTree>
    <p:extLst>
      <p:ext uri="{BB962C8B-B14F-4D97-AF65-F5344CB8AC3E}">
        <p14:creationId xmlns:p14="http://schemas.microsoft.com/office/powerpoint/2010/main" val="7646456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86E2F8-4E98-5102-62C1-95F5538654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/>
          <a:p>
            <a:r>
              <a:rPr lang="en-US" dirty="0"/>
              <a:t>Review: </a:t>
            </a:r>
            <a:br>
              <a:rPr lang="en-US" dirty="0"/>
            </a:br>
            <a:r>
              <a:rPr lang="en-US" dirty="0"/>
              <a:t>How are vector and raster data different?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BFF26E1-2921-395D-A230-4E31506BC5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7000" y="113597"/>
            <a:ext cx="5753099" cy="6500677"/>
          </a:xfrm>
          <a:prstGeom prst="rect">
            <a:avLst/>
          </a:prstGeom>
          <a:noFill/>
        </p:spPr>
      </p:pic>
      <p:sp>
        <p:nvSpPr>
          <p:cNvPr id="16" name="Slide Number Placeholder 4">
            <a:extLst>
              <a:ext uri="{FF2B5EF4-FFF2-40B4-BE49-F238E27FC236}">
                <a16:creationId xmlns:a16="http://schemas.microsoft.com/office/drawing/2014/main" id="{4BC68664-1B16-1E62-890E-AC0C3A6BE0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900458" y="6459785"/>
            <a:ext cx="1312025" cy="365125"/>
          </a:xfrm>
        </p:spPr>
        <p:txBody>
          <a:bodyPr/>
          <a:lstStyle/>
          <a:p>
            <a:pPr>
              <a:spcAft>
                <a:spcPts val="600"/>
              </a:spcAft>
              <a:buSzPct val="25000"/>
            </a:pPr>
            <a:fld id="{00000000-1234-1234-1234-123412341234}" type="slidenum">
              <a:rPr lang="en-US" sz="1200" smtClean="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pPr>
                <a:spcAft>
                  <a:spcPts val="600"/>
                </a:spcAft>
                <a:buSzPct val="25000"/>
              </a:pPr>
              <a:t>2</a:t>
            </a:fld>
            <a:endParaRPr lang="en-US" sz="1200">
              <a:solidFill>
                <a:srgbClr val="88888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6663381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36234C-736A-47C0-9C25-421C353BAE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Descriptive stats for spatial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5F7153-A13F-42AB-9D76-DBBCF211B8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23238" y="1845734"/>
            <a:ext cx="4051215" cy="4023360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Where is/are the center(s)?</a:t>
            </a:r>
          </a:p>
          <a:p>
            <a:pPr marL="0" indent="0">
              <a:buNone/>
            </a:pPr>
            <a:r>
              <a:rPr lang="en-US" dirty="0"/>
              <a:t>How far is the spread?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2AE8D0-ACB8-4655-9DF9-655F37CB1F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buSzPct val="25000"/>
            </a:pPr>
            <a:fld id="{00000000-1234-1234-1234-123412341234}" type="slidenum">
              <a:rPr lang="en-US" sz="1200" smtClean="0">
                <a:latin typeface="Calibri"/>
                <a:ea typeface="Calibri"/>
                <a:cs typeface="Calibri"/>
                <a:sym typeface="Calibri"/>
              </a:rPr>
              <a:pPr>
                <a:buSzPct val="25000"/>
              </a:pPr>
              <a:t>3</a:t>
            </a:fld>
            <a:endParaRPr lang="en-US" sz="1200" dirty="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4B41A8C-30F1-4C5C-AA19-ADAF0E37B9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9587" y="1845734"/>
            <a:ext cx="3879584" cy="4420231"/>
          </a:xfrm>
          <a:prstGeom prst="rect">
            <a:avLst/>
          </a:prstGeom>
          <a:ln w="12700">
            <a:solidFill>
              <a:schemeClr val="tx1">
                <a:lumMod val="40000"/>
                <a:lumOff val="60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6419FE5-8712-4B77-8944-6AB2A6D569B5}"/>
              </a:ext>
            </a:extLst>
          </p:cNvPr>
          <p:cNvSpPr txBox="1"/>
          <p:nvPr/>
        </p:nvSpPr>
        <p:spPr>
          <a:xfrm>
            <a:off x="4246510" y="5781338"/>
            <a:ext cx="28143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Waffle Houses in Georgia</a:t>
            </a:r>
          </a:p>
        </p:txBody>
      </p:sp>
    </p:spTree>
    <p:extLst>
      <p:ext uri="{BB962C8B-B14F-4D97-AF65-F5344CB8AC3E}">
        <p14:creationId xmlns:p14="http://schemas.microsoft.com/office/powerpoint/2010/main" val="39826234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36234C-736A-47C0-9C25-421C353BAE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Descriptive stats for spatial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5F7153-A13F-42AB-9D76-DBBCF211B8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23238" y="1845734"/>
            <a:ext cx="4051215" cy="4023360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Where is/are the center(s)?</a:t>
            </a:r>
          </a:p>
          <a:p>
            <a:pPr marL="0" indent="0">
              <a:buNone/>
            </a:pPr>
            <a:r>
              <a:rPr lang="en-US" dirty="0"/>
              <a:t>How far is the spread?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i="1" dirty="0"/>
              <a:t>How is this different than mean/standard deviation?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2AE8D0-ACB8-4655-9DF9-655F37CB1F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buSzPct val="25000"/>
            </a:pPr>
            <a:fld id="{00000000-1234-1234-1234-123412341234}" type="slidenum">
              <a:rPr lang="en-US" sz="1200" smtClean="0">
                <a:latin typeface="Calibri"/>
                <a:ea typeface="Calibri"/>
                <a:cs typeface="Calibri"/>
                <a:sym typeface="Calibri"/>
              </a:rPr>
              <a:pPr>
                <a:buSzPct val="25000"/>
              </a:pPr>
              <a:t>4</a:t>
            </a:fld>
            <a:endParaRPr lang="en-US" sz="1200" dirty="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4B41A8C-30F1-4C5C-AA19-ADAF0E37B9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9587" y="1845734"/>
            <a:ext cx="3879584" cy="4420231"/>
          </a:xfrm>
          <a:prstGeom prst="rect">
            <a:avLst/>
          </a:prstGeom>
          <a:ln w="12700">
            <a:solidFill>
              <a:schemeClr val="tx1">
                <a:lumMod val="40000"/>
                <a:lumOff val="60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6419FE5-8712-4B77-8944-6AB2A6D569B5}"/>
              </a:ext>
            </a:extLst>
          </p:cNvPr>
          <p:cNvSpPr txBox="1"/>
          <p:nvPr/>
        </p:nvSpPr>
        <p:spPr>
          <a:xfrm>
            <a:off x="4246510" y="5781338"/>
            <a:ext cx="28143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Waffle Houses in Georgia</a:t>
            </a:r>
          </a:p>
        </p:txBody>
      </p:sp>
    </p:spTree>
    <p:extLst>
      <p:ext uri="{BB962C8B-B14F-4D97-AF65-F5344CB8AC3E}">
        <p14:creationId xmlns:p14="http://schemas.microsoft.com/office/powerpoint/2010/main" val="33099995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36234C-736A-47C0-9C25-421C353BAE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Mean center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2AE8D0-ACB8-4655-9DF9-655F37CB1F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buSzPct val="25000"/>
            </a:pPr>
            <a:fld id="{00000000-1234-1234-1234-123412341234}" type="slidenum">
              <a:rPr lang="en-US" sz="1200" smtClean="0">
                <a:latin typeface="Calibri"/>
                <a:ea typeface="Calibri"/>
                <a:cs typeface="Calibri"/>
                <a:sym typeface="Calibri"/>
              </a:rPr>
              <a:pPr>
                <a:buSzPct val="25000"/>
              </a:pPr>
              <a:t>5</a:t>
            </a:fld>
            <a:endParaRPr lang="en-US" sz="1200" dirty="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9A8DB562-DC65-4D2E-B5DB-0561C19989F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4383" y="2241330"/>
            <a:ext cx="4798100" cy="3562946"/>
          </a:xfrm>
          <a:prstGeom prst="rect">
            <a:avLst/>
          </a:prstGeom>
          <a:ln>
            <a:solidFill>
              <a:schemeClr val="tx1">
                <a:lumMod val="40000"/>
                <a:lumOff val="60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9CFC5A87-A849-44C2-87B5-30B1136BB543}"/>
              </a:ext>
            </a:extLst>
          </p:cNvPr>
          <p:cNvSpPr txBox="1">
            <a:spLocks/>
          </p:cNvSpPr>
          <p:nvPr/>
        </p:nvSpPr>
        <p:spPr>
          <a:xfrm>
            <a:off x="1223238" y="1845734"/>
            <a:ext cx="4462998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233363" indent="-233363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tx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sz="2400" kern="1200">
                <a:solidFill>
                  <a:schemeClr val="tx1">
                    <a:lumMod val="75000"/>
                  </a:schemeClr>
                </a:solidFill>
                <a:latin typeface="Segoe UI" panose="020B0502040204020203" pitchFamily="34" charset="0"/>
                <a:ea typeface="Open Sans Medium" pitchFamily="2" charset="0"/>
                <a:cs typeface="Segoe UI" panose="020B0502040204020203" pitchFamily="34" charset="0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tx1">
                  <a:lumMod val="75000"/>
                </a:schemeClr>
              </a:buClr>
              <a:buFont typeface="Arial" panose="020B0604020202020204" pitchFamily="34" charset="0"/>
              <a:buChar char="•"/>
              <a:defRPr sz="2000" kern="1200">
                <a:solidFill>
                  <a:schemeClr val="tx1">
                    <a:lumMod val="75000"/>
                  </a:schemeClr>
                </a:solidFill>
                <a:latin typeface="Segoe UI" panose="020B0502040204020203" pitchFamily="34" charset="0"/>
                <a:ea typeface="Open Sans Medium" pitchFamily="2" charset="0"/>
                <a:cs typeface="Segoe UI" panose="020B0502040204020203" pitchFamily="34" charset="0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tx1">
                  <a:lumMod val="75000"/>
                </a:schemeClr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75000"/>
                  </a:schemeClr>
                </a:solidFill>
                <a:latin typeface="Segoe UI" panose="020B0502040204020203" pitchFamily="34" charset="0"/>
                <a:ea typeface="Open Sans Medium" pitchFamily="2" charset="0"/>
                <a:cs typeface="Segoe UI" panose="020B0502040204020203" pitchFamily="34" charset="0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tx1">
                  <a:lumMod val="75000"/>
                </a:schemeClr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75000"/>
                  </a:schemeClr>
                </a:solidFill>
                <a:latin typeface="Segoe UI" panose="020B0502040204020203" pitchFamily="34" charset="0"/>
                <a:ea typeface="Open Sans Medium" pitchFamily="2" charset="0"/>
                <a:cs typeface="Segoe UI" panose="020B0502040204020203" pitchFamily="34" charset="0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tx1">
                  <a:lumMod val="75000"/>
                </a:schemeClr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75000"/>
                  </a:schemeClr>
                </a:solidFill>
                <a:latin typeface="Segoe UI" panose="020B0502040204020203" pitchFamily="34" charset="0"/>
                <a:ea typeface="Open Sans Medium" pitchFamily="2" charset="0"/>
                <a:cs typeface="Segoe UI" panose="020B0502040204020203" pitchFamily="34" charset="0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What’s the average longitude and latitude of each point?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en-US" i="1" dirty="0"/>
              <a:t>Open </a:t>
            </a:r>
            <a:br>
              <a:rPr lang="en-US" i="1" dirty="0"/>
            </a:br>
            <a:r>
              <a:rPr lang="en-US" i="1" dirty="0"/>
              <a:t>“wh_Georgia_Safegraph_xy.csv”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i="1" dirty="0"/>
              <a:t>Calculate the mean center</a:t>
            </a:r>
          </a:p>
        </p:txBody>
      </p:sp>
    </p:spTree>
    <p:extLst>
      <p:ext uri="{BB962C8B-B14F-4D97-AF65-F5344CB8AC3E}">
        <p14:creationId xmlns:p14="http://schemas.microsoft.com/office/powerpoint/2010/main" val="20323751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36234C-736A-47C0-9C25-421C353BAE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Interpreting </a:t>
            </a:r>
            <a:br>
              <a:rPr lang="en-US" dirty="0"/>
            </a:br>
            <a:r>
              <a:rPr lang="en-US" dirty="0"/>
              <a:t>mean center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2AE8D0-ACB8-4655-9DF9-655F37CB1F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buSzPct val="25000"/>
            </a:pPr>
            <a:fld id="{00000000-1234-1234-1234-123412341234}" type="slidenum">
              <a:rPr lang="en-US" sz="1200" smtClean="0">
                <a:latin typeface="Calibri"/>
                <a:ea typeface="Calibri"/>
                <a:cs typeface="Calibri"/>
                <a:sym typeface="Calibri"/>
              </a:rPr>
              <a:pPr>
                <a:buSzPct val="25000"/>
              </a:pPr>
              <a:t>6</a:t>
            </a:fld>
            <a:endParaRPr lang="en-US" sz="1200"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9CFC5A87-A849-44C2-87B5-30B1136BB543}"/>
              </a:ext>
            </a:extLst>
          </p:cNvPr>
          <p:cNvSpPr txBox="1">
            <a:spLocks/>
          </p:cNvSpPr>
          <p:nvPr/>
        </p:nvSpPr>
        <p:spPr>
          <a:xfrm>
            <a:off x="1223238" y="1845734"/>
            <a:ext cx="4462998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233363" indent="-233363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tx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sz="2400" kern="1200">
                <a:solidFill>
                  <a:schemeClr val="tx1">
                    <a:lumMod val="75000"/>
                  </a:schemeClr>
                </a:solidFill>
                <a:latin typeface="Segoe UI" panose="020B0502040204020203" pitchFamily="34" charset="0"/>
                <a:ea typeface="Open Sans Medium" pitchFamily="2" charset="0"/>
                <a:cs typeface="Segoe UI" panose="020B0502040204020203" pitchFamily="34" charset="0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tx1">
                  <a:lumMod val="75000"/>
                </a:schemeClr>
              </a:buClr>
              <a:buFont typeface="Arial" panose="020B0604020202020204" pitchFamily="34" charset="0"/>
              <a:buChar char="•"/>
              <a:defRPr sz="2000" kern="1200">
                <a:solidFill>
                  <a:schemeClr val="tx1">
                    <a:lumMod val="75000"/>
                  </a:schemeClr>
                </a:solidFill>
                <a:latin typeface="Segoe UI" panose="020B0502040204020203" pitchFamily="34" charset="0"/>
                <a:ea typeface="Open Sans Medium" pitchFamily="2" charset="0"/>
                <a:cs typeface="Segoe UI" panose="020B0502040204020203" pitchFamily="34" charset="0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tx1">
                  <a:lumMod val="75000"/>
                </a:schemeClr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75000"/>
                  </a:schemeClr>
                </a:solidFill>
                <a:latin typeface="Segoe UI" panose="020B0502040204020203" pitchFamily="34" charset="0"/>
                <a:ea typeface="Open Sans Medium" pitchFamily="2" charset="0"/>
                <a:cs typeface="Segoe UI" panose="020B0502040204020203" pitchFamily="34" charset="0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tx1">
                  <a:lumMod val="75000"/>
                </a:schemeClr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75000"/>
                  </a:schemeClr>
                </a:solidFill>
                <a:latin typeface="Segoe UI" panose="020B0502040204020203" pitchFamily="34" charset="0"/>
                <a:ea typeface="Open Sans Medium" pitchFamily="2" charset="0"/>
                <a:cs typeface="Segoe UI" panose="020B0502040204020203" pitchFamily="34" charset="0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tx1">
                  <a:lumMod val="75000"/>
                </a:schemeClr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75000"/>
                  </a:schemeClr>
                </a:solidFill>
                <a:latin typeface="Segoe UI" panose="020B0502040204020203" pitchFamily="34" charset="0"/>
                <a:ea typeface="Open Sans Medium" pitchFamily="2" charset="0"/>
                <a:cs typeface="Segoe UI" panose="020B0502040204020203" pitchFamily="34" charset="0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Open “tornado_pointsSE.csv”.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Save just Georgia points (ST is “GA”) in a new tab. What’s the mean center of those points? 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How does it compare to Waffle House?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What does that tell us?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8CDD6BD-08C3-4CB7-BA55-229E485770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0613" y="496560"/>
            <a:ext cx="5252768" cy="5534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45788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36234C-736A-47C0-9C25-421C353BAE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Measuring spread:</a:t>
            </a:r>
            <a:br>
              <a:rPr lang="en-US" dirty="0"/>
            </a:br>
            <a:r>
              <a:rPr lang="en-US" dirty="0"/>
              <a:t>Standard deviation ellipse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2AE8D0-ACB8-4655-9DF9-655F37CB1F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buSzPct val="25000"/>
            </a:pPr>
            <a:fld id="{00000000-1234-1234-1234-123412341234}" type="slidenum">
              <a:rPr lang="en-US" sz="1200" smtClean="0">
                <a:latin typeface="Calibri"/>
                <a:ea typeface="Calibri"/>
                <a:cs typeface="Calibri"/>
                <a:sym typeface="Calibri"/>
              </a:rPr>
              <a:pPr>
                <a:buSzPct val="25000"/>
              </a:pPr>
              <a:t>7</a:t>
            </a:fld>
            <a:endParaRPr lang="en-US" sz="1200" dirty="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153ACBA-C741-418A-8719-CA2340B078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116" y="1774504"/>
            <a:ext cx="3808952" cy="408583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711FC40-33D2-4B61-B012-B25E95BF9E92}"/>
              </a:ext>
            </a:extLst>
          </p:cNvPr>
          <p:cNvSpPr txBox="1"/>
          <p:nvPr/>
        </p:nvSpPr>
        <p:spPr>
          <a:xfrm>
            <a:off x="442061" y="5841418"/>
            <a:ext cx="4984002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050" dirty="0"/>
              <a:t>The Geological Society </a:t>
            </a:r>
            <a:r>
              <a:rPr lang="en-US" sz="1050" dirty="0">
                <a:hlinkClick r:id="rId3"/>
              </a:rPr>
              <a:t>https://www.geolsoc.org.uk/~/media/Files/GSL/shared/Sup_pubs/2015/18849.pdf</a:t>
            </a:r>
            <a:r>
              <a:rPr lang="en-US" sz="1050" dirty="0"/>
              <a:t> 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9289FA3-6181-4CE3-BA5D-4439FC439F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0272" y="1875595"/>
            <a:ext cx="4677428" cy="4867954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B78BF465-F96C-416C-A8D7-13D97F74494B}"/>
              </a:ext>
            </a:extLst>
          </p:cNvPr>
          <p:cNvSpPr txBox="1"/>
          <p:nvPr/>
        </p:nvSpPr>
        <p:spPr>
          <a:xfrm>
            <a:off x="0" y="-738664"/>
            <a:ext cx="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/>
              <a:t>eolog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45876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4B8C84-8113-4A7E-BB5E-F2783A9552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28366" y="662743"/>
            <a:ext cx="10058400" cy="851855"/>
          </a:xfrm>
        </p:spPr>
        <p:txBody>
          <a:bodyPr/>
          <a:lstStyle/>
          <a:p>
            <a:r>
              <a:rPr lang="en-US" dirty="0"/>
              <a:t>Maps 101: Choropleth map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C21C0B-F9DE-4052-9FBF-F05EB27128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76071" y="7004792"/>
            <a:ext cx="1312025" cy="365125"/>
          </a:xfrm>
        </p:spPr>
        <p:txBody>
          <a:bodyPr/>
          <a:lstStyle/>
          <a:p>
            <a:pPr>
              <a:buSzPct val="25000"/>
            </a:pPr>
            <a:fld id="{00000000-1234-1234-1234-123412341234}" type="slidenum">
              <a:rPr lang="en-US" sz="1200" smtClean="0">
                <a:latin typeface="Calibri"/>
                <a:ea typeface="Calibri"/>
                <a:cs typeface="Calibri"/>
                <a:sym typeface="Calibri"/>
              </a:rPr>
              <a:pPr>
                <a:buSzPct val="25000"/>
              </a:pPr>
              <a:t>8</a:t>
            </a:fld>
            <a:endParaRPr lang="en-US" sz="1200" dirty="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26" name="Picture 2" descr="Unveiling Geographic Patterns: A Comprehensive Guide To Choropleth Maps ...">
            <a:extLst>
              <a:ext uri="{FF2B5EF4-FFF2-40B4-BE49-F238E27FC236}">
                <a16:creationId xmlns:a16="http://schemas.microsoft.com/office/drawing/2014/main" id="{245FFC63-ED21-4B37-90D3-12E57F8D80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4007" y="1846966"/>
            <a:ext cx="7396964" cy="3930104"/>
          </a:xfrm>
          <a:prstGeom prst="rect">
            <a:avLst/>
          </a:prstGeom>
          <a:noFill/>
          <a:ln>
            <a:solidFill>
              <a:schemeClr val="tx1">
                <a:lumMod val="40000"/>
                <a:lumOff val="60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02FB94F-BE2E-434A-9DF7-94C2A77A1D8D}"/>
              </a:ext>
            </a:extLst>
          </p:cNvPr>
          <p:cNvSpPr txBox="1"/>
          <p:nvPr/>
        </p:nvSpPr>
        <p:spPr>
          <a:xfrm>
            <a:off x="5584804" y="5918258"/>
            <a:ext cx="397703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https://seasineuropemap.github.io</a:t>
            </a:r>
          </a:p>
        </p:txBody>
      </p:sp>
    </p:spTree>
    <p:extLst>
      <p:ext uri="{BB962C8B-B14F-4D97-AF65-F5344CB8AC3E}">
        <p14:creationId xmlns:p14="http://schemas.microsoft.com/office/powerpoint/2010/main" val="29250148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4B8C84-8113-4A7E-BB5E-F2783A9552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28366" y="662743"/>
            <a:ext cx="10058400" cy="851855"/>
          </a:xfrm>
        </p:spPr>
        <p:txBody>
          <a:bodyPr/>
          <a:lstStyle/>
          <a:p>
            <a:r>
              <a:rPr lang="en-US" dirty="0"/>
              <a:t>Maps 101: Graduated symbol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C21C0B-F9DE-4052-9FBF-F05EB27128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76071" y="7004792"/>
            <a:ext cx="1312025" cy="365125"/>
          </a:xfrm>
        </p:spPr>
        <p:txBody>
          <a:bodyPr/>
          <a:lstStyle/>
          <a:p>
            <a:pPr>
              <a:buSzPct val="25000"/>
            </a:pPr>
            <a:fld id="{00000000-1234-1234-1234-123412341234}" type="slidenum">
              <a:rPr lang="en-US" sz="1200" smtClean="0">
                <a:latin typeface="Calibri"/>
                <a:ea typeface="Calibri"/>
                <a:cs typeface="Calibri"/>
                <a:sym typeface="Calibri"/>
              </a:rPr>
              <a:pPr>
                <a:buSzPct val="25000"/>
              </a:pPr>
              <a:t>9</a:t>
            </a:fld>
            <a:endParaRPr lang="en-US" sz="1200"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02FB94F-BE2E-434A-9DF7-94C2A77A1D8D}"/>
              </a:ext>
            </a:extLst>
          </p:cNvPr>
          <p:cNvSpPr txBox="1"/>
          <p:nvPr/>
        </p:nvSpPr>
        <p:spPr>
          <a:xfrm>
            <a:off x="5584805" y="5918258"/>
            <a:ext cx="17243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Penn State Geography</a:t>
            </a:r>
          </a:p>
        </p:txBody>
      </p:sp>
      <p:pic>
        <p:nvPicPr>
          <p:cNvPr id="3074" name="Picture 2" descr="Multivariate Dot and Proportional Symbol Maps | GEOG 486: Cartography ...">
            <a:extLst>
              <a:ext uri="{FF2B5EF4-FFF2-40B4-BE49-F238E27FC236}">
                <a16:creationId xmlns:a16="http://schemas.microsoft.com/office/drawing/2014/main" id="{958D8F2E-2DC8-4733-9A5B-0556C1714A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015" y="1904794"/>
            <a:ext cx="6192067" cy="4013463"/>
          </a:xfrm>
          <a:prstGeom prst="rect">
            <a:avLst/>
          </a:prstGeom>
          <a:noFill/>
          <a:ln>
            <a:solidFill>
              <a:schemeClr val="tx1">
                <a:lumMod val="40000"/>
                <a:lumOff val="60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186245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4E45D8-5F3E-473C-8E2F-9D7F3A0DA3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Maps 101: Dot density map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6C07AD8-D5FE-43ED-932A-B6D1861896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buSzPct val="25000"/>
            </a:pPr>
            <a:fld id="{00000000-1234-1234-1234-123412341234}" type="slidenum">
              <a:rPr lang="en-US" sz="1200" smtClean="0">
                <a:latin typeface="Calibri"/>
                <a:ea typeface="Calibri"/>
                <a:cs typeface="Calibri"/>
                <a:sym typeface="Calibri"/>
              </a:rPr>
              <a:pPr>
                <a:buSzPct val="25000"/>
              </a:pPr>
              <a:t>10</a:t>
            </a:fld>
            <a:endParaRPr lang="en-US" sz="1200" dirty="0">
              <a:solidFill>
                <a:schemeClr val="bg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050" name="Picture 2" descr="Dot Density Map - Chart Types - FlowingData">
            <a:extLst>
              <a:ext uri="{FF2B5EF4-FFF2-40B4-BE49-F238E27FC236}">
                <a16:creationId xmlns:a16="http://schemas.microsoft.com/office/drawing/2014/main" id="{C0F06541-9DB6-4ACA-9922-F48938A0FC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7280" y="1925690"/>
            <a:ext cx="6847303" cy="4030020"/>
          </a:xfrm>
          <a:prstGeom prst="rect">
            <a:avLst/>
          </a:prstGeom>
          <a:noFill/>
          <a:ln>
            <a:solidFill>
              <a:schemeClr val="tx1">
                <a:lumMod val="40000"/>
                <a:lumOff val="60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94199FC-D7AE-4083-9B96-72809C26467B}"/>
              </a:ext>
            </a:extLst>
          </p:cNvPr>
          <p:cNvSpPr txBox="1"/>
          <p:nvPr/>
        </p:nvSpPr>
        <p:spPr>
          <a:xfrm>
            <a:off x="6553704" y="5955710"/>
            <a:ext cx="17667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/>
              <a:t>Flowing Data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091397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4E45D8-5F3E-473C-8E2F-9D7F3A0DA3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Maps 101: Kernel density map (heatmap)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6C07AD8-D5FE-43ED-932A-B6D1861896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buSzPct val="25000"/>
            </a:pPr>
            <a:fld id="{00000000-1234-1234-1234-123412341234}" type="slidenum">
              <a:rPr lang="en-US" sz="1200" smtClean="0">
                <a:latin typeface="Calibri"/>
                <a:ea typeface="Calibri"/>
                <a:cs typeface="Calibri"/>
                <a:sym typeface="Calibri"/>
              </a:rPr>
              <a:pPr>
                <a:buSzPct val="25000"/>
              </a:pPr>
              <a:t>11</a:t>
            </a:fld>
            <a:endParaRPr lang="en-US" sz="1200" dirty="0">
              <a:solidFill>
                <a:schemeClr val="bg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94199FC-D7AE-4083-9B96-72809C26467B}"/>
              </a:ext>
            </a:extLst>
          </p:cNvPr>
          <p:cNvSpPr txBox="1"/>
          <p:nvPr/>
        </p:nvSpPr>
        <p:spPr>
          <a:xfrm>
            <a:off x="4639619" y="5813454"/>
            <a:ext cx="509732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hlinkClick r:id="rId2"/>
              </a:rPr>
              <a:t>https://www.youtube.com/watch?v=8KXaKM3N3ko</a:t>
            </a:r>
            <a:r>
              <a:rPr lang="en-US" sz="1200" dirty="0"/>
              <a:t> </a:t>
            </a:r>
          </a:p>
        </p:txBody>
      </p:sp>
      <p:pic>
        <p:nvPicPr>
          <p:cNvPr id="4098" name="Picture 2" descr="Kernel density map using John Snow's Cholera Data in ArcGIS - YouTube">
            <a:extLst>
              <a:ext uri="{FF2B5EF4-FFF2-40B4-BE49-F238E27FC236}">
                <a16:creationId xmlns:a16="http://schemas.microsoft.com/office/drawing/2014/main" id="{C9CC818F-F0DF-40F6-B5F5-5FD2B633DA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1123" y="1846878"/>
            <a:ext cx="6856991" cy="3857057"/>
          </a:xfrm>
          <a:prstGeom prst="rect">
            <a:avLst/>
          </a:prstGeom>
          <a:noFill/>
          <a:ln>
            <a:solidFill>
              <a:schemeClr val="tx1">
                <a:lumMod val="40000"/>
                <a:lumOff val="60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2897158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4E45D8-5F3E-473C-8E2F-9D7F3A0DA3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Maps have projections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2856098-40BF-4948-AC97-FE34617DAE5E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6C07AD8-D5FE-43ED-932A-B6D1861896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buSzPct val="25000"/>
            </a:pPr>
            <a:fld id="{00000000-1234-1234-1234-123412341234}" type="slidenum">
              <a:rPr lang="en-US" sz="1200" smtClean="0">
                <a:latin typeface="Calibri"/>
                <a:ea typeface="Calibri"/>
                <a:cs typeface="Calibri"/>
                <a:sym typeface="Calibri"/>
              </a:rPr>
              <a:pPr>
                <a:buSzPct val="25000"/>
              </a:pPr>
              <a:t>12</a:t>
            </a:fld>
            <a:endParaRPr lang="en-US" sz="1200" dirty="0">
              <a:solidFill>
                <a:schemeClr val="bg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122" name="Picture 2" descr="AFRICA-MAP-GEOGRAPHY-GRAPHIC ">
            <a:extLst>
              <a:ext uri="{FF2B5EF4-FFF2-40B4-BE49-F238E27FC236}">
                <a16:creationId xmlns:a16="http://schemas.microsoft.com/office/drawing/2014/main" id="{F0F783E2-8A67-4149-9DD9-8C362098181D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04340" y="198942"/>
            <a:ext cx="6449136" cy="66259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197975"/>
      </p:ext>
    </p:extLst>
  </p:cSld>
  <p:clrMapOvr>
    <a:masterClrMapping/>
  </p:clrMapOvr>
</p:sld>
</file>

<file path=ppt/theme/theme1.xml><?xml version="1.0" encoding="utf-8"?>
<a:theme xmlns:a="http://schemas.openxmlformats.org/drawingml/2006/main" name="4300 theme">
  <a:themeElements>
    <a:clrScheme name="Custom 5">
      <a:dk1>
        <a:srgbClr val="3F3F3F"/>
      </a:dk1>
      <a:lt1>
        <a:sysClr val="window" lastClr="FFFFFF"/>
      </a:lt1>
      <a:dk2>
        <a:srgbClr val="637052"/>
      </a:dk2>
      <a:lt2>
        <a:srgbClr val="CCDDEA"/>
      </a:lt2>
      <a:accent1>
        <a:srgbClr val="E5A99F"/>
      </a:accent1>
      <a:accent2>
        <a:srgbClr val="B23838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Custom 1">
      <a:majorFont>
        <a:latin typeface="Sitka Display Semibold"/>
        <a:ea typeface=""/>
        <a:cs typeface=""/>
      </a:majorFont>
      <a:minorFont>
        <a:latin typeface="Segoe UI"/>
        <a:ea typeface=""/>
        <a:cs typeface="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eog4300_L01-Introductions" id="{FA51A00F-822B-41B5-AA4A-2C123A5E9355}" vid="{2F9C99DD-B25B-4D9F-92B4-7DCE57BD0F4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173</TotalTime>
  <Words>264</Words>
  <Application>Microsoft Office PowerPoint</Application>
  <PresentationFormat>Widescreen</PresentationFormat>
  <Paragraphs>48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Arial</vt:lpstr>
      <vt:lpstr>Calibri</vt:lpstr>
      <vt:lpstr>Segoe UI</vt:lpstr>
      <vt:lpstr>Sitka Display Semibold</vt:lpstr>
      <vt:lpstr>4300 theme</vt:lpstr>
      <vt:lpstr>Visualizing and describing spatial data</vt:lpstr>
      <vt:lpstr>Review:  How are vector and raster data different?</vt:lpstr>
      <vt:lpstr>Descriptive stats for spatial data</vt:lpstr>
      <vt:lpstr>Descriptive stats for spatial data</vt:lpstr>
      <vt:lpstr>Mean center</vt:lpstr>
      <vt:lpstr>Interpreting  mean center</vt:lpstr>
      <vt:lpstr>Measuring spread: Standard deviation ellipse</vt:lpstr>
      <vt:lpstr>Maps 101: Choropleth map</vt:lpstr>
      <vt:lpstr>Maps 101: Graduated symbol</vt:lpstr>
      <vt:lpstr>Maps 101: Dot density map</vt:lpstr>
      <vt:lpstr>Maps 101: Kernel density map (heatmap)</vt:lpstr>
      <vt:lpstr>Maps have projections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Spatial data</dc:title>
  <dc:creator>Gerald Shannon</dc:creator>
  <cp:lastModifiedBy>Jerry Shannon</cp:lastModifiedBy>
  <cp:revision>62</cp:revision>
  <dcterms:modified xsi:type="dcterms:W3CDTF">2026-09-08T19:53:56Z</dcterms:modified>
</cp:coreProperties>
</file>