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2" r:id="rId1"/>
  </p:sldMasterIdLst>
  <p:notesMasterIdLst>
    <p:notesMasterId r:id="rId16"/>
  </p:notesMasterIdLst>
  <p:sldIdLst>
    <p:sldId id="256" r:id="rId2"/>
    <p:sldId id="264" r:id="rId3"/>
    <p:sldId id="302" r:id="rId4"/>
    <p:sldId id="303" r:id="rId5"/>
    <p:sldId id="305" r:id="rId6"/>
    <p:sldId id="306" r:id="rId7"/>
    <p:sldId id="304" r:id="rId8"/>
    <p:sldId id="290" r:id="rId9"/>
    <p:sldId id="293" r:id="rId10"/>
    <p:sldId id="307" r:id="rId11"/>
    <p:sldId id="300" r:id="rId12"/>
    <p:sldId id="292" r:id="rId13"/>
    <p:sldId id="308" r:id="rId14"/>
    <p:sldId id="3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78"/>
    <p:restoredTop sz="80685"/>
  </p:normalViewPr>
  <p:slideViewPr>
    <p:cSldViewPr snapToGrid="0">
      <p:cViewPr varScale="1">
        <p:scale>
          <a:sx n="98" d="100"/>
          <a:sy n="98" d="100"/>
        </p:scale>
        <p:origin x="4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6" name="Shape 86"/>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87" name="Shape 87"/>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a:t>
            </a:fld>
            <a:endParaRPr lang="en-US"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Shape 1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0" name="Shape 15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51" name="Shape 15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2</a:t>
            </a:fld>
            <a:endParaRPr lang="en-US"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Shape 1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0" name="Shape 15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51" name="Shape 15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3</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07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Shape 1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0" name="Shape 15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51" name="Shape 15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4</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6041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4196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Shape 1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0" name="Shape 150"/>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51" name="Shape 151"/>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7</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6643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49" name="Shape 24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dirty="0">
                <a:solidFill>
                  <a:schemeClr val="dk1"/>
                </a:solidFill>
                <a:latin typeface="Calibri"/>
                <a:ea typeface="Calibri"/>
                <a:cs typeface="Calibri"/>
                <a:sym typeface="Calibri"/>
              </a:rPr>
              <a:t>How did you do in a class?</a:t>
            </a:r>
          </a:p>
          <a:p>
            <a:pPr marL="0" marR="0" lvl="0" indent="0" algn="l" rtl="0">
              <a:spcBef>
                <a:spcPts val="0"/>
              </a:spcBef>
              <a:buSzPct val="25000"/>
              <a:buNone/>
            </a:pPr>
            <a:r>
              <a:rPr lang="en-US" sz="1200" b="0" i="0" u="none" strike="noStrike" cap="none" dirty="0">
                <a:solidFill>
                  <a:schemeClr val="dk1"/>
                </a:solidFill>
                <a:latin typeface="Calibri"/>
                <a:ea typeface="Calibri"/>
                <a:cs typeface="Calibri"/>
                <a:sym typeface="Calibri"/>
              </a:rPr>
              <a:t>Depends on the grade?</a:t>
            </a:r>
            <a:br>
              <a:rPr lang="en-US" sz="1200" b="0" i="0" u="none" strike="noStrike" cap="none" dirty="0">
                <a:solidFill>
                  <a:schemeClr val="dk1"/>
                </a:solidFill>
                <a:latin typeface="Calibri"/>
                <a:ea typeface="Calibri"/>
                <a:cs typeface="Calibri"/>
                <a:sym typeface="Calibri"/>
              </a:rPr>
            </a:br>
            <a:r>
              <a:rPr lang="en-US" sz="1200" b="0" i="0" u="none" strike="noStrike" cap="none" dirty="0">
                <a:solidFill>
                  <a:schemeClr val="dk1"/>
                </a:solidFill>
                <a:latin typeface="Calibri"/>
                <a:ea typeface="Calibri"/>
                <a:cs typeface="Calibri"/>
                <a:sym typeface="Calibri"/>
              </a:rPr>
              <a:t>What if there’s not a grade … how you did is more about what you learned, what you did, </a:t>
            </a:r>
          </a:p>
        </p:txBody>
      </p:sp>
      <p:sp>
        <p:nvSpPr>
          <p:cNvPr id="250" name="Shape 25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8</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9246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49" name="Shape 24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dirty="0">
              <a:solidFill>
                <a:schemeClr val="dk1"/>
              </a:solidFill>
              <a:latin typeface="Calibri"/>
              <a:ea typeface="Calibri"/>
              <a:cs typeface="Calibri"/>
              <a:sym typeface="Calibri"/>
            </a:endParaRPr>
          </a:p>
        </p:txBody>
      </p:sp>
      <p:sp>
        <p:nvSpPr>
          <p:cNvPr id="250" name="Shape 25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9</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3900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a:extLst>
            <a:ext uri="{FF2B5EF4-FFF2-40B4-BE49-F238E27FC236}">
              <a16:creationId xmlns:a16="http://schemas.microsoft.com/office/drawing/2014/main" id="{A2620791-472D-5322-0DA6-6F2CAB627ED7}"/>
            </a:ext>
          </a:extLst>
        </p:cNvPr>
        <p:cNvGrpSpPr/>
        <p:nvPr/>
      </p:nvGrpSpPr>
      <p:grpSpPr>
        <a:xfrm>
          <a:off x="0" y="0"/>
          <a:ext cx="0" cy="0"/>
          <a:chOff x="0" y="0"/>
          <a:chExt cx="0" cy="0"/>
        </a:xfrm>
      </p:grpSpPr>
      <p:sp>
        <p:nvSpPr>
          <p:cNvPr id="248" name="Shape 248">
            <a:extLst>
              <a:ext uri="{FF2B5EF4-FFF2-40B4-BE49-F238E27FC236}">
                <a16:creationId xmlns:a16="http://schemas.microsoft.com/office/drawing/2014/main" id="{FADA0690-668C-2FED-D556-1FC7F06C39FE}"/>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49" name="Shape 249">
            <a:extLst>
              <a:ext uri="{FF2B5EF4-FFF2-40B4-BE49-F238E27FC236}">
                <a16:creationId xmlns:a16="http://schemas.microsoft.com/office/drawing/2014/main" id="{9A7C9E49-7029-1D7A-4513-88B30528BDBC}"/>
              </a:ext>
            </a:extLst>
          </p:cNvPr>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dirty="0">
              <a:solidFill>
                <a:schemeClr val="dk1"/>
              </a:solidFill>
              <a:latin typeface="Calibri"/>
              <a:ea typeface="Calibri"/>
              <a:cs typeface="Calibri"/>
              <a:sym typeface="Calibri"/>
            </a:endParaRPr>
          </a:p>
        </p:txBody>
      </p:sp>
      <p:sp>
        <p:nvSpPr>
          <p:cNvPr id="250" name="Shape 250">
            <a:extLst>
              <a:ext uri="{FF2B5EF4-FFF2-40B4-BE49-F238E27FC236}">
                <a16:creationId xmlns:a16="http://schemas.microsoft.com/office/drawing/2014/main" id="{560E5F3F-2748-DE4C-E2DC-61FD671E42B8}"/>
              </a:ext>
            </a:extLst>
          </p:cNvPr>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10</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5648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labs.</a:t>
            </a:r>
          </a:p>
          <a:p>
            <a:r>
              <a:rPr lang="en-US" dirty="0"/>
              <a:t>Come to Class.</a:t>
            </a:r>
          </a:p>
          <a:p>
            <a:r>
              <a:rPr lang="en-US" dirty="0"/>
              <a:t>That’s a B</a:t>
            </a:r>
          </a:p>
          <a:p>
            <a:endParaRPr lang="en-US" dirty="0"/>
          </a:p>
          <a:p>
            <a:r>
              <a:rPr lang="en-US" dirty="0"/>
              <a:t>You can raise it by completing a ‘challenge’ section.</a:t>
            </a:r>
          </a:p>
          <a:p>
            <a:pPr rtl="0" fontAlgn="t"/>
            <a:r>
              <a:rPr lang="en-US" dirty="0"/>
              <a:t>You can focus on some parts or others to raise your grade if labs aren’t your thing.</a:t>
            </a:r>
            <a:r>
              <a:rPr lang="en-US" b="0" dirty="0">
                <a:effectLst/>
              </a:rPr>
              <a:t> </a:t>
            </a:r>
          </a:p>
          <a:p>
            <a:pPr rtl="0" fontAlgn="t"/>
            <a:endParaRPr lang="en-US" b="0" dirty="0">
              <a:effectLst/>
            </a:endParaRPr>
          </a:p>
          <a:p>
            <a:pPr rtl="0" fontAlgn="t"/>
            <a:r>
              <a:rPr lang="en-US" b="0" dirty="0">
                <a:effectLst/>
              </a:rPr>
              <a:t>Lets go to the syllabus: </a:t>
            </a:r>
            <a:br>
              <a:rPr lang="en-US" b="0" dirty="0">
                <a:effectLst/>
              </a:rPr>
            </a:br>
            <a:endParaRPr lang="en-US" b="0" dirty="0">
              <a:effectLst/>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56069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49" name="Shape 24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Raster data</a:t>
            </a:r>
          </a:p>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Comprised of raster cells—all the same size and all with a value</a:t>
            </a:r>
          </a:p>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This data is always continuous and there are no discrete units—a single point or area.</a:t>
            </a:r>
          </a:p>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Disclaimer: most of my work has been with vector based data</a:t>
            </a:r>
          </a:p>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Common raster maps? Temperature data (interpolated), land cover, classified remote sensing imagery</a:t>
            </a:r>
          </a:p>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Questions you could ask of a land cover map—what percentage of an area is covered by various land cover types. What’s the relationship between type of land cover and other characteristics: elevation, proximity to certain features, etc.?</a:t>
            </a:r>
          </a:p>
        </p:txBody>
      </p:sp>
      <p:sp>
        <p:nvSpPr>
          <p:cNvPr id="250" name="Shape 25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12</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3741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400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114221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7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41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61294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0684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lumMod val="7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258348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196197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1668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5156164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94165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942414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7943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schemeClr>
          </a:solidFill>
          <a:latin typeface="Sitka Display Semibold" pitchFamily="2" charset="0"/>
          <a:ea typeface="+mj-ea"/>
          <a:cs typeface="+mj-cs"/>
        </a:defRPr>
      </a:lvl1pPr>
    </p:titleStyle>
    <p:bodyStyle>
      <a:lvl1pPr marL="233363" indent="-233363" algn="l" defTabSz="914400" rtl="0" eaLnBrk="1" latinLnBrk="0" hangingPunct="1">
        <a:lnSpc>
          <a:spcPct val="90000"/>
        </a:lnSpc>
        <a:spcBef>
          <a:spcPts val="1200"/>
        </a:spcBef>
        <a:spcAft>
          <a:spcPts val="200"/>
        </a:spcAft>
        <a:buClr>
          <a:schemeClr val="tx1">
            <a:lumMod val="75000"/>
          </a:schemeClr>
        </a:buClr>
        <a:buSzPct val="100000"/>
        <a:buFont typeface="Arial" panose="020B0604020202020204" pitchFamily="34" charset="0"/>
        <a:buChar char="•"/>
        <a:defRPr sz="2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1pPr>
      <a:lvl2pPr marL="38404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24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2pPr>
      <a:lvl3pPr marL="56692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3pPr>
      <a:lvl4pPr marL="74980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4pPr>
      <a:lvl5pPr marL="93268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p:cNvGrpSpPr/>
        <p:nvPr/>
      </p:nvGrpSpPr>
      <p:grpSpPr>
        <a:xfrm>
          <a:off x="0" y="0"/>
          <a:ext cx="0" cy="0"/>
          <a:chOff x="0" y="0"/>
          <a:chExt cx="0" cy="0"/>
        </a:xfrm>
      </p:grpSpPr>
      <p:sp>
        <p:nvSpPr>
          <p:cNvPr id="89" name="Shape 89"/>
          <p:cNvSpPr txBox="1">
            <a:spLocks noGrp="1"/>
          </p:cNvSpPr>
          <p:nvPr>
            <p:ph type="title"/>
          </p:nvPr>
        </p:nvSpPr>
        <p:spPr>
          <a:prstGeom prst="rect">
            <a:avLst/>
          </a:prstGeom>
          <a:noFill/>
          <a:ln>
            <a:noFill/>
          </a:ln>
        </p:spPr>
        <p:txBody>
          <a:bodyPr vert="horz" lIns="91425" tIns="45700" rIns="91425" bIns="45700" rtlCol="0" anchor="ctr" anchorCtr="0">
            <a:noAutofit/>
          </a:bodyPr>
          <a:lstStyle/>
          <a:p>
            <a:pPr>
              <a:spcBef>
                <a:spcPts val="0"/>
              </a:spcBef>
              <a:buClr>
                <a:srgbClr val="FFFF66"/>
              </a:buClr>
              <a:buSzPct val="25000"/>
            </a:pPr>
            <a:r>
              <a:rPr lang="en-US" sz="3959" dirty="0">
                <a:solidFill>
                  <a:schemeClr val="tx1"/>
                </a:solidFill>
                <a:ea typeface="Calibri"/>
                <a:cs typeface="Calibri"/>
                <a:sym typeface="Calibri"/>
              </a:rPr>
              <a:t>Geog4/6300: Data Science in Geography</a:t>
            </a:r>
          </a:p>
        </p:txBody>
      </p:sp>
      <p:pic>
        <p:nvPicPr>
          <p:cNvPr id="1026" name="Picture 2" descr="#dataengineering #bigdata #lego #techinnovation #datascience | Chiara ...">
            <a:extLst>
              <a:ext uri="{FF2B5EF4-FFF2-40B4-BE49-F238E27FC236}">
                <a16:creationId xmlns:a16="http://schemas.microsoft.com/office/drawing/2014/main" id="{291B9A13-B95F-4832-92EC-A91E1EA76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862" y="2010101"/>
            <a:ext cx="4180818" cy="4180818"/>
          </a:xfrm>
          <a:prstGeom prst="rect">
            <a:avLst/>
          </a:prstGeom>
          <a:noFill/>
          <a:ln>
            <a:solidFill>
              <a:schemeClr val="tx1">
                <a:lumMod val="75000"/>
              </a:schemeClr>
            </a:solid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DF1FDB5-E7F9-4418-A232-5291A07F2AA6}"/>
              </a:ext>
            </a:extLst>
          </p:cNvPr>
          <p:cNvSpPr txBox="1"/>
          <p:nvPr/>
        </p:nvSpPr>
        <p:spPr>
          <a:xfrm>
            <a:off x="1187669" y="4813738"/>
            <a:ext cx="2712602" cy="1200329"/>
          </a:xfrm>
          <a:prstGeom prst="rect">
            <a:avLst/>
          </a:prstGeom>
          <a:noFill/>
        </p:spPr>
        <p:txBody>
          <a:bodyPr wrap="none" rtlCol="0">
            <a:spAutoFit/>
          </a:bodyPr>
          <a:lstStyle/>
          <a:p>
            <a:r>
              <a:rPr lang="en-US" sz="3600" dirty="0">
                <a:latin typeface="Sitka Subheading" pitchFamily="2" charset="0"/>
              </a:rPr>
              <a:t>Dr. Shannon</a:t>
            </a:r>
          </a:p>
          <a:p>
            <a:r>
              <a:rPr lang="en-US" sz="3600" dirty="0">
                <a:latin typeface="Sitka Subheading" pitchFamily="2" charset="0"/>
              </a:rPr>
              <a:t>Fall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p:nvSpPr>
          <p:cNvPr id="154" name="Shape 154"/>
          <p:cNvSpPr txBox="1">
            <a:spLocks noGrp="1"/>
          </p:cNvSpPr>
          <p:nvPr>
            <p:ph type="title"/>
          </p:nvPr>
        </p:nvSpPr>
        <p:spPr>
          <a:prstGeom prst="rect">
            <a:avLst/>
          </a:prstGeom>
          <a:noFill/>
          <a:ln>
            <a:noFill/>
          </a:ln>
        </p:spPr>
        <p:txBody>
          <a:bodyPr vert="horz" lIns="91425" tIns="45700" rIns="91425" bIns="45700" rtlCol="0" anchor="ctr" anchorCtr="0">
            <a:noAutofit/>
          </a:bodyPr>
          <a:lstStyle/>
          <a:p>
            <a:pPr>
              <a:spcBef>
                <a:spcPts val="0"/>
              </a:spcBef>
              <a:buClr>
                <a:srgbClr val="FFFF66"/>
              </a:buClr>
              <a:buSzPct val="25000"/>
            </a:pPr>
            <a:r>
              <a:rPr lang="en-US" sz="3959" dirty="0">
                <a:ea typeface="Calibri"/>
                <a:cs typeface="Calibri"/>
                <a:sym typeface="Calibri"/>
              </a:rPr>
              <a:t>What’s this course about?</a:t>
            </a:r>
          </a:p>
        </p:txBody>
      </p:sp>
      <p:sp>
        <p:nvSpPr>
          <p:cNvPr id="2" name="Content Placeholder 1">
            <a:extLst>
              <a:ext uri="{FF2B5EF4-FFF2-40B4-BE49-F238E27FC236}">
                <a16:creationId xmlns:a16="http://schemas.microsoft.com/office/drawing/2014/main" id="{1D27DE3B-27DB-4344-BBF5-C8A9CD885747}"/>
              </a:ext>
            </a:extLst>
          </p:cNvPr>
          <p:cNvSpPr>
            <a:spLocks noGrp="1"/>
          </p:cNvSpPr>
          <p:nvPr>
            <p:ph idx="1"/>
          </p:nvPr>
        </p:nvSpPr>
        <p:spPr/>
        <p:txBody>
          <a:bodyPr>
            <a:normAutofit/>
          </a:bodyPr>
          <a:lstStyle/>
          <a:p>
            <a:pPr rtl="0">
              <a:spcBef>
                <a:spcPts val="0"/>
              </a:spcBef>
              <a:spcAft>
                <a:spcPts val="0"/>
              </a:spcAft>
            </a:pPr>
            <a:r>
              <a:rPr lang="en-US" b="0" i="0" u="none" strike="noStrike" dirty="0">
                <a:solidFill>
                  <a:srgbClr val="000000"/>
                </a:solidFill>
                <a:effectLst/>
              </a:rPr>
              <a:t>This course provides an introduction to data science and statistical methods in Geography, including </a:t>
            </a:r>
            <a:r>
              <a:rPr lang="en-US" b="1" i="0" u="none" strike="noStrike" dirty="0">
                <a:solidFill>
                  <a:schemeClr val="accent2">
                    <a:lumMod val="75000"/>
                  </a:schemeClr>
                </a:solidFill>
                <a:effectLst/>
              </a:rPr>
              <a:t>methods of obtaining and cleaning data, descriptive and inferential statistics, and basic spatial analysis</a:t>
            </a:r>
            <a:r>
              <a:rPr lang="en-US" b="0" i="0" u="none" strike="noStrike" dirty="0">
                <a:solidFill>
                  <a:srgbClr val="000000"/>
                </a:solidFill>
                <a:effectLst/>
              </a:rPr>
              <a:t>. It also provides students with experience conducting analysis </a:t>
            </a:r>
            <a:r>
              <a:rPr lang="en-US" b="1" i="0" u="none" strike="noStrike" dirty="0">
                <a:solidFill>
                  <a:schemeClr val="accent2">
                    <a:lumMod val="75000"/>
                  </a:schemeClr>
                </a:solidFill>
                <a:effectLst/>
              </a:rPr>
              <a:t>in a code based environment</a:t>
            </a:r>
            <a:r>
              <a:rPr lang="en-US" b="0" i="0" u="none" strike="noStrike" dirty="0">
                <a:solidFill>
                  <a:srgbClr val="000000"/>
                </a:solidFill>
                <a:effectLst/>
              </a:rPr>
              <a:t> through the open source software package R. Students completing this course should gain familiarity with all these techniques, better understand their use within Geography, and be able to apply them to their own research interests.  </a:t>
            </a:r>
            <a:endParaRPr lang="en-US" sz="3200"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p:nvSpPr>
          <p:cNvPr id="154" name="Shape 154"/>
          <p:cNvSpPr txBox="1">
            <a:spLocks noGrp="1"/>
          </p:cNvSpPr>
          <p:nvPr>
            <p:ph type="title"/>
          </p:nvPr>
        </p:nvSpPr>
        <p:spPr>
          <a:prstGeom prst="rect">
            <a:avLst/>
          </a:prstGeom>
          <a:noFill/>
          <a:ln>
            <a:noFill/>
          </a:ln>
        </p:spPr>
        <p:txBody>
          <a:bodyPr vert="horz" lIns="91425" tIns="45700" rIns="91425" bIns="45700" rtlCol="0" anchor="ctr" anchorCtr="0">
            <a:noAutofit/>
          </a:bodyPr>
          <a:lstStyle/>
          <a:p>
            <a:pPr>
              <a:spcBef>
                <a:spcPts val="0"/>
              </a:spcBef>
              <a:buClr>
                <a:srgbClr val="FFFF66"/>
              </a:buClr>
              <a:buSzPct val="25000"/>
            </a:pPr>
            <a:r>
              <a:rPr lang="en-US" sz="3959" dirty="0">
                <a:ea typeface="Calibri"/>
                <a:cs typeface="Calibri"/>
                <a:sym typeface="Calibri"/>
              </a:rPr>
              <a:t>Course objectives</a:t>
            </a:r>
          </a:p>
        </p:txBody>
      </p:sp>
      <p:sp>
        <p:nvSpPr>
          <p:cNvPr id="2" name="Content Placeholder 1">
            <a:extLst>
              <a:ext uri="{FF2B5EF4-FFF2-40B4-BE49-F238E27FC236}">
                <a16:creationId xmlns:a16="http://schemas.microsoft.com/office/drawing/2014/main" id="{1D27DE3B-27DB-4344-BBF5-C8A9CD885747}"/>
              </a:ext>
            </a:extLst>
          </p:cNvPr>
          <p:cNvSpPr>
            <a:spLocks noGrp="1"/>
          </p:cNvSpPr>
          <p:nvPr>
            <p:ph idx="1"/>
          </p:nvPr>
        </p:nvSpPr>
        <p:spPr>
          <a:xfrm>
            <a:off x="744741" y="1878785"/>
            <a:ext cx="10058400" cy="4023360"/>
          </a:xfrm>
        </p:spPr>
        <p:txBody>
          <a:bodyPr>
            <a:normAutofit fontScale="92500"/>
          </a:bodyPr>
          <a:lstStyle/>
          <a:p>
            <a:pPr marL="482600" indent="0" rtl="0">
              <a:spcBef>
                <a:spcPts val="0"/>
              </a:spcBef>
              <a:spcAft>
                <a:spcPts val="0"/>
              </a:spcAft>
              <a:buNone/>
            </a:pPr>
            <a:r>
              <a:rPr lang="en-US" b="0" i="0" u="none" strike="noStrike" dirty="0">
                <a:solidFill>
                  <a:srgbClr val="000000"/>
                </a:solidFill>
                <a:effectLst/>
              </a:rPr>
              <a:t>1. Understand basic concepts and methods of data collection and description</a:t>
            </a:r>
            <a:endParaRPr lang="en-US" dirty="0">
              <a:effectLst/>
            </a:endParaRPr>
          </a:p>
          <a:p>
            <a:pPr marL="457200" rtl="0">
              <a:spcBef>
                <a:spcPts val="0"/>
              </a:spcBef>
              <a:spcAft>
                <a:spcPts val="0"/>
              </a:spcAft>
            </a:pPr>
            <a:endParaRPr lang="en-US" b="0" i="0" u="none" strike="noStrike" dirty="0">
              <a:solidFill>
                <a:srgbClr val="000000"/>
              </a:solidFill>
              <a:effectLst/>
            </a:endParaRPr>
          </a:p>
          <a:p>
            <a:pPr marL="457200" rtl="0">
              <a:spcBef>
                <a:spcPts val="0"/>
              </a:spcBef>
              <a:spcAft>
                <a:spcPts val="0"/>
              </a:spcAft>
            </a:pPr>
            <a:r>
              <a:rPr lang="en-US" b="0" i="0" u="none" strike="noStrike" dirty="0">
                <a:solidFill>
                  <a:srgbClr val="000000"/>
                </a:solidFill>
                <a:effectLst/>
              </a:rPr>
              <a:t>2. Understand basic concepts of mathematical probability theory</a:t>
            </a:r>
            <a:endParaRPr lang="en-US" dirty="0">
              <a:effectLst/>
            </a:endParaRPr>
          </a:p>
          <a:p>
            <a:pPr marL="457200" rtl="0">
              <a:spcBef>
                <a:spcPts val="0"/>
              </a:spcBef>
              <a:spcAft>
                <a:spcPts val="0"/>
              </a:spcAft>
            </a:pPr>
            <a:endParaRPr lang="en-US" b="0" i="0" u="none" strike="noStrike" dirty="0">
              <a:solidFill>
                <a:srgbClr val="000000"/>
              </a:solidFill>
              <a:effectLst/>
            </a:endParaRPr>
          </a:p>
          <a:p>
            <a:pPr marL="457200" rtl="0">
              <a:spcBef>
                <a:spcPts val="0"/>
              </a:spcBef>
              <a:spcAft>
                <a:spcPts val="0"/>
              </a:spcAft>
            </a:pPr>
            <a:r>
              <a:rPr lang="en-US" b="0" i="0" u="none" strike="noStrike" dirty="0">
                <a:solidFill>
                  <a:srgbClr val="000000"/>
                </a:solidFill>
                <a:effectLst/>
              </a:rPr>
              <a:t>3. Understand the logic and practice of simple inferential statistics</a:t>
            </a:r>
            <a:endParaRPr lang="en-US" dirty="0">
              <a:effectLst/>
            </a:endParaRPr>
          </a:p>
          <a:p>
            <a:pPr marL="457200" rtl="0">
              <a:spcBef>
                <a:spcPts val="0"/>
              </a:spcBef>
              <a:spcAft>
                <a:spcPts val="0"/>
              </a:spcAft>
            </a:pPr>
            <a:endParaRPr lang="en-US" b="0" i="0" u="none" strike="noStrike" dirty="0">
              <a:solidFill>
                <a:srgbClr val="000000"/>
              </a:solidFill>
              <a:effectLst/>
            </a:endParaRPr>
          </a:p>
          <a:p>
            <a:pPr marL="457200" rtl="0">
              <a:spcBef>
                <a:spcPts val="0"/>
              </a:spcBef>
              <a:spcAft>
                <a:spcPts val="0"/>
              </a:spcAft>
            </a:pPr>
            <a:r>
              <a:rPr lang="en-US" b="0" i="0" u="none" strike="noStrike" dirty="0">
                <a:solidFill>
                  <a:srgbClr val="000000"/>
                </a:solidFill>
                <a:effectLst/>
              </a:rPr>
              <a:t>4. Understand correlation and regression analysis</a:t>
            </a:r>
            <a:endParaRPr lang="en-US" dirty="0">
              <a:effectLst/>
            </a:endParaRPr>
          </a:p>
          <a:p>
            <a:pPr marL="628650" indent="-166688" rtl="0">
              <a:spcBef>
                <a:spcPts val="0"/>
              </a:spcBef>
              <a:spcAft>
                <a:spcPts val="0"/>
              </a:spcAft>
            </a:pPr>
            <a:endParaRPr lang="en-US" b="0" i="0" u="none" strike="noStrike" dirty="0">
              <a:solidFill>
                <a:srgbClr val="000000"/>
              </a:solidFill>
              <a:effectLst/>
            </a:endParaRPr>
          </a:p>
          <a:p>
            <a:pPr marL="461962" indent="0" rtl="0">
              <a:spcBef>
                <a:spcPts val="0"/>
              </a:spcBef>
              <a:spcAft>
                <a:spcPts val="0"/>
              </a:spcAft>
              <a:buNone/>
            </a:pPr>
            <a:r>
              <a:rPr lang="en-US" b="0" i="0" u="none" strike="noStrike" dirty="0">
                <a:solidFill>
                  <a:srgbClr val="000000"/>
                </a:solidFill>
                <a:effectLst/>
              </a:rPr>
              <a:t>5. Ability to use appropriate statistical techniques in tackling geographical problems.</a:t>
            </a:r>
            <a:endParaRPr lang="en-US" dirty="0">
              <a:effectLst/>
            </a:endParaRPr>
          </a:p>
          <a:p>
            <a:pPr marL="457200" rtl="0">
              <a:spcBef>
                <a:spcPts val="0"/>
              </a:spcBef>
              <a:spcAft>
                <a:spcPts val="0"/>
              </a:spcAft>
            </a:pPr>
            <a:endParaRPr lang="en-US" b="0" i="0" u="none" strike="noStrike" dirty="0">
              <a:solidFill>
                <a:srgbClr val="000000"/>
              </a:solidFill>
              <a:effectLst/>
            </a:endParaRPr>
          </a:p>
          <a:p>
            <a:pPr marL="457200" rtl="0">
              <a:spcBef>
                <a:spcPts val="0"/>
              </a:spcBef>
              <a:spcAft>
                <a:spcPts val="0"/>
              </a:spcAft>
            </a:pPr>
            <a:r>
              <a:rPr lang="en-US" b="0" i="0" u="none" strike="noStrike" dirty="0">
                <a:solidFill>
                  <a:srgbClr val="000000"/>
                </a:solidFill>
                <a:effectLst/>
              </a:rPr>
              <a:t>6. Ability to comprehend academic literature that uses statistical techniques.</a:t>
            </a:r>
            <a:endParaRPr lang="en-US" dirty="0">
              <a:effectLst/>
            </a:endParaRPr>
          </a:p>
        </p:txBody>
      </p:sp>
    </p:spTree>
    <p:extLst>
      <p:ext uri="{BB962C8B-B14F-4D97-AF65-F5344CB8AC3E}">
        <p14:creationId xmlns:p14="http://schemas.microsoft.com/office/powerpoint/2010/main" val="1089221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p:nvSpPr>
          <p:cNvPr id="154" name="Shape 154"/>
          <p:cNvSpPr txBox="1">
            <a:spLocks noGrp="1"/>
          </p:cNvSpPr>
          <p:nvPr>
            <p:ph type="title"/>
          </p:nvPr>
        </p:nvSpPr>
        <p:spPr>
          <a:prstGeom prst="rect">
            <a:avLst/>
          </a:prstGeom>
          <a:noFill/>
          <a:ln>
            <a:noFill/>
          </a:ln>
        </p:spPr>
        <p:txBody>
          <a:bodyPr vert="horz" lIns="91425" tIns="45700" rIns="91425" bIns="45700" rtlCol="0" anchor="ctr" anchorCtr="0">
            <a:noAutofit/>
          </a:bodyPr>
          <a:lstStyle/>
          <a:p>
            <a:pPr>
              <a:spcBef>
                <a:spcPts val="0"/>
              </a:spcBef>
              <a:buClr>
                <a:srgbClr val="FFFF66"/>
              </a:buClr>
              <a:buSzPct val="25000"/>
            </a:pPr>
            <a:r>
              <a:rPr lang="en-US" sz="3959" dirty="0">
                <a:ea typeface="Calibri"/>
                <a:cs typeface="Calibri"/>
                <a:sym typeface="Calibri"/>
              </a:rPr>
              <a:t>Main course units</a:t>
            </a:r>
          </a:p>
        </p:txBody>
      </p:sp>
      <p:sp>
        <p:nvSpPr>
          <p:cNvPr id="5" name="TextBox 4">
            <a:extLst>
              <a:ext uri="{FF2B5EF4-FFF2-40B4-BE49-F238E27FC236}">
                <a16:creationId xmlns:a16="http://schemas.microsoft.com/office/drawing/2014/main" id="{F78626DF-AB2A-4D2C-B558-6BB45F344D0E}"/>
              </a:ext>
            </a:extLst>
          </p:cNvPr>
          <p:cNvSpPr txBox="1"/>
          <p:nvPr/>
        </p:nvSpPr>
        <p:spPr>
          <a:xfrm>
            <a:off x="1211855" y="1994053"/>
            <a:ext cx="5559342" cy="3046988"/>
          </a:xfrm>
          <a:prstGeom prst="rect">
            <a:avLst/>
          </a:prstGeom>
          <a:noFill/>
        </p:spPr>
        <p:txBody>
          <a:bodyPr wrap="none" rtlCol="0">
            <a:spAutoFit/>
          </a:bodyPr>
          <a:lstStyle/>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Introduction to R</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Data structure and formats</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Data wrangling</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Descriptive statistics and visualization</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Descriptive spatial statistics</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Inferential statistics</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Tests of difference</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Tests of association</a:t>
            </a:r>
          </a:p>
        </p:txBody>
      </p:sp>
    </p:spTree>
    <p:extLst>
      <p:ext uri="{BB962C8B-B14F-4D97-AF65-F5344CB8AC3E}">
        <p14:creationId xmlns:p14="http://schemas.microsoft.com/office/powerpoint/2010/main" val="431503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F6E829-3AD8-4DD1-AEE9-16CC0CC0BDA1}"/>
              </a:ext>
            </a:extLst>
          </p:cNvPr>
          <p:cNvPicPr>
            <a:picLocks noChangeAspect="1"/>
          </p:cNvPicPr>
          <p:nvPr/>
        </p:nvPicPr>
        <p:blipFill>
          <a:blip r:embed="rId3"/>
          <a:stretch>
            <a:fillRect/>
          </a:stretch>
        </p:blipFill>
        <p:spPr>
          <a:xfrm>
            <a:off x="0" y="0"/>
            <a:ext cx="12192000" cy="6453654"/>
          </a:xfrm>
          <a:prstGeom prst="rect">
            <a:avLst/>
          </a:prstGeom>
        </p:spPr>
      </p:pic>
      <p:sp>
        <p:nvSpPr>
          <p:cNvPr id="5" name="TextBox 4">
            <a:extLst>
              <a:ext uri="{FF2B5EF4-FFF2-40B4-BE49-F238E27FC236}">
                <a16:creationId xmlns:a16="http://schemas.microsoft.com/office/drawing/2014/main" id="{DF799070-83F7-4185-AF34-5E7BC0C08317}"/>
              </a:ext>
            </a:extLst>
          </p:cNvPr>
          <p:cNvSpPr txBox="1"/>
          <p:nvPr/>
        </p:nvSpPr>
        <p:spPr>
          <a:xfrm>
            <a:off x="6287877" y="6488668"/>
            <a:ext cx="6097836" cy="369332"/>
          </a:xfrm>
          <a:prstGeom prst="rect">
            <a:avLst/>
          </a:prstGeom>
          <a:noFill/>
        </p:spPr>
        <p:txBody>
          <a:bodyPr wrap="square">
            <a:spAutoFit/>
          </a:bodyPr>
          <a:lstStyle/>
          <a:p>
            <a:r>
              <a:rPr lang="en-US" dirty="0">
                <a:solidFill>
                  <a:schemeClr val="bg1"/>
                </a:solidFill>
              </a:rPr>
              <a:t>https://communitymaplab.github.io/geog4300_datascience/</a:t>
            </a:r>
          </a:p>
        </p:txBody>
      </p:sp>
      <p:pic>
        <p:nvPicPr>
          <p:cNvPr id="3074" name="Picture 2">
            <a:extLst>
              <a:ext uri="{FF2B5EF4-FFF2-40B4-BE49-F238E27FC236}">
                <a16:creationId xmlns:a16="http://schemas.microsoft.com/office/drawing/2014/main" id="{46E5C176-61B2-4F6E-B547-D961226505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2874" y="4803354"/>
            <a:ext cx="1464325" cy="146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288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9C246-8B02-40A0-88D8-A866F652C3DC}"/>
              </a:ext>
            </a:extLst>
          </p:cNvPr>
          <p:cNvSpPr>
            <a:spLocks noGrp="1"/>
          </p:cNvSpPr>
          <p:nvPr>
            <p:ph type="title"/>
          </p:nvPr>
        </p:nvSpPr>
        <p:spPr/>
        <p:txBody>
          <a:bodyPr/>
          <a:lstStyle/>
          <a:p>
            <a:r>
              <a:rPr lang="en-US" dirty="0"/>
              <a:t>What you need</a:t>
            </a:r>
          </a:p>
        </p:txBody>
      </p:sp>
      <p:sp>
        <p:nvSpPr>
          <p:cNvPr id="3" name="Content Placeholder 2">
            <a:extLst>
              <a:ext uri="{FF2B5EF4-FFF2-40B4-BE49-F238E27FC236}">
                <a16:creationId xmlns:a16="http://schemas.microsoft.com/office/drawing/2014/main" id="{3F689686-28CE-474A-877F-2761E783256C}"/>
              </a:ext>
            </a:extLst>
          </p:cNvPr>
          <p:cNvSpPr>
            <a:spLocks noGrp="1"/>
          </p:cNvSpPr>
          <p:nvPr>
            <p:ph idx="1"/>
          </p:nvPr>
        </p:nvSpPr>
        <p:spPr>
          <a:xfrm>
            <a:off x="1277956" y="1845734"/>
            <a:ext cx="9877723" cy="4023360"/>
          </a:xfrm>
        </p:spPr>
        <p:txBody>
          <a:bodyPr/>
          <a:lstStyle/>
          <a:p>
            <a:pPr marL="0" indent="0">
              <a:buNone/>
            </a:pPr>
            <a:r>
              <a:rPr lang="en-US" b="1" dirty="0"/>
              <a:t>Readings</a:t>
            </a:r>
          </a:p>
          <a:p>
            <a:pPr marL="231775" indent="-231775">
              <a:buClr>
                <a:schemeClr val="tx1">
                  <a:lumMod val="75000"/>
                </a:schemeClr>
              </a:buClr>
              <a:buFont typeface="Arial" panose="020B0604020202020204" pitchFamily="34" charset="0"/>
              <a:buChar char="•"/>
            </a:pPr>
            <a:r>
              <a:rPr lang="en-US" dirty="0"/>
              <a:t>Posted on the module pages—some required some optional</a:t>
            </a:r>
          </a:p>
          <a:p>
            <a:pPr marL="231775" indent="-231775">
              <a:buClr>
                <a:schemeClr val="tx1">
                  <a:lumMod val="75000"/>
                </a:schemeClr>
              </a:buClr>
              <a:buFont typeface="Arial" panose="020B0604020202020204" pitchFamily="34" charset="0"/>
              <a:buChar char="•"/>
            </a:pPr>
            <a:r>
              <a:rPr lang="en-US" dirty="0"/>
              <a:t>Also includes curated video list</a:t>
            </a:r>
          </a:p>
          <a:p>
            <a:pPr marL="0" indent="0">
              <a:buNone/>
            </a:pPr>
            <a:endParaRPr lang="en-US" dirty="0"/>
          </a:p>
          <a:p>
            <a:pPr marL="0" indent="0">
              <a:buNone/>
            </a:pPr>
            <a:r>
              <a:rPr lang="en-US" b="1" dirty="0"/>
              <a:t>Software</a:t>
            </a:r>
          </a:p>
          <a:p>
            <a:pPr marL="231775" indent="-231775">
              <a:buClr>
                <a:schemeClr val="tx1">
                  <a:lumMod val="75000"/>
                </a:schemeClr>
              </a:buClr>
              <a:buFont typeface="Arial" panose="020B0604020202020204" pitchFamily="34" charset="0"/>
              <a:buChar char="•"/>
            </a:pPr>
            <a:r>
              <a:rPr lang="en-US" dirty="0"/>
              <a:t>R and </a:t>
            </a:r>
            <a:r>
              <a:rPr lang="en-US" dirty="0" err="1"/>
              <a:t>Rstudio</a:t>
            </a:r>
            <a:endParaRPr lang="en-US" dirty="0"/>
          </a:p>
          <a:p>
            <a:pPr marL="231775" indent="-231775">
              <a:buClr>
                <a:schemeClr val="tx1">
                  <a:lumMod val="75000"/>
                </a:schemeClr>
              </a:buClr>
              <a:buFont typeface="Arial" panose="020B0604020202020204" pitchFamily="34" charset="0"/>
              <a:buChar char="•"/>
            </a:pPr>
            <a:r>
              <a:rPr lang="en-US" dirty="0"/>
              <a:t>Excel/Google Sheets</a:t>
            </a:r>
          </a:p>
          <a:p>
            <a:pPr marL="231775" indent="-231775">
              <a:buClr>
                <a:schemeClr val="tx1">
                  <a:lumMod val="75000"/>
                </a:schemeClr>
              </a:buClr>
              <a:buFont typeface="Arial" panose="020B0604020202020204" pitchFamily="34" charset="0"/>
              <a:buChar char="•"/>
            </a:pPr>
            <a:r>
              <a:rPr lang="en-US" dirty="0"/>
              <a:t>Git (optional)</a:t>
            </a:r>
          </a:p>
        </p:txBody>
      </p:sp>
    </p:spTree>
    <p:extLst>
      <p:ext uri="{BB962C8B-B14F-4D97-AF65-F5344CB8AC3E}">
        <p14:creationId xmlns:p14="http://schemas.microsoft.com/office/powerpoint/2010/main" val="2158122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p:nvSpPr>
          <p:cNvPr id="154" name="Shape 154"/>
          <p:cNvSpPr txBox="1">
            <a:spLocks noGrp="1"/>
          </p:cNvSpPr>
          <p:nvPr>
            <p:ph type="title"/>
          </p:nvPr>
        </p:nvSpPr>
        <p:spPr>
          <a:prstGeom prst="rect">
            <a:avLst/>
          </a:prstGeom>
          <a:noFill/>
          <a:ln>
            <a:noFill/>
          </a:ln>
        </p:spPr>
        <p:txBody>
          <a:bodyPr vert="horz" lIns="91425" tIns="45700" rIns="91425" bIns="45700" rtlCol="0" anchor="ctr" anchorCtr="0">
            <a:noAutofit/>
          </a:bodyPr>
          <a:lstStyle/>
          <a:p>
            <a:pPr>
              <a:spcBef>
                <a:spcPts val="0"/>
              </a:spcBef>
              <a:buClr>
                <a:srgbClr val="FFFF66"/>
              </a:buClr>
              <a:buSzPct val="25000"/>
            </a:pPr>
            <a:r>
              <a:rPr lang="en-US" sz="3959" dirty="0">
                <a:ea typeface="Calibri"/>
                <a:cs typeface="Calibri"/>
                <a:sym typeface="Calibri"/>
              </a:rPr>
              <a:t>Introduce yourself!</a:t>
            </a:r>
          </a:p>
        </p:txBody>
      </p:sp>
      <p:sp>
        <p:nvSpPr>
          <p:cNvPr id="5" name="TextBox 4">
            <a:extLst>
              <a:ext uri="{FF2B5EF4-FFF2-40B4-BE49-F238E27FC236}">
                <a16:creationId xmlns:a16="http://schemas.microsoft.com/office/drawing/2014/main" id="{F78626DF-AB2A-4D2C-B558-6BB45F344D0E}"/>
              </a:ext>
            </a:extLst>
          </p:cNvPr>
          <p:cNvSpPr txBox="1"/>
          <p:nvPr/>
        </p:nvSpPr>
        <p:spPr>
          <a:xfrm>
            <a:off x="1211855" y="1994053"/>
            <a:ext cx="535787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Your name</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Your academic program</a:t>
            </a:r>
          </a:p>
          <a:p>
            <a:pPr marL="285750" indent="-285750">
              <a:buFont typeface="Arial" panose="020B0604020202020204" pitchFamily="34" charset="0"/>
              <a:buChar char="•"/>
            </a:pPr>
            <a:r>
              <a:rPr lang="en-US" sz="2400" dirty="0">
                <a:latin typeface="Segoe UI" panose="020B0502040204020203" pitchFamily="34" charset="0"/>
                <a:cs typeface="Segoe UI" panose="020B0502040204020203" pitchFamily="34" charset="0"/>
              </a:rPr>
              <a:t>A number that is meaningful to you in some way</a:t>
            </a:r>
          </a:p>
        </p:txBody>
      </p:sp>
      <p:pic>
        <p:nvPicPr>
          <p:cNvPr id="2050" name="Picture 2" descr="Adult Paint By Numbers - 20 Free PDF Printables | Printablee">
            <a:extLst>
              <a:ext uri="{FF2B5EF4-FFF2-40B4-BE49-F238E27FC236}">
                <a16:creationId xmlns:a16="http://schemas.microsoft.com/office/drawing/2014/main" id="{6A665B41-F67B-45E1-A059-EC369A279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8804" y="2117993"/>
            <a:ext cx="5245008" cy="3687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732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1"/>
        <p:cNvGrpSpPr/>
        <p:nvPr/>
      </p:nvGrpSpPr>
      <p:grpSpPr>
        <a:xfrm>
          <a:off x="0" y="0"/>
          <a:ext cx="0" cy="0"/>
          <a:chOff x="0" y="0"/>
          <a:chExt cx="0" cy="0"/>
        </a:xfrm>
      </p:grpSpPr>
      <p:sp>
        <p:nvSpPr>
          <p:cNvPr id="253" name="Shape 253" descr="http://developer.r-project.org/Logo/Rlogo.svg"/>
          <p:cNvSpPr/>
          <p:nvPr/>
        </p:nvSpPr>
        <p:spPr>
          <a:xfrm>
            <a:off x="1679576" y="-144463"/>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4" name="Shape 254" descr="http://developer.r-project.org/Logo/Rlogo.svg"/>
          <p:cNvSpPr/>
          <p:nvPr/>
        </p:nvSpPr>
        <p:spPr>
          <a:xfrm>
            <a:off x="1831976" y="79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5" name="Shape 255" descr="http://developer.r-project.org/Logo/Rlogo.svg"/>
          <p:cNvSpPr/>
          <p:nvPr/>
        </p:nvSpPr>
        <p:spPr>
          <a:xfrm>
            <a:off x="1984376" y="160337"/>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6" name="Shape 256" descr="http://developer.r-project.org/Logo/Rlogo.svg"/>
          <p:cNvSpPr/>
          <p:nvPr/>
        </p:nvSpPr>
        <p:spPr>
          <a:xfrm>
            <a:off x="2136776" y="3127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 name="AutoShape 6" descr="Image result for r"/>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accent2">
                  <a:lumMod val="20000"/>
                  <a:lumOff val="80000"/>
                </a:schemeClr>
              </a:solidFill>
            </a:endParaRPr>
          </a:p>
        </p:txBody>
      </p:sp>
      <p:sp>
        <p:nvSpPr>
          <p:cNvPr id="8" name="Shape 208">
            <a:extLst>
              <a:ext uri="{FF2B5EF4-FFF2-40B4-BE49-F238E27FC236}">
                <a16:creationId xmlns:a16="http://schemas.microsoft.com/office/drawing/2014/main" id="{B5ED5A12-E140-4B27-8ED2-A376D55B0764}"/>
              </a:ext>
            </a:extLst>
          </p:cNvPr>
          <p:cNvSpPr txBox="1"/>
          <p:nvPr/>
        </p:nvSpPr>
        <p:spPr>
          <a:xfrm>
            <a:off x="1253067" y="617537"/>
            <a:ext cx="9516532" cy="769441"/>
          </a:xfrm>
          <a:prstGeom prst="rect">
            <a:avLst/>
          </a:prstGeom>
          <a:noFill/>
          <a:ln>
            <a:noFill/>
          </a:ln>
        </p:spPr>
        <p:txBody>
          <a:bodyPr lIns="91425" tIns="45700" rIns="91425" bIns="45700" anchor="t" anchorCtr="0">
            <a:noAutofit/>
          </a:bodyPr>
          <a:lstStyle/>
          <a:p>
            <a:pPr>
              <a:buSzPct val="25000"/>
            </a:pPr>
            <a:r>
              <a:rPr lang="en-US" sz="4400" dirty="0">
                <a:solidFill>
                  <a:schemeClr val="tx1">
                    <a:lumMod val="75000"/>
                  </a:schemeClr>
                </a:solidFill>
                <a:latin typeface="+mj-lt"/>
                <a:ea typeface="Calibri"/>
                <a:cs typeface="Calibri"/>
                <a:sym typeface="Calibri"/>
              </a:rPr>
              <a:t>What is standards-based grading?</a:t>
            </a:r>
          </a:p>
        </p:txBody>
      </p:sp>
      <p:pic>
        <p:nvPicPr>
          <p:cNvPr id="4" name="Picture 3">
            <a:extLst>
              <a:ext uri="{FF2B5EF4-FFF2-40B4-BE49-F238E27FC236}">
                <a16:creationId xmlns:a16="http://schemas.microsoft.com/office/drawing/2014/main" id="{F54C7E4A-9AA9-269B-12AC-7B8789AA0B97}"/>
              </a:ext>
            </a:extLst>
          </p:cNvPr>
          <p:cNvPicPr>
            <a:picLocks noChangeAspect="1"/>
          </p:cNvPicPr>
          <p:nvPr/>
        </p:nvPicPr>
        <p:blipFill>
          <a:blip r:embed="rId3"/>
          <a:stretch>
            <a:fillRect/>
          </a:stretch>
        </p:blipFill>
        <p:spPr>
          <a:xfrm>
            <a:off x="1416321" y="2034418"/>
            <a:ext cx="6768125" cy="3753233"/>
          </a:xfrm>
          <a:prstGeom prst="rect">
            <a:avLst/>
          </a:prstGeom>
          <a:ln>
            <a:solidFill>
              <a:schemeClr val="tx1">
                <a:lumMod val="75000"/>
              </a:schemeClr>
            </a:solidFill>
          </a:ln>
        </p:spPr>
      </p:pic>
    </p:spTree>
    <p:extLst>
      <p:ext uri="{BB962C8B-B14F-4D97-AF65-F5344CB8AC3E}">
        <p14:creationId xmlns:p14="http://schemas.microsoft.com/office/powerpoint/2010/main" val="94390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1"/>
        <p:cNvGrpSpPr/>
        <p:nvPr/>
      </p:nvGrpSpPr>
      <p:grpSpPr>
        <a:xfrm>
          <a:off x="0" y="0"/>
          <a:ext cx="0" cy="0"/>
          <a:chOff x="0" y="0"/>
          <a:chExt cx="0" cy="0"/>
        </a:xfrm>
      </p:grpSpPr>
      <p:sp>
        <p:nvSpPr>
          <p:cNvPr id="253" name="Shape 253" descr="http://developer.r-project.org/Logo/Rlogo.svg"/>
          <p:cNvSpPr/>
          <p:nvPr/>
        </p:nvSpPr>
        <p:spPr>
          <a:xfrm>
            <a:off x="1679576" y="-144463"/>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4" name="Shape 254" descr="http://developer.r-project.org/Logo/Rlogo.svg"/>
          <p:cNvSpPr/>
          <p:nvPr/>
        </p:nvSpPr>
        <p:spPr>
          <a:xfrm>
            <a:off x="1831976" y="79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5" name="Shape 255" descr="http://developer.r-project.org/Logo/Rlogo.svg"/>
          <p:cNvSpPr/>
          <p:nvPr/>
        </p:nvSpPr>
        <p:spPr>
          <a:xfrm>
            <a:off x="1984376" y="160337"/>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6" name="Shape 256" descr="http://developer.r-project.org/Logo/Rlogo.svg"/>
          <p:cNvSpPr/>
          <p:nvPr/>
        </p:nvSpPr>
        <p:spPr>
          <a:xfrm>
            <a:off x="2136776" y="3127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 name="AutoShape 6" descr="Image result for r"/>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accent2">
                  <a:lumMod val="20000"/>
                  <a:lumOff val="80000"/>
                </a:schemeClr>
              </a:solidFill>
            </a:endParaRPr>
          </a:p>
        </p:txBody>
      </p:sp>
      <p:sp>
        <p:nvSpPr>
          <p:cNvPr id="3" name="Rectangle 2">
            <a:extLst>
              <a:ext uri="{FF2B5EF4-FFF2-40B4-BE49-F238E27FC236}">
                <a16:creationId xmlns:a16="http://schemas.microsoft.com/office/drawing/2014/main" id="{437685F2-32EA-4530-99B7-F2545AC89BA2}"/>
              </a:ext>
            </a:extLst>
          </p:cNvPr>
          <p:cNvSpPr/>
          <p:nvPr/>
        </p:nvSpPr>
        <p:spPr>
          <a:xfrm>
            <a:off x="1097280" y="2016025"/>
            <a:ext cx="10058400" cy="2246769"/>
          </a:xfrm>
          <a:prstGeom prst="rect">
            <a:avLst/>
          </a:prstGeom>
        </p:spPr>
        <p:txBody>
          <a:bodyPr wrap="square">
            <a:spAutoFit/>
          </a:bodyPr>
          <a:lstStyle/>
          <a:p>
            <a:pPr marL="457200" indent="-457200">
              <a:buFont typeface="Arial" panose="020B0604020202020204" pitchFamily="34" charset="0"/>
              <a:buChar char="•"/>
            </a:pPr>
            <a:r>
              <a:rPr lang="en-US" sz="2800" dirty="0">
                <a:solidFill>
                  <a:schemeClr val="tx1">
                    <a:lumMod val="75000"/>
                  </a:schemeClr>
                </a:solidFill>
              </a:rPr>
              <a:t>Modules and lab assignments are aligned with course leaning goals</a:t>
            </a:r>
          </a:p>
          <a:p>
            <a:pPr marL="457200" indent="-457200">
              <a:buFont typeface="Arial" panose="020B0604020202020204" pitchFamily="34" charset="0"/>
              <a:buChar char="•"/>
            </a:pPr>
            <a:r>
              <a:rPr lang="en-US" sz="2800" dirty="0">
                <a:solidFill>
                  <a:schemeClr val="tx1">
                    <a:lumMod val="75000"/>
                  </a:schemeClr>
                </a:solidFill>
              </a:rPr>
              <a:t>Labs graded and complete or incomplete based on demonstrating competency</a:t>
            </a:r>
          </a:p>
          <a:p>
            <a:pPr marL="457200" indent="-457200">
              <a:buFont typeface="Arial" panose="020B0604020202020204" pitchFamily="34" charset="0"/>
              <a:buChar char="•"/>
            </a:pPr>
            <a:r>
              <a:rPr lang="en-US" sz="2800" dirty="0">
                <a:solidFill>
                  <a:schemeClr val="tx1">
                    <a:lumMod val="75000"/>
                  </a:schemeClr>
                </a:solidFill>
              </a:rPr>
              <a:t>Opportunities for revision or alternative pathways</a:t>
            </a:r>
          </a:p>
        </p:txBody>
      </p:sp>
      <p:sp>
        <p:nvSpPr>
          <p:cNvPr id="4" name="Title 3">
            <a:extLst>
              <a:ext uri="{FF2B5EF4-FFF2-40B4-BE49-F238E27FC236}">
                <a16:creationId xmlns:a16="http://schemas.microsoft.com/office/drawing/2014/main" id="{6A46F4FF-384C-4E23-4F65-10ECE05BBB5B}"/>
              </a:ext>
            </a:extLst>
          </p:cNvPr>
          <p:cNvSpPr>
            <a:spLocks noGrp="1"/>
          </p:cNvSpPr>
          <p:nvPr>
            <p:ph type="title"/>
          </p:nvPr>
        </p:nvSpPr>
        <p:spPr/>
        <p:txBody>
          <a:bodyPr/>
          <a:lstStyle/>
          <a:p>
            <a:r>
              <a:rPr lang="en-US" dirty="0"/>
              <a:t>In this course:</a:t>
            </a:r>
          </a:p>
        </p:txBody>
      </p:sp>
    </p:spTree>
    <p:extLst>
      <p:ext uri="{BB962C8B-B14F-4D97-AF65-F5344CB8AC3E}">
        <p14:creationId xmlns:p14="http://schemas.microsoft.com/office/powerpoint/2010/main" val="1610873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1">
          <a:extLst>
            <a:ext uri="{FF2B5EF4-FFF2-40B4-BE49-F238E27FC236}">
              <a16:creationId xmlns:a16="http://schemas.microsoft.com/office/drawing/2014/main" id="{94FF7F60-497D-4A60-E44A-0205EC67F3E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0DB93A1-0767-7664-A398-6377EA2B91BE}"/>
              </a:ext>
            </a:extLst>
          </p:cNvPr>
          <p:cNvPicPr>
            <a:picLocks noChangeAspect="1"/>
          </p:cNvPicPr>
          <p:nvPr/>
        </p:nvPicPr>
        <p:blipFill>
          <a:blip r:embed="rId3"/>
          <a:stretch>
            <a:fillRect/>
          </a:stretch>
        </p:blipFill>
        <p:spPr>
          <a:xfrm>
            <a:off x="70596" y="0"/>
            <a:ext cx="12050807" cy="6401693"/>
          </a:xfrm>
          <a:prstGeom prst="rect">
            <a:avLst/>
          </a:prstGeom>
        </p:spPr>
      </p:pic>
      <p:sp>
        <p:nvSpPr>
          <p:cNvPr id="9" name="TextBox 8">
            <a:extLst>
              <a:ext uri="{FF2B5EF4-FFF2-40B4-BE49-F238E27FC236}">
                <a16:creationId xmlns:a16="http://schemas.microsoft.com/office/drawing/2014/main" id="{6100A121-DE1B-15F9-491F-11D1062EDFC3}"/>
              </a:ext>
            </a:extLst>
          </p:cNvPr>
          <p:cNvSpPr txBox="1"/>
          <p:nvPr/>
        </p:nvSpPr>
        <p:spPr>
          <a:xfrm>
            <a:off x="3454401" y="6424271"/>
            <a:ext cx="8681155" cy="369332"/>
          </a:xfrm>
          <a:prstGeom prst="rect">
            <a:avLst/>
          </a:prstGeom>
          <a:noFill/>
        </p:spPr>
        <p:txBody>
          <a:bodyPr wrap="square">
            <a:spAutoFit/>
          </a:bodyPr>
          <a:lstStyle/>
          <a:p>
            <a:r>
              <a:rPr lang="en-US" dirty="0">
                <a:solidFill>
                  <a:schemeClr val="bg1"/>
                </a:solidFill>
              </a:rPr>
              <a:t>https://communitymaplab.github.io/geog4300_datascience/learning_standards.html</a:t>
            </a:r>
          </a:p>
        </p:txBody>
      </p:sp>
    </p:spTree>
    <p:extLst>
      <p:ext uri="{BB962C8B-B14F-4D97-AF65-F5344CB8AC3E}">
        <p14:creationId xmlns:p14="http://schemas.microsoft.com/office/powerpoint/2010/main" val="1584131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BA6931D2-95A3-E932-BA8F-555E6DCA8798}"/>
              </a:ext>
            </a:extLst>
          </p:cNvPr>
          <p:cNvSpPr>
            <a:spLocks noChangeArrowheads="1"/>
          </p:cNvSpPr>
          <p:nvPr/>
        </p:nvSpPr>
        <p:spPr bwMode="auto">
          <a:xfrm>
            <a:off x="3119438" y="20367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00B91A6C-2DBC-1375-7A40-0332B986F671}"/>
              </a:ext>
            </a:extLst>
          </p:cNvPr>
          <p:cNvGraphicFramePr>
            <a:graphicFrameLocks noGrp="1"/>
          </p:cNvGraphicFramePr>
          <p:nvPr>
            <p:extLst>
              <p:ext uri="{D42A27DB-BD31-4B8C-83A1-F6EECF244321}">
                <p14:modId xmlns:p14="http://schemas.microsoft.com/office/powerpoint/2010/main" val="3141011577"/>
              </p:ext>
            </p:extLst>
          </p:nvPr>
        </p:nvGraphicFramePr>
        <p:xfrm>
          <a:off x="349956" y="282222"/>
          <a:ext cx="10713155" cy="5700888"/>
        </p:xfrm>
        <a:graphic>
          <a:graphicData uri="http://schemas.openxmlformats.org/drawingml/2006/table">
            <a:tbl>
              <a:tblPr/>
              <a:tblGrid>
                <a:gridCol w="2142631">
                  <a:extLst>
                    <a:ext uri="{9D8B030D-6E8A-4147-A177-3AD203B41FA5}">
                      <a16:colId xmlns:a16="http://schemas.microsoft.com/office/drawing/2014/main" val="3413674205"/>
                    </a:ext>
                  </a:extLst>
                </a:gridCol>
                <a:gridCol w="2142631">
                  <a:extLst>
                    <a:ext uri="{9D8B030D-6E8A-4147-A177-3AD203B41FA5}">
                      <a16:colId xmlns:a16="http://schemas.microsoft.com/office/drawing/2014/main" val="3200218675"/>
                    </a:ext>
                  </a:extLst>
                </a:gridCol>
                <a:gridCol w="2142631">
                  <a:extLst>
                    <a:ext uri="{9D8B030D-6E8A-4147-A177-3AD203B41FA5}">
                      <a16:colId xmlns:a16="http://schemas.microsoft.com/office/drawing/2014/main" val="3977800912"/>
                    </a:ext>
                  </a:extLst>
                </a:gridCol>
                <a:gridCol w="2142631">
                  <a:extLst>
                    <a:ext uri="{9D8B030D-6E8A-4147-A177-3AD203B41FA5}">
                      <a16:colId xmlns:a16="http://schemas.microsoft.com/office/drawing/2014/main" val="4121951571"/>
                    </a:ext>
                  </a:extLst>
                </a:gridCol>
                <a:gridCol w="2142631">
                  <a:extLst>
                    <a:ext uri="{9D8B030D-6E8A-4147-A177-3AD203B41FA5}">
                      <a16:colId xmlns:a16="http://schemas.microsoft.com/office/drawing/2014/main" val="2623435740"/>
                    </a:ext>
                  </a:extLst>
                </a:gridCol>
              </a:tblGrid>
              <a:tr h="1120185">
                <a:tc>
                  <a:txBody>
                    <a:bodyPr/>
                    <a:lstStyle/>
                    <a:p>
                      <a:pPr fontAlgn="t">
                        <a:buNone/>
                      </a:pPr>
                      <a:br>
                        <a:rPr lang="en-US" sz="2800" dirty="0">
                          <a:effectLst/>
                        </a:rPr>
                      </a:br>
                      <a:endParaRPr lang="en-US" sz="28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1" i="0" u="none" strike="noStrike">
                          <a:solidFill>
                            <a:srgbClr val="000000"/>
                          </a:solidFill>
                          <a:effectLst/>
                          <a:latin typeface="Cambria" panose="02040503050406030204" pitchFamily="18" charset="0"/>
                        </a:rPr>
                        <a:t>A</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1" i="0" u="none" strike="noStrike">
                          <a:solidFill>
                            <a:srgbClr val="000000"/>
                          </a:solidFill>
                          <a:effectLst/>
                          <a:latin typeface="Cambria" panose="02040503050406030204" pitchFamily="18" charset="0"/>
                        </a:rPr>
                        <a:t>B</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1" i="0" u="none" strike="noStrike" dirty="0">
                          <a:solidFill>
                            <a:srgbClr val="000000"/>
                          </a:solidFill>
                          <a:effectLst/>
                          <a:latin typeface="Cambria" panose="02040503050406030204" pitchFamily="18" charset="0"/>
                        </a:rPr>
                        <a:t>C</a:t>
                      </a:r>
                      <a:endParaRPr lang="en-US" sz="28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1" i="0" u="none" strike="noStrike">
                          <a:solidFill>
                            <a:srgbClr val="000000"/>
                          </a:solidFill>
                          <a:effectLst/>
                          <a:latin typeface="Cambria" panose="02040503050406030204" pitchFamily="18" charset="0"/>
                        </a:rPr>
                        <a:t>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921548"/>
                  </a:ext>
                </a:extLst>
              </a:tr>
              <a:tr h="821276">
                <a:tc>
                  <a:txBody>
                    <a:bodyPr/>
                    <a:lstStyle/>
                    <a:p>
                      <a:pPr rtl="0" fontAlgn="t">
                        <a:buNone/>
                      </a:pPr>
                      <a:r>
                        <a:rPr lang="en-US" sz="1800" b="1" i="1" u="none" strike="noStrike">
                          <a:solidFill>
                            <a:srgbClr val="000000"/>
                          </a:solidFill>
                          <a:effectLst/>
                          <a:latin typeface="Cambria" panose="02040503050406030204" pitchFamily="18" charset="0"/>
                        </a:rPr>
                        <a:t>Labs submitted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All submitted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All submitted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At least five submitted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At least three submitted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2503911"/>
                  </a:ext>
                </a:extLst>
              </a:tr>
              <a:tr h="821276">
                <a:tc>
                  <a:txBody>
                    <a:bodyPr/>
                    <a:lstStyle/>
                    <a:p>
                      <a:pPr rtl="0" fontAlgn="t">
                        <a:buNone/>
                      </a:pPr>
                      <a:r>
                        <a:rPr lang="en-US" sz="1800" b="1" i="1" u="none" strike="noStrike">
                          <a:solidFill>
                            <a:srgbClr val="000000"/>
                          </a:solidFill>
                          <a:effectLst/>
                          <a:latin typeface="Cambria" panose="02040503050406030204" pitchFamily="18" charset="0"/>
                        </a:rPr>
                        <a:t>Labs marked complete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All complete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At least five complete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At least three complete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NA</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5028552"/>
                  </a:ext>
                </a:extLst>
              </a:tr>
              <a:tr h="1532758">
                <a:tc>
                  <a:txBody>
                    <a:bodyPr/>
                    <a:lstStyle/>
                    <a:p>
                      <a:pPr rtl="0" fontAlgn="t">
                        <a:buNone/>
                      </a:pPr>
                      <a:r>
                        <a:rPr lang="en-US" sz="1800" b="1" i="1" u="none" strike="noStrike">
                          <a:solidFill>
                            <a:srgbClr val="000000"/>
                          </a:solidFill>
                          <a:effectLst/>
                          <a:latin typeface="Cambria" panose="02040503050406030204" pitchFamily="18" charset="0"/>
                        </a:rPr>
                        <a:t>Lab “graces” </a:t>
                      </a:r>
                      <a:br>
                        <a:rPr lang="en-US" sz="1800" b="1" i="1" u="none" strike="noStrike">
                          <a:solidFill>
                            <a:srgbClr val="000000"/>
                          </a:solidFill>
                          <a:effectLst/>
                          <a:latin typeface="Cambria" panose="02040503050406030204" pitchFamily="18" charset="0"/>
                        </a:rPr>
                      </a:br>
                      <a:r>
                        <a:rPr lang="en-US" sz="1800" b="1" i="1" u="none" strike="noStrike">
                          <a:solidFill>
                            <a:srgbClr val="000000"/>
                          </a:solidFill>
                          <a:effectLst/>
                          <a:latin typeface="Cambria" panose="02040503050406030204" pitchFamily="18" charset="0"/>
                        </a:rPr>
                        <a:t>(1 revision and/or 2 lates)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No more than three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dirty="0">
                          <a:solidFill>
                            <a:srgbClr val="000000"/>
                          </a:solidFill>
                          <a:effectLst/>
                          <a:latin typeface="Cambria" panose="02040503050406030204" pitchFamily="18" charset="0"/>
                        </a:rPr>
                        <a:t>No more than four</a:t>
                      </a:r>
                      <a:endParaRPr lang="en-US" sz="28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No more than five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NA</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7276548"/>
                  </a:ext>
                </a:extLst>
              </a:tr>
              <a:tr h="584117">
                <a:tc>
                  <a:txBody>
                    <a:bodyPr/>
                    <a:lstStyle/>
                    <a:p>
                      <a:pPr rtl="0" fontAlgn="t">
                        <a:buNone/>
                      </a:pPr>
                      <a:r>
                        <a:rPr lang="en-US" sz="1800" b="1" i="1" u="none" strike="noStrike">
                          <a:solidFill>
                            <a:srgbClr val="000000"/>
                          </a:solidFill>
                          <a:effectLst/>
                          <a:latin typeface="Cambria" panose="02040503050406030204" pitchFamily="18" charset="0"/>
                        </a:rPr>
                        <a:t>Attendance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&gt;75% of classes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&gt;65% of classes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&gt;50% of classes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&gt;40% of classes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8729196"/>
                  </a:ext>
                </a:extLst>
              </a:tr>
              <a:tr h="821276">
                <a:tc>
                  <a:txBody>
                    <a:bodyPr/>
                    <a:lstStyle/>
                    <a:p>
                      <a:pPr rtl="0" fontAlgn="t">
                        <a:buNone/>
                      </a:pPr>
                      <a:r>
                        <a:rPr lang="en-US" sz="1800" b="1" i="1" u="none" strike="noStrike">
                          <a:solidFill>
                            <a:srgbClr val="000000"/>
                          </a:solidFill>
                          <a:effectLst/>
                          <a:latin typeface="Cambria" panose="02040503050406030204" pitchFamily="18" charset="0"/>
                        </a:rPr>
                        <a:t>Challenge items</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Complete three or more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Complete one or more</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a:solidFill>
                            <a:srgbClr val="000000"/>
                          </a:solidFill>
                          <a:effectLst/>
                          <a:latin typeface="Cambria" panose="02040503050406030204" pitchFamily="18" charset="0"/>
                        </a:rPr>
                        <a:t>Not required</a:t>
                      </a:r>
                      <a:endParaRPr lang="en-US" sz="28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1800" b="0" i="0" u="none" strike="noStrike" dirty="0">
                          <a:solidFill>
                            <a:srgbClr val="000000"/>
                          </a:solidFill>
                          <a:effectLst/>
                          <a:latin typeface="Cambria" panose="02040503050406030204" pitchFamily="18" charset="0"/>
                        </a:rPr>
                        <a:t>Not required</a:t>
                      </a:r>
                      <a:endParaRPr lang="en-US" sz="28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82021"/>
                  </a:ext>
                </a:extLst>
              </a:tr>
            </a:tbl>
          </a:graphicData>
        </a:graphic>
      </p:graphicFrame>
    </p:spTree>
    <p:extLst>
      <p:ext uri="{BB962C8B-B14F-4D97-AF65-F5344CB8AC3E}">
        <p14:creationId xmlns:p14="http://schemas.microsoft.com/office/powerpoint/2010/main" val="2780816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1"/>
        <p:cNvGrpSpPr/>
        <p:nvPr/>
      </p:nvGrpSpPr>
      <p:grpSpPr>
        <a:xfrm>
          <a:off x="0" y="0"/>
          <a:ext cx="0" cy="0"/>
          <a:chOff x="0" y="0"/>
          <a:chExt cx="0" cy="0"/>
        </a:xfrm>
      </p:grpSpPr>
      <p:sp>
        <p:nvSpPr>
          <p:cNvPr id="253" name="Shape 253" descr="http://developer.r-project.org/Logo/Rlogo.svg"/>
          <p:cNvSpPr/>
          <p:nvPr/>
        </p:nvSpPr>
        <p:spPr>
          <a:xfrm>
            <a:off x="1679576" y="-144463"/>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4" name="Shape 254" descr="http://developer.r-project.org/Logo/Rlogo.svg"/>
          <p:cNvSpPr/>
          <p:nvPr/>
        </p:nvSpPr>
        <p:spPr>
          <a:xfrm>
            <a:off x="1831976" y="79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5" name="Shape 255" descr="http://developer.r-project.org/Logo/Rlogo.svg"/>
          <p:cNvSpPr/>
          <p:nvPr/>
        </p:nvSpPr>
        <p:spPr>
          <a:xfrm>
            <a:off x="1984376" y="160337"/>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56" name="Shape 256" descr="http://developer.r-project.org/Logo/Rlogo.svg"/>
          <p:cNvSpPr/>
          <p:nvPr/>
        </p:nvSpPr>
        <p:spPr>
          <a:xfrm>
            <a:off x="2136776" y="312738"/>
            <a:ext cx="304799" cy="304801"/>
          </a:xfrm>
          <a:prstGeom prst="rect">
            <a:avLst/>
          </a:prstGeom>
          <a:noFill/>
          <a:ln>
            <a:noFill/>
          </a:ln>
        </p:spPr>
        <p:txBody>
          <a:bodyPr lIns="91425" tIns="45700" rIns="91425" bIns="45700" anchor="t" anchorCtr="0">
            <a:noAutofit/>
          </a:bodyPr>
          <a:lstStyle/>
          <a:p>
            <a:endParaRPr>
              <a:solidFill>
                <a:schemeClr val="accent2">
                  <a:lumMod val="20000"/>
                  <a:lumOff val="80000"/>
                </a:schemeClr>
              </a:solidFill>
              <a:latin typeface="Calibri"/>
              <a:ea typeface="Calibri"/>
              <a:cs typeface="Calibri"/>
              <a:sym typeface="Calibri"/>
            </a:endParaRPr>
          </a:p>
        </p:txBody>
      </p:sp>
      <p:sp>
        <p:nvSpPr>
          <p:cNvPr id="2" name="AutoShape 6" descr="Image result for r"/>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accent2">
                  <a:lumMod val="20000"/>
                  <a:lumOff val="80000"/>
                </a:schemeClr>
              </a:solidFill>
            </a:endParaRPr>
          </a:p>
        </p:txBody>
      </p:sp>
      <p:sp>
        <p:nvSpPr>
          <p:cNvPr id="8" name="Shape 208">
            <a:extLst>
              <a:ext uri="{FF2B5EF4-FFF2-40B4-BE49-F238E27FC236}">
                <a16:creationId xmlns:a16="http://schemas.microsoft.com/office/drawing/2014/main" id="{B5ED5A12-E140-4B27-8ED2-A376D55B0764}"/>
              </a:ext>
            </a:extLst>
          </p:cNvPr>
          <p:cNvSpPr txBox="1"/>
          <p:nvPr/>
        </p:nvSpPr>
        <p:spPr>
          <a:xfrm>
            <a:off x="1092554" y="537618"/>
            <a:ext cx="9519003" cy="769441"/>
          </a:xfrm>
          <a:prstGeom prst="rect">
            <a:avLst/>
          </a:prstGeom>
          <a:noFill/>
          <a:ln>
            <a:noFill/>
          </a:ln>
        </p:spPr>
        <p:txBody>
          <a:bodyPr lIns="91425" tIns="45700" rIns="91425" bIns="45700" anchor="t" anchorCtr="0">
            <a:noAutofit/>
          </a:bodyPr>
          <a:lstStyle/>
          <a:p>
            <a:pPr>
              <a:buSzPct val="25000"/>
            </a:pPr>
            <a:r>
              <a:rPr lang="en-US" sz="4400" dirty="0">
                <a:solidFill>
                  <a:schemeClr val="tx1">
                    <a:lumMod val="75000"/>
                  </a:schemeClr>
                </a:solidFill>
                <a:latin typeface="+mj-lt"/>
                <a:ea typeface="Calibri"/>
                <a:cs typeface="Calibri"/>
                <a:sym typeface="Calibri"/>
              </a:rPr>
              <a:t>What does an “A” look like for you?</a:t>
            </a:r>
          </a:p>
        </p:txBody>
      </p:sp>
      <p:sp>
        <p:nvSpPr>
          <p:cNvPr id="6" name="Rectangle 5">
            <a:extLst>
              <a:ext uri="{FF2B5EF4-FFF2-40B4-BE49-F238E27FC236}">
                <a16:creationId xmlns:a16="http://schemas.microsoft.com/office/drawing/2014/main" id="{E5D02709-6223-4EC9-986E-861A9FF9FFB0}"/>
              </a:ext>
            </a:extLst>
          </p:cNvPr>
          <p:cNvSpPr/>
          <p:nvPr/>
        </p:nvSpPr>
        <p:spPr>
          <a:xfrm>
            <a:off x="1199795" y="2008994"/>
            <a:ext cx="8903759" cy="3046988"/>
          </a:xfrm>
          <a:prstGeom prst="rect">
            <a:avLst/>
          </a:prstGeom>
        </p:spPr>
        <p:txBody>
          <a:bodyPr wrap="square">
            <a:spAutoFit/>
          </a:bodyPr>
          <a:lstStyle/>
          <a:p>
            <a:r>
              <a:rPr lang="en-US" sz="2400" dirty="0">
                <a:solidFill>
                  <a:schemeClr val="tx1">
                    <a:lumMod val="75000"/>
                  </a:schemeClr>
                </a:solidFill>
                <a:cs typeface="Calibri" panose="020F0502020204030204" pitchFamily="34" charset="0"/>
              </a:rPr>
              <a:t>Do NOT use good grades, but focus on what those grades would show about you. For example, you could finish one or more of the following statements:</a:t>
            </a:r>
          </a:p>
          <a:p>
            <a:endParaRPr lang="en-US" sz="2400" dirty="0">
              <a:solidFill>
                <a:schemeClr val="tx1">
                  <a:lumMod val="75000"/>
                </a:schemeClr>
              </a:solidFill>
              <a:cs typeface="Calibri" panose="020F0502020204030204" pitchFamily="34" charset="0"/>
            </a:endParaRPr>
          </a:p>
          <a:p>
            <a:pPr fontAlgn="base">
              <a:buFont typeface="Arial" panose="020B0604020202020204" pitchFamily="34" charset="0"/>
              <a:buChar char="•"/>
            </a:pPr>
            <a:r>
              <a:rPr lang="en-US" sz="2400" dirty="0">
                <a:solidFill>
                  <a:schemeClr val="tx1">
                    <a:lumMod val="75000"/>
                  </a:schemeClr>
                </a:solidFill>
                <a:cs typeface="Calibri" panose="020F0502020204030204" pitchFamily="34" charset="0"/>
              </a:rPr>
              <a:t> “I would understand how…”</a:t>
            </a:r>
          </a:p>
          <a:p>
            <a:pPr fontAlgn="base">
              <a:buFont typeface="Arial" panose="020B0604020202020204" pitchFamily="34" charset="0"/>
              <a:buChar char="•"/>
            </a:pPr>
            <a:r>
              <a:rPr lang="en-US" sz="2400" dirty="0">
                <a:solidFill>
                  <a:schemeClr val="tx1">
                    <a:lumMod val="75000"/>
                  </a:schemeClr>
                </a:solidFill>
                <a:cs typeface="Calibri" panose="020F0502020204030204" pitchFamily="34" charset="0"/>
              </a:rPr>
              <a:t> “I would be able to…”</a:t>
            </a:r>
          </a:p>
          <a:p>
            <a:pPr fontAlgn="base">
              <a:buFont typeface="Arial" panose="020B0604020202020204" pitchFamily="34" charset="0"/>
              <a:buChar char="•"/>
            </a:pPr>
            <a:r>
              <a:rPr lang="en-US" sz="2400" dirty="0">
                <a:solidFill>
                  <a:schemeClr val="tx1">
                    <a:lumMod val="75000"/>
                  </a:schemeClr>
                </a:solidFill>
                <a:cs typeface="Calibri" panose="020F0502020204030204" pitchFamily="34" charset="0"/>
              </a:rPr>
              <a:t> “I would learn…”</a:t>
            </a:r>
          </a:p>
          <a:p>
            <a:pPr fontAlgn="base">
              <a:buFont typeface="Arial" panose="020B0604020202020204" pitchFamily="34" charset="0"/>
              <a:buChar char="•"/>
            </a:pPr>
            <a:r>
              <a:rPr lang="en-US" sz="2400" dirty="0">
                <a:solidFill>
                  <a:schemeClr val="tx1">
                    <a:lumMod val="75000"/>
                  </a:schemeClr>
                </a:solidFill>
                <a:cs typeface="Calibri" panose="020F0502020204030204" pitchFamily="34" charset="0"/>
              </a:rPr>
              <a:t> “I could explain…” </a:t>
            </a:r>
          </a:p>
        </p:txBody>
      </p:sp>
    </p:spTree>
    <p:extLst>
      <p:ext uri="{BB962C8B-B14F-4D97-AF65-F5344CB8AC3E}">
        <p14:creationId xmlns:p14="http://schemas.microsoft.com/office/powerpoint/2010/main" val="3452476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C9DA0-C47B-E0CA-5A6F-B2A5D69B4F2A}"/>
              </a:ext>
            </a:extLst>
          </p:cNvPr>
          <p:cNvSpPr>
            <a:spLocks noGrp="1"/>
          </p:cNvSpPr>
          <p:nvPr>
            <p:ph type="title"/>
          </p:nvPr>
        </p:nvSpPr>
        <p:spPr/>
        <p:txBody>
          <a:bodyPr/>
          <a:lstStyle/>
          <a:p>
            <a:r>
              <a:rPr lang="en-US" dirty="0"/>
              <a:t>What are your thoughts?</a:t>
            </a:r>
          </a:p>
        </p:txBody>
      </p:sp>
      <p:sp>
        <p:nvSpPr>
          <p:cNvPr id="3" name="Content Placeholder 2">
            <a:extLst>
              <a:ext uri="{FF2B5EF4-FFF2-40B4-BE49-F238E27FC236}">
                <a16:creationId xmlns:a16="http://schemas.microsoft.com/office/drawing/2014/main" id="{5A13C975-8718-2BB2-824E-C41108605C40}"/>
              </a:ext>
            </a:extLst>
          </p:cNvPr>
          <p:cNvSpPr>
            <a:spLocks noGrp="1"/>
          </p:cNvSpPr>
          <p:nvPr>
            <p:ph idx="1"/>
          </p:nvPr>
        </p:nvSpPr>
        <p:spPr>
          <a:xfrm>
            <a:off x="1388532" y="1845734"/>
            <a:ext cx="9767147" cy="4023360"/>
          </a:xfrm>
        </p:spPr>
        <p:txBody>
          <a:bodyPr/>
          <a:lstStyle/>
          <a:p>
            <a:pPr marL="0" indent="0">
              <a:buNone/>
            </a:pPr>
            <a:r>
              <a:rPr lang="en-US" dirty="0"/>
              <a:t>In groups:</a:t>
            </a:r>
          </a:p>
          <a:p>
            <a:pPr marL="225425" indent="-225425">
              <a:buClr>
                <a:schemeClr val="tx1">
                  <a:lumMod val="50000"/>
                </a:schemeClr>
              </a:buClr>
              <a:buFont typeface="Arial" panose="020B0604020202020204" pitchFamily="34" charset="0"/>
              <a:buChar char="•"/>
            </a:pPr>
            <a:r>
              <a:rPr lang="en-US" dirty="0"/>
              <a:t>One thing you’re looking forward to</a:t>
            </a:r>
          </a:p>
          <a:p>
            <a:pPr marL="225425" indent="-225425">
              <a:buClr>
                <a:schemeClr val="tx1">
                  <a:lumMod val="50000"/>
                </a:schemeClr>
              </a:buClr>
              <a:buFont typeface="Arial" panose="020B0604020202020204" pitchFamily="34" charset="0"/>
              <a:buChar char="•"/>
            </a:pPr>
            <a:r>
              <a:rPr lang="en-US" dirty="0"/>
              <a:t>One thing that makes you nervous</a:t>
            </a:r>
          </a:p>
          <a:p>
            <a:pPr marL="225425" indent="-225425">
              <a:buClr>
                <a:schemeClr val="tx1">
                  <a:lumMod val="50000"/>
                </a:schemeClr>
              </a:buClr>
              <a:buFont typeface="Arial" panose="020B0604020202020204" pitchFamily="34" charset="0"/>
              <a:buChar char="•"/>
            </a:pPr>
            <a:r>
              <a:rPr lang="en-US" dirty="0"/>
              <a:t>One question you have</a:t>
            </a:r>
          </a:p>
        </p:txBody>
      </p:sp>
    </p:spTree>
    <p:extLst>
      <p:ext uri="{BB962C8B-B14F-4D97-AF65-F5344CB8AC3E}">
        <p14:creationId xmlns:p14="http://schemas.microsoft.com/office/powerpoint/2010/main" val="1728363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0A18D-C7AB-83F5-85FC-3C347E2ED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E6B63-EFB1-3A33-FCF3-2481A8301EF5}"/>
              </a:ext>
            </a:extLst>
          </p:cNvPr>
          <p:cNvSpPr>
            <a:spLocks noGrp="1"/>
          </p:cNvSpPr>
          <p:nvPr>
            <p:ph type="title"/>
          </p:nvPr>
        </p:nvSpPr>
        <p:spPr/>
        <p:txBody>
          <a:bodyPr/>
          <a:lstStyle/>
          <a:p>
            <a:r>
              <a:rPr lang="en-US" dirty="0"/>
              <a:t>What else should you do? </a:t>
            </a:r>
          </a:p>
        </p:txBody>
      </p:sp>
      <p:sp>
        <p:nvSpPr>
          <p:cNvPr id="3" name="Content Placeholder 2">
            <a:extLst>
              <a:ext uri="{FF2B5EF4-FFF2-40B4-BE49-F238E27FC236}">
                <a16:creationId xmlns:a16="http://schemas.microsoft.com/office/drawing/2014/main" id="{48F74625-5554-1070-707D-3ECB88B3144B}"/>
              </a:ext>
            </a:extLst>
          </p:cNvPr>
          <p:cNvSpPr>
            <a:spLocks noGrp="1"/>
          </p:cNvSpPr>
          <p:nvPr>
            <p:ph idx="1"/>
          </p:nvPr>
        </p:nvSpPr>
        <p:spPr>
          <a:xfrm>
            <a:off x="1242906" y="1969912"/>
            <a:ext cx="9767147" cy="4023360"/>
          </a:xfrm>
        </p:spPr>
        <p:txBody>
          <a:bodyPr/>
          <a:lstStyle/>
          <a:p>
            <a:r>
              <a:rPr lang="en-US" dirty="0"/>
              <a:t>Download the required software:</a:t>
            </a:r>
          </a:p>
          <a:p>
            <a:pPr marL="688975" lvl="1" indent="-225425"/>
            <a:r>
              <a:rPr lang="en-US" sz="2400" dirty="0"/>
              <a:t>R and </a:t>
            </a:r>
            <a:r>
              <a:rPr lang="en-US" sz="2400" dirty="0" err="1"/>
              <a:t>Rstudio</a:t>
            </a:r>
            <a:endParaRPr lang="en-US" sz="2400" dirty="0"/>
          </a:p>
          <a:p>
            <a:pPr marL="688975" lvl="1" indent="-225425"/>
            <a:r>
              <a:rPr lang="en-US" sz="2400" dirty="0"/>
              <a:t>Git</a:t>
            </a:r>
          </a:p>
          <a:p>
            <a:pPr marL="688975" lvl="1" indent="-225425"/>
            <a:r>
              <a:rPr lang="en-US" sz="2400" dirty="0"/>
              <a:t>Github Desktop</a:t>
            </a:r>
            <a:endParaRPr lang="en-US" dirty="0"/>
          </a:p>
          <a:p>
            <a:r>
              <a:rPr lang="en-US" dirty="0"/>
              <a:t>Create a Github account</a:t>
            </a:r>
          </a:p>
        </p:txBody>
      </p:sp>
    </p:spTree>
    <p:extLst>
      <p:ext uri="{BB962C8B-B14F-4D97-AF65-F5344CB8AC3E}">
        <p14:creationId xmlns:p14="http://schemas.microsoft.com/office/powerpoint/2010/main" val="1729009168"/>
      </p:ext>
    </p:extLst>
  </p:cSld>
  <p:clrMapOvr>
    <a:masterClrMapping/>
  </p:clrMapOvr>
</p:sld>
</file>

<file path=ppt/theme/theme1.xml><?xml version="1.0" encoding="utf-8"?>
<a:theme xmlns:a="http://schemas.openxmlformats.org/drawingml/2006/main" name="4300 theme">
  <a:themeElements>
    <a:clrScheme name="Custom 5">
      <a:dk1>
        <a:srgbClr val="3F3F3F"/>
      </a:dk1>
      <a:lt1>
        <a:sysClr val="window" lastClr="FFFFFF"/>
      </a:lt1>
      <a:dk2>
        <a:srgbClr val="637052"/>
      </a:dk2>
      <a:lt2>
        <a:srgbClr val="CCDDEA"/>
      </a:lt2>
      <a:accent1>
        <a:srgbClr val="E5A99F"/>
      </a:accent1>
      <a:accent2>
        <a:srgbClr val="B23838"/>
      </a:accent2>
      <a:accent3>
        <a:srgbClr val="865640"/>
      </a:accent3>
      <a:accent4>
        <a:srgbClr val="9B8357"/>
      </a:accent4>
      <a:accent5>
        <a:srgbClr val="C2BC80"/>
      </a:accent5>
      <a:accent6>
        <a:srgbClr val="94A088"/>
      </a:accent6>
      <a:hlink>
        <a:srgbClr val="2998E3"/>
      </a:hlink>
      <a:folHlink>
        <a:srgbClr val="8C8C8C"/>
      </a:folHlink>
    </a:clrScheme>
    <a:fontScheme name="Custom 1">
      <a:majorFont>
        <a:latin typeface="Sitka Display Semibold"/>
        <a:ea typeface=""/>
        <a:cs typeface=""/>
      </a:majorFont>
      <a:minorFont>
        <a:latin typeface="Segoe U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geog4300_L01-Introductions" id="{FA51A00F-822B-41B5-AA4A-2C123A5E9355}" vid="{2F9C99DD-B25B-4D9F-92B4-7DCE57BD0F4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TotalTime>
  <Words>715</Words>
  <Application>Microsoft Office PowerPoint</Application>
  <PresentationFormat>Widescreen</PresentationFormat>
  <Paragraphs>125</Paragraphs>
  <Slides>14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Cambria</vt:lpstr>
      <vt:lpstr>Segoe UI</vt:lpstr>
      <vt:lpstr>Sitka Display Semibold</vt:lpstr>
      <vt:lpstr>Sitka Subheading</vt:lpstr>
      <vt:lpstr>4300 theme</vt:lpstr>
      <vt:lpstr>Geog4/6300: Data Science in Geography</vt:lpstr>
      <vt:lpstr>What’s this course about?</vt:lpstr>
      <vt:lpstr>Course objectives</vt:lpstr>
      <vt:lpstr>Main course units</vt:lpstr>
      <vt:lpstr>PowerPoint Presentation</vt:lpstr>
      <vt:lpstr>What you need</vt:lpstr>
      <vt:lpstr>Introduce yourself!</vt:lpstr>
      <vt:lpstr>PowerPoint Presentation</vt:lpstr>
      <vt:lpstr>In this course:</vt:lpstr>
      <vt:lpstr>PowerPoint Presentation</vt:lpstr>
      <vt:lpstr>PowerPoint Presentation</vt:lpstr>
      <vt:lpstr>PowerPoint Presentation</vt:lpstr>
      <vt:lpstr>What are your thoughts?</vt:lpstr>
      <vt:lpstr>What else should you do?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Numbers: What are they good for?</dc:title>
  <dc:creator>Gerald Shannon</dc:creator>
  <cp:lastModifiedBy>Jerry Shannon</cp:lastModifiedBy>
  <cp:revision>85</cp:revision>
  <dcterms:modified xsi:type="dcterms:W3CDTF">2026-08-11T18:56:03Z</dcterms:modified>
</cp:coreProperties>
</file>