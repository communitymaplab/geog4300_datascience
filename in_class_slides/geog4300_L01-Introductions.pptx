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732" r:id="rId1"/>
  </p:sldMasterIdLst>
  <p:notesMasterIdLst>
    <p:notesMasterId r:id="rId22"/>
  </p:notesMasterIdLst>
  <p:sldIdLst>
    <p:sldId id="256" r:id="rId2"/>
    <p:sldId id="264" r:id="rId3"/>
    <p:sldId id="277" r:id="rId4"/>
    <p:sldId id="267" r:id="rId5"/>
    <p:sldId id="298" r:id="rId6"/>
    <p:sldId id="299" r:id="rId7"/>
    <p:sldId id="266" r:id="rId8"/>
    <p:sldId id="274" r:id="rId9"/>
    <p:sldId id="286" r:id="rId10"/>
    <p:sldId id="288" r:id="rId11"/>
    <p:sldId id="287" r:id="rId12"/>
    <p:sldId id="289" r:id="rId13"/>
    <p:sldId id="290" r:id="rId14"/>
    <p:sldId id="291" r:id="rId15"/>
    <p:sldId id="293" r:id="rId16"/>
    <p:sldId id="300" r:id="rId17"/>
    <p:sldId id="294" r:id="rId18"/>
    <p:sldId id="292" r:id="rId19"/>
    <p:sldId id="295" r:id="rId20"/>
    <p:sldId id="297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66"/>
    <a:srgbClr val="CC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678"/>
    <p:restoredTop sz="80685"/>
  </p:normalViewPr>
  <p:slideViewPr>
    <p:cSldViewPr snapToGrid="0">
      <p:cViewPr varScale="1">
        <p:scale>
          <a:sx n="130" d="100"/>
          <a:sy n="130" d="100"/>
        </p:scale>
        <p:origin x="138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Shape 4"/>
          <p:cNvSpPr txBox="1">
            <a:spLocks noGrp="1"/>
          </p:cNvSpPr>
          <p:nvPr>
            <p:ph type="dt" idx="10"/>
          </p:nvPr>
        </p:nvSpPr>
        <p:spPr>
          <a:xfrm>
            <a:off x="3884612" y="0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Shape 5"/>
          <p:cNvSpPr>
            <a:spLocks noGrp="1" noRot="1" noChangeAspect="1"/>
          </p:cNvSpPr>
          <p:nvPr>
            <p:ph type="sldImg" idx="3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" name="Shape 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Shape 7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marR="0" lvl="0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Shape 8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Shape 85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86" name="Shape 8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Shape 87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Shape 149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50" name="Shape 150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Shape 151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Shape 157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58" name="Shape 15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Difference between descriptive and inferential statistics.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Example: rates of cancer in all state counties. </a:t>
            </a:r>
          </a:p>
        </p:txBody>
      </p:sp>
      <p:sp>
        <p:nvSpPr>
          <p:cNvPr id="159" name="Shape 159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0413267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Shape 17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72" name="Shape 17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What makes data geographic? 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Wide variety of data sources and methods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Raster and vector based data sources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Information about a place in some form—often now through GIS based techniques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RASTER DATA: 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Comprised of raster cells—all the same size and all with a value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VECTOR DATA: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kern="1200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 A representation of the world using points, lines, and polygons. Vector models are useful for storing data that has discrete boundaries, such as country borders, land parcels, and streets.</a:t>
            </a: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(Jerry uses vector data, I use raster but I don’t call it that)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Shape 173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u="none" strike="noStrike" kern="1200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In its simplest form, a raster consists of a matrix of cells (or pixels) organized into rows and columns (or a grid) where each cell contains a value representing information, such as temperature. </a:t>
            </a:r>
            <a:r>
              <a:rPr lang="en-US" sz="1200" b="0" i="0" u="none" strike="noStrike" kern="1200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Rasters</a:t>
            </a:r>
            <a:r>
              <a:rPr lang="en-US" sz="1200" b="0" i="0" u="none" strike="noStrike" kern="1200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 are digital aerial photographs, imagery from satellites, digital pictures, or even scanned maps.</a:t>
            </a:r>
          </a:p>
          <a:p>
            <a:endParaRPr lang="en-US" dirty="0"/>
          </a:p>
          <a:p>
            <a:r>
              <a:rPr lang="en-US" sz="1200" b="0" i="0" u="none" strike="noStrike" kern="1200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Data stored in a raster format represents real-world phenomena:</a:t>
            </a:r>
          </a:p>
          <a:p>
            <a:r>
              <a:rPr lang="en-US" sz="1200" b="0" i="0" u="none" strike="noStrike" kern="1200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Thematic data (also known as discrete) represents features such as land-use or soils data.</a:t>
            </a:r>
          </a:p>
          <a:p>
            <a:r>
              <a:rPr lang="en-US" sz="1200" b="0" i="0" u="none" strike="noStrike" kern="1200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Continuous data represents phenomena such as temperature, elevation, or spectral data such as satellite images and aerial photographs.</a:t>
            </a:r>
          </a:p>
          <a:p>
            <a:r>
              <a:rPr lang="en-US" sz="1200" b="0" i="0" u="none" strike="noStrike" kern="1200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Pictures include scanned maps or drawings and building photographs.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br>
              <a:rPr lang="en-US" dirty="0"/>
            </a:b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Common raster maps? Temperature data (interpolated), land cover, classified remote sensing imagery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Questions you could ask of a land cover map—what percentage of an area is covered by various land cover types. What’s the relationship between type of land cover and other characteristics: elevation, proximity to certain features, etc.?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953194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Shape 16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64" name="Shape 164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Shape 165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Shape 229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30" name="Shape 230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More recently, new generation of work on quantitative geography drawing on increased computing power, GIS software, and increasing availability of “big data”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Methods for managing and analyzing datasets of multiple terabytes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Shape 231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Shape 24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49" name="Shape 24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Raster data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Shape 250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6195954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Shape 24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49" name="Shape 24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Raster data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Comprised of raster cells—all the same size and all with a value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This data is always continuous and there are no discrete units—a single point or area.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Disclaimer: most of my work has been with vector based data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Common raster maps? Temperature data (interpolated), land cover, classified remote sensing imagery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Questions you could ask of a land cover map—what percentage of an area is covered by various land cover types. What’s the relationship between type of land cover and other characteristics: elevation, proximity to certain features, etc.?</a:t>
            </a:r>
          </a:p>
        </p:txBody>
      </p:sp>
      <p:sp>
        <p:nvSpPr>
          <p:cNvPr id="250" name="Shape 250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916000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Shape 24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49" name="Shape 24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Shape 250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11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0058386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Shape 24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49" name="Shape 24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Shape 250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12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4992228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Shape 24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49" name="Shape 24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How did you do in a class?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Depends on the grade?</a:t>
            </a:r>
            <a:b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What if there’s not a grade … how you did is more about what you learned, what you did, </a:t>
            </a:r>
          </a:p>
        </p:txBody>
      </p:sp>
      <p:sp>
        <p:nvSpPr>
          <p:cNvPr id="250" name="Shape 250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13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09924665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Shape 24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49" name="Shape 24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 have more control in the grading process – you have agency, it’s not some secret formula.</a:t>
            </a:r>
          </a:p>
        </p:txBody>
      </p:sp>
      <p:sp>
        <p:nvSpPr>
          <p:cNvPr id="250" name="Shape 250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14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5738148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Shape 24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49" name="Shape 24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Shape 250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15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9239008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 labs.</a:t>
            </a:r>
          </a:p>
          <a:p>
            <a:r>
              <a:rPr lang="en-US" dirty="0"/>
              <a:t>Come to Class.</a:t>
            </a:r>
          </a:p>
          <a:p>
            <a:r>
              <a:rPr lang="en-US" dirty="0"/>
              <a:t>That’s a B</a:t>
            </a:r>
          </a:p>
          <a:p>
            <a:endParaRPr lang="en-US" dirty="0"/>
          </a:p>
          <a:p>
            <a:r>
              <a:rPr lang="en-US" dirty="0"/>
              <a:t>You can raise it by completing a ‘challenge’ section.</a:t>
            </a:r>
          </a:p>
          <a:p>
            <a:pPr rtl="0" fontAlgn="t"/>
            <a:r>
              <a:rPr lang="en-US" dirty="0"/>
              <a:t>You can focus on some parts or others to raise your grade if labs aren’t your thing.</a:t>
            </a:r>
            <a:r>
              <a:rPr lang="en-US" b="0" dirty="0">
                <a:effectLst/>
              </a:rPr>
              <a:t> </a:t>
            </a:r>
          </a:p>
          <a:p>
            <a:pPr rtl="0" fontAlgn="t"/>
            <a:endParaRPr lang="en-US" b="0" dirty="0">
              <a:effectLst/>
            </a:endParaRPr>
          </a:p>
          <a:p>
            <a:pPr rtl="0" fontAlgn="t"/>
            <a:r>
              <a:rPr lang="en-US" b="0" dirty="0">
                <a:effectLst/>
              </a:rPr>
              <a:t>Lets go to the syllabus: </a:t>
            </a:r>
            <a:br>
              <a:rPr lang="en-US" b="0" dirty="0">
                <a:effectLst/>
              </a:rPr>
            </a:br>
            <a:endParaRPr lang="en-US" b="0" dirty="0"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16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5606971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Shape 24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49" name="Shape 24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Shape 250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17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3912060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Shape 24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49" name="Shape 24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Raster data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Comprised of raster cells—all the same size and all with a value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This data is always continuous and there are no discrete units—a single point or area.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Disclaimer: most of my work has been with vector based data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Common raster maps? Temperature data (interpolated), land cover, classified remote sensing imagery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Questions you could ask of a land cover map—what percentage of an area is covered by various land cover types. What’s the relationship between type of land cover and other characteristics: elevation, proximity to certain features, etc.?</a:t>
            </a:r>
          </a:p>
        </p:txBody>
      </p:sp>
      <p:sp>
        <p:nvSpPr>
          <p:cNvPr id="250" name="Shape 250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18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6374190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Shape 24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49" name="Shape 24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Raster data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Comprised of raster cells—all the same size and all with a value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This data is always continuous and there are no discrete units—a single point or area.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Disclaimer: most of my work has been with vector based data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Common raster maps? Temperature data (interpolated), land cover, classified remote sensing imagery</a:t>
            </a: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Questions you could ask of a land cover map—what percentage of an area is covered by various land cover types. What’s the relationship between type of land cover and other characteristics: elevation, proximity to certain features, etc.?</a:t>
            </a:r>
          </a:p>
        </p:txBody>
      </p:sp>
      <p:sp>
        <p:nvSpPr>
          <p:cNvPr id="250" name="Shape 250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19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47094324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Shape 24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49" name="Shape 24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Shape 250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449350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64002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142212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74142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12942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068430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583480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961970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166828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515616425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416505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424141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87943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hf sldNum="0"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Caladea" panose="02040503050406030204" pitchFamily="18" charset="0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gi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gi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gif"/><Relationship Id="rId4" Type="http://schemas.openxmlformats.org/officeDocument/2006/relationships/image" Target="../media/image7.gi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gif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gi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Shape 8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vert="horz" lIns="91425" tIns="45700" rIns="91425" bIns="45700" rtlCol="0" anchor="ctr" anchorCtr="0">
            <a:noAutofit/>
          </a:bodyPr>
          <a:lstStyle/>
          <a:p>
            <a:pPr>
              <a:spcBef>
                <a:spcPts val="0"/>
              </a:spcBef>
              <a:buClr>
                <a:srgbClr val="FFFF66"/>
              </a:buClr>
              <a:buSzPct val="25000"/>
            </a:pPr>
            <a:r>
              <a:rPr lang="en-US" sz="3959" dirty="0">
                <a:solidFill>
                  <a:schemeClr val="tx1"/>
                </a:solidFill>
                <a:latin typeface="+mj-lt"/>
                <a:ea typeface="Calibri"/>
                <a:cs typeface="Calibri"/>
                <a:sym typeface="Calibri"/>
              </a:rPr>
              <a:t>Numbers: What are they good for?</a:t>
            </a:r>
          </a:p>
        </p:txBody>
      </p:sp>
      <p:pic>
        <p:nvPicPr>
          <p:cNvPr id="91" name="Shape 91" descr="http://mugss.weebly.com/uploads/1/1/1/3/11138990/4312792.png?9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90702" y="2128915"/>
            <a:ext cx="8846400" cy="3633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Shape 153" descr="http://www.forwardmapworks.com/wordpress/wp-content/uploads/2012/03/Census_Bureau_Geographers_Cartographers.jp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87645" y="2241755"/>
            <a:ext cx="6286886" cy="3862489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Shape 154"/>
          <p:cNvSpPr txBox="1">
            <a:spLocks noGrp="1"/>
          </p:cNvSpPr>
          <p:nvPr>
            <p:ph type="ctrTitle"/>
          </p:nvPr>
        </p:nvSpPr>
        <p:spPr>
          <a:xfrm>
            <a:off x="2749732" y="6104244"/>
            <a:ext cx="6934199" cy="760287"/>
          </a:xfrm>
          <a:prstGeom prst="rect">
            <a:avLst/>
          </a:prstGeom>
          <a:noFill/>
          <a:ln>
            <a:noFill/>
          </a:ln>
        </p:spPr>
        <p:txBody>
          <a:bodyPr vert="horz" lIns="91425" tIns="45700" rIns="91425" bIns="45700" rtlCol="0" anchor="ctr" anchorCtr="0">
            <a:noAutofit/>
          </a:bodyPr>
          <a:lstStyle/>
          <a:p>
            <a:pPr>
              <a:spcBef>
                <a:spcPts val="0"/>
              </a:spcBef>
              <a:buClr>
                <a:srgbClr val="FFFF66"/>
              </a:buClr>
              <a:buSzPct val="25000"/>
            </a:pPr>
            <a:r>
              <a:rPr lang="en-US" sz="3959" dirty="0">
                <a:latin typeface="Calibri"/>
                <a:ea typeface="Calibri"/>
                <a:cs typeface="Calibri"/>
                <a:sym typeface="Calibri"/>
              </a:rPr>
              <a:t>Statistics in Geography</a:t>
            </a:r>
          </a:p>
        </p:txBody>
      </p:sp>
      <p:sp>
        <p:nvSpPr>
          <p:cNvPr id="155" name="Shape 155"/>
          <p:cNvSpPr txBox="1"/>
          <p:nvPr/>
        </p:nvSpPr>
        <p:spPr>
          <a:xfrm>
            <a:off x="1516855" y="5797731"/>
            <a:ext cx="2058577" cy="24622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http://blog.forwardmapworks.com/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Shape 161"/>
          <p:cNvSpPr txBox="1"/>
          <p:nvPr/>
        </p:nvSpPr>
        <p:spPr>
          <a:xfrm>
            <a:off x="2438401" y="2133600"/>
            <a:ext cx="7291907" cy="156966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4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What’s distinctive about statistics in geography?</a:t>
            </a:r>
          </a:p>
        </p:txBody>
      </p:sp>
    </p:spTree>
    <p:extLst>
      <p:ext uri="{BB962C8B-B14F-4D97-AF65-F5344CB8AC3E}">
        <p14:creationId xmlns:p14="http://schemas.microsoft.com/office/powerpoint/2010/main" val="27494165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Shape 175"/>
          <p:cNvSpPr txBox="1"/>
          <p:nvPr/>
        </p:nvSpPr>
        <p:spPr>
          <a:xfrm>
            <a:off x="9460618" y="6400801"/>
            <a:ext cx="1207381" cy="261609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1100">
                <a:solidFill>
                  <a:schemeClr val="tx1">
                    <a:lumMod val="85000"/>
                    <a:lumOff val="1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3dgolfcourse.com</a:t>
            </a:r>
          </a:p>
        </p:txBody>
      </p:sp>
      <p:pic>
        <p:nvPicPr>
          <p:cNvPr id="176" name="Shape 176" descr="http://www.3dgolfcourse.com/wp-content/uploads/2010/02/willow_creek_lidar_2_sm.jp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0" y="3385439"/>
            <a:ext cx="4724400" cy="3062986"/>
          </a:xfrm>
          <a:prstGeom prst="rect">
            <a:avLst/>
          </a:prstGeom>
          <a:noFill/>
          <a:ln>
            <a:noFill/>
          </a:ln>
        </p:spPr>
      </p:pic>
      <p:pic>
        <p:nvPicPr>
          <p:cNvPr id="177" name="Shape 177" descr="http://www.nass.usda.gov/research/atlas02/Crops/Hay%20and%20Forage%20Crops%20Harvested/Forage%20-%20Land%20Used%20for%20All%20Hay%20and%20All%20Haylage,%20Grass%20Silage,%20and%20Greenchop,%20Harvested%20Acres%202002-choropleth%20map.gif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752600" y="1130744"/>
            <a:ext cx="4899772" cy="3786188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Shape 178"/>
          <p:cNvSpPr txBox="1"/>
          <p:nvPr/>
        </p:nvSpPr>
        <p:spPr>
          <a:xfrm>
            <a:off x="1752601" y="86379"/>
            <a:ext cx="8453761" cy="707886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40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1. Data formats and creation methods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map of land with different colors&#10;&#10;AI-generated content may be incorrect.">
            <a:extLst>
              <a:ext uri="{FF2B5EF4-FFF2-40B4-BE49-F238E27FC236}">
                <a16:creationId xmlns:a16="http://schemas.microsoft.com/office/drawing/2014/main" id="{870FEDE6-D3EA-3D14-B258-4254A70AF8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557" y="3725241"/>
            <a:ext cx="7857212" cy="2609298"/>
          </a:xfrm>
          <a:prstGeom prst="rect">
            <a:avLst/>
          </a:prstGeom>
        </p:spPr>
      </p:pic>
      <p:sp>
        <p:nvSpPr>
          <p:cNvPr id="4" name="Shape 178">
            <a:extLst>
              <a:ext uri="{FF2B5EF4-FFF2-40B4-BE49-F238E27FC236}">
                <a16:creationId xmlns:a16="http://schemas.microsoft.com/office/drawing/2014/main" id="{68AAFFCC-7A45-6569-603D-2E65D8426F7A}"/>
              </a:ext>
            </a:extLst>
          </p:cNvPr>
          <p:cNvSpPr txBox="1"/>
          <p:nvPr/>
        </p:nvSpPr>
        <p:spPr>
          <a:xfrm>
            <a:off x="471557" y="3017355"/>
            <a:ext cx="5902739" cy="707886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40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Thematic (discrete) data</a:t>
            </a:r>
          </a:p>
        </p:txBody>
      </p:sp>
      <p:pic>
        <p:nvPicPr>
          <p:cNvPr id="6" name="Picture 5" descr="A green and yellow background&#10;&#10;AI-generated content may be incorrect.">
            <a:extLst>
              <a:ext uri="{FF2B5EF4-FFF2-40B4-BE49-F238E27FC236}">
                <a16:creationId xmlns:a16="http://schemas.microsoft.com/office/drawing/2014/main" id="{28B8791D-D31D-8864-5C4F-89D6E41114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7186" y="913295"/>
            <a:ext cx="3788465" cy="2626669"/>
          </a:xfrm>
          <a:prstGeom prst="rect">
            <a:avLst/>
          </a:prstGeom>
        </p:spPr>
      </p:pic>
      <p:sp>
        <p:nvSpPr>
          <p:cNvPr id="7" name="Shape 178">
            <a:extLst>
              <a:ext uri="{FF2B5EF4-FFF2-40B4-BE49-F238E27FC236}">
                <a16:creationId xmlns:a16="http://schemas.microsoft.com/office/drawing/2014/main" id="{73E03BD3-E417-82BC-1287-74B7AA6BA7D4}"/>
              </a:ext>
            </a:extLst>
          </p:cNvPr>
          <p:cNvSpPr txBox="1"/>
          <p:nvPr/>
        </p:nvSpPr>
        <p:spPr>
          <a:xfrm>
            <a:off x="7807186" y="205409"/>
            <a:ext cx="4764157" cy="707886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40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Continuous data</a:t>
            </a:r>
          </a:p>
        </p:txBody>
      </p:sp>
      <p:pic>
        <p:nvPicPr>
          <p:cNvPr id="9" name="Picture 8" descr="A map of a city&#10;&#10;AI-generated content may be incorrect.">
            <a:extLst>
              <a:ext uri="{FF2B5EF4-FFF2-40B4-BE49-F238E27FC236}">
                <a16:creationId xmlns:a16="http://schemas.microsoft.com/office/drawing/2014/main" id="{4D516178-F925-E216-5075-11FC20AFA7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557" y="290995"/>
            <a:ext cx="3944112" cy="2385944"/>
          </a:xfrm>
          <a:prstGeom prst="rect">
            <a:avLst/>
          </a:prstGeom>
        </p:spPr>
      </p:pic>
      <p:sp>
        <p:nvSpPr>
          <p:cNvPr id="10" name="Shape 178">
            <a:extLst>
              <a:ext uri="{FF2B5EF4-FFF2-40B4-BE49-F238E27FC236}">
                <a16:creationId xmlns:a16="http://schemas.microsoft.com/office/drawing/2014/main" id="{D86CFB01-FCC2-4AE5-46B1-F2D8E27EABCA}"/>
              </a:ext>
            </a:extLst>
          </p:cNvPr>
          <p:cNvSpPr txBox="1"/>
          <p:nvPr/>
        </p:nvSpPr>
        <p:spPr>
          <a:xfrm>
            <a:off x="4384814" y="408056"/>
            <a:ext cx="2446679" cy="903909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40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Basemaps</a:t>
            </a:r>
          </a:p>
        </p:txBody>
      </p:sp>
    </p:spTree>
    <p:extLst>
      <p:ext uri="{BB962C8B-B14F-4D97-AF65-F5344CB8AC3E}">
        <p14:creationId xmlns:p14="http://schemas.microsoft.com/office/powerpoint/2010/main" val="39831936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red and yellow cubes&#10;&#10;AI-generated content may be incorrect.">
            <a:extLst>
              <a:ext uri="{FF2B5EF4-FFF2-40B4-BE49-F238E27FC236}">
                <a16:creationId xmlns:a16="http://schemas.microsoft.com/office/drawing/2014/main" id="{176C38B3-6ACE-BF49-4BC2-22FCFB9C05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686" y="2622826"/>
            <a:ext cx="4064000" cy="1930400"/>
          </a:xfrm>
          <a:prstGeom prst="rect">
            <a:avLst/>
          </a:prstGeom>
        </p:spPr>
      </p:pic>
      <p:sp>
        <p:nvSpPr>
          <p:cNvPr id="4" name="Shape 178">
            <a:extLst>
              <a:ext uri="{FF2B5EF4-FFF2-40B4-BE49-F238E27FC236}">
                <a16:creationId xmlns:a16="http://schemas.microsoft.com/office/drawing/2014/main" id="{C3B41642-BA7C-1138-5086-7A61B96A3101}"/>
              </a:ext>
            </a:extLst>
          </p:cNvPr>
          <p:cNvSpPr txBox="1"/>
          <p:nvPr/>
        </p:nvSpPr>
        <p:spPr>
          <a:xfrm>
            <a:off x="445052" y="1755914"/>
            <a:ext cx="5902739" cy="707886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40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Arrays (multi-dimensional)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4C5F47-329F-0E6F-A9F8-6CEFD9A926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6165" y="2463800"/>
            <a:ext cx="4235174" cy="2737369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095966E-31C9-BA64-1DC7-18E5334D3F5E}"/>
              </a:ext>
            </a:extLst>
          </p:cNvPr>
          <p:cNvCxnSpPr/>
          <p:nvPr/>
        </p:nvCxnSpPr>
        <p:spPr>
          <a:xfrm>
            <a:off x="5035826" y="3588026"/>
            <a:ext cx="1775791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4EBF3921-438C-B62A-4BCF-6EDFFC3D95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8966" y="5031408"/>
            <a:ext cx="2895600" cy="55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2537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Shape 167"/>
          <p:cNvSpPr txBox="1"/>
          <p:nvPr/>
        </p:nvSpPr>
        <p:spPr>
          <a:xfrm>
            <a:off x="1699694" y="76200"/>
            <a:ext cx="6917565" cy="707886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40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Calibri"/>
                <a:cs typeface="Calibri"/>
                <a:sym typeface="Calibri"/>
              </a:rPr>
              <a:t>2. Methods of analysis</a:t>
            </a:r>
          </a:p>
        </p:txBody>
      </p:sp>
      <p:pic>
        <p:nvPicPr>
          <p:cNvPr id="168" name="Shape 16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389527" y="3200401"/>
            <a:ext cx="4916523" cy="3260539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Shape 169"/>
          <p:cNvSpPr txBox="1"/>
          <p:nvPr/>
        </p:nvSpPr>
        <p:spPr>
          <a:xfrm>
            <a:off x="2133601" y="784086"/>
            <a:ext cx="5144165" cy="193899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Clr>
                <a:srgbClr val="FFFF66"/>
              </a:buClr>
              <a:buSzPct val="100000"/>
            </a:pPr>
            <a:r>
              <a:rPr lang="en-US" sz="4000" dirty="0">
                <a:solidFill>
                  <a:schemeClr val="tx1">
                    <a:lumMod val="85000"/>
                    <a:lumOff val="15000"/>
                  </a:schemeClr>
                </a:solidFill>
                <a:ea typeface="Calibri"/>
                <a:cs typeface="Calibri"/>
                <a:sym typeface="Calibri"/>
              </a:rPr>
              <a:t>Spatial clustering</a:t>
            </a:r>
          </a:p>
          <a:p>
            <a:pPr>
              <a:buClr>
                <a:srgbClr val="FFFF66"/>
              </a:buClr>
              <a:buSzPct val="100000"/>
            </a:pPr>
            <a:r>
              <a:rPr lang="en-US" sz="4000" dirty="0">
                <a:solidFill>
                  <a:schemeClr val="tx1">
                    <a:lumMod val="85000"/>
                    <a:lumOff val="15000"/>
                  </a:schemeClr>
                </a:solidFill>
                <a:ea typeface="Calibri"/>
                <a:cs typeface="Calibri"/>
                <a:sym typeface="Calibri"/>
              </a:rPr>
              <a:t>Spatial lag/influence</a:t>
            </a:r>
          </a:p>
          <a:p>
            <a:pPr>
              <a:buClr>
                <a:srgbClr val="FFFF66"/>
              </a:buClr>
              <a:buSzPct val="100000"/>
            </a:pPr>
            <a:r>
              <a:rPr lang="en-US" sz="40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Space/time geography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3" name="Shape 233" descr="http://prabasiva.files.wordpress.com/2012/04/big-data-iceberg1.jpg"/>
          <p:cNvPicPr preferRelativeResize="0"/>
          <p:nvPr/>
        </p:nvPicPr>
        <p:blipFill rotWithShape="1">
          <a:blip r:embed="rId3">
            <a:alphaModFix/>
          </a:blip>
          <a:srcRect r="13310"/>
          <a:stretch/>
        </p:blipFill>
        <p:spPr>
          <a:xfrm>
            <a:off x="494192" y="790114"/>
            <a:ext cx="4601591" cy="4630722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Shape 234" descr="http://qualityandinnovation.files.wordpress.com/2012/09/top-20-data-vis.jp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05382" y="3532665"/>
            <a:ext cx="6096000" cy="3169976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AEFC137-7747-4A7A-BF66-C93A7E7CA2DB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r="27475"/>
          <a:stretch/>
        </p:blipFill>
        <p:spPr>
          <a:xfrm>
            <a:off x="5705382" y="323385"/>
            <a:ext cx="6096000" cy="3001951"/>
          </a:xfrm>
          <a:prstGeom prst="rect">
            <a:avLst/>
          </a:prstGeom>
        </p:spPr>
      </p:pic>
      <p:sp>
        <p:nvSpPr>
          <p:cNvPr id="2" name="Shape 167">
            <a:extLst>
              <a:ext uri="{FF2B5EF4-FFF2-40B4-BE49-F238E27FC236}">
                <a16:creationId xmlns:a16="http://schemas.microsoft.com/office/drawing/2014/main" id="{608A7FA6-E913-20C4-ABDE-B138E0C50A76}"/>
              </a:ext>
            </a:extLst>
          </p:cNvPr>
          <p:cNvSpPr txBox="1"/>
          <p:nvPr/>
        </p:nvSpPr>
        <p:spPr>
          <a:xfrm>
            <a:off x="494192" y="82228"/>
            <a:ext cx="6917565" cy="707886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40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Calibri"/>
                <a:cs typeface="Calibri"/>
                <a:sym typeface="Calibri"/>
              </a:rPr>
              <a:t>3. Data workflow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Shape 253" descr="http://developer.r-project.org/Logo/Rlogo.svg"/>
          <p:cNvSpPr/>
          <p:nvPr/>
        </p:nvSpPr>
        <p:spPr>
          <a:xfrm>
            <a:off x="1679576" y="-144463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Shape 254" descr="http://developer.r-project.org/Logo/Rlogo.svg"/>
          <p:cNvSpPr/>
          <p:nvPr/>
        </p:nvSpPr>
        <p:spPr>
          <a:xfrm>
            <a:off x="1831976" y="7938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Shape 255" descr="http://developer.r-project.org/Logo/Rlogo.svg"/>
          <p:cNvSpPr/>
          <p:nvPr/>
        </p:nvSpPr>
        <p:spPr>
          <a:xfrm>
            <a:off x="1984376" y="160337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Shape 256" descr="http://developer.r-project.org/Logo/Rlogo.svg"/>
          <p:cNvSpPr/>
          <p:nvPr/>
        </p:nvSpPr>
        <p:spPr>
          <a:xfrm>
            <a:off x="2136776" y="312738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AutoShape 6" descr="Image result for r"/>
          <p:cNvSpPr>
            <a:spLocks noChangeAspect="1" noChangeArrowheads="1"/>
          </p:cNvSpPr>
          <p:nvPr/>
        </p:nvSpPr>
        <p:spPr bwMode="auto">
          <a:xfrm>
            <a:off x="2289175" y="465138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solidFill>
                <a:schemeClr val="accent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8" name="Shape 208">
            <a:extLst>
              <a:ext uri="{FF2B5EF4-FFF2-40B4-BE49-F238E27FC236}">
                <a16:creationId xmlns:a16="http://schemas.microsoft.com/office/drawing/2014/main" id="{B5ED5A12-E140-4B27-8ED2-A376D55B0764}"/>
              </a:ext>
            </a:extLst>
          </p:cNvPr>
          <p:cNvSpPr txBox="1"/>
          <p:nvPr/>
        </p:nvSpPr>
        <p:spPr>
          <a:xfrm>
            <a:off x="1828800" y="152401"/>
            <a:ext cx="7772400" cy="76944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44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Calibri"/>
                <a:cs typeface="Calibri"/>
                <a:sym typeface="Calibri"/>
              </a:rPr>
              <a:t>Types of statistics</a:t>
            </a:r>
          </a:p>
        </p:txBody>
      </p:sp>
      <p:pic>
        <p:nvPicPr>
          <p:cNvPr id="9" name="Shape 146" descr="http://mwcz.org/img/019/mean_median_mode.png">
            <a:extLst>
              <a:ext uri="{FF2B5EF4-FFF2-40B4-BE49-F238E27FC236}">
                <a16:creationId xmlns:a16="http://schemas.microsoft.com/office/drawing/2014/main" id="{C61195E6-5007-4614-9CE0-604BEC19443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935371" y="1218704"/>
            <a:ext cx="2984973" cy="2890288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Shape 147" descr="http://www.ats.ucla.edu/stat/mult_pkg/faq/general/noconstant.png">
            <a:extLst>
              <a:ext uri="{FF2B5EF4-FFF2-40B4-BE49-F238E27FC236}">
                <a16:creationId xmlns:a16="http://schemas.microsoft.com/office/drawing/2014/main" id="{310A17DB-91AE-4442-A488-BDCD9BCBC39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655838" y="1218704"/>
            <a:ext cx="3229998" cy="2890288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EC5B753-B8A3-4AAC-BD08-B5C70554F0C5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4888" b="5273"/>
          <a:stretch/>
        </p:blipFill>
        <p:spPr>
          <a:xfrm>
            <a:off x="4583117" y="4164978"/>
            <a:ext cx="2686049" cy="2596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9417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Shape 253" descr="http://developer.r-project.org/Logo/Rlogo.svg"/>
          <p:cNvSpPr/>
          <p:nvPr/>
        </p:nvSpPr>
        <p:spPr>
          <a:xfrm>
            <a:off x="1679576" y="-144463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Shape 254" descr="http://developer.r-project.org/Logo/Rlogo.svg"/>
          <p:cNvSpPr/>
          <p:nvPr/>
        </p:nvSpPr>
        <p:spPr>
          <a:xfrm>
            <a:off x="1831976" y="7938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Shape 255" descr="http://developer.r-project.org/Logo/Rlogo.svg"/>
          <p:cNvSpPr/>
          <p:nvPr/>
        </p:nvSpPr>
        <p:spPr>
          <a:xfrm>
            <a:off x="1984376" y="160337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Shape 256" descr="http://developer.r-project.org/Logo/Rlogo.svg"/>
          <p:cNvSpPr/>
          <p:nvPr/>
        </p:nvSpPr>
        <p:spPr>
          <a:xfrm>
            <a:off x="2136776" y="312738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AutoShape 6" descr="Image result for r"/>
          <p:cNvSpPr>
            <a:spLocks noChangeAspect="1" noChangeArrowheads="1"/>
          </p:cNvSpPr>
          <p:nvPr/>
        </p:nvSpPr>
        <p:spPr bwMode="auto">
          <a:xfrm>
            <a:off x="2289175" y="465138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solidFill>
                <a:schemeClr val="accent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8" name="Shape 208">
            <a:extLst>
              <a:ext uri="{FF2B5EF4-FFF2-40B4-BE49-F238E27FC236}">
                <a16:creationId xmlns:a16="http://schemas.microsoft.com/office/drawing/2014/main" id="{B5ED5A12-E140-4B27-8ED2-A376D55B0764}"/>
              </a:ext>
            </a:extLst>
          </p:cNvPr>
          <p:cNvSpPr txBox="1"/>
          <p:nvPr/>
        </p:nvSpPr>
        <p:spPr>
          <a:xfrm>
            <a:off x="1828800" y="152401"/>
            <a:ext cx="7772400" cy="76944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44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Calibri"/>
                <a:cs typeface="Calibri"/>
                <a:sym typeface="Calibri"/>
              </a:rPr>
              <a:t>Descriptive statistics</a:t>
            </a:r>
          </a:p>
        </p:txBody>
      </p:sp>
      <p:pic>
        <p:nvPicPr>
          <p:cNvPr id="9" name="Shape 146" descr="http://mwcz.org/img/019/mean_median_mode.png">
            <a:extLst>
              <a:ext uri="{FF2B5EF4-FFF2-40B4-BE49-F238E27FC236}">
                <a16:creationId xmlns:a16="http://schemas.microsoft.com/office/drawing/2014/main" id="{C61195E6-5007-4614-9CE0-604BEC19443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768629" y="3517641"/>
            <a:ext cx="3600794" cy="311061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CCF5879-AF74-4DA1-9B01-1BC05E355968}"/>
              </a:ext>
            </a:extLst>
          </p:cNvPr>
          <p:cNvSpPr/>
          <p:nvPr/>
        </p:nvSpPr>
        <p:spPr>
          <a:xfrm>
            <a:off x="2289174" y="944909"/>
            <a:ext cx="7109863" cy="18158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Clr>
                <a:srgbClr val="FFFF66"/>
              </a:buClr>
              <a:buSzPct val="100000"/>
            </a:pPr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ea typeface="Calibri"/>
                <a:cs typeface="Calibri"/>
                <a:sym typeface="Calibri"/>
              </a:rPr>
              <a:t>Central tendency</a:t>
            </a:r>
          </a:p>
          <a:p>
            <a:pPr>
              <a:buClr>
                <a:srgbClr val="FFFF66"/>
              </a:buClr>
              <a:buSzPct val="100000"/>
            </a:pPr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ea typeface="Calibri"/>
                <a:cs typeface="Calibri"/>
                <a:sym typeface="Calibri"/>
              </a:rPr>
              <a:t>Distribution</a:t>
            </a:r>
          </a:p>
          <a:p>
            <a:pPr>
              <a:buClr>
                <a:srgbClr val="FFFF66"/>
              </a:buClr>
              <a:buSzPct val="100000"/>
            </a:pPr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ea typeface="Calibri"/>
                <a:cs typeface="Calibri"/>
                <a:sym typeface="Calibri"/>
              </a:rPr>
              <a:t>Change over time</a:t>
            </a:r>
          </a:p>
          <a:p>
            <a:pPr>
              <a:buClr>
                <a:srgbClr val="FFFF66"/>
              </a:buClr>
              <a:buSzPct val="100000"/>
            </a:pPr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ea typeface="Calibri"/>
                <a:cs typeface="Calibri"/>
                <a:sym typeface="Calibri"/>
              </a:rPr>
              <a:t>Data visualization/exploratory analysis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538B799-D326-40B1-B44B-9094848B2B7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22250"/>
          <a:stretch/>
        </p:blipFill>
        <p:spPr>
          <a:xfrm>
            <a:off x="1623589" y="3141315"/>
            <a:ext cx="4879975" cy="3486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77100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Shape 253" descr="http://developer.r-project.org/Logo/Rlogo.svg"/>
          <p:cNvSpPr/>
          <p:nvPr/>
        </p:nvSpPr>
        <p:spPr>
          <a:xfrm>
            <a:off x="1679576" y="-144463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Shape 254" descr="http://developer.r-project.org/Logo/Rlogo.svg"/>
          <p:cNvSpPr/>
          <p:nvPr/>
        </p:nvSpPr>
        <p:spPr>
          <a:xfrm>
            <a:off x="1831976" y="7938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Shape 255" descr="http://developer.r-project.org/Logo/Rlogo.svg"/>
          <p:cNvSpPr/>
          <p:nvPr/>
        </p:nvSpPr>
        <p:spPr>
          <a:xfrm>
            <a:off x="1984376" y="160337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Shape 256" descr="http://developer.r-project.org/Logo/Rlogo.svg"/>
          <p:cNvSpPr/>
          <p:nvPr/>
        </p:nvSpPr>
        <p:spPr>
          <a:xfrm>
            <a:off x="2136776" y="312738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AutoShape 6" descr="Image result for r"/>
          <p:cNvSpPr>
            <a:spLocks noChangeAspect="1" noChangeArrowheads="1"/>
          </p:cNvSpPr>
          <p:nvPr/>
        </p:nvSpPr>
        <p:spPr bwMode="auto">
          <a:xfrm>
            <a:off x="2289175" y="465138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solidFill>
                <a:schemeClr val="accent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8" name="Shape 208">
            <a:extLst>
              <a:ext uri="{FF2B5EF4-FFF2-40B4-BE49-F238E27FC236}">
                <a16:creationId xmlns:a16="http://schemas.microsoft.com/office/drawing/2014/main" id="{B5ED5A12-E140-4B27-8ED2-A376D55B0764}"/>
              </a:ext>
            </a:extLst>
          </p:cNvPr>
          <p:cNvSpPr txBox="1"/>
          <p:nvPr/>
        </p:nvSpPr>
        <p:spPr>
          <a:xfrm>
            <a:off x="1828800" y="152401"/>
            <a:ext cx="7772400" cy="76944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4400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Inferential statistics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CCF5879-AF74-4DA1-9B01-1BC05E355968}"/>
              </a:ext>
            </a:extLst>
          </p:cNvPr>
          <p:cNvSpPr/>
          <p:nvPr/>
        </p:nvSpPr>
        <p:spPr>
          <a:xfrm>
            <a:off x="2289174" y="944909"/>
            <a:ext cx="7772400" cy="18158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Clr>
                <a:srgbClr val="FFFF66"/>
              </a:buClr>
              <a:buSzPct val="100000"/>
            </a:pPr>
            <a:r>
              <a:rPr lang="en-US" sz="2800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Difference in means/t-tests</a:t>
            </a:r>
          </a:p>
          <a:p>
            <a:pPr>
              <a:buClr>
                <a:srgbClr val="FFFF66"/>
              </a:buClr>
              <a:buSzPct val="100000"/>
            </a:pPr>
            <a:r>
              <a:rPr lang="en-US" sz="2800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Confidence intervals</a:t>
            </a:r>
          </a:p>
          <a:p>
            <a:pPr>
              <a:buClr>
                <a:srgbClr val="FFFF66"/>
              </a:buClr>
              <a:buSzPct val="100000"/>
            </a:pPr>
            <a:r>
              <a:rPr lang="en-US" sz="2800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Correlation</a:t>
            </a:r>
          </a:p>
          <a:p>
            <a:pPr>
              <a:buClr>
                <a:srgbClr val="FFFF66"/>
              </a:buClr>
              <a:buSzPct val="100000"/>
            </a:pPr>
            <a:r>
              <a:rPr lang="en-US" sz="2800" dirty="0">
                <a:solidFill>
                  <a:schemeClr val="accent2">
                    <a:lumMod val="20000"/>
                    <a:lumOff val="80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Regression</a:t>
            </a:r>
          </a:p>
        </p:txBody>
      </p:sp>
      <p:pic>
        <p:nvPicPr>
          <p:cNvPr id="14" name="Shape 147" descr="http://www.ats.ucla.edu/stat/mult_pkg/faq/general/noconstant.png">
            <a:extLst>
              <a:ext uri="{FF2B5EF4-FFF2-40B4-BE49-F238E27FC236}">
                <a16:creationId xmlns:a16="http://schemas.microsoft.com/office/drawing/2014/main" id="{22C12108-4117-4598-9123-489C463848A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758473" y="3429000"/>
            <a:ext cx="3752514" cy="3276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AD05EAA-0B09-4DB6-A05D-925569AA4A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2765" y="4117327"/>
            <a:ext cx="4486275" cy="2038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22015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Shape 253" descr="http://developer.r-project.org/Logo/Rlogo.svg"/>
          <p:cNvSpPr/>
          <p:nvPr/>
        </p:nvSpPr>
        <p:spPr>
          <a:xfrm>
            <a:off x="1679576" y="-144463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Shape 254" descr="http://developer.r-project.org/Logo/Rlogo.svg"/>
          <p:cNvSpPr/>
          <p:nvPr/>
        </p:nvSpPr>
        <p:spPr>
          <a:xfrm>
            <a:off x="1831976" y="7938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Shape 255" descr="http://developer.r-project.org/Logo/Rlogo.svg"/>
          <p:cNvSpPr/>
          <p:nvPr/>
        </p:nvSpPr>
        <p:spPr>
          <a:xfrm>
            <a:off x="1984376" y="160337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Shape 256" descr="http://developer.r-project.org/Logo/Rlogo.svg"/>
          <p:cNvSpPr/>
          <p:nvPr/>
        </p:nvSpPr>
        <p:spPr>
          <a:xfrm>
            <a:off x="2136776" y="312738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AutoShape 6" descr="Image result for r"/>
          <p:cNvSpPr>
            <a:spLocks noChangeAspect="1" noChangeArrowheads="1"/>
          </p:cNvSpPr>
          <p:nvPr/>
        </p:nvSpPr>
        <p:spPr bwMode="auto">
          <a:xfrm>
            <a:off x="2289175" y="465138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" name="Shape 208">
            <a:extLst>
              <a:ext uri="{FF2B5EF4-FFF2-40B4-BE49-F238E27FC236}">
                <a16:creationId xmlns:a16="http://schemas.microsoft.com/office/drawing/2014/main" id="{B5ED5A12-E140-4B27-8ED2-A376D55B0764}"/>
              </a:ext>
            </a:extLst>
          </p:cNvPr>
          <p:cNvSpPr txBox="1"/>
          <p:nvPr/>
        </p:nvSpPr>
        <p:spPr>
          <a:xfrm>
            <a:off x="1828800" y="152401"/>
            <a:ext cx="7772400" cy="76944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44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Calibri"/>
                <a:cs typeface="Calibri"/>
                <a:sym typeface="Calibri"/>
              </a:rPr>
              <a:t>Spatial statistics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CCF5879-AF74-4DA1-9B01-1BC05E355968}"/>
              </a:ext>
            </a:extLst>
          </p:cNvPr>
          <p:cNvSpPr/>
          <p:nvPr/>
        </p:nvSpPr>
        <p:spPr>
          <a:xfrm>
            <a:off x="2289174" y="944910"/>
            <a:ext cx="7772400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Clr>
                <a:srgbClr val="FFFF66"/>
              </a:buClr>
              <a:buSzPct val="100000"/>
            </a:pPr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Spatial autocorrelation/Hotspot analysis</a:t>
            </a:r>
          </a:p>
          <a:p>
            <a:pPr>
              <a:buClr>
                <a:srgbClr val="FFFF66"/>
              </a:buClr>
              <a:buSzPct val="100000"/>
            </a:pPr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Spatial clustering</a:t>
            </a:r>
          </a:p>
          <a:p>
            <a:pPr>
              <a:buClr>
                <a:srgbClr val="FFFF66"/>
              </a:buClr>
              <a:buSzPct val="100000"/>
            </a:pPr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Geographic regression models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53B2A5-8BED-4A82-9366-99D73D997B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2563" y="4142792"/>
            <a:ext cx="4513042" cy="25628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62499F4-4C3B-4B60-BD20-67AA9C85AF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1" y="3582955"/>
            <a:ext cx="4033706" cy="3122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37454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Shape 253" descr="http://developer.r-project.org/Logo/Rlogo.svg"/>
          <p:cNvSpPr/>
          <p:nvPr/>
        </p:nvSpPr>
        <p:spPr>
          <a:xfrm>
            <a:off x="1679576" y="-144463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Shape 254" descr="http://developer.r-project.org/Logo/Rlogo.svg"/>
          <p:cNvSpPr/>
          <p:nvPr/>
        </p:nvSpPr>
        <p:spPr>
          <a:xfrm>
            <a:off x="1831976" y="7938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Shape 255" descr="http://developer.r-project.org/Logo/Rlogo.svg"/>
          <p:cNvSpPr/>
          <p:nvPr/>
        </p:nvSpPr>
        <p:spPr>
          <a:xfrm>
            <a:off x="1984376" y="160337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Shape 256" descr="http://developer.r-project.org/Logo/Rlogo.svg"/>
          <p:cNvSpPr/>
          <p:nvPr/>
        </p:nvSpPr>
        <p:spPr>
          <a:xfrm>
            <a:off x="2136776" y="312738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AutoShape 6" descr="Image result for r"/>
          <p:cNvSpPr>
            <a:spLocks noChangeAspect="1" noChangeArrowheads="1"/>
          </p:cNvSpPr>
          <p:nvPr/>
        </p:nvSpPr>
        <p:spPr bwMode="auto">
          <a:xfrm>
            <a:off x="2289175" y="465138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solidFill>
                <a:schemeClr val="accent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8" name="Shape 208">
            <a:extLst>
              <a:ext uri="{FF2B5EF4-FFF2-40B4-BE49-F238E27FC236}">
                <a16:creationId xmlns:a16="http://schemas.microsoft.com/office/drawing/2014/main" id="{B5ED5A12-E140-4B27-8ED2-A376D55B0764}"/>
              </a:ext>
            </a:extLst>
          </p:cNvPr>
          <p:cNvSpPr txBox="1"/>
          <p:nvPr/>
        </p:nvSpPr>
        <p:spPr>
          <a:xfrm>
            <a:off x="2136774" y="569491"/>
            <a:ext cx="7772400" cy="76944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algn="ctr">
              <a:buSzPct val="25000"/>
            </a:pPr>
            <a:r>
              <a:rPr lang="en-US" sz="44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Let’s talk about ungrading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EFC23C6-7514-4A0D-877D-D96E8CDC6A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9924" y="1920260"/>
            <a:ext cx="3086100" cy="4752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39085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Shape 253" descr="http://developer.r-project.org/Logo/Rlogo.svg"/>
          <p:cNvSpPr/>
          <p:nvPr/>
        </p:nvSpPr>
        <p:spPr>
          <a:xfrm>
            <a:off x="1679576" y="-144463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Shape 254" descr="http://developer.r-project.org/Logo/Rlogo.svg"/>
          <p:cNvSpPr/>
          <p:nvPr/>
        </p:nvSpPr>
        <p:spPr>
          <a:xfrm>
            <a:off x="1831976" y="7938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Shape 255" descr="http://developer.r-project.org/Logo/Rlogo.svg"/>
          <p:cNvSpPr/>
          <p:nvPr/>
        </p:nvSpPr>
        <p:spPr>
          <a:xfrm>
            <a:off x="1984376" y="160337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Shape 256" descr="http://developer.r-project.org/Logo/Rlogo.svg"/>
          <p:cNvSpPr/>
          <p:nvPr/>
        </p:nvSpPr>
        <p:spPr>
          <a:xfrm>
            <a:off x="2136776" y="312738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AutoShape 6" descr="Image result for r"/>
          <p:cNvSpPr>
            <a:spLocks noChangeAspect="1" noChangeArrowheads="1"/>
          </p:cNvSpPr>
          <p:nvPr/>
        </p:nvSpPr>
        <p:spPr bwMode="auto">
          <a:xfrm>
            <a:off x="2289175" y="465138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solidFill>
                <a:schemeClr val="accent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8" name="Shape 208">
            <a:extLst>
              <a:ext uri="{FF2B5EF4-FFF2-40B4-BE49-F238E27FC236}">
                <a16:creationId xmlns:a16="http://schemas.microsoft.com/office/drawing/2014/main" id="{B5ED5A12-E140-4B27-8ED2-A376D55B0764}"/>
              </a:ext>
            </a:extLst>
          </p:cNvPr>
          <p:cNvSpPr txBox="1"/>
          <p:nvPr/>
        </p:nvSpPr>
        <p:spPr>
          <a:xfrm>
            <a:off x="1679575" y="232816"/>
            <a:ext cx="7772400" cy="76944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44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Calibri"/>
                <a:cs typeface="Calibri"/>
                <a:sym typeface="Calibri"/>
              </a:rPr>
              <a:t>What is ungrading?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37685F2-32EA-4530-99B7-F2545AC89BA2}"/>
              </a:ext>
            </a:extLst>
          </p:cNvPr>
          <p:cNvSpPr/>
          <p:nvPr/>
        </p:nvSpPr>
        <p:spPr>
          <a:xfrm>
            <a:off x="2069841" y="1154656"/>
            <a:ext cx="7772400" cy="18158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</a:rPr>
              <a:t>“The focus of ungrading is to provide extensive feedback to students and then jointly (students and instructors) come to a consensus as to what the grade should be.”</a:t>
            </a:r>
            <a:endParaRPr lang="en-US" sz="28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3DF5089-5F45-4093-815A-084E2D389DA5}"/>
              </a:ext>
            </a:extLst>
          </p:cNvPr>
          <p:cNvSpPr/>
          <p:nvPr/>
        </p:nvSpPr>
        <p:spPr>
          <a:xfrm>
            <a:off x="2136775" y="6208197"/>
            <a:ext cx="811763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https://www.chemedx.org/blog/ungrading-what-it-and-why-should-we-use-it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F0B485-B361-4080-A1BB-C20C981534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1223" y="3316868"/>
            <a:ext cx="5029636" cy="2789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65223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Shape 253" descr="http://developer.r-project.org/Logo/Rlogo.svg"/>
          <p:cNvSpPr/>
          <p:nvPr/>
        </p:nvSpPr>
        <p:spPr>
          <a:xfrm>
            <a:off x="1679576" y="-144463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Shape 254" descr="http://developer.r-project.org/Logo/Rlogo.svg"/>
          <p:cNvSpPr/>
          <p:nvPr/>
        </p:nvSpPr>
        <p:spPr>
          <a:xfrm>
            <a:off x="1831976" y="7938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Shape 255" descr="http://developer.r-project.org/Logo/Rlogo.svg"/>
          <p:cNvSpPr/>
          <p:nvPr/>
        </p:nvSpPr>
        <p:spPr>
          <a:xfrm>
            <a:off x="1984376" y="160337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Shape 256" descr="http://developer.r-project.org/Logo/Rlogo.svg"/>
          <p:cNvSpPr/>
          <p:nvPr/>
        </p:nvSpPr>
        <p:spPr>
          <a:xfrm>
            <a:off x="2136776" y="312738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AutoShape 6" descr="Image result for r"/>
          <p:cNvSpPr>
            <a:spLocks noChangeAspect="1" noChangeArrowheads="1"/>
          </p:cNvSpPr>
          <p:nvPr/>
        </p:nvSpPr>
        <p:spPr bwMode="auto">
          <a:xfrm>
            <a:off x="2289175" y="465138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solidFill>
                <a:schemeClr val="accent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8" name="Shape 208">
            <a:extLst>
              <a:ext uri="{FF2B5EF4-FFF2-40B4-BE49-F238E27FC236}">
                <a16:creationId xmlns:a16="http://schemas.microsoft.com/office/drawing/2014/main" id="{B5ED5A12-E140-4B27-8ED2-A376D55B0764}"/>
              </a:ext>
            </a:extLst>
          </p:cNvPr>
          <p:cNvSpPr txBox="1"/>
          <p:nvPr/>
        </p:nvSpPr>
        <p:spPr>
          <a:xfrm>
            <a:off x="1679575" y="232816"/>
            <a:ext cx="7772400" cy="76944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44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Calibri"/>
                <a:cs typeface="Calibri"/>
                <a:sym typeface="Calibri"/>
              </a:rPr>
              <a:t>In this course: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37685F2-32EA-4530-99B7-F2545AC89BA2}"/>
              </a:ext>
            </a:extLst>
          </p:cNvPr>
          <p:cNvSpPr/>
          <p:nvPr/>
        </p:nvSpPr>
        <p:spPr>
          <a:xfrm>
            <a:off x="2069841" y="1154657"/>
            <a:ext cx="7772400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</a:rPr>
              <a:t>General rating (initiated by you), but not tied to a grade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</a:rPr>
              <a:t>Student goal setting and self-evaluation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</a:rPr>
              <a:t>A focus on collaborative work and self-motivated learning</a:t>
            </a:r>
          </a:p>
        </p:txBody>
      </p:sp>
    </p:spTree>
    <p:extLst>
      <p:ext uri="{BB962C8B-B14F-4D97-AF65-F5344CB8AC3E}">
        <p14:creationId xmlns:p14="http://schemas.microsoft.com/office/powerpoint/2010/main" val="16108737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F44D0F-A1A5-143F-C2AF-7D8679667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cs typeface="Calibri" panose="020F0502020204030204" pitchFamily="34" charset="0"/>
              </a:rPr>
              <a:t>Spec grading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BA6931D2-95A3-E932-BA8F-555E6DCA87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19438" y="2036763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0D4581D-4564-5D03-0B7A-1A1B2B04D8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0553" y="1739900"/>
            <a:ext cx="8050893" cy="4508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08160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Shape 253" descr="http://developer.r-project.org/Logo/Rlogo.svg"/>
          <p:cNvSpPr/>
          <p:nvPr/>
        </p:nvSpPr>
        <p:spPr>
          <a:xfrm>
            <a:off x="1679576" y="-144463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Shape 254" descr="http://developer.r-project.org/Logo/Rlogo.svg"/>
          <p:cNvSpPr/>
          <p:nvPr/>
        </p:nvSpPr>
        <p:spPr>
          <a:xfrm>
            <a:off x="1831976" y="7938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Shape 255" descr="http://developer.r-project.org/Logo/Rlogo.svg"/>
          <p:cNvSpPr/>
          <p:nvPr/>
        </p:nvSpPr>
        <p:spPr>
          <a:xfrm>
            <a:off x="1984376" y="160337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Shape 256" descr="http://developer.r-project.org/Logo/Rlogo.svg"/>
          <p:cNvSpPr/>
          <p:nvPr/>
        </p:nvSpPr>
        <p:spPr>
          <a:xfrm>
            <a:off x="2136776" y="312738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AutoShape 6" descr="Image result for r"/>
          <p:cNvSpPr>
            <a:spLocks noChangeAspect="1" noChangeArrowheads="1"/>
          </p:cNvSpPr>
          <p:nvPr/>
        </p:nvSpPr>
        <p:spPr bwMode="auto">
          <a:xfrm>
            <a:off x="2289175" y="465138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solidFill>
                <a:schemeClr val="accent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8" name="Shape 208">
            <a:extLst>
              <a:ext uri="{FF2B5EF4-FFF2-40B4-BE49-F238E27FC236}">
                <a16:creationId xmlns:a16="http://schemas.microsoft.com/office/drawing/2014/main" id="{B5ED5A12-E140-4B27-8ED2-A376D55B0764}"/>
              </a:ext>
            </a:extLst>
          </p:cNvPr>
          <p:cNvSpPr txBox="1"/>
          <p:nvPr/>
        </p:nvSpPr>
        <p:spPr>
          <a:xfrm>
            <a:off x="1984374" y="232816"/>
            <a:ext cx="7467601" cy="76944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44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What are my goals for you?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5D02709-6223-4EC9-986E-861A9FF9FFB0}"/>
              </a:ext>
            </a:extLst>
          </p:cNvPr>
          <p:cNvSpPr/>
          <p:nvPr/>
        </p:nvSpPr>
        <p:spPr>
          <a:xfrm>
            <a:off x="2136774" y="1316571"/>
            <a:ext cx="7772400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Improve confidence in using quantitative techniques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Be able to interpret and constructively critique others’ statistical research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Learn common workflows for exploratory data analysis and data science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Be able to explain common techniques for quantitative and spatial analysis and decide which is relevant to a given research problem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Gain expertise in using R as an open-source programming platform for quantitative analysis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Attend class regularly and be an active participant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Contribute to and benefit from our collective learning</a:t>
            </a:r>
          </a:p>
        </p:txBody>
      </p:sp>
    </p:spTree>
    <p:extLst>
      <p:ext uri="{BB962C8B-B14F-4D97-AF65-F5344CB8AC3E}">
        <p14:creationId xmlns:p14="http://schemas.microsoft.com/office/powerpoint/2010/main" val="23112913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Shape 253" descr="http://developer.r-project.org/Logo/Rlogo.svg"/>
          <p:cNvSpPr/>
          <p:nvPr/>
        </p:nvSpPr>
        <p:spPr>
          <a:xfrm>
            <a:off x="1679576" y="-144463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Shape 254" descr="http://developer.r-project.org/Logo/Rlogo.svg"/>
          <p:cNvSpPr/>
          <p:nvPr/>
        </p:nvSpPr>
        <p:spPr>
          <a:xfrm>
            <a:off x="1831976" y="7938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Shape 255" descr="http://developer.r-project.org/Logo/Rlogo.svg"/>
          <p:cNvSpPr/>
          <p:nvPr/>
        </p:nvSpPr>
        <p:spPr>
          <a:xfrm>
            <a:off x="1984376" y="160337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Shape 256" descr="http://developer.r-project.org/Logo/Rlogo.svg"/>
          <p:cNvSpPr/>
          <p:nvPr/>
        </p:nvSpPr>
        <p:spPr>
          <a:xfrm>
            <a:off x="2136776" y="312738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AutoShape 6" descr="Image result for r"/>
          <p:cNvSpPr>
            <a:spLocks noChangeAspect="1" noChangeArrowheads="1"/>
          </p:cNvSpPr>
          <p:nvPr/>
        </p:nvSpPr>
        <p:spPr bwMode="auto">
          <a:xfrm>
            <a:off x="2289175" y="465138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solidFill>
                <a:schemeClr val="accent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8" name="Shape 208">
            <a:extLst>
              <a:ext uri="{FF2B5EF4-FFF2-40B4-BE49-F238E27FC236}">
                <a16:creationId xmlns:a16="http://schemas.microsoft.com/office/drawing/2014/main" id="{B5ED5A12-E140-4B27-8ED2-A376D55B0764}"/>
              </a:ext>
            </a:extLst>
          </p:cNvPr>
          <p:cNvSpPr txBox="1"/>
          <p:nvPr/>
        </p:nvSpPr>
        <p:spPr>
          <a:xfrm>
            <a:off x="1679575" y="232816"/>
            <a:ext cx="7772400" cy="76944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44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What does an “A” look like for you?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5D02709-6223-4EC9-986E-861A9FF9FFB0}"/>
              </a:ext>
            </a:extLst>
          </p:cNvPr>
          <p:cNvSpPr/>
          <p:nvPr/>
        </p:nvSpPr>
        <p:spPr>
          <a:xfrm>
            <a:off x="2136774" y="1997705"/>
            <a:ext cx="7772400" cy="3046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Do NOT use good grades, but focus on what those grades would show about you. For example, you could finish one or more of the following statements:</a:t>
            </a:r>
          </a:p>
          <a:p>
            <a:endParaRPr lang="en-US" sz="2400" dirty="0">
              <a:solidFill>
                <a:schemeClr val="tx1">
                  <a:lumMod val="85000"/>
                  <a:lumOff val="1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fontAlgn="base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“I would understand how…”</a:t>
            </a:r>
          </a:p>
          <a:p>
            <a:pPr fontAlgn="base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“I would be able to…”</a:t>
            </a:r>
          </a:p>
          <a:p>
            <a:pPr fontAlgn="base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“I would learn…”</a:t>
            </a:r>
          </a:p>
          <a:p>
            <a:pPr fontAlgn="base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“I could explain…” </a:t>
            </a:r>
          </a:p>
        </p:txBody>
      </p:sp>
    </p:spTree>
    <p:extLst>
      <p:ext uri="{BB962C8B-B14F-4D97-AF65-F5344CB8AC3E}">
        <p14:creationId xmlns:p14="http://schemas.microsoft.com/office/powerpoint/2010/main" val="34524765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Shape 253" descr="http://developer.r-project.org/Logo/Rlogo.svg"/>
          <p:cNvSpPr/>
          <p:nvPr/>
        </p:nvSpPr>
        <p:spPr>
          <a:xfrm>
            <a:off x="1679576" y="-144463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Shape 254" descr="http://developer.r-project.org/Logo/Rlogo.svg"/>
          <p:cNvSpPr/>
          <p:nvPr/>
        </p:nvSpPr>
        <p:spPr>
          <a:xfrm>
            <a:off x="1831976" y="7938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Shape 255" descr="http://developer.r-project.org/Logo/Rlogo.svg"/>
          <p:cNvSpPr/>
          <p:nvPr/>
        </p:nvSpPr>
        <p:spPr>
          <a:xfrm>
            <a:off x="1984376" y="160337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Shape 256" descr="http://developer.r-project.org/Logo/Rlogo.svg"/>
          <p:cNvSpPr/>
          <p:nvPr/>
        </p:nvSpPr>
        <p:spPr>
          <a:xfrm>
            <a:off x="2136776" y="312738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AutoShape 6" descr="Image result for r"/>
          <p:cNvSpPr>
            <a:spLocks noChangeAspect="1" noChangeArrowheads="1"/>
          </p:cNvSpPr>
          <p:nvPr/>
        </p:nvSpPr>
        <p:spPr bwMode="auto">
          <a:xfrm>
            <a:off x="2289175" y="465138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solidFill>
                <a:schemeClr val="accent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8" name="Shape 208">
            <a:extLst>
              <a:ext uri="{FF2B5EF4-FFF2-40B4-BE49-F238E27FC236}">
                <a16:creationId xmlns:a16="http://schemas.microsoft.com/office/drawing/2014/main" id="{B5ED5A12-E140-4B27-8ED2-A376D55B0764}"/>
              </a:ext>
            </a:extLst>
          </p:cNvPr>
          <p:cNvSpPr txBox="1"/>
          <p:nvPr/>
        </p:nvSpPr>
        <p:spPr>
          <a:xfrm>
            <a:off x="1679575" y="232816"/>
            <a:ext cx="7772400" cy="76944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44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What does an “A” look like for you?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5D02709-6223-4EC9-986E-861A9FF9FFB0}"/>
              </a:ext>
            </a:extLst>
          </p:cNvPr>
          <p:cNvSpPr/>
          <p:nvPr/>
        </p:nvSpPr>
        <p:spPr>
          <a:xfrm>
            <a:off x="2136774" y="1997706"/>
            <a:ext cx="77724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Post your goals on ELC discussion by next Thursday’s class time. We’ll be reflecting back on these throughout the course.</a:t>
            </a:r>
          </a:p>
        </p:txBody>
      </p:sp>
    </p:spTree>
    <p:extLst>
      <p:ext uri="{BB962C8B-B14F-4D97-AF65-F5344CB8AC3E}">
        <p14:creationId xmlns:p14="http://schemas.microsoft.com/office/powerpoint/2010/main" val="23839642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Shape 253" descr="http://developer.r-project.org/Logo/Rlogo.svg"/>
          <p:cNvSpPr/>
          <p:nvPr/>
        </p:nvSpPr>
        <p:spPr>
          <a:xfrm>
            <a:off x="1679576" y="-144463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Shape 254" descr="http://developer.r-project.org/Logo/Rlogo.svg"/>
          <p:cNvSpPr/>
          <p:nvPr/>
        </p:nvSpPr>
        <p:spPr>
          <a:xfrm>
            <a:off x="1831976" y="7938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Shape 255" descr="http://developer.r-project.org/Logo/Rlogo.svg"/>
          <p:cNvSpPr/>
          <p:nvPr/>
        </p:nvSpPr>
        <p:spPr>
          <a:xfrm>
            <a:off x="1984376" y="160337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Shape 256" descr="http://developer.r-project.org/Logo/Rlogo.svg"/>
          <p:cNvSpPr/>
          <p:nvPr/>
        </p:nvSpPr>
        <p:spPr>
          <a:xfrm>
            <a:off x="2136776" y="312738"/>
            <a:ext cx="304799" cy="30480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accent2">
                  <a:lumMod val="20000"/>
                  <a:lumOff val="80000"/>
                </a:schemeClr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AutoShape 6" descr="Image result for r"/>
          <p:cNvSpPr>
            <a:spLocks noChangeAspect="1" noChangeArrowheads="1"/>
          </p:cNvSpPr>
          <p:nvPr/>
        </p:nvSpPr>
        <p:spPr bwMode="auto">
          <a:xfrm>
            <a:off x="2289175" y="465138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solidFill>
                <a:schemeClr val="accent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8" name="Shape 208">
            <a:extLst>
              <a:ext uri="{FF2B5EF4-FFF2-40B4-BE49-F238E27FC236}">
                <a16:creationId xmlns:a16="http://schemas.microsoft.com/office/drawing/2014/main" id="{B5ED5A12-E140-4B27-8ED2-A376D55B0764}"/>
              </a:ext>
            </a:extLst>
          </p:cNvPr>
          <p:cNvSpPr txBox="1"/>
          <p:nvPr/>
        </p:nvSpPr>
        <p:spPr>
          <a:xfrm>
            <a:off x="1679575" y="232816"/>
            <a:ext cx="8680450" cy="76944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44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Next time: Getting started with R!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5D02709-6223-4EC9-986E-861A9FF9FFB0}"/>
              </a:ext>
            </a:extLst>
          </p:cNvPr>
          <p:cNvSpPr/>
          <p:nvPr/>
        </p:nvSpPr>
        <p:spPr>
          <a:xfrm>
            <a:off x="2136774" y="1154657"/>
            <a:ext cx="7772400" cy="35394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Install R/</a:t>
            </a:r>
            <a:r>
              <a:rPr lang="en-US" sz="2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Rstudio</a:t>
            </a:r>
            <a:r>
              <a:rPr lang="en-US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/Git BEFORE class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Take the Introductory Survey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Answer discussion post: what does an A look like for you?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800" dirty="0">
              <a:solidFill>
                <a:schemeClr val="tx1">
                  <a:lumMod val="85000"/>
                  <a:lumOff val="1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What we will cover: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How to clone the course repository (“repo”)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Get started using data in R: Script S01-1</a:t>
            </a:r>
          </a:p>
        </p:txBody>
      </p:sp>
    </p:spTree>
    <p:extLst>
      <p:ext uri="{BB962C8B-B14F-4D97-AF65-F5344CB8AC3E}">
        <p14:creationId xmlns:p14="http://schemas.microsoft.com/office/powerpoint/2010/main" val="1573291738"/>
      </p:ext>
    </p:extLst>
  </p:cSld>
  <p:clrMapOvr>
    <a:masterClrMapping/>
  </p:clrMapOvr>
</p:sld>
</file>

<file path=ppt/theme/theme1.xml><?xml version="1.0" encoding="utf-8"?>
<a:theme xmlns:a="http://schemas.openxmlformats.org/drawingml/2006/main" name="4300 theme">
  <a:themeElements>
    <a:clrScheme name="Custom 5">
      <a:dk1>
        <a:srgbClr val="3F3F3F"/>
      </a:dk1>
      <a:lt1>
        <a:sysClr val="window" lastClr="FFFFFF"/>
      </a:lt1>
      <a:dk2>
        <a:srgbClr val="637052"/>
      </a:dk2>
      <a:lt2>
        <a:srgbClr val="CCDDEA"/>
      </a:lt2>
      <a:accent1>
        <a:srgbClr val="E5A99F"/>
      </a:accent1>
      <a:accent2>
        <a:srgbClr val="B23838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4300">
      <a:majorFont>
        <a:latin typeface="Caladea"/>
        <a:ea typeface=""/>
        <a:cs typeface=""/>
      </a:majorFont>
      <a:minorFont>
        <a:latin typeface="Calibri"/>
        <a:ea typeface=""/>
        <a:cs typeface="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4300 theme" id="{D4904F21-6165-40C2-990C-25694C1F9820}" vid="{C01EF078-9CF5-4A06-BE63-775698853C47}"/>
    </a:ext>
  </a:extLst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342</TotalTime>
  <Words>1203</Words>
  <Application>Microsoft Office PowerPoint</Application>
  <PresentationFormat>Widescreen</PresentationFormat>
  <Paragraphs>155</Paragraphs>
  <Slides>20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Caladea</vt:lpstr>
      <vt:lpstr>Calibri</vt:lpstr>
      <vt:lpstr>4300 theme</vt:lpstr>
      <vt:lpstr>Numbers: What are they good for?</vt:lpstr>
      <vt:lpstr>Statistics in Geography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Spec grading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Numbers: What are they good for?</dc:title>
  <dc:creator>Gerald Shannon</dc:creator>
  <cp:lastModifiedBy>Jerry Shannon</cp:lastModifiedBy>
  <cp:revision>57</cp:revision>
  <dcterms:modified xsi:type="dcterms:W3CDTF">2026-08-03T20:56:49Z</dcterms:modified>
</cp:coreProperties>
</file>