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32" r:id="rId1"/>
  </p:sldMasterIdLst>
  <p:notesMasterIdLst>
    <p:notesMasterId r:id="rId28"/>
  </p:notesMasterIdLst>
  <p:sldIdLst>
    <p:sldId id="256" r:id="rId2"/>
    <p:sldId id="264" r:id="rId3"/>
    <p:sldId id="302" r:id="rId4"/>
    <p:sldId id="303" r:id="rId5"/>
    <p:sldId id="305" r:id="rId6"/>
    <p:sldId id="306" r:id="rId7"/>
    <p:sldId id="304" r:id="rId8"/>
    <p:sldId id="290" r:id="rId9"/>
    <p:sldId id="291" r:id="rId10"/>
    <p:sldId id="293" r:id="rId11"/>
    <p:sldId id="300" r:id="rId12"/>
    <p:sldId id="294" r:id="rId13"/>
    <p:sldId id="292" r:id="rId14"/>
    <p:sldId id="295" r:id="rId15"/>
    <p:sldId id="301" r:id="rId16"/>
    <p:sldId id="277" r:id="rId17"/>
    <p:sldId id="267" r:id="rId18"/>
    <p:sldId id="298" r:id="rId19"/>
    <p:sldId id="299" r:id="rId20"/>
    <p:sldId id="266" r:id="rId21"/>
    <p:sldId id="274" r:id="rId22"/>
    <p:sldId id="286" r:id="rId23"/>
    <p:sldId id="288" r:id="rId24"/>
    <p:sldId id="287" r:id="rId25"/>
    <p:sldId id="289" r:id="rId26"/>
    <p:sldId id="297"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66"/>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678"/>
    <p:restoredTop sz="80685"/>
  </p:normalViewPr>
  <p:slideViewPr>
    <p:cSldViewPr snapToGrid="0">
      <p:cViewPr varScale="1">
        <p:scale>
          <a:sx n="87" d="100"/>
          <a:sy n="87" d="100"/>
        </p:scale>
        <p:origin x="876"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txBox="1">
            <a:spLocks noGrp="1"/>
          </p:cNvSpPr>
          <p:nvPr>
            <p:ph type="hdr" idx="2"/>
          </p:nvPr>
        </p:nvSpPr>
        <p:spPr>
          <a:xfrm>
            <a:off x="0" y="0"/>
            <a:ext cx="2971799" cy="457200"/>
          </a:xfrm>
          <a:prstGeom prst="rect">
            <a:avLst/>
          </a:prstGeom>
          <a:noFill/>
          <a:ln>
            <a:noFill/>
          </a:ln>
        </p:spPr>
        <p:txBody>
          <a:bodyPr lIns="91425" tIns="91425" rIns="91425" bIns="91425" anchor="t" anchorCtr="0"/>
          <a:lstStyle>
            <a:lvl1pPr marL="0" marR="0" lvl="0" indent="0" algn="l" rtl="0">
              <a:spcBef>
                <a:spcPts val="0"/>
              </a:spcBef>
              <a:buNone/>
              <a:defRPr sz="1200" b="0" i="0" u="none" strike="noStrike" cap="none">
                <a:solidFill>
                  <a:schemeClr val="dk1"/>
                </a:solidFill>
                <a:latin typeface="Calibri"/>
                <a:ea typeface="Calibri"/>
                <a:cs typeface="Calibri"/>
                <a:sym typeface="Calibri"/>
              </a:defRPr>
            </a:lvl1pPr>
            <a:lvl2pPr marL="457200" marR="0" lvl="1" indent="0" algn="l" rtl="0">
              <a:spcBef>
                <a:spcPts val="0"/>
              </a:spcBef>
              <a:buNone/>
              <a:defRPr sz="1800" b="0" i="0" u="none" strike="noStrike" cap="none">
                <a:solidFill>
                  <a:schemeClr val="dk1"/>
                </a:solidFill>
                <a:latin typeface="Calibri"/>
                <a:ea typeface="Calibri"/>
                <a:cs typeface="Calibri"/>
                <a:sym typeface="Calibri"/>
              </a:defRPr>
            </a:lvl2pPr>
            <a:lvl3pPr marL="914400" marR="0" lvl="2" indent="0" algn="l" rtl="0">
              <a:spcBef>
                <a:spcPts val="0"/>
              </a:spcBef>
              <a:buNone/>
              <a:defRPr sz="1800" b="0" i="0" u="none" strike="noStrike" cap="none">
                <a:solidFill>
                  <a:schemeClr val="dk1"/>
                </a:solidFill>
                <a:latin typeface="Calibri"/>
                <a:ea typeface="Calibri"/>
                <a:cs typeface="Calibri"/>
                <a:sym typeface="Calibri"/>
              </a:defRPr>
            </a:lvl3pPr>
            <a:lvl4pPr marL="1371600" marR="0" lvl="3" indent="0" algn="l" rtl="0">
              <a:spcBef>
                <a:spcPts val="0"/>
              </a:spcBef>
              <a:buNone/>
              <a:defRPr sz="1800" b="0" i="0" u="none" strike="noStrike" cap="none">
                <a:solidFill>
                  <a:schemeClr val="dk1"/>
                </a:solidFill>
                <a:latin typeface="Calibri"/>
                <a:ea typeface="Calibri"/>
                <a:cs typeface="Calibri"/>
                <a:sym typeface="Calibri"/>
              </a:defRPr>
            </a:lvl4pPr>
            <a:lvl5pPr marL="1828800" marR="0" lvl="4" indent="0" algn="l" rtl="0">
              <a:spcBef>
                <a:spcPts val="0"/>
              </a:spcBef>
              <a:buNone/>
              <a:defRPr sz="1800" b="0" i="0" u="none" strike="noStrike" cap="none">
                <a:solidFill>
                  <a:schemeClr val="dk1"/>
                </a:solidFill>
                <a:latin typeface="Calibri"/>
                <a:ea typeface="Calibri"/>
                <a:cs typeface="Calibri"/>
                <a:sym typeface="Calibri"/>
              </a:defRPr>
            </a:lvl5pPr>
            <a:lvl6pPr marL="2286000" marR="0" lvl="5" indent="0" algn="l" rtl="0">
              <a:spcBef>
                <a:spcPts val="0"/>
              </a:spcBef>
              <a:buNone/>
              <a:defRPr sz="1800" b="0" i="0" u="none" strike="noStrike" cap="none">
                <a:solidFill>
                  <a:schemeClr val="dk1"/>
                </a:solidFill>
                <a:latin typeface="Calibri"/>
                <a:ea typeface="Calibri"/>
                <a:cs typeface="Calibri"/>
                <a:sym typeface="Calibri"/>
              </a:defRPr>
            </a:lvl6pPr>
            <a:lvl7pPr marL="2743200" marR="0" lvl="6" indent="0" algn="l" rtl="0">
              <a:spcBef>
                <a:spcPts val="0"/>
              </a:spcBef>
              <a:buNone/>
              <a:defRPr sz="1800" b="0" i="0" u="none" strike="noStrike" cap="none">
                <a:solidFill>
                  <a:schemeClr val="dk1"/>
                </a:solidFill>
                <a:latin typeface="Calibri"/>
                <a:ea typeface="Calibri"/>
                <a:cs typeface="Calibri"/>
                <a:sym typeface="Calibri"/>
              </a:defRPr>
            </a:lvl7pPr>
            <a:lvl8pPr marL="3200400" marR="0" lvl="7" indent="0" algn="l" rtl="0">
              <a:spcBef>
                <a:spcPts val="0"/>
              </a:spcBef>
              <a:buNone/>
              <a:defRPr sz="1800" b="0" i="0" u="none" strike="noStrike" cap="none">
                <a:solidFill>
                  <a:schemeClr val="dk1"/>
                </a:solidFill>
                <a:latin typeface="Calibri"/>
                <a:ea typeface="Calibri"/>
                <a:cs typeface="Calibri"/>
                <a:sym typeface="Calibri"/>
              </a:defRPr>
            </a:lvl8pPr>
            <a:lvl9pPr marL="3657600" marR="0" lvl="8" indent="0" algn="l" rtl="0">
              <a:spcBef>
                <a:spcPts val="0"/>
              </a:spcBef>
              <a:buNone/>
              <a:defRPr sz="1800" b="0" i="0" u="none" strike="noStrike" cap="none">
                <a:solidFill>
                  <a:schemeClr val="dk1"/>
                </a:solidFill>
                <a:latin typeface="Calibri"/>
                <a:ea typeface="Calibri"/>
                <a:cs typeface="Calibri"/>
                <a:sym typeface="Calibri"/>
              </a:defRPr>
            </a:lvl9pPr>
          </a:lstStyle>
          <a:p>
            <a:endParaRPr/>
          </a:p>
        </p:txBody>
      </p:sp>
      <p:sp>
        <p:nvSpPr>
          <p:cNvPr id="4" name="Shape 4"/>
          <p:cNvSpPr txBox="1">
            <a:spLocks noGrp="1"/>
          </p:cNvSpPr>
          <p:nvPr>
            <p:ph type="dt" idx="10"/>
          </p:nvPr>
        </p:nvSpPr>
        <p:spPr>
          <a:xfrm>
            <a:off x="3884612" y="0"/>
            <a:ext cx="2971799" cy="457200"/>
          </a:xfrm>
          <a:prstGeom prst="rect">
            <a:avLst/>
          </a:prstGeom>
          <a:noFill/>
          <a:ln>
            <a:noFill/>
          </a:ln>
        </p:spPr>
        <p:txBody>
          <a:bodyPr lIns="91425" tIns="91425" rIns="91425" bIns="91425" anchor="t" anchorCtr="0"/>
          <a:lstStyle>
            <a:lvl1pPr marL="0" marR="0" lvl="0" indent="0" algn="r" rtl="0">
              <a:spcBef>
                <a:spcPts val="0"/>
              </a:spcBef>
              <a:buNone/>
              <a:defRPr sz="1200" b="0" i="0" u="none" strike="noStrike" cap="none">
                <a:solidFill>
                  <a:schemeClr val="dk1"/>
                </a:solidFill>
                <a:latin typeface="Calibri"/>
                <a:ea typeface="Calibri"/>
                <a:cs typeface="Calibri"/>
                <a:sym typeface="Calibri"/>
              </a:defRPr>
            </a:lvl1pPr>
            <a:lvl2pPr marL="457200" marR="0" lvl="1" indent="0" algn="l" rtl="0">
              <a:spcBef>
                <a:spcPts val="0"/>
              </a:spcBef>
              <a:buNone/>
              <a:defRPr sz="1800" b="0" i="0" u="none" strike="noStrike" cap="none">
                <a:solidFill>
                  <a:schemeClr val="dk1"/>
                </a:solidFill>
                <a:latin typeface="Calibri"/>
                <a:ea typeface="Calibri"/>
                <a:cs typeface="Calibri"/>
                <a:sym typeface="Calibri"/>
              </a:defRPr>
            </a:lvl2pPr>
            <a:lvl3pPr marL="914400" marR="0" lvl="2" indent="0" algn="l" rtl="0">
              <a:spcBef>
                <a:spcPts val="0"/>
              </a:spcBef>
              <a:buNone/>
              <a:defRPr sz="1800" b="0" i="0" u="none" strike="noStrike" cap="none">
                <a:solidFill>
                  <a:schemeClr val="dk1"/>
                </a:solidFill>
                <a:latin typeface="Calibri"/>
                <a:ea typeface="Calibri"/>
                <a:cs typeface="Calibri"/>
                <a:sym typeface="Calibri"/>
              </a:defRPr>
            </a:lvl3pPr>
            <a:lvl4pPr marL="1371600" marR="0" lvl="3" indent="0" algn="l" rtl="0">
              <a:spcBef>
                <a:spcPts val="0"/>
              </a:spcBef>
              <a:buNone/>
              <a:defRPr sz="1800" b="0" i="0" u="none" strike="noStrike" cap="none">
                <a:solidFill>
                  <a:schemeClr val="dk1"/>
                </a:solidFill>
                <a:latin typeface="Calibri"/>
                <a:ea typeface="Calibri"/>
                <a:cs typeface="Calibri"/>
                <a:sym typeface="Calibri"/>
              </a:defRPr>
            </a:lvl4pPr>
            <a:lvl5pPr marL="1828800" marR="0" lvl="4" indent="0" algn="l" rtl="0">
              <a:spcBef>
                <a:spcPts val="0"/>
              </a:spcBef>
              <a:buNone/>
              <a:defRPr sz="1800" b="0" i="0" u="none" strike="noStrike" cap="none">
                <a:solidFill>
                  <a:schemeClr val="dk1"/>
                </a:solidFill>
                <a:latin typeface="Calibri"/>
                <a:ea typeface="Calibri"/>
                <a:cs typeface="Calibri"/>
                <a:sym typeface="Calibri"/>
              </a:defRPr>
            </a:lvl5pPr>
            <a:lvl6pPr marL="2286000" marR="0" lvl="5" indent="0" algn="l" rtl="0">
              <a:spcBef>
                <a:spcPts val="0"/>
              </a:spcBef>
              <a:buNone/>
              <a:defRPr sz="1800" b="0" i="0" u="none" strike="noStrike" cap="none">
                <a:solidFill>
                  <a:schemeClr val="dk1"/>
                </a:solidFill>
                <a:latin typeface="Calibri"/>
                <a:ea typeface="Calibri"/>
                <a:cs typeface="Calibri"/>
                <a:sym typeface="Calibri"/>
              </a:defRPr>
            </a:lvl6pPr>
            <a:lvl7pPr marL="2743200" marR="0" lvl="6" indent="0" algn="l" rtl="0">
              <a:spcBef>
                <a:spcPts val="0"/>
              </a:spcBef>
              <a:buNone/>
              <a:defRPr sz="1800" b="0" i="0" u="none" strike="noStrike" cap="none">
                <a:solidFill>
                  <a:schemeClr val="dk1"/>
                </a:solidFill>
                <a:latin typeface="Calibri"/>
                <a:ea typeface="Calibri"/>
                <a:cs typeface="Calibri"/>
                <a:sym typeface="Calibri"/>
              </a:defRPr>
            </a:lvl7pPr>
            <a:lvl8pPr marL="3200400" marR="0" lvl="7" indent="0" algn="l" rtl="0">
              <a:spcBef>
                <a:spcPts val="0"/>
              </a:spcBef>
              <a:buNone/>
              <a:defRPr sz="1800" b="0" i="0" u="none" strike="noStrike" cap="none">
                <a:solidFill>
                  <a:schemeClr val="dk1"/>
                </a:solidFill>
                <a:latin typeface="Calibri"/>
                <a:ea typeface="Calibri"/>
                <a:cs typeface="Calibri"/>
                <a:sym typeface="Calibri"/>
              </a:defRPr>
            </a:lvl8pPr>
            <a:lvl9pPr marL="3657600" marR="0" lvl="8" indent="0" algn="l" rtl="0">
              <a:spcBef>
                <a:spcPts val="0"/>
              </a:spcBef>
              <a:buNone/>
              <a:defRPr sz="1800" b="0" i="0" u="none" strike="noStrike" cap="none">
                <a:solidFill>
                  <a:schemeClr val="dk1"/>
                </a:solidFill>
                <a:latin typeface="Calibri"/>
                <a:ea typeface="Calibri"/>
                <a:cs typeface="Calibri"/>
                <a:sym typeface="Calibri"/>
              </a:defRPr>
            </a:lvl9pPr>
          </a:lstStyle>
          <a:p>
            <a:endParaRPr/>
          </a:p>
        </p:txBody>
      </p:sp>
      <p:sp>
        <p:nvSpPr>
          <p:cNvPr id="5" name="Shape 5"/>
          <p:cNvSpPr>
            <a:spLocks noGrp="1" noRot="1" noChangeAspect="1"/>
          </p:cNvSpPr>
          <p:nvPr>
            <p:ph type="sldImg" idx="3"/>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6" name="Shape 6"/>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lstStyle>
            <a:lvl1pPr marL="0" marR="0" lvl="0" indent="0" algn="l" rtl="0">
              <a:spcBef>
                <a:spcPts val="0"/>
              </a:spcBef>
              <a:buNone/>
              <a:defRPr sz="1200" b="0" i="0" u="none" strike="noStrike" cap="none">
                <a:solidFill>
                  <a:schemeClr val="dk1"/>
                </a:solidFill>
                <a:latin typeface="Calibri"/>
                <a:ea typeface="Calibri"/>
                <a:cs typeface="Calibri"/>
                <a:sym typeface="Calibri"/>
              </a:defRPr>
            </a:lvl1pPr>
            <a:lvl2pPr marL="457200" marR="0" lvl="1" indent="0" algn="l" rtl="0">
              <a:spcBef>
                <a:spcPts val="0"/>
              </a:spcBef>
              <a:buNone/>
              <a:defRPr sz="1200" b="0" i="0" u="none" strike="noStrike" cap="none">
                <a:solidFill>
                  <a:schemeClr val="dk1"/>
                </a:solidFill>
                <a:latin typeface="Calibri"/>
                <a:ea typeface="Calibri"/>
                <a:cs typeface="Calibri"/>
                <a:sym typeface="Calibri"/>
              </a:defRPr>
            </a:lvl2pPr>
            <a:lvl3pPr marL="914400" marR="0" lvl="2" indent="0" algn="l" rtl="0">
              <a:spcBef>
                <a:spcPts val="0"/>
              </a:spcBef>
              <a:buNone/>
              <a:defRPr sz="1200" b="0" i="0" u="none" strike="noStrike" cap="none">
                <a:solidFill>
                  <a:schemeClr val="dk1"/>
                </a:solidFill>
                <a:latin typeface="Calibri"/>
                <a:ea typeface="Calibri"/>
                <a:cs typeface="Calibri"/>
                <a:sym typeface="Calibri"/>
              </a:defRPr>
            </a:lvl3pPr>
            <a:lvl4pPr marL="1371600" marR="0" lvl="3" indent="0" algn="l" rtl="0">
              <a:spcBef>
                <a:spcPts val="0"/>
              </a:spcBef>
              <a:buNone/>
              <a:defRPr sz="1200" b="0" i="0" u="none" strike="noStrike" cap="none">
                <a:solidFill>
                  <a:schemeClr val="dk1"/>
                </a:solidFill>
                <a:latin typeface="Calibri"/>
                <a:ea typeface="Calibri"/>
                <a:cs typeface="Calibri"/>
                <a:sym typeface="Calibri"/>
              </a:defRPr>
            </a:lvl4pPr>
            <a:lvl5pPr marL="1828800" marR="0" lvl="4" indent="0" algn="l" rtl="0">
              <a:spcBef>
                <a:spcPts val="0"/>
              </a:spcBef>
              <a:buNone/>
              <a:defRPr sz="1200" b="0" i="0" u="none" strike="noStrike" cap="none">
                <a:solidFill>
                  <a:schemeClr val="dk1"/>
                </a:solidFill>
                <a:latin typeface="Calibri"/>
                <a:ea typeface="Calibri"/>
                <a:cs typeface="Calibri"/>
                <a:sym typeface="Calibri"/>
              </a:defRPr>
            </a:lvl5pPr>
            <a:lvl6pPr marL="2286000" marR="0" lvl="5" indent="0" algn="l" rtl="0">
              <a:spcBef>
                <a:spcPts val="0"/>
              </a:spcBef>
              <a:buNone/>
              <a:defRPr sz="1200" b="0" i="0" u="none" strike="noStrike" cap="none">
                <a:solidFill>
                  <a:schemeClr val="dk1"/>
                </a:solidFill>
                <a:latin typeface="Calibri"/>
                <a:ea typeface="Calibri"/>
                <a:cs typeface="Calibri"/>
                <a:sym typeface="Calibri"/>
              </a:defRPr>
            </a:lvl6pPr>
            <a:lvl7pPr marL="2743200" marR="0" lvl="6" indent="0" algn="l" rtl="0">
              <a:spcBef>
                <a:spcPts val="0"/>
              </a:spcBef>
              <a:buNone/>
              <a:defRPr sz="1200" b="0" i="0" u="none" strike="noStrike" cap="none">
                <a:solidFill>
                  <a:schemeClr val="dk1"/>
                </a:solidFill>
                <a:latin typeface="Calibri"/>
                <a:ea typeface="Calibri"/>
                <a:cs typeface="Calibri"/>
                <a:sym typeface="Calibri"/>
              </a:defRPr>
            </a:lvl7pPr>
            <a:lvl8pPr marL="3200400" marR="0" lvl="7" indent="0" algn="l" rtl="0">
              <a:spcBef>
                <a:spcPts val="0"/>
              </a:spcBef>
              <a:buNone/>
              <a:defRPr sz="1200" b="0" i="0" u="none" strike="noStrike" cap="none">
                <a:solidFill>
                  <a:schemeClr val="dk1"/>
                </a:solidFill>
                <a:latin typeface="Calibri"/>
                <a:ea typeface="Calibri"/>
                <a:cs typeface="Calibri"/>
                <a:sym typeface="Calibri"/>
              </a:defRPr>
            </a:lvl8pPr>
            <a:lvl9pPr marL="3657600" marR="0" lvl="8" indent="0" algn="l" rtl="0">
              <a:spcBef>
                <a:spcPts val="0"/>
              </a:spcBef>
              <a:buNone/>
              <a:defRPr sz="1200" b="0" i="0" u="none" strike="noStrike" cap="none">
                <a:solidFill>
                  <a:schemeClr val="dk1"/>
                </a:solidFill>
                <a:latin typeface="Calibri"/>
                <a:ea typeface="Calibri"/>
                <a:cs typeface="Calibri"/>
                <a:sym typeface="Calibri"/>
              </a:defRPr>
            </a:lvl9pPr>
          </a:lstStyle>
          <a:p>
            <a:endParaRPr/>
          </a:p>
        </p:txBody>
      </p:sp>
      <p:sp>
        <p:nvSpPr>
          <p:cNvPr id="7" name="Shape 7"/>
          <p:cNvSpPr txBox="1">
            <a:spLocks noGrp="1"/>
          </p:cNvSpPr>
          <p:nvPr>
            <p:ph type="ftr" idx="11"/>
          </p:nvPr>
        </p:nvSpPr>
        <p:spPr>
          <a:xfrm>
            <a:off x="0" y="8685213"/>
            <a:ext cx="2971799" cy="457200"/>
          </a:xfrm>
          <a:prstGeom prst="rect">
            <a:avLst/>
          </a:prstGeom>
          <a:noFill/>
          <a:ln>
            <a:noFill/>
          </a:ln>
        </p:spPr>
        <p:txBody>
          <a:bodyPr lIns="91425" tIns="91425" rIns="91425" bIns="91425" anchor="b" anchorCtr="0"/>
          <a:lstStyle>
            <a:lvl1pPr marL="0" marR="0" lvl="0" indent="0" algn="l" rtl="0">
              <a:spcBef>
                <a:spcPts val="0"/>
              </a:spcBef>
              <a:buNone/>
              <a:defRPr sz="1200" b="0" i="0" u="none" strike="noStrike" cap="none">
                <a:solidFill>
                  <a:schemeClr val="dk1"/>
                </a:solidFill>
                <a:latin typeface="Calibri"/>
                <a:ea typeface="Calibri"/>
                <a:cs typeface="Calibri"/>
                <a:sym typeface="Calibri"/>
              </a:defRPr>
            </a:lvl1pPr>
            <a:lvl2pPr marL="457200" marR="0" lvl="1" indent="0" algn="l" rtl="0">
              <a:spcBef>
                <a:spcPts val="0"/>
              </a:spcBef>
              <a:buNone/>
              <a:defRPr sz="1800" b="0" i="0" u="none" strike="noStrike" cap="none">
                <a:solidFill>
                  <a:schemeClr val="dk1"/>
                </a:solidFill>
                <a:latin typeface="Calibri"/>
                <a:ea typeface="Calibri"/>
                <a:cs typeface="Calibri"/>
                <a:sym typeface="Calibri"/>
              </a:defRPr>
            </a:lvl2pPr>
            <a:lvl3pPr marL="914400" marR="0" lvl="2" indent="0" algn="l" rtl="0">
              <a:spcBef>
                <a:spcPts val="0"/>
              </a:spcBef>
              <a:buNone/>
              <a:defRPr sz="1800" b="0" i="0" u="none" strike="noStrike" cap="none">
                <a:solidFill>
                  <a:schemeClr val="dk1"/>
                </a:solidFill>
                <a:latin typeface="Calibri"/>
                <a:ea typeface="Calibri"/>
                <a:cs typeface="Calibri"/>
                <a:sym typeface="Calibri"/>
              </a:defRPr>
            </a:lvl3pPr>
            <a:lvl4pPr marL="1371600" marR="0" lvl="3" indent="0" algn="l" rtl="0">
              <a:spcBef>
                <a:spcPts val="0"/>
              </a:spcBef>
              <a:buNone/>
              <a:defRPr sz="1800" b="0" i="0" u="none" strike="noStrike" cap="none">
                <a:solidFill>
                  <a:schemeClr val="dk1"/>
                </a:solidFill>
                <a:latin typeface="Calibri"/>
                <a:ea typeface="Calibri"/>
                <a:cs typeface="Calibri"/>
                <a:sym typeface="Calibri"/>
              </a:defRPr>
            </a:lvl4pPr>
            <a:lvl5pPr marL="1828800" marR="0" lvl="4" indent="0" algn="l" rtl="0">
              <a:spcBef>
                <a:spcPts val="0"/>
              </a:spcBef>
              <a:buNone/>
              <a:defRPr sz="1800" b="0" i="0" u="none" strike="noStrike" cap="none">
                <a:solidFill>
                  <a:schemeClr val="dk1"/>
                </a:solidFill>
                <a:latin typeface="Calibri"/>
                <a:ea typeface="Calibri"/>
                <a:cs typeface="Calibri"/>
                <a:sym typeface="Calibri"/>
              </a:defRPr>
            </a:lvl5pPr>
            <a:lvl6pPr marL="2286000" marR="0" lvl="5" indent="0" algn="l" rtl="0">
              <a:spcBef>
                <a:spcPts val="0"/>
              </a:spcBef>
              <a:buNone/>
              <a:defRPr sz="1800" b="0" i="0" u="none" strike="noStrike" cap="none">
                <a:solidFill>
                  <a:schemeClr val="dk1"/>
                </a:solidFill>
                <a:latin typeface="Calibri"/>
                <a:ea typeface="Calibri"/>
                <a:cs typeface="Calibri"/>
                <a:sym typeface="Calibri"/>
              </a:defRPr>
            </a:lvl6pPr>
            <a:lvl7pPr marL="2743200" marR="0" lvl="6" indent="0" algn="l" rtl="0">
              <a:spcBef>
                <a:spcPts val="0"/>
              </a:spcBef>
              <a:buNone/>
              <a:defRPr sz="1800" b="0" i="0" u="none" strike="noStrike" cap="none">
                <a:solidFill>
                  <a:schemeClr val="dk1"/>
                </a:solidFill>
                <a:latin typeface="Calibri"/>
                <a:ea typeface="Calibri"/>
                <a:cs typeface="Calibri"/>
                <a:sym typeface="Calibri"/>
              </a:defRPr>
            </a:lvl7pPr>
            <a:lvl8pPr marL="3200400" marR="0" lvl="7" indent="0" algn="l" rtl="0">
              <a:spcBef>
                <a:spcPts val="0"/>
              </a:spcBef>
              <a:buNone/>
              <a:defRPr sz="1800" b="0" i="0" u="none" strike="noStrike" cap="none">
                <a:solidFill>
                  <a:schemeClr val="dk1"/>
                </a:solidFill>
                <a:latin typeface="Calibri"/>
                <a:ea typeface="Calibri"/>
                <a:cs typeface="Calibri"/>
                <a:sym typeface="Calibri"/>
              </a:defRPr>
            </a:lvl8pPr>
            <a:lvl9pPr marL="3657600" marR="0" lvl="8" indent="0" algn="l" rtl="0">
              <a:spcBef>
                <a:spcPts val="0"/>
              </a:spcBef>
              <a:buNone/>
              <a:defRPr sz="1800" b="0" i="0" u="none" strike="noStrike" cap="none">
                <a:solidFill>
                  <a:schemeClr val="dk1"/>
                </a:solidFill>
                <a:latin typeface="Calibri"/>
                <a:ea typeface="Calibri"/>
                <a:cs typeface="Calibri"/>
                <a:sym typeface="Calibri"/>
              </a:defRPr>
            </a:lvl9pPr>
          </a:lstStyle>
          <a:p>
            <a:endParaRPr/>
          </a:p>
        </p:txBody>
      </p:sp>
      <p:sp>
        <p:nvSpPr>
          <p:cNvPr id="8" name="Shape 8"/>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b="0" i="0" u="none" strike="noStrike" cap="none">
                <a:solidFill>
                  <a:schemeClr val="dk1"/>
                </a:solidFill>
                <a:latin typeface="Calibri"/>
                <a:ea typeface="Calibri"/>
                <a:cs typeface="Calibri"/>
                <a:sym typeface="Calibri"/>
              </a:rPr>
              <a:t>‹#›</a:t>
            </a:fld>
            <a:endParaRPr lang="en-US"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Shape 8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86" name="Shape 86"/>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p:txBody>
      </p:sp>
      <p:sp>
        <p:nvSpPr>
          <p:cNvPr id="87" name="Shape 87"/>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1</a:t>
            </a:fld>
            <a:endParaRPr lang="en-US" sz="1200">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Shape 14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150" name="Shape 150"/>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sz="1200" b="0" i="0" u="none" strike="noStrike" cap="none" dirty="0">
              <a:solidFill>
                <a:schemeClr val="dk1"/>
              </a:solidFill>
              <a:latin typeface="Calibri"/>
              <a:ea typeface="Calibri"/>
              <a:cs typeface="Calibri"/>
              <a:sym typeface="Calibri"/>
            </a:endParaRPr>
          </a:p>
        </p:txBody>
      </p:sp>
      <p:sp>
        <p:nvSpPr>
          <p:cNvPr id="151" name="Shape 151"/>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2</a:t>
            </a:fld>
            <a:endParaRPr lang="en-US" sz="1200">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Shape 14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150" name="Shape 150"/>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sz="1200" b="0" i="0" u="none" strike="noStrike" cap="none" dirty="0">
              <a:solidFill>
                <a:schemeClr val="dk1"/>
              </a:solidFill>
              <a:latin typeface="Calibri"/>
              <a:ea typeface="Calibri"/>
              <a:cs typeface="Calibri"/>
              <a:sym typeface="Calibri"/>
            </a:endParaRPr>
          </a:p>
        </p:txBody>
      </p:sp>
      <p:sp>
        <p:nvSpPr>
          <p:cNvPr id="151" name="Shape 151"/>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3</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480772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Shape 14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150" name="Shape 150"/>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sz="1200" b="0" i="0" u="none" strike="noStrike" cap="none" dirty="0">
              <a:solidFill>
                <a:schemeClr val="dk1"/>
              </a:solidFill>
              <a:latin typeface="Calibri"/>
              <a:ea typeface="Calibri"/>
              <a:cs typeface="Calibri"/>
              <a:sym typeface="Calibri"/>
            </a:endParaRPr>
          </a:p>
        </p:txBody>
      </p:sp>
      <p:sp>
        <p:nvSpPr>
          <p:cNvPr id="151" name="Shape 151"/>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4</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1360412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dk1"/>
                </a:solidFill>
                <a:latin typeface="Calibri"/>
                <a:ea typeface="Calibri"/>
                <a:cs typeface="Calibri"/>
                <a:sym typeface="Calibri"/>
              </a:rPr>
              <a:t>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7241966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Shape 14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150" name="Shape 150"/>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sz="1200" b="0" i="0" u="none" strike="noStrike" cap="none" dirty="0">
              <a:solidFill>
                <a:schemeClr val="dk1"/>
              </a:solidFill>
              <a:latin typeface="Calibri"/>
              <a:ea typeface="Calibri"/>
              <a:cs typeface="Calibri"/>
              <a:sym typeface="Calibri"/>
            </a:endParaRPr>
          </a:p>
        </p:txBody>
      </p:sp>
      <p:sp>
        <p:nvSpPr>
          <p:cNvPr id="151" name="Shape 151"/>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7</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6643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How did you do in a class?</a:t>
            </a:r>
          </a:p>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Depends on the grade?</a:t>
            </a:r>
            <a:br>
              <a:rPr lang="en-US" sz="1200" b="0" i="0" u="none" strike="noStrike" cap="none" dirty="0">
                <a:solidFill>
                  <a:schemeClr val="dk1"/>
                </a:solidFill>
                <a:latin typeface="Calibri"/>
                <a:ea typeface="Calibri"/>
                <a:cs typeface="Calibri"/>
                <a:sym typeface="Calibri"/>
              </a:rPr>
            </a:br>
            <a:r>
              <a:rPr lang="en-US" sz="1200" b="0" i="0" u="none" strike="noStrike" cap="none" dirty="0">
                <a:solidFill>
                  <a:schemeClr val="dk1"/>
                </a:solidFill>
                <a:latin typeface="Calibri"/>
                <a:ea typeface="Calibri"/>
                <a:cs typeface="Calibri"/>
                <a:sym typeface="Calibri"/>
              </a:rPr>
              <a:t>What if there’s not a grade … how you did is more about what you learned, what you did, </a:t>
            </a:r>
          </a:p>
        </p:txBody>
      </p:sp>
      <p:sp>
        <p:nvSpPr>
          <p:cNvPr id="250" name="Shape 250"/>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8</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99246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You have more control in the grading process – you have agency, it’s not some secret formula.</a:t>
            </a:r>
          </a:p>
        </p:txBody>
      </p:sp>
      <p:sp>
        <p:nvSpPr>
          <p:cNvPr id="250" name="Shape 250"/>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9</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573814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lang="en-US" sz="1200" b="0" i="0" u="none" strike="noStrike" cap="none" dirty="0">
              <a:solidFill>
                <a:schemeClr val="dk1"/>
              </a:solidFill>
              <a:latin typeface="Calibri"/>
              <a:ea typeface="Calibri"/>
              <a:cs typeface="Calibri"/>
              <a:sym typeface="Calibri"/>
            </a:endParaRPr>
          </a:p>
        </p:txBody>
      </p:sp>
      <p:sp>
        <p:nvSpPr>
          <p:cNvPr id="250" name="Shape 250"/>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10</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239008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labs.</a:t>
            </a:r>
          </a:p>
          <a:p>
            <a:r>
              <a:rPr lang="en-US" dirty="0"/>
              <a:t>Come to Class.</a:t>
            </a:r>
          </a:p>
          <a:p>
            <a:r>
              <a:rPr lang="en-US" dirty="0"/>
              <a:t>That’s a B</a:t>
            </a:r>
          </a:p>
          <a:p>
            <a:endParaRPr lang="en-US" dirty="0"/>
          </a:p>
          <a:p>
            <a:r>
              <a:rPr lang="en-US" dirty="0"/>
              <a:t>You can raise it by completing a ‘challenge’ section.</a:t>
            </a:r>
          </a:p>
          <a:p>
            <a:pPr rtl="0" fontAlgn="t"/>
            <a:r>
              <a:rPr lang="en-US" dirty="0"/>
              <a:t>You can focus on some parts or others to raise your grade if labs aren’t your thing.</a:t>
            </a:r>
            <a:r>
              <a:rPr lang="en-US" b="0" dirty="0">
                <a:effectLst/>
              </a:rPr>
              <a:t> </a:t>
            </a:r>
          </a:p>
          <a:p>
            <a:pPr rtl="0" fontAlgn="t"/>
            <a:endParaRPr lang="en-US" b="0" dirty="0">
              <a:effectLst/>
            </a:endParaRPr>
          </a:p>
          <a:p>
            <a:pPr rtl="0" fontAlgn="t"/>
            <a:r>
              <a:rPr lang="en-US" b="0" dirty="0">
                <a:effectLst/>
              </a:rPr>
              <a:t>Lets go to the syllabus: </a:t>
            </a:r>
            <a:br>
              <a:rPr lang="en-US" b="0" dirty="0">
                <a:effectLst/>
              </a:rPr>
            </a:br>
            <a:endParaRPr lang="en-US" b="0" dirty="0">
              <a:effectLst/>
            </a:endParaRPr>
          </a:p>
        </p:txBody>
      </p:sp>
      <p:sp>
        <p:nvSpPr>
          <p:cNvPr id="4" name="Slide Number Placeholder 3"/>
          <p:cNvSpPr>
            <a:spLocks noGrp="1"/>
          </p:cNvSpPr>
          <p:nvPr>
            <p:ph type="sldNum" idx="12"/>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dk1"/>
                </a:solidFill>
                <a:latin typeface="Calibri"/>
                <a:ea typeface="Calibri"/>
                <a:cs typeface="Calibri"/>
                <a:sym typeface="Calibri"/>
              </a:rPr>
              <a:t>11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560697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lang="en-US" sz="1200" b="0" i="0" u="none" strike="noStrike" cap="none" dirty="0">
              <a:solidFill>
                <a:schemeClr val="dk1"/>
              </a:solidFill>
              <a:latin typeface="Calibri"/>
              <a:ea typeface="Calibri"/>
              <a:cs typeface="Calibri"/>
              <a:sym typeface="Calibri"/>
            </a:endParaRPr>
          </a:p>
        </p:txBody>
      </p:sp>
      <p:sp>
        <p:nvSpPr>
          <p:cNvPr id="250" name="Shape 250"/>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12</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5391206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Raster data</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Comprised of raster cells—all the same size and all with a value</a:t>
            </a: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This data is always continuous and there are no discrete units—a single point or area.</a:t>
            </a: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Disclaimer: most of my work has been with vector based data</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Common raster maps? Temperature data (interpolated), land cover, classified remote sensing imagery</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Questions you could ask of a land cover map—what percentage of an area is covered by various land cover types. What’s the relationship between type of land cover and other characteristics: elevation, proximity to certain features, etc.?</a:t>
            </a:r>
          </a:p>
        </p:txBody>
      </p:sp>
      <p:sp>
        <p:nvSpPr>
          <p:cNvPr id="250" name="Shape 250"/>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13</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637419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Raster data</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Comprised of raster cells—all the same size and all with a value</a:t>
            </a: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This data is always continuous and there are no discrete units—a single point or area.</a:t>
            </a: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Disclaimer: most of my work has been with vector based data</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Common raster maps? Temperature data (interpolated), land cover, classified remote sensing imagery</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Questions you could ask of a land cover map—what percentage of an area is covered by various land cover types. What’s the relationship between type of land cover and other characteristics: elevation, proximity to certain features, etc.?</a:t>
            </a:r>
          </a:p>
        </p:txBody>
      </p:sp>
      <p:sp>
        <p:nvSpPr>
          <p:cNvPr id="250" name="Shape 250"/>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14</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4709432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Shape 14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150" name="Shape 150"/>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p:txBody>
      </p:sp>
      <p:sp>
        <p:nvSpPr>
          <p:cNvPr id="151" name="Shape 151"/>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15</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1818927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Shape 15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158" name="Shape 158"/>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Difference between descriptive and inferential statistics.</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Example: rates of cancer in all state counties. </a:t>
            </a:r>
          </a:p>
        </p:txBody>
      </p:sp>
      <p:sp>
        <p:nvSpPr>
          <p:cNvPr id="159" name="Shape 159"/>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16</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413267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Shape 17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172" name="Shape 172"/>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What makes data geographic? </a:t>
            </a:r>
          </a:p>
          <a:p>
            <a:pPr marL="0" marR="0" lvl="0" indent="0" algn="l" rtl="0">
              <a:spcBef>
                <a:spcPts val="0"/>
              </a:spcBef>
              <a:buSzPct val="25000"/>
              <a:buNone/>
            </a:pPr>
            <a:endParaRPr sz="1200" b="0" i="0" u="none" strike="noStrike" cap="none" dirty="0">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Wide variety of data sources and methods</a:t>
            </a:r>
          </a:p>
          <a:p>
            <a:pPr marL="0" marR="0" lvl="0" indent="0" algn="l" rtl="0">
              <a:spcBef>
                <a:spcPts val="0"/>
              </a:spcBef>
              <a:buSzPct val="25000"/>
              <a:buNone/>
            </a:pPr>
            <a:endParaRPr sz="1200" b="0" i="0" u="none" strike="noStrike" cap="none" dirty="0">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Raster and vector based data sources</a:t>
            </a:r>
          </a:p>
          <a:p>
            <a:pPr marL="0" marR="0" lvl="0" indent="0" algn="l" rtl="0">
              <a:spcBef>
                <a:spcPts val="0"/>
              </a:spcBef>
              <a:buSzPct val="25000"/>
              <a:buNone/>
            </a:pPr>
            <a:endParaRPr sz="1200" b="0" i="0" u="none" strike="noStrike" cap="none" dirty="0">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Information about a place in some form—often now through GIS based techniques</a:t>
            </a:r>
          </a:p>
          <a:p>
            <a:pPr marL="0" marR="0" lvl="0" indent="0" algn="l" rtl="0">
              <a:spcBef>
                <a:spcPts val="0"/>
              </a:spcBef>
              <a:buSzPct val="25000"/>
              <a:buNone/>
            </a:pPr>
            <a:endParaRPr lang="en-US" sz="1200" b="0" i="0" u="none" strike="noStrike" cap="none" dirty="0">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RASTER DATA: </a:t>
            </a:r>
          </a:p>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Comprised of raster cells—all the same size and all with a value</a:t>
            </a:r>
          </a:p>
          <a:p>
            <a:pPr marL="0" marR="0" lvl="0" indent="0" algn="l" rtl="0">
              <a:spcBef>
                <a:spcPts val="0"/>
              </a:spcBef>
              <a:buSzPct val="25000"/>
              <a:buNone/>
            </a:pPr>
            <a:endParaRPr lang="en-US" sz="1200" b="0" i="0" u="none" strike="noStrike" cap="none" dirty="0">
              <a:solidFill>
                <a:schemeClr val="dk1"/>
              </a:solidFill>
              <a:latin typeface="Calibri"/>
              <a:ea typeface="Calibri"/>
              <a:cs typeface="Calibri"/>
              <a:sym typeface="Calibri"/>
            </a:endParaRPr>
          </a:p>
          <a:p>
            <a:pPr marL="0" marR="0" lvl="0" indent="0" algn="l" rtl="0">
              <a:spcBef>
                <a:spcPts val="0"/>
              </a:spcBef>
              <a:buSzPct val="25000"/>
              <a:buNone/>
            </a:pPr>
            <a:endParaRPr lang="en-US" sz="1200" b="0" i="0" u="none" strike="noStrike" cap="none" dirty="0">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VECTOR DATA:</a:t>
            </a:r>
          </a:p>
          <a:p>
            <a:pPr marL="0" marR="0" lvl="0" indent="0" algn="l" rtl="0">
              <a:spcBef>
                <a:spcPts val="0"/>
              </a:spcBef>
              <a:buSzPct val="25000"/>
              <a:buNone/>
            </a:pPr>
            <a:r>
              <a:rPr lang="en-US" sz="1200" b="0" i="0" u="none" strike="noStrike" kern="1200" cap="none" dirty="0">
                <a:solidFill>
                  <a:schemeClr val="dk1"/>
                </a:solidFill>
                <a:effectLst/>
                <a:latin typeface="Calibri"/>
                <a:ea typeface="Calibri"/>
                <a:cs typeface="Calibri"/>
                <a:sym typeface="Calibri"/>
              </a:rPr>
              <a:t> A representation of the world using points, lines, and polygons. Vector models are useful for storing data that has discrete boundaries, such as country borders, land parcels, and streets.</a:t>
            </a:r>
            <a:endParaRPr lang="en-US" sz="1200" b="0" i="0" u="none" strike="noStrike" cap="none" dirty="0">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(Jerry uses vector data, I use raster but I don’t call it that)</a:t>
            </a:r>
            <a:endParaRPr sz="1200" b="0" i="0" u="none" strike="noStrike" cap="none" dirty="0">
              <a:solidFill>
                <a:schemeClr val="dk1"/>
              </a:solidFill>
              <a:latin typeface="Calibri"/>
              <a:ea typeface="Calibri"/>
              <a:cs typeface="Calibri"/>
              <a:sym typeface="Calibri"/>
            </a:endParaRPr>
          </a:p>
        </p:txBody>
      </p:sp>
      <p:sp>
        <p:nvSpPr>
          <p:cNvPr id="173" name="Shape 173"/>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17</a:t>
            </a:fld>
            <a:endParaRPr lang="en-US" sz="1200">
              <a:solidFill>
                <a:schemeClr val="dk1"/>
              </a:solidFill>
              <a:latin typeface="Calibri"/>
              <a:ea typeface="Calibri"/>
              <a:cs typeface="Calibri"/>
              <a:sym typeface="Calibri"/>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cap="none" dirty="0">
                <a:solidFill>
                  <a:schemeClr val="dk1"/>
                </a:solidFill>
                <a:effectLst/>
                <a:latin typeface="Calibri"/>
                <a:ea typeface="Calibri"/>
                <a:cs typeface="Calibri"/>
                <a:sym typeface="Calibri"/>
              </a:rPr>
              <a:t>In its simplest form, a raster consists of a matrix of cells (or pixels) organized into rows and columns (or a grid) where each cell contains a value representing information, such as temperature. </a:t>
            </a:r>
            <a:r>
              <a:rPr lang="en-US" sz="1200" b="0" i="0" u="none" strike="noStrike" kern="1200" cap="none" dirty="0" err="1">
                <a:solidFill>
                  <a:schemeClr val="dk1"/>
                </a:solidFill>
                <a:effectLst/>
                <a:latin typeface="Calibri"/>
                <a:ea typeface="Calibri"/>
                <a:cs typeface="Calibri"/>
                <a:sym typeface="Calibri"/>
              </a:rPr>
              <a:t>Rasters</a:t>
            </a:r>
            <a:r>
              <a:rPr lang="en-US" sz="1200" b="0" i="0" u="none" strike="noStrike" kern="1200" cap="none" dirty="0">
                <a:solidFill>
                  <a:schemeClr val="dk1"/>
                </a:solidFill>
                <a:effectLst/>
                <a:latin typeface="Calibri"/>
                <a:ea typeface="Calibri"/>
                <a:cs typeface="Calibri"/>
                <a:sym typeface="Calibri"/>
              </a:rPr>
              <a:t> are digital aerial photographs, imagery from satellites, digital pictures, or even scanned maps.</a:t>
            </a:r>
          </a:p>
          <a:p>
            <a:endParaRPr lang="en-US" dirty="0"/>
          </a:p>
          <a:p>
            <a:r>
              <a:rPr lang="en-US" sz="1200" b="0" i="0" u="none" strike="noStrike" kern="1200" cap="none" dirty="0">
                <a:solidFill>
                  <a:schemeClr val="dk1"/>
                </a:solidFill>
                <a:effectLst/>
                <a:latin typeface="Calibri"/>
                <a:ea typeface="Calibri"/>
                <a:cs typeface="Calibri"/>
                <a:sym typeface="Calibri"/>
              </a:rPr>
              <a:t>Data stored in a raster format represents real-world phenomena:</a:t>
            </a:r>
          </a:p>
          <a:p>
            <a:r>
              <a:rPr lang="en-US" sz="1200" b="0" i="0" u="none" strike="noStrike" kern="1200" cap="none" dirty="0">
                <a:solidFill>
                  <a:schemeClr val="dk1"/>
                </a:solidFill>
                <a:effectLst/>
                <a:latin typeface="Calibri"/>
                <a:ea typeface="Calibri"/>
                <a:cs typeface="Calibri"/>
                <a:sym typeface="Calibri"/>
              </a:rPr>
              <a:t>Thematic data (also known as discrete) represents features such as land-use or soils data.</a:t>
            </a:r>
          </a:p>
          <a:p>
            <a:r>
              <a:rPr lang="en-US" sz="1200" b="0" i="0" u="none" strike="noStrike" kern="1200" cap="none" dirty="0">
                <a:solidFill>
                  <a:schemeClr val="dk1"/>
                </a:solidFill>
                <a:effectLst/>
                <a:latin typeface="Calibri"/>
                <a:ea typeface="Calibri"/>
                <a:cs typeface="Calibri"/>
                <a:sym typeface="Calibri"/>
              </a:rPr>
              <a:t>Continuous data represents phenomena such as temperature, elevation, or spectral data such as satellite images and aerial photographs.</a:t>
            </a:r>
          </a:p>
          <a:p>
            <a:r>
              <a:rPr lang="en-US" sz="1200" b="0" i="0" u="none" strike="noStrike" kern="1200" cap="none" dirty="0">
                <a:solidFill>
                  <a:schemeClr val="dk1"/>
                </a:solidFill>
                <a:effectLst/>
                <a:latin typeface="Calibri"/>
                <a:ea typeface="Calibri"/>
                <a:cs typeface="Calibri"/>
                <a:sym typeface="Calibri"/>
              </a:rPr>
              <a:t>Pictures include scanned maps or drawings and building photographs.</a:t>
            </a:r>
          </a:p>
          <a:p>
            <a:pPr marL="0" marR="0" lvl="0" indent="0" algn="l" rtl="0">
              <a:spcBef>
                <a:spcPts val="0"/>
              </a:spcBef>
              <a:buSzPct val="25000"/>
              <a:buNone/>
            </a:pPr>
            <a:br>
              <a:rPr lang="en-US" dirty="0"/>
            </a:br>
            <a:endParaRPr lang="en-US" sz="1200" b="0" i="0" u="none" strike="noStrike" cap="none" dirty="0">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Common raster maps? Temperature data (interpolated), land cover, classified remote sensing imagery</a:t>
            </a:r>
          </a:p>
          <a:p>
            <a:pPr marL="0" marR="0" lvl="0" indent="0" algn="l" rtl="0">
              <a:spcBef>
                <a:spcPts val="0"/>
              </a:spcBef>
              <a:buSzPct val="25000"/>
              <a:buNone/>
            </a:pPr>
            <a:endParaRPr lang="en-US" sz="1200" b="0" i="0" u="none" strike="noStrike" cap="none" dirty="0">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Questions you could ask of a land cover map—what percentage of an area is covered by various land cover types. What’s the relationship between type of land cover and other characteristics: elevation, proximity to certain features, etc.?</a:t>
            </a:r>
          </a:p>
        </p:txBody>
      </p:sp>
      <p:sp>
        <p:nvSpPr>
          <p:cNvPr id="4" name="Slide Number Placeholder 3"/>
          <p:cNvSpPr>
            <a:spLocks noGrp="1"/>
          </p:cNvSpPr>
          <p:nvPr>
            <p:ph type="sldNum" idx="12"/>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dk1"/>
                </a:solidFill>
                <a:latin typeface="Calibri"/>
                <a:ea typeface="Calibri"/>
                <a:cs typeface="Calibri"/>
                <a:sym typeface="Calibri"/>
              </a:rPr>
              <a:t>18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0953194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Shape 16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164" name="Shape 164"/>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sz="1200" b="0" i="0" u="none" strike="noStrike" cap="none" dirty="0">
              <a:solidFill>
                <a:schemeClr val="dk1"/>
              </a:solidFill>
              <a:latin typeface="Calibri"/>
              <a:ea typeface="Calibri"/>
              <a:cs typeface="Calibri"/>
              <a:sym typeface="Calibri"/>
            </a:endParaRPr>
          </a:p>
        </p:txBody>
      </p:sp>
      <p:sp>
        <p:nvSpPr>
          <p:cNvPr id="165" name="Shape 165"/>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20</a:t>
            </a:fld>
            <a:endParaRPr lang="en-US" sz="1200">
              <a:solidFill>
                <a:schemeClr val="dk1"/>
              </a:solidFill>
              <a:latin typeface="Calibri"/>
              <a:ea typeface="Calibri"/>
              <a:cs typeface="Calibri"/>
              <a:sym typeface="Calibri"/>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Shape 22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30" name="Shape 230"/>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More recently, new generation of work on quantitative geography drawing on increased computing power, GIS software, and increasing availability of “big data”</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Methods for managing and analyzing datasets of multiple terabytes</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p:txBody>
      </p:sp>
      <p:sp>
        <p:nvSpPr>
          <p:cNvPr id="231" name="Shape 231"/>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21</a:t>
            </a:fld>
            <a:endParaRPr lang="en-US" sz="1200">
              <a:solidFill>
                <a:schemeClr val="dk1"/>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r>
              <a:rPr lang="en-US" sz="1200" b="0" i="0" u="none" strike="noStrike" cap="none" dirty="0">
                <a:solidFill>
                  <a:schemeClr val="dk1"/>
                </a:solidFill>
                <a:latin typeface="Calibri"/>
                <a:ea typeface="Calibri"/>
                <a:cs typeface="Calibri"/>
                <a:sym typeface="Calibri"/>
              </a:rPr>
              <a:t>Raster data</a:t>
            </a:r>
          </a:p>
          <a:p>
            <a:pPr marL="0" marR="0" lvl="0" indent="0" algn="l" rtl="0">
              <a:spcBef>
                <a:spcPts val="0"/>
              </a:spcBef>
              <a:buSzPct val="25000"/>
              <a:buNone/>
            </a:pPr>
            <a:endParaRPr sz="1200" b="0" i="0" u="none" strike="noStrike" cap="none" dirty="0">
              <a:solidFill>
                <a:schemeClr val="dk1"/>
              </a:solidFill>
              <a:latin typeface="Calibri"/>
              <a:ea typeface="Calibri"/>
              <a:cs typeface="Calibri"/>
              <a:sym typeface="Calibri"/>
            </a:endParaRPr>
          </a:p>
        </p:txBody>
      </p:sp>
      <p:sp>
        <p:nvSpPr>
          <p:cNvPr id="250" name="Shape 250"/>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22</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2619595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Raster data</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Comprised of raster cells—all the same size and all with a value</a:t>
            </a: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This data is always continuous and there are no discrete units—a single point or area.</a:t>
            </a: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Disclaimer: most of my work has been with vector based data</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Common raster maps? Temperature data (interpolated), land cover, classified remote sensing imagery</a:t>
            </a:r>
          </a:p>
          <a:p>
            <a:pPr marL="0" marR="0" lvl="0" indent="0" algn="l" rtl="0">
              <a:spcBef>
                <a:spcPts val="0"/>
              </a:spcBef>
              <a:buSzPct val="25000"/>
              <a:buNone/>
            </a:pPr>
            <a:endParaRPr sz="1200" b="0" i="0" u="none" strike="noStrike" cap="none">
              <a:solidFill>
                <a:schemeClr val="dk1"/>
              </a:solidFill>
              <a:latin typeface="Calibri"/>
              <a:ea typeface="Calibri"/>
              <a:cs typeface="Calibri"/>
              <a:sym typeface="Calibri"/>
            </a:endParaRPr>
          </a:p>
          <a:p>
            <a:pPr marL="0" marR="0" lvl="0" indent="0" algn="l" rtl="0">
              <a:spcBef>
                <a:spcPts val="0"/>
              </a:spcBef>
              <a:buSzPct val="25000"/>
              <a:buNone/>
            </a:pPr>
            <a:r>
              <a:rPr lang="en-US" sz="1200" b="0" i="0" u="none" strike="noStrike" cap="none">
                <a:solidFill>
                  <a:schemeClr val="dk1"/>
                </a:solidFill>
                <a:latin typeface="Calibri"/>
                <a:ea typeface="Calibri"/>
                <a:cs typeface="Calibri"/>
                <a:sym typeface="Calibri"/>
              </a:rPr>
              <a:t>Questions you could ask of a land cover map—what percentage of an area is covered by various land cover types. What’s the relationship between type of land cover and other characteristics: elevation, proximity to certain features, etc.?</a:t>
            </a:r>
          </a:p>
        </p:txBody>
      </p:sp>
      <p:sp>
        <p:nvSpPr>
          <p:cNvPr id="250" name="Shape 250"/>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23</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916000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lang="en-US" sz="1200" b="0" i="0" u="none" strike="noStrike" cap="none" dirty="0">
              <a:solidFill>
                <a:schemeClr val="dk1"/>
              </a:solidFill>
              <a:latin typeface="Calibri"/>
              <a:ea typeface="Calibri"/>
              <a:cs typeface="Calibri"/>
              <a:sym typeface="Calibri"/>
            </a:endParaRPr>
          </a:p>
        </p:txBody>
      </p:sp>
      <p:sp>
        <p:nvSpPr>
          <p:cNvPr id="250" name="Shape 250"/>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24</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7005838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lang="en-US" sz="1200" b="0" i="0" u="none" strike="noStrike" cap="none" dirty="0">
              <a:solidFill>
                <a:schemeClr val="dk1"/>
              </a:solidFill>
              <a:latin typeface="Calibri"/>
              <a:ea typeface="Calibri"/>
              <a:cs typeface="Calibri"/>
              <a:sym typeface="Calibri"/>
            </a:endParaRPr>
          </a:p>
        </p:txBody>
      </p:sp>
      <p:sp>
        <p:nvSpPr>
          <p:cNvPr id="250" name="Shape 250"/>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25</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0499222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249" name="Shape 249"/>
          <p:cNvSpPr txBox="1">
            <a:spLocks noGrp="1"/>
          </p:cNvSpPr>
          <p:nvPr>
            <p:ph type="body" idx="1"/>
          </p:nvPr>
        </p:nvSpPr>
        <p:spPr>
          <a:xfrm>
            <a:off x="685800" y="4343400"/>
            <a:ext cx="5486399" cy="4114800"/>
          </a:xfrm>
          <a:prstGeom prst="rect">
            <a:avLst/>
          </a:prstGeom>
          <a:noFill/>
          <a:ln>
            <a:noFill/>
          </a:ln>
        </p:spPr>
        <p:txBody>
          <a:bodyPr lIns="91425" tIns="45700" rIns="91425" bIns="45700" anchor="t" anchorCtr="0">
            <a:noAutofit/>
          </a:bodyPr>
          <a:lstStyle/>
          <a:p>
            <a:pPr marL="0" marR="0" lvl="0" indent="0" algn="l" rtl="0">
              <a:spcBef>
                <a:spcPts val="0"/>
              </a:spcBef>
              <a:buSzPct val="25000"/>
              <a:buNone/>
            </a:pPr>
            <a:endParaRPr lang="en-US" sz="1200" b="0" i="0" u="none" strike="noStrike" cap="none" dirty="0">
              <a:solidFill>
                <a:schemeClr val="dk1"/>
              </a:solidFill>
              <a:latin typeface="Calibri"/>
              <a:ea typeface="Calibri"/>
              <a:cs typeface="Calibri"/>
              <a:sym typeface="Calibri"/>
            </a:endParaRPr>
          </a:p>
        </p:txBody>
      </p:sp>
      <p:sp>
        <p:nvSpPr>
          <p:cNvPr id="250" name="Shape 250"/>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a:solidFill>
                  <a:schemeClr val="dk1"/>
                </a:solidFill>
                <a:latin typeface="Calibri"/>
                <a:ea typeface="Calibri"/>
                <a:cs typeface="Calibri"/>
                <a:sym typeface="Calibri"/>
              </a:rPr>
              <a:t>26</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449350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75000"/>
                  </a:schemeClr>
                </a:solidFill>
              </a:defRPr>
            </a:lvl1pPr>
          </a:lstStyle>
          <a:p>
            <a:r>
              <a:rPr lang="en-US" dirty="0"/>
              <a:t>Click to edit Master title style</a:t>
            </a:r>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64002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400"/>
            </a:lvl1pPr>
            <a:lvl2pPr>
              <a:defRPr sz="20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11142212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75000"/>
                  </a:schemeClr>
                </a:solidFill>
              </a:defRPr>
            </a:lvl1pPr>
          </a:lstStyle>
          <a:p>
            <a:r>
              <a:rPr lang="en-US" dirty="0"/>
              <a:t>Click to edit Master title style</a:t>
            </a:r>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7414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26129426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60684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1">
                    <a:lumMod val="75000"/>
                  </a:schemeClr>
                </a:solidFill>
              </a:defRPr>
            </a:lvl1pPr>
          </a:lstStyle>
          <a:p>
            <a:r>
              <a:rPr lang="en-US" dirty="0"/>
              <a:t>Click to edit Master title style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22583480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21961970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3166828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51561642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29416505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spTree>
    <p:extLst>
      <p:ext uri="{BB962C8B-B14F-4D97-AF65-F5344CB8AC3E}">
        <p14:creationId xmlns:p14="http://schemas.microsoft.com/office/powerpoint/2010/main" val="9424141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pPr>
              <a:buSzPct val="25000"/>
            </a:pPr>
            <a:fld id="{00000000-1234-1234-1234-123412341234}" type="slidenum">
              <a:rPr lang="en-US" sz="1200" smtClean="0">
                <a:solidFill>
                  <a:srgbClr val="888888"/>
                </a:solidFill>
                <a:latin typeface="Calibri"/>
                <a:ea typeface="Calibri"/>
                <a:cs typeface="Calibri"/>
                <a:sym typeface="Calibri"/>
              </a:rPr>
              <a:pPr>
                <a:buSzPct val="25000"/>
              </a:pPr>
              <a:t>‹#›</a:t>
            </a:fld>
            <a:endParaRPr lang="en-US" sz="1200">
              <a:solidFill>
                <a:srgbClr val="888888"/>
              </a:solidFill>
              <a:latin typeface="Calibri"/>
              <a:ea typeface="Calibri"/>
              <a:cs typeface="Calibri"/>
              <a:sym typeface="Calibri"/>
            </a:endParaRPr>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8794303"/>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hf sldNum="0" hdr="0" ftr="0" dt="0"/>
  <p:txStyles>
    <p:titleStyle>
      <a:lvl1pPr algn="l" defTabSz="914400" rtl="0" eaLnBrk="1" latinLnBrk="0" hangingPunct="1">
        <a:lnSpc>
          <a:spcPct val="85000"/>
        </a:lnSpc>
        <a:spcBef>
          <a:spcPct val="0"/>
        </a:spcBef>
        <a:buNone/>
        <a:defRPr sz="4800" kern="1200" spc="-50" baseline="0">
          <a:solidFill>
            <a:schemeClr val="tx1">
              <a:lumMod val="75000"/>
            </a:schemeClr>
          </a:solidFill>
          <a:latin typeface="Sitka Display Semibold" pitchFamily="2" charset="0"/>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800" kern="1200">
          <a:solidFill>
            <a:schemeClr val="tx1">
              <a:lumMod val="75000"/>
            </a:schemeClr>
          </a:solidFill>
          <a:latin typeface="Segoe UI" panose="020B0502040204020203" pitchFamily="34" charset="0"/>
          <a:ea typeface="Open Sans Medium" pitchFamily="2" charset="0"/>
          <a:cs typeface="Segoe UI" panose="020B0502040204020203" pitchFamily="34" charset="0"/>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2400" kern="1200">
          <a:solidFill>
            <a:schemeClr val="tx1">
              <a:lumMod val="75000"/>
            </a:schemeClr>
          </a:solidFill>
          <a:latin typeface="Segoe UI" panose="020B0502040204020203" pitchFamily="34" charset="0"/>
          <a:ea typeface="Open Sans Medium" pitchFamily="2" charset="0"/>
          <a:cs typeface="Segoe UI" panose="020B0502040204020203" pitchFamily="34" charset="0"/>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schemeClr>
          </a:solidFill>
          <a:latin typeface="Segoe UI" panose="020B0502040204020203" pitchFamily="34" charset="0"/>
          <a:ea typeface="Open Sans Medium" pitchFamily="2" charset="0"/>
          <a:cs typeface="Segoe UI" panose="020B0502040204020203" pitchFamily="34" charset="0"/>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schemeClr>
          </a:solidFill>
          <a:latin typeface="Segoe UI" panose="020B0502040204020203" pitchFamily="34" charset="0"/>
          <a:ea typeface="Open Sans Medium" pitchFamily="2" charset="0"/>
          <a:cs typeface="Segoe UI" panose="020B0502040204020203" pitchFamily="34" charset="0"/>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schemeClr>
          </a:solidFill>
          <a:latin typeface="Segoe UI" panose="020B0502040204020203" pitchFamily="34" charset="0"/>
          <a:ea typeface="Open Sans Medium" pitchFamily="2" charset="0"/>
          <a:cs typeface="Segoe UI" panose="020B0502040204020203" pitchFamily="34" charset="0"/>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1.gif"/></Relationships>
</file>

<file path=ppt/slides/_rels/slide18.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notesSlide" Target="../notesSlides/notesSlide17.xml"/><Relationship Id="rId1" Type="http://schemas.openxmlformats.org/officeDocument/2006/relationships/slideLayout" Target="../slideLayouts/slideLayout7.xml"/><Relationship Id="rId5" Type="http://schemas.openxmlformats.org/officeDocument/2006/relationships/image" Target="../media/image14.gif"/><Relationship Id="rId4" Type="http://schemas.openxmlformats.org/officeDocument/2006/relationships/image" Target="../media/image13.gif"/></Relationships>
</file>

<file path=ppt/slides/_rels/slide19.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image" Target="../media/image17.emf"/></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jpg"/></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4.gif"/><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6.gif"/></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88"/>
        <p:cNvGrpSpPr/>
        <p:nvPr/>
      </p:nvGrpSpPr>
      <p:grpSpPr>
        <a:xfrm>
          <a:off x="0" y="0"/>
          <a:ext cx="0" cy="0"/>
          <a:chOff x="0" y="0"/>
          <a:chExt cx="0" cy="0"/>
        </a:xfrm>
      </p:grpSpPr>
      <p:sp>
        <p:nvSpPr>
          <p:cNvPr id="89" name="Shape 89"/>
          <p:cNvSpPr txBox="1">
            <a:spLocks noGrp="1"/>
          </p:cNvSpPr>
          <p:nvPr>
            <p:ph type="title"/>
          </p:nvPr>
        </p:nvSpPr>
        <p:spPr>
          <a:prstGeom prst="rect">
            <a:avLst/>
          </a:prstGeom>
          <a:noFill/>
          <a:ln>
            <a:noFill/>
          </a:ln>
        </p:spPr>
        <p:txBody>
          <a:bodyPr vert="horz" lIns="91425" tIns="45700" rIns="91425" bIns="45700" rtlCol="0" anchor="ctr" anchorCtr="0">
            <a:noAutofit/>
          </a:bodyPr>
          <a:lstStyle/>
          <a:p>
            <a:pPr>
              <a:spcBef>
                <a:spcPts val="0"/>
              </a:spcBef>
              <a:buClr>
                <a:srgbClr val="FFFF66"/>
              </a:buClr>
              <a:buSzPct val="25000"/>
            </a:pPr>
            <a:r>
              <a:rPr lang="en-US" sz="3959" dirty="0">
                <a:solidFill>
                  <a:schemeClr val="tx1"/>
                </a:solidFill>
                <a:ea typeface="Calibri"/>
                <a:cs typeface="Calibri"/>
                <a:sym typeface="Calibri"/>
              </a:rPr>
              <a:t>Geog4/6300: Data Science in Geography</a:t>
            </a:r>
          </a:p>
        </p:txBody>
      </p:sp>
      <p:pic>
        <p:nvPicPr>
          <p:cNvPr id="1026" name="Picture 2" descr="#dataengineering #bigdata #lego #techinnovation #datascience | Chiara ...">
            <a:extLst>
              <a:ext uri="{FF2B5EF4-FFF2-40B4-BE49-F238E27FC236}">
                <a16:creationId xmlns:a16="http://schemas.microsoft.com/office/drawing/2014/main" id="{291B9A13-B95F-4832-92EC-A91E1EA7675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74862" y="2010101"/>
            <a:ext cx="4180818" cy="4180818"/>
          </a:xfrm>
          <a:prstGeom prst="rect">
            <a:avLst/>
          </a:prstGeom>
          <a:noFill/>
          <a:ln>
            <a:solidFill>
              <a:schemeClr val="tx1">
                <a:lumMod val="75000"/>
              </a:schemeClr>
            </a:solid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5DF1FDB5-E7F9-4418-A232-5291A07F2AA6}"/>
              </a:ext>
            </a:extLst>
          </p:cNvPr>
          <p:cNvSpPr txBox="1"/>
          <p:nvPr/>
        </p:nvSpPr>
        <p:spPr>
          <a:xfrm>
            <a:off x="1187669" y="4813738"/>
            <a:ext cx="2712602" cy="1200329"/>
          </a:xfrm>
          <a:prstGeom prst="rect">
            <a:avLst/>
          </a:prstGeom>
          <a:noFill/>
        </p:spPr>
        <p:txBody>
          <a:bodyPr wrap="none" rtlCol="0">
            <a:spAutoFit/>
          </a:bodyPr>
          <a:lstStyle/>
          <a:p>
            <a:r>
              <a:rPr lang="en-US" sz="3600" dirty="0">
                <a:latin typeface="Sitka Subheading" pitchFamily="2" charset="0"/>
              </a:rPr>
              <a:t>Dr. Shannon</a:t>
            </a:r>
          </a:p>
          <a:p>
            <a:r>
              <a:rPr lang="en-US" sz="3600" dirty="0">
                <a:latin typeface="Sitka Subheading" pitchFamily="2" charset="0"/>
              </a:rPr>
              <a:t>Fall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52"/>
        <p:cNvGrpSpPr/>
        <p:nvPr/>
      </p:nvGrpSpPr>
      <p:grpSpPr>
        <a:xfrm>
          <a:off x="0" y="0"/>
          <a:ext cx="0" cy="0"/>
          <a:chOff x="0" y="0"/>
          <a:chExt cx="0" cy="0"/>
        </a:xfrm>
      </p:grpSpPr>
      <p:sp>
        <p:nvSpPr>
          <p:cNvPr id="154" name="Shape 154"/>
          <p:cNvSpPr txBox="1">
            <a:spLocks noGrp="1"/>
          </p:cNvSpPr>
          <p:nvPr>
            <p:ph type="title"/>
          </p:nvPr>
        </p:nvSpPr>
        <p:spPr>
          <a:prstGeom prst="rect">
            <a:avLst/>
          </a:prstGeom>
          <a:noFill/>
          <a:ln>
            <a:noFill/>
          </a:ln>
        </p:spPr>
        <p:txBody>
          <a:bodyPr vert="horz" lIns="91425" tIns="45700" rIns="91425" bIns="45700" rtlCol="0" anchor="ctr" anchorCtr="0">
            <a:noAutofit/>
          </a:bodyPr>
          <a:lstStyle/>
          <a:p>
            <a:pPr>
              <a:spcBef>
                <a:spcPts val="0"/>
              </a:spcBef>
              <a:buClr>
                <a:srgbClr val="FFFF66"/>
              </a:buClr>
              <a:buSzPct val="25000"/>
            </a:pPr>
            <a:r>
              <a:rPr lang="en-US" sz="3959" dirty="0">
                <a:ea typeface="Calibri"/>
                <a:cs typeface="Calibri"/>
                <a:sym typeface="Calibri"/>
              </a:rPr>
              <a:t>What’s this course about?</a:t>
            </a:r>
          </a:p>
        </p:txBody>
      </p:sp>
      <p:sp>
        <p:nvSpPr>
          <p:cNvPr id="2" name="Content Placeholder 1">
            <a:extLst>
              <a:ext uri="{FF2B5EF4-FFF2-40B4-BE49-F238E27FC236}">
                <a16:creationId xmlns:a16="http://schemas.microsoft.com/office/drawing/2014/main" id="{1D27DE3B-27DB-4344-BBF5-C8A9CD885747}"/>
              </a:ext>
            </a:extLst>
          </p:cNvPr>
          <p:cNvSpPr>
            <a:spLocks noGrp="1"/>
          </p:cNvSpPr>
          <p:nvPr>
            <p:ph idx="1"/>
          </p:nvPr>
        </p:nvSpPr>
        <p:spPr/>
        <p:txBody>
          <a:bodyPr>
            <a:normAutofit/>
          </a:bodyPr>
          <a:lstStyle/>
          <a:p>
            <a:pPr rtl="0">
              <a:spcBef>
                <a:spcPts val="0"/>
              </a:spcBef>
              <a:spcAft>
                <a:spcPts val="0"/>
              </a:spcAft>
            </a:pPr>
            <a:r>
              <a:rPr lang="en-US" b="0" i="0" u="none" strike="noStrike" dirty="0">
                <a:solidFill>
                  <a:srgbClr val="000000"/>
                </a:solidFill>
                <a:effectLst/>
              </a:rPr>
              <a:t>This course provides an introduction to data science and statistical methods in Geography, including </a:t>
            </a:r>
            <a:r>
              <a:rPr lang="en-US" b="1" i="0" u="none" strike="noStrike" dirty="0">
                <a:solidFill>
                  <a:schemeClr val="accent2">
                    <a:lumMod val="75000"/>
                  </a:schemeClr>
                </a:solidFill>
                <a:effectLst/>
              </a:rPr>
              <a:t>methods of obtaining and cleaning data, descriptive and inferential statistics, and basic spatial analysis</a:t>
            </a:r>
            <a:r>
              <a:rPr lang="en-US" b="0" i="0" u="none" strike="noStrike" dirty="0">
                <a:solidFill>
                  <a:srgbClr val="000000"/>
                </a:solidFill>
                <a:effectLst/>
              </a:rPr>
              <a:t>. It also provides students with experience conducting analysis </a:t>
            </a:r>
            <a:r>
              <a:rPr lang="en-US" b="1" i="0" u="none" strike="noStrike" dirty="0">
                <a:solidFill>
                  <a:schemeClr val="accent2">
                    <a:lumMod val="75000"/>
                  </a:schemeClr>
                </a:solidFill>
                <a:effectLst/>
              </a:rPr>
              <a:t>in a code based environment</a:t>
            </a:r>
            <a:r>
              <a:rPr lang="en-US" b="0" i="0" u="none" strike="noStrike" dirty="0">
                <a:solidFill>
                  <a:srgbClr val="000000"/>
                </a:solidFill>
                <a:effectLst/>
              </a:rPr>
              <a:t> through the open source software package R. Students completing this course should gain familiarity with all these techniques, better understand their use within Geography, and be able to apply them to their own research interests.  </a:t>
            </a:r>
            <a:endParaRPr lang="en-US" sz="3200" dirty="0">
              <a:effectLs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52"/>
        <p:cNvGrpSpPr/>
        <p:nvPr/>
      </p:nvGrpSpPr>
      <p:grpSpPr>
        <a:xfrm>
          <a:off x="0" y="0"/>
          <a:ext cx="0" cy="0"/>
          <a:chOff x="0" y="0"/>
          <a:chExt cx="0" cy="0"/>
        </a:xfrm>
      </p:grpSpPr>
      <p:sp>
        <p:nvSpPr>
          <p:cNvPr id="154" name="Shape 154"/>
          <p:cNvSpPr txBox="1">
            <a:spLocks noGrp="1"/>
          </p:cNvSpPr>
          <p:nvPr>
            <p:ph type="title"/>
          </p:nvPr>
        </p:nvSpPr>
        <p:spPr>
          <a:prstGeom prst="rect">
            <a:avLst/>
          </a:prstGeom>
          <a:noFill/>
          <a:ln>
            <a:noFill/>
          </a:ln>
        </p:spPr>
        <p:txBody>
          <a:bodyPr vert="horz" lIns="91425" tIns="45700" rIns="91425" bIns="45700" rtlCol="0" anchor="ctr" anchorCtr="0">
            <a:noAutofit/>
          </a:bodyPr>
          <a:lstStyle/>
          <a:p>
            <a:pPr>
              <a:spcBef>
                <a:spcPts val="0"/>
              </a:spcBef>
              <a:buClr>
                <a:srgbClr val="FFFF66"/>
              </a:buClr>
              <a:buSzPct val="25000"/>
            </a:pPr>
            <a:r>
              <a:rPr lang="en-US" sz="3959" dirty="0">
                <a:ea typeface="Calibri"/>
                <a:cs typeface="Calibri"/>
                <a:sym typeface="Calibri"/>
              </a:rPr>
              <a:t>Course objectives</a:t>
            </a:r>
          </a:p>
        </p:txBody>
      </p:sp>
      <p:sp>
        <p:nvSpPr>
          <p:cNvPr id="2" name="Content Placeholder 1">
            <a:extLst>
              <a:ext uri="{FF2B5EF4-FFF2-40B4-BE49-F238E27FC236}">
                <a16:creationId xmlns:a16="http://schemas.microsoft.com/office/drawing/2014/main" id="{1D27DE3B-27DB-4344-BBF5-C8A9CD885747}"/>
              </a:ext>
            </a:extLst>
          </p:cNvPr>
          <p:cNvSpPr>
            <a:spLocks noGrp="1"/>
          </p:cNvSpPr>
          <p:nvPr>
            <p:ph idx="1"/>
          </p:nvPr>
        </p:nvSpPr>
        <p:spPr>
          <a:xfrm>
            <a:off x="744741" y="1878785"/>
            <a:ext cx="10058400" cy="4023360"/>
          </a:xfrm>
        </p:spPr>
        <p:txBody>
          <a:bodyPr>
            <a:normAutofit fontScale="92500"/>
          </a:bodyPr>
          <a:lstStyle/>
          <a:p>
            <a:pPr marL="482600" indent="0" rtl="0">
              <a:spcBef>
                <a:spcPts val="0"/>
              </a:spcBef>
              <a:spcAft>
                <a:spcPts val="0"/>
              </a:spcAft>
              <a:buNone/>
            </a:pPr>
            <a:r>
              <a:rPr lang="en-US" b="0" i="0" u="none" strike="noStrike" dirty="0">
                <a:solidFill>
                  <a:srgbClr val="000000"/>
                </a:solidFill>
                <a:effectLst/>
              </a:rPr>
              <a:t>1. Understand basic concepts and methods of data collection and description</a:t>
            </a:r>
            <a:endParaRPr lang="en-US" dirty="0">
              <a:effectLst/>
            </a:endParaRPr>
          </a:p>
          <a:p>
            <a:pPr marL="457200" rtl="0">
              <a:spcBef>
                <a:spcPts val="0"/>
              </a:spcBef>
              <a:spcAft>
                <a:spcPts val="0"/>
              </a:spcAft>
            </a:pPr>
            <a:endParaRPr lang="en-US" b="0" i="0" u="none" strike="noStrike" dirty="0">
              <a:solidFill>
                <a:srgbClr val="000000"/>
              </a:solidFill>
              <a:effectLst/>
            </a:endParaRPr>
          </a:p>
          <a:p>
            <a:pPr marL="457200" rtl="0">
              <a:spcBef>
                <a:spcPts val="0"/>
              </a:spcBef>
              <a:spcAft>
                <a:spcPts val="0"/>
              </a:spcAft>
            </a:pPr>
            <a:r>
              <a:rPr lang="en-US" b="0" i="0" u="none" strike="noStrike" dirty="0">
                <a:solidFill>
                  <a:srgbClr val="000000"/>
                </a:solidFill>
                <a:effectLst/>
              </a:rPr>
              <a:t>2. Understand basic concepts of mathematical probability theory</a:t>
            </a:r>
            <a:endParaRPr lang="en-US" dirty="0">
              <a:effectLst/>
            </a:endParaRPr>
          </a:p>
          <a:p>
            <a:pPr marL="457200" rtl="0">
              <a:spcBef>
                <a:spcPts val="0"/>
              </a:spcBef>
              <a:spcAft>
                <a:spcPts val="0"/>
              </a:spcAft>
            </a:pPr>
            <a:endParaRPr lang="en-US" b="0" i="0" u="none" strike="noStrike" dirty="0">
              <a:solidFill>
                <a:srgbClr val="000000"/>
              </a:solidFill>
              <a:effectLst/>
            </a:endParaRPr>
          </a:p>
          <a:p>
            <a:pPr marL="457200" rtl="0">
              <a:spcBef>
                <a:spcPts val="0"/>
              </a:spcBef>
              <a:spcAft>
                <a:spcPts val="0"/>
              </a:spcAft>
            </a:pPr>
            <a:r>
              <a:rPr lang="en-US" b="0" i="0" u="none" strike="noStrike" dirty="0">
                <a:solidFill>
                  <a:srgbClr val="000000"/>
                </a:solidFill>
                <a:effectLst/>
              </a:rPr>
              <a:t>3. Understand the logic and practice of simple inferential statistics</a:t>
            </a:r>
            <a:endParaRPr lang="en-US" dirty="0">
              <a:effectLst/>
            </a:endParaRPr>
          </a:p>
          <a:p>
            <a:pPr marL="457200" rtl="0">
              <a:spcBef>
                <a:spcPts val="0"/>
              </a:spcBef>
              <a:spcAft>
                <a:spcPts val="0"/>
              </a:spcAft>
            </a:pPr>
            <a:endParaRPr lang="en-US" b="0" i="0" u="none" strike="noStrike" dirty="0">
              <a:solidFill>
                <a:srgbClr val="000000"/>
              </a:solidFill>
              <a:effectLst/>
            </a:endParaRPr>
          </a:p>
          <a:p>
            <a:pPr marL="457200" rtl="0">
              <a:spcBef>
                <a:spcPts val="0"/>
              </a:spcBef>
              <a:spcAft>
                <a:spcPts val="0"/>
              </a:spcAft>
            </a:pPr>
            <a:r>
              <a:rPr lang="en-US" b="0" i="0" u="none" strike="noStrike" dirty="0">
                <a:solidFill>
                  <a:srgbClr val="000000"/>
                </a:solidFill>
                <a:effectLst/>
              </a:rPr>
              <a:t>4. Understand correlation and regression analysis</a:t>
            </a:r>
            <a:endParaRPr lang="en-US" dirty="0">
              <a:effectLst/>
            </a:endParaRPr>
          </a:p>
          <a:p>
            <a:pPr marL="628650" indent="-166688" rtl="0">
              <a:spcBef>
                <a:spcPts val="0"/>
              </a:spcBef>
              <a:spcAft>
                <a:spcPts val="0"/>
              </a:spcAft>
            </a:pPr>
            <a:endParaRPr lang="en-US" b="0" i="0" u="none" strike="noStrike" dirty="0">
              <a:solidFill>
                <a:srgbClr val="000000"/>
              </a:solidFill>
              <a:effectLst/>
            </a:endParaRPr>
          </a:p>
          <a:p>
            <a:pPr marL="461962" indent="0" rtl="0">
              <a:spcBef>
                <a:spcPts val="0"/>
              </a:spcBef>
              <a:spcAft>
                <a:spcPts val="0"/>
              </a:spcAft>
              <a:buNone/>
            </a:pPr>
            <a:r>
              <a:rPr lang="en-US" b="0" i="0" u="none" strike="noStrike" dirty="0">
                <a:solidFill>
                  <a:srgbClr val="000000"/>
                </a:solidFill>
                <a:effectLst/>
              </a:rPr>
              <a:t>5. Ability to use appropriate statistical techniques in tackling geographical problems.</a:t>
            </a:r>
            <a:endParaRPr lang="en-US" dirty="0">
              <a:effectLst/>
            </a:endParaRPr>
          </a:p>
          <a:p>
            <a:pPr marL="457200" rtl="0">
              <a:spcBef>
                <a:spcPts val="0"/>
              </a:spcBef>
              <a:spcAft>
                <a:spcPts val="0"/>
              </a:spcAft>
            </a:pPr>
            <a:endParaRPr lang="en-US" b="0" i="0" u="none" strike="noStrike" dirty="0">
              <a:solidFill>
                <a:srgbClr val="000000"/>
              </a:solidFill>
              <a:effectLst/>
            </a:endParaRPr>
          </a:p>
          <a:p>
            <a:pPr marL="457200" rtl="0">
              <a:spcBef>
                <a:spcPts val="0"/>
              </a:spcBef>
              <a:spcAft>
                <a:spcPts val="0"/>
              </a:spcAft>
            </a:pPr>
            <a:r>
              <a:rPr lang="en-US" b="0" i="0" u="none" strike="noStrike" dirty="0">
                <a:solidFill>
                  <a:srgbClr val="000000"/>
                </a:solidFill>
                <a:effectLst/>
              </a:rPr>
              <a:t>6. Ability to comprehend academic literature that uses statistical techniques.</a:t>
            </a:r>
            <a:endParaRPr lang="en-US" dirty="0">
              <a:effectLst/>
            </a:endParaRPr>
          </a:p>
        </p:txBody>
      </p:sp>
    </p:spTree>
    <p:extLst>
      <p:ext uri="{BB962C8B-B14F-4D97-AF65-F5344CB8AC3E}">
        <p14:creationId xmlns:p14="http://schemas.microsoft.com/office/powerpoint/2010/main" val="10892212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52"/>
        <p:cNvGrpSpPr/>
        <p:nvPr/>
      </p:nvGrpSpPr>
      <p:grpSpPr>
        <a:xfrm>
          <a:off x="0" y="0"/>
          <a:ext cx="0" cy="0"/>
          <a:chOff x="0" y="0"/>
          <a:chExt cx="0" cy="0"/>
        </a:xfrm>
      </p:grpSpPr>
      <p:sp>
        <p:nvSpPr>
          <p:cNvPr id="154" name="Shape 154"/>
          <p:cNvSpPr txBox="1">
            <a:spLocks noGrp="1"/>
          </p:cNvSpPr>
          <p:nvPr>
            <p:ph type="title"/>
          </p:nvPr>
        </p:nvSpPr>
        <p:spPr>
          <a:prstGeom prst="rect">
            <a:avLst/>
          </a:prstGeom>
          <a:noFill/>
          <a:ln>
            <a:noFill/>
          </a:ln>
        </p:spPr>
        <p:txBody>
          <a:bodyPr vert="horz" lIns="91425" tIns="45700" rIns="91425" bIns="45700" rtlCol="0" anchor="ctr" anchorCtr="0">
            <a:noAutofit/>
          </a:bodyPr>
          <a:lstStyle/>
          <a:p>
            <a:pPr>
              <a:spcBef>
                <a:spcPts val="0"/>
              </a:spcBef>
              <a:buClr>
                <a:srgbClr val="FFFF66"/>
              </a:buClr>
              <a:buSzPct val="25000"/>
            </a:pPr>
            <a:r>
              <a:rPr lang="en-US" sz="3959" dirty="0">
                <a:ea typeface="Calibri"/>
                <a:cs typeface="Calibri"/>
                <a:sym typeface="Calibri"/>
              </a:rPr>
              <a:t>Main course units</a:t>
            </a:r>
          </a:p>
        </p:txBody>
      </p:sp>
      <p:sp>
        <p:nvSpPr>
          <p:cNvPr id="5" name="TextBox 4">
            <a:extLst>
              <a:ext uri="{FF2B5EF4-FFF2-40B4-BE49-F238E27FC236}">
                <a16:creationId xmlns:a16="http://schemas.microsoft.com/office/drawing/2014/main" id="{F78626DF-AB2A-4D2C-B558-6BB45F344D0E}"/>
              </a:ext>
            </a:extLst>
          </p:cNvPr>
          <p:cNvSpPr txBox="1"/>
          <p:nvPr/>
        </p:nvSpPr>
        <p:spPr>
          <a:xfrm>
            <a:off x="1211855" y="1994053"/>
            <a:ext cx="5559342" cy="3046988"/>
          </a:xfrm>
          <a:prstGeom prst="rect">
            <a:avLst/>
          </a:prstGeom>
          <a:noFill/>
        </p:spPr>
        <p:txBody>
          <a:bodyPr wrap="none" rtlCol="0">
            <a:spAutoFit/>
          </a:bodyPr>
          <a:lstStyle/>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Introduction to R</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Data structure and formats</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Data wrangling</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Descriptive statistics and visualization</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Descriptive spatial statistics</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Inferential statistics</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Tests of difference</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Tests of association</a:t>
            </a:r>
          </a:p>
        </p:txBody>
      </p:sp>
    </p:spTree>
    <p:extLst>
      <p:ext uri="{BB962C8B-B14F-4D97-AF65-F5344CB8AC3E}">
        <p14:creationId xmlns:p14="http://schemas.microsoft.com/office/powerpoint/2010/main" val="4315034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F6E829-3AD8-4DD1-AEE9-16CC0CC0BDA1}"/>
              </a:ext>
            </a:extLst>
          </p:cNvPr>
          <p:cNvPicPr>
            <a:picLocks noChangeAspect="1"/>
          </p:cNvPicPr>
          <p:nvPr/>
        </p:nvPicPr>
        <p:blipFill>
          <a:blip r:embed="rId3"/>
          <a:stretch>
            <a:fillRect/>
          </a:stretch>
        </p:blipFill>
        <p:spPr>
          <a:xfrm>
            <a:off x="0" y="0"/>
            <a:ext cx="12192000" cy="6453654"/>
          </a:xfrm>
          <a:prstGeom prst="rect">
            <a:avLst/>
          </a:prstGeom>
        </p:spPr>
      </p:pic>
      <p:sp>
        <p:nvSpPr>
          <p:cNvPr id="5" name="TextBox 4">
            <a:extLst>
              <a:ext uri="{FF2B5EF4-FFF2-40B4-BE49-F238E27FC236}">
                <a16:creationId xmlns:a16="http://schemas.microsoft.com/office/drawing/2014/main" id="{DF799070-83F7-4185-AF34-5E7BC0C08317}"/>
              </a:ext>
            </a:extLst>
          </p:cNvPr>
          <p:cNvSpPr txBox="1"/>
          <p:nvPr/>
        </p:nvSpPr>
        <p:spPr>
          <a:xfrm>
            <a:off x="6287877" y="6488668"/>
            <a:ext cx="6097836" cy="369332"/>
          </a:xfrm>
          <a:prstGeom prst="rect">
            <a:avLst/>
          </a:prstGeom>
          <a:noFill/>
        </p:spPr>
        <p:txBody>
          <a:bodyPr wrap="square">
            <a:spAutoFit/>
          </a:bodyPr>
          <a:lstStyle/>
          <a:p>
            <a:r>
              <a:rPr lang="en-US" dirty="0">
                <a:solidFill>
                  <a:schemeClr val="bg1"/>
                </a:solidFill>
              </a:rPr>
              <a:t>https://communitymaplab.github.io/geog4300_datascience/</a:t>
            </a:r>
          </a:p>
        </p:txBody>
      </p:sp>
      <p:pic>
        <p:nvPicPr>
          <p:cNvPr id="3074" name="Picture 2">
            <a:extLst>
              <a:ext uri="{FF2B5EF4-FFF2-40B4-BE49-F238E27FC236}">
                <a16:creationId xmlns:a16="http://schemas.microsoft.com/office/drawing/2014/main" id="{46E5C176-61B2-4F6E-B547-D9612265054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22874" y="4803354"/>
            <a:ext cx="1464325" cy="146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22883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29C246-8B02-40A0-88D8-A866F652C3DC}"/>
              </a:ext>
            </a:extLst>
          </p:cNvPr>
          <p:cNvSpPr>
            <a:spLocks noGrp="1"/>
          </p:cNvSpPr>
          <p:nvPr>
            <p:ph type="title"/>
          </p:nvPr>
        </p:nvSpPr>
        <p:spPr/>
        <p:txBody>
          <a:bodyPr/>
          <a:lstStyle/>
          <a:p>
            <a:r>
              <a:rPr lang="en-US" dirty="0"/>
              <a:t>What you need</a:t>
            </a:r>
          </a:p>
        </p:txBody>
      </p:sp>
      <p:sp>
        <p:nvSpPr>
          <p:cNvPr id="3" name="Content Placeholder 2">
            <a:extLst>
              <a:ext uri="{FF2B5EF4-FFF2-40B4-BE49-F238E27FC236}">
                <a16:creationId xmlns:a16="http://schemas.microsoft.com/office/drawing/2014/main" id="{3F689686-28CE-474A-877F-2761E783256C}"/>
              </a:ext>
            </a:extLst>
          </p:cNvPr>
          <p:cNvSpPr>
            <a:spLocks noGrp="1"/>
          </p:cNvSpPr>
          <p:nvPr>
            <p:ph idx="1"/>
          </p:nvPr>
        </p:nvSpPr>
        <p:spPr>
          <a:xfrm>
            <a:off x="1277956" y="1845734"/>
            <a:ext cx="9877723" cy="4023360"/>
          </a:xfrm>
        </p:spPr>
        <p:txBody>
          <a:bodyPr/>
          <a:lstStyle/>
          <a:p>
            <a:r>
              <a:rPr lang="en-US" b="1" dirty="0"/>
              <a:t>Readings</a:t>
            </a:r>
          </a:p>
          <a:p>
            <a:pPr marL="231775" indent="-231775">
              <a:buClr>
                <a:schemeClr val="tx1">
                  <a:lumMod val="75000"/>
                </a:schemeClr>
              </a:buClr>
              <a:buFont typeface="Arial" panose="020B0604020202020204" pitchFamily="34" charset="0"/>
              <a:buChar char="•"/>
            </a:pPr>
            <a:r>
              <a:rPr lang="en-US" dirty="0"/>
              <a:t>Posted on the module pages—some required some optional</a:t>
            </a:r>
          </a:p>
          <a:p>
            <a:pPr marL="231775" indent="-231775">
              <a:buClr>
                <a:schemeClr val="tx1">
                  <a:lumMod val="75000"/>
                </a:schemeClr>
              </a:buClr>
              <a:buFont typeface="Arial" panose="020B0604020202020204" pitchFamily="34" charset="0"/>
              <a:buChar char="•"/>
            </a:pPr>
            <a:r>
              <a:rPr lang="en-US" dirty="0"/>
              <a:t>Also includes curated video list</a:t>
            </a:r>
          </a:p>
          <a:p>
            <a:pPr>
              <a:buFont typeface="Arial" panose="020B0604020202020204" pitchFamily="34" charset="0"/>
              <a:buChar char="•"/>
            </a:pPr>
            <a:endParaRPr lang="en-US" dirty="0"/>
          </a:p>
          <a:p>
            <a:pPr marL="0" indent="0">
              <a:buNone/>
            </a:pPr>
            <a:r>
              <a:rPr lang="en-US" b="1" dirty="0"/>
              <a:t>Software</a:t>
            </a:r>
          </a:p>
          <a:p>
            <a:pPr marL="231775" indent="-231775">
              <a:buClr>
                <a:schemeClr val="tx1">
                  <a:lumMod val="75000"/>
                </a:schemeClr>
              </a:buClr>
              <a:buFont typeface="Arial" panose="020B0604020202020204" pitchFamily="34" charset="0"/>
              <a:buChar char="•"/>
            </a:pPr>
            <a:r>
              <a:rPr lang="en-US" dirty="0"/>
              <a:t>R and </a:t>
            </a:r>
            <a:r>
              <a:rPr lang="en-US" dirty="0" err="1"/>
              <a:t>Rstudio</a:t>
            </a:r>
            <a:endParaRPr lang="en-US" dirty="0"/>
          </a:p>
          <a:p>
            <a:pPr marL="231775" indent="-231775">
              <a:buClr>
                <a:schemeClr val="tx1">
                  <a:lumMod val="75000"/>
                </a:schemeClr>
              </a:buClr>
              <a:buFont typeface="Arial" panose="020B0604020202020204" pitchFamily="34" charset="0"/>
              <a:buChar char="•"/>
            </a:pPr>
            <a:r>
              <a:rPr lang="en-US" dirty="0"/>
              <a:t>Excel/Google Sheets</a:t>
            </a:r>
          </a:p>
          <a:p>
            <a:pPr marL="231775" indent="-231775">
              <a:buClr>
                <a:schemeClr val="tx1">
                  <a:lumMod val="75000"/>
                </a:schemeClr>
              </a:buClr>
              <a:buFont typeface="Arial" panose="020B0604020202020204" pitchFamily="34" charset="0"/>
              <a:buChar char="•"/>
            </a:pPr>
            <a:r>
              <a:rPr lang="en-US" dirty="0"/>
              <a:t>Git (optional)</a:t>
            </a:r>
          </a:p>
        </p:txBody>
      </p:sp>
    </p:spTree>
    <p:extLst>
      <p:ext uri="{BB962C8B-B14F-4D97-AF65-F5344CB8AC3E}">
        <p14:creationId xmlns:p14="http://schemas.microsoft.com/office/powerpoint/2010/main" val="21581228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52"/>
        <p:cNvGrpSpPr/>
        <p:nvPr/>
      </p:nvGrpSpPr>
      <p:grpSpPr>
        <a:xfrm>
          <a:off x="0" y="0"/>
          <a:ext cx="0" cy="0"/>
          <a:chOff x="0" y="0"/>
          <a:chExt cx="0" cy="0"/>
        </a:xfrm>
      </p:grpSpPr>
      <p:sp>
        <p:nvSpPr>
          <p:cNvPr id="154" name="Shape 154"/>
          <p:cNvSpPr txBox="1">
            <a:spLocks noGrp="1"/>
          </p:cNvSpPr>
          <p:nvPr>
            <p:ph type="title"/>
          </p:nvPr>
        </p:nvSpPr>
        <p:spPr>
          <a:prstGeom prst="rect">
            <a:avLst/>
          </a:prstGeom>
          <a:noFill/>
          <a:ln>
            <a:noFill/>
          </a:ln>
        </p:spPr>
        <p:txBody>
          <a:bodyPr vert="horz" lIns="91425" tIns="45700" rIns="91425" bIns="45700" rtlCol="0" anchor="ctr" anchorCtr="0">
            <a:noAutofit/>
          </a:bodyPr>
          <a:lstStyle/>
          <a:p>
            <a:pPr>
              <a:spcBef>
                <a:spcPts val="0"/>
              </a:spcBef>
              <a:buClr>
                <a:srgbClr val="FFFF66"/>
              </a:buClr>
              <a:buSzPct val="25000"/>
            </a:pPr>
            <a:r>
              <a:rPr lang="en-US" sz="3959" dirty="0">
                <a:ea typeface="Calibri"/>
                <a:cs typeface="Calibri"/>
                <a:sym typeface="Calibri"/>
              </a:rPr>
              <a:t>Introduce yourself!</a:t>
            </a:r>
          </a:p>
        </p:txBody>
      </p:sp>
      <p:sp>
        <p:nvSpPr>
          <p:cNvPr id="5" name="TextBox 4">
            <a:extLst>
              <a:ext uri="{FF2B5EF4-FFF2-40B4-BE49-F238E27FC236}">
                <a16:creationId xmlns:a16="http://schemas.microsoft.com/office/drawing/2014/main" id="{F78626DF-AB2A-4D2C-B558-6BB45F344D0E}"/>
              </a:ext>
            </a:extLst>
          </p:cNvPr>
          <p:cNvSpPr txBox="1"/>
          <p:nvPr/>
        </p:nvSpPr>
        <p:spPr>
          <a:xfrm>
            <a:off x="1211855" y="1994053"/>
            <a:ext cx="535787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Your name</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Your academic program</a:t>
            </a:r>
          </a:p>
          <a:p>
            <a:pPr marL="285750" indent="-285750">
              <a:buFont typeface="Arial" panose="020B0604020202020204" pitchFamily="34" charset="0"/>
              <a:buChar char="•"/>
            </a:pPr>
            <a:r>
              <a:rPr lang="en-US" sz="2400" dirty="0">
                <a:latin typeface="Segoe UI" panose="020B0502040204020203" pitchFamily="34" charset="0"/>
                <a:cs typeface="Segoe UI" panose="020B0502040204020203" pitchFamily="34" charset="0"/>
              </a:rPr>
              <a:t>A number that is meaningful to you in some way</a:t>
            </a:r>
          </a:p>
        </p:txBody>
      </p:sp>
      <p:pic>
        <p:nvPicPr>
          <p:cNvPr id="2050" name="Picture 2" descr="Adult Paint By Numbers - 20 Free PDF Printables | Printablee">
            <a:extLst>
              <a:ext uri="{FF2B5EF4-FFF2-40B4-BE49-F238E27FC236}">
                <a16:creationId xmlns:a16="http://schemas.microsoft.com/office/drawing/2014/main" id="{6A665B41-F67B-45E1-A059-EC369A27903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88804" y="2117993"/>
            <a:ext cx="5245008" cy="3687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97322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p:cNvGrpSpPr/>
        <p:nvPr/>
      </p:nvGrpSpPr>
      <p:grpSpPr>
        <a:xfrm>
          <a:off x="0" y="0"/>
          <a:ext cx="0" cy="0"/>
          <a:chOff x="0" y="0"/>
          <a:chExt cx="0" cy="0"/>
        </a:xfrm>
      </p:grpSpPr>
      <p:sp>
        <p:nvSpPr>
          <p:cNvPr id="253" name="Shape 253" descr="http://developer.r-project.org/Logo/Rlogo.svg"/>
          <p:cNvSpPr/>
          <p:nvPr/>
        </p:nvSpPr>
        <p:spPr>
          <a:xfrm>
            <a:off x="1679576" y="-144463"/>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4" name="Shape 254" descr="http://developer.r-project.org/Logo/Rlogo.svg"/>
          <p:cNvSpPr/>
          <p:nvPr/>
        </p:nvSpPr>
        <p:spPr>
          <a:xfrm>
            <a:off x="1831976" y="79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5" name="Shape 255" descr="http://developer.r-project.org/Logo/Rlogo.svg"/>
          <p:cNvSpPr/>
          <p:nvPr/>
        </p:nvSpPr>
        <p:spPr>
          <a:xfrm>
            <a:off x="1984376" y="160337"/>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6" name="Shape 256" descr="http://developer.r-project.org/Logo/Rlogo.svg"/>
          <p:cNvSpPr/>
          <p:nvPr/>
        </p:nvSpPr>
        <p:spPr>
          <a:xfrm>
            <a:off x="2136776" y="3127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 name="AutoShape 6" descr="Image result for r"/>
          <p:cNvSpPr>
            <a:spLocks noChangeAspect="1" noChangeArrowheads="1"/>
          </p:cNvSpPr>
          <p:nvPr/>
        </p:nvSpPr>
        <p:spPr bwMode="auto">
          <a:xfrm>
            <a:off x="2289175" y="4651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solidFill>
                <a:schemeClr val="accent2">
                  <a:lumMod val="20000"/>
                  <a:lumOff val="80000"/>
                </a:schemeClr>
              </a:solidFill>
            </a:endParaRPr>
          </a:p>
        </p:txBody>
      </p:sp>
      <p:sp>
        <p:nvSpPr>
          <p:cNvPr id="8" name="Shape 208">
            <a:extLst>
              <a:ext uri="{FF2B5EF4-FFF2-40B4-BE49-F238E27FC236}">
                <a16:creationId xmlns:a16="http://schemas.microsoft.com/office/drawing/2014/main" id="{B5ED5A12-E140-4B27-8ED2-A376D55B0764}"/>
              </a:ext>
            </a:extLst>
          </p:cNvPr>
          <p:cNvSpPr txBox="1"/>
          <p:nvPr/>
        </p:nvSpPr>
        <p:spPr>
          <a:xfrm>
            <a:off x="2136774" y="569491"/>
            <a:ext cx="7772400" cy="769441"/>
          </a:xfrm>
          <a:prstGeom prst="rect">
            <a:avLst/>
          </a:prstGeom>
          <a:noFill/>
          <a:ln>
            <a:noFill/>
          </a:ln>
        </p:spPr>
        <p:txBody>
          <a:bodyPr lIns="91425" tIns="45700" rIns="91425" bIns="45700" anchor="t" anchorCtr="0">
            <a:noAutofit/>
          </a:bodyPr>
          <a:lstStyle/>
          <a:p>
            <a:pPr algn="ctr">
              <a:buSzPct val="25000"/>
            </a:pPr>
            <a:r>
              <a:rPr lang="en-US" sz="4400" dirty="0">
                <a:solidFill>
                  <a:schemeClr val="tx1">
                    <a:lumMod val="85000"/>
                    <a:lumOff val="15000"/>
                  </a:schemeClr>
                </a:solidFill>
                <a:latin typeface="Calibri"/>
                <a:ea typeface="Calibri"/>
                <a:cs typeface="Calibri"/>
                <a:sym typeface="Calibri"/>
              </a:rPr>
              <a:t>Let’s talk about ungrading</a:t>
            </a:r>
          </a:p>
        </p:txBody>
      </p:sp>
      <p:pic>
        <p:nvPicPr>
          <p:cNvPr id="6" name="Picture 5">
            <a:extLst>
              <a:ext uri="{FF2B5EF4-FFF2-40B4-BE49-F238E27FC236}">
                <a16:creationId xmlns:a16="http://schemas.microsoft.com/office/drawing/2014/main" id="{CEFC23C6-7514-4A0D-877D-D96E8CDC6AF9}"/>
              </a:ext>
            </a:extLst>
          </p:cNvPr>
          <p:cNvPicPr>
            <a:picLocks noChangeAspect="1"/>
          </p:cNvPicPr>
          <p:nvPr/>
        </p:nvPicPr>
        <p:blipFill>
          <a:blip r:embed="rId3"/>
          <a:stretch>
            <a:fillRect/>
          </a:stretch>
        </p:blipFill>
        <p:spPr>
          <a:xfrm>
            <a:off x="4479924" y="1920260"/>
            <a:ext cx="3086100" cy="4752975"/>
          </a:xfrm>
          <a:prstGeom prst="rect">
            <a:avLst/>
          </a:prstGeom>
        </p:spPr>
      </p:pic>
    </p:spTree>
    <p:extLst>
      <p:ext uri="{BB962C8B-B14F-4D97-AF65-F5344CB8AC3E}">
        <p14:creationId xmlns:p14="http://schemas.microsoft.com/office/powerpoint/2010/main" val="943908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p:cNvGrpSpPr/>
        <p:nvPr/>
      </p:nvGrpSpPr>
      <p:grpSpPr>
        <a:xfrm>
          <a:off x="0" y="0"/>
          <a:ext cx="0" cy="0"/>
          <a:chOff x="0" y="0"/>
          <a:chExt cx="0" cy="0"/>
        </a:xfrm>
      </p:grpSpPr>
      <p:sp>
        <p:nvSpPr>
          <p:cNvPr id="253" name="Shape 253" descr="http://developer.r-project.org/Logo/Rlogo.svg"/>
          <p:cNvSpPr/>
          <p:nvPr/>
        </p:nvSpPr>
        <p:spPr>
          <a:xfrm>
            <a:off x="1679576" y="-144463"/>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4" name="Shape 254" descr="http://developer.r-project.org/Logo/Rlogo.svg"/>
          <p:cNvSpPr/>
          <p:nvPr/>
        </p:nvSpPr>
        <p:spPr>
          <a:xfrm>
            <a:off x="1831976" y="79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5" name="Shape 255" descr="http://developer.r-project.org/Logo/Rlogo.svg"/>
          <p:cNvSpPr/>
          <p:nvPr/>
        </p:nvSpPr>
        <p:spPr>
          <a:xfrm>
            <a:off x="1984376" y="160337"/>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6" name="Shape 256" descr="http://developer.r-project.org/Logo/Rlogo.svg"/>
          <p:cNvSpPr/>
          <p:nvPr/>
        </p:nvSpPr>
        <p:spPr>
          <a:xfrm>
            <a:off x="2136776" y="3127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 name="AutoShape 6" descr="Image result for r"/>
          <p:cNvSpPr>
            <a:spLocks noChangeAspect="1" noChangeArrowheads="1"/>
          </p:cNvSpPr>
          <p:nvPr/>
        </p:nvSpPr>
        <p:spPr bwMode="auto">
          <a:xfrm>
            <a:off x="2289175" y="4651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solidFill>
                <a:schemeClr val="accent2">
                  <a:lumMod val="20000"/>
                  <a:lumOff val="80000"/>
                </a:schemeClr>
              </a:solidFill>
            </a:endParaRPr>
          </a:p>
        </p:txBody>
      </p:sp>
      <p:sp>
        <p:nvSpPr>
          <p:cNvPr id="8" name="Shape 208">
            <a:extLst>
              <a:ext uri="{FF2B5EF4-FFF2-40B4-BE49-F238E27FC236}">
                <a16:creationId xmlns:a16="http://schemas.microsoft.com/office/drawing/2014/main" id="{B5ED5A12-E140-4B27-8ED2-A376D55B0764}"/>
              </a:ext>
            </a:extLst>
          </p:cNvPr>
          <p:cNvSpPr txBox="1"/>
          <p:nvPr/>
        </p:nvSpPr>
        <p:spPr>
          <a:xfrm>
            <a:off x="1679575" y="232816"/>
            <a:ext cx="7772400" cy="769441"/>
          </a:xfrm>
          <a:prstGeom prst="rect">
            <a:avLst/>
          </a:prstGeom>
          <a:noFill/>
          <a:ln>
            <a:noFill/>
          </a:ln>
        </p:spPr>
        <p:txBody>
          <a:bodyPr lIns="91425" tIns="45700" rIns="91425" bIns="45700" anchor="t" anchorCtr="0">
            <a:noAutofit/>
          </a:bodyPr>
          <a:lstStyle/>
          <a:p>
            <a:pPr>
              <a:buSzPct val="25000"/>
            </a:pPr>
            <a:r>
              <a:rPr lang="en-US" sz="4400" dirty="0">
                <a:solidFill>
                  <a:schemeClr val="tx1">
                    <a:lumMod val="85000"/>
                    <a:lumOff val="15000"/>
                  </a:schemeClr>
                </a:solidFill>
                <a:latin typeface="+mj-lt"/>
                <a:ea typeface="Calibri"/>
                <a:cs typeface="Calibri"/>
                <a:sym typeface="Calibri"/>
              </a:rPr>
              <a:t>What is ungrading?</a:t>
            </a:r>
          </a:p>
        </p:txBody>
      </p:sp>
      <p:sp>
        <p:nvSpPr>
          <p:cNvPr id="3" name="Rectangle 2">
            <a:extLst>
              <a:ext uri="{FF2B5EF4-FFF2-40B4-BE49-F238E27FC236}">
                <a16:creationId xmlns:a16="http://schemas.microsoft.com/office/drawing/2014/main" id="{437685F2-32EA-4530-99B7-F2545AC89BA2}"/>
              </a:ext>
            </a:extLst>
          </p:cNvPr>
          <p:cNvSpPr/>
          <p:nvPr/>
        </p:nvSpPr>
        <p:spPr>
          <a:xfrm>
            <a:off x="2069841" y="1154656"/>
            <a:ext cx="7772400" cy="1815882"/>
          </a:xfrm>
          <a:prstGeom prst="rect">
            <a:avLst/>
          </a:prstGeom>
        </p:spPr>
        <p:txBody>
          <a:bodyPr wrap="square">
            <a:spAutoFit/>
          </a:bodyPr>
          <a:lstStyle/>
          <a:p>
            <a:r>
              <a:rPr lang="en-US" sz="2800" dirty="0">
                <a:solidFill>
                  <a:schemeClr val="tx1">
                    <a:lumMod val="85000"/>
                    <a:lumOff val="15000"/>
                  </a:schemeClr>
                </a:solidFill>
                <a:latin typeface="Calibri" panose="020F0502020204030204" pitchFamily="34" charset="0"/>
              </a:rPr>
              <a:t>“The focus of ungrading is to provide extensive feedback to students and then jointly (students and instructors) come to a consensus as to what the grade should be.”</a:t>
            </a:r>
            <a:endParaRPr lang="en-US" sz="2800" dirty="0">
              <a:solidFill>
                <a:schemeClr val="tx1">
                  <a:lumMod val="85000"/>
                  <a:lumOff val="15000"/>
                </a:schemeClr>
              </a:solidFill>
            </a:endParaRPr>
          </a:p>
        </p:txBody>
      </p:sp>
      <p:sp>
        <p:nvSpPr>
          <p:cNvPr id="4" name="Rectangle 3">
            <a:extLst>
              <a:ext uri="{FF2B5EF4-FFF2-40B4-BE49-F238E27FC236}">
                <a16:creationId xmlns:a16="http://schemas.microsoft.com/office/drawing/2014/main" id="{63DF5089-5F45-4093-815A-084E2D389DA5}"/>
              </a:ext>
            </a:extLst>
          </p:cNvPr>
          <p:cNvSpPr/>
          <p:nvPr/>
        </p:nvSpPr>
        <p:spPr>
          <a:xfrm>
            <a:off x="2136775" y="6208197"/>
            <a:ext cx="8117633" cy="369332"/>
          </a:xfrm>
          <a:prstGeom prst="rect">
            <a:avLst/>
          </a:prstGeom>
        </p:spPr>
        <p:txBody>
          <a:bodyPr wrap="square">
            <a:spAutoFit/>
          </a:bodyPr>
          <a:lstStyle/>
          <a:p>
            <a:r>
              <a:rPr lang="en-US" dirty="0">
                <a:solidFill>
                  <a:schemeClr val="accent2">
                    <a:lumMod val="20000"/>
                    <a:lumOff val="80000"/>
                  </a:schemeClr>
                </a:solidFill>
              </a:rPr>
              <a:t>https://www.chemedx.org/blog/ungrading-what-it-and-why-should-we-use-it</a:t>
            </a:r>
          </a:p>
        </p:txBody>
      </p:sp>
      <p:pic>
        <p:nvPicPr>
          <p:cNvPr id="5" name="Picture 4">
            <a:extLst>
              <a:ext uri="{FF2B5EF4-FFF2-40B4-BE49-F238E27FC236}">
                <a16:creationId xmlns:a16="http://schemas.microsoft.com/office/drawing/2014/main" id="{6DF0B485-B361-4080-A1BB-C20C9815345C}"/>
              </a:ext>
            </a:extLst>
          </p:cNvPr>
          <p:cNvPicPr>
            <a:picLocks noChangeAspect="1"/>
          </p:cNvPicPr>
          <p:nvPr/>
        </p:nvPicPr>
        <p:blipFill>
          <a:blip r:embed="rId3"/>
          <a:stretch>
            <a:fillRect/>
          </a:stretch>
        </p:blipFill>
        <p:spPr>
          <a:xfrm>
            <a:off x="3441223" y="3316868"/>
            <a:ext cx="5029636" cy="2789162"/>
          </a:xfrm>
          <a:prstGeom prst="rect">
            <a:avLst/>
          </a:prstGeom>
        </p:spPr>
      </p:pic>
    </p:spTree>
    <p:extLst>
      <p:ext uri="{BB962C8B-B14F-4D97-AF65-F5344CB8AC3E}">
        <p14:creationId xmlns:p14="http://schemas.microsoft.com/office/powerpoint/2010/main" val="30665223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p:cNvGrpSpPr/>
        <p:nvPr/>
      </p:nvGrpSpPr>
      <p:grpSpPr>
        <a:xfrm>
          <a:off x="0" y="0"/>
          <a:ext cx="0" cy="0"/>
          <a:chOff x="0" y="0"/>
          <a:chExt cx="0" cy="0"/>
        </a:xfrm>
      </p:grpSpPr>
      <p:sp>
        <p:nvSpPr>
          <p:cNvPr id="253" name="Shape 253" descr="http://developer.r-project.org/Logo/Rlogo.svg"/>
          <p:cNvSpPr/>
          <p:nvPr/>
        </p:nvSpPr>
        <p:spPr>
          <a:xfrm>
            <a:off x="1679576" y="-144463"/>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4" name="Shape 254" descr="http://developer.r-project.org/Logo/Rlogo.svg"/>
          <p:cNvSpPr/>
          <p:nvPr/>
        </p:nvSpPr>
        <p:spPr>
          <a:xfrm>
            <a:off x="1831976" y="79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5" name="Shape 255" descr="http://developer.r-project.org/Logo/Rlogo.svg"/>
          <p:cNvSpPr/>
          <p:nvPr/>
        </p:nvSpPr>
        <p:spPr>
          <a:xfrm>
            <a:off x="1984376" y="160337"/>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6" name="Shape 256" descr="http://developer.r-project.org/Logo/Rlogo.svg"/>
          <p:cNvSpPr/>
          <p:nvPr/>
        </p:nvSpPr>
        <p:spPr>
          <a:xfrm>
            <a:off x="2136776" y="3127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 name="AutoShape 6" descr="Image result for r"/>
          <p:cNvSpPr>
            <a:spLocks noChangeAspect="1" noChangeArrowheads="1"/>
          </p:cNvSpPr>
          <p:nvPr/>
        </p:nvSpPr>
        <p:spPr bwMode="auto">
          <a:xfrm>
            <a:off x="2289175" y="4651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solidFill>
                <a:schemeClr val="accent2">
                  <a:lumMod val="20000"/>
                  <a:lumOff val="80000"/>
                </a:schemeClr>
              </a:solidFill>
            </a:endParaRPr>
          </a:p>
        </p:txBody>
      </p:sp>
      <p:sp>
        <p:nvSpPr>
          <p:cNvPr id="8" name="Shape 208">
            <a:extLst>
              <a:ext uri="{FF2B5EF4-FFF2-40B4-BE49-F238E27FC236}">
                <a16:creationId xmlns:a16="http://schemas.microsoft.com/office/drawing/2014/main" id="{B5ED5A12-E140-4B27-8ED2-A376D55B0764}"/>
              </a:ext>
            </a:extLst>
          </p:cNvPr>
          <p:cNvSpPr txBox="1"/>
          <p:nvPr/>
        </p:nvSpPr>
        <p:spPr>
          <a:xfrm>
            <a:off x="1679575" y="232816"/>
            <a:ext cx="7772400" cy="769441"/>
          </a:xfrm>
          <a:prstGeom prst="rect">
            <a:avLst/>
          </a:prstGeom>
          <a:noFill/>
          <a:ln>
            <a:noFill/>
          </a:ln>
        </p:spPr>
        <p:txBody>
          <a:bodyPr lIns="91425" tIns="45700" rIns="91425" bIns="45700" anchor="t" anchorCtr="0">
            <a:noAutofit/>
          </a:bodyPr>
          <a:lstStyle/>
          <a:p>
            <a:pPr>
              <a:buSzPct val="25000"/>
            </a:pPr>
            <a:r>
              <a:rPr lang="en-US" sz="4400" dirty="0">
                <a:solidFill>
                  <a:schemeClr val="tx1">
                    <a:lumMod val="85000"/>
                    <a:lumOff val="15000"/>
                  </a:schemeClr>
                </a:solidFill>
                <a:latin typeface="+mj-lt"/>
                <a:ea typeface="Calibri"/>
                <a:cs typeface="Calibri"/>
                <a:sym typeface="Calibri"/>
              </a:rPr>
              <a:t>In this course:</a:t>
            </a:r>
          </a:p>
        </p:txBody>
      </p:sp>
      <p:sp>
        <p:nvSpPr>
          <p:cNvPr id="3" name="Rectangle 2">
            <a:extLst>
              <a:ext uri="{FF2B5EF4-FFF2-40B4-BE49-F238E27FC236}">
                <a16:creationId xmlns:a16="http://schemas.microsoft.com/office/drawing/2014/main" id="{437685F2-32EA-4530-99B7-F2545AC89BA2}"/>
              </a:ext>
            </a:extLst>
          </p:cNvPr>
          <p:cNvSpPr/>
          <p:nvPr/>
        </p:nvSpPr>
        <p:spPr>
          <a:xfrm>
            <a:off x="2069841" y="1154657"/>
            <a:ext cx="7772400" cy="2246769"/>
          </a:xfrm>
          <a:prstGeom prst="rect">
            <a:avLst/>
          </a:prstGeom>
        </p:spPr>
        <p:txBody>
          <a:bodyPr wrap="square">
            <a:spAutoFit/>
          </a:bodyPr>
          <a:lstStyle/>
          <a:p>
            <a:pPr marL="457200" indent="-457200">
              <a:buFont typeface="Arial" panose="020B0604020202020204" pitchFamily="34" charset="0"/>
              <a:buChar char="•"/>
            </a:pPr>
            <a:r>
              <a:rPr lang="en-US" sz="2800" dirty="0">
                <a:solidFill>
                  <a:schemeClr val="tx1">
                    <a:lumMod val="85000"/>
                    <a:lumOff val="15000"/>
                  </a:schemeClr>
                </a:solidFill>
                <a:latin typeface="Calibri" panose="020F0502020204030204" pitchFamily="34" charset="0"/>
              </a:rPr>
              <a:t>General rating (initiated by you), but not tied to a grade</a:t>
            </a:r>
          </a:p>
          <a:p>
            <a:pPr marL="457200" indent="-457200">
              <a:buFont typeface="Arial" panose="020B0604020202020204" pitchFamily="34" charset="0"/>
              <a:buChar char="•"/>
            </a:pPr>
            <a:r>
              <a:rPr lang="en-US" sz="2800" dirty="0">
                <a:solidFill>
                  <a:schemeClr val="tx1">
                    <a:lumMod val="85000"/>
                    <a:lumOff val="15000"/>
                  </a:schemeClr>
                </a:solidFill>
                <a:latin typeface="Calibri" panose="020F0502020204030204" pitchFamily="34" charset="0"/>
              </a:rPr>
              <a:t>Student goal setting and self-evaluation</a:t>
            </a:r>
          </a:p>
          <a:p>
            <a:pPr marL="457200" indent="-457200">
              <a:buFont typeface="Arial" panose="020B0604020202020204" pitchFamily="34" charset="0"/>
              <a:buChar char="•"/>
            </a:pPr>
            <a:r>
              <a:rPr lang="en-US" sz="2800" dirty="0">
                <a:solidFill>
                  <a:schemeClr val="tx1">
                    <a:lumMod val="85000"/>
                    <a:lumOff val="15000"/>
                  </a:schemeClr>
                </a:solidFill>
                <a:latin typeface="Calibri" panose="020F0502020204030204" pitchFamily="34" charset="0"/>
              </a:rPr>
              <a:t>A focus on collaborative work and self-motivated learning</a:t>
            </a:r>
          </a:p>
        </p:txBody>
      </p:sp>
    </p:spTree>
    <p:extLst>
      <p:ext uri="{BB962C8B-B14F-4D97-AF65-F5344CB8AC3E}">
        <p14:creationId xmlns:p14="http://schemas.microsoft.com/office/powerpoint/2010/main" val="16108737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F44D0F-A1A5-143F-C2AF-7D8679667BB0}"/>
              </a:ext>
            </a:extLst>
          </p:cNvPr>
          <p:cNvSpPr>
            <a:spLocks noGrp="1"/>
          </p:cNvSpPr>
          <p:nvPr>
            <p:ph type="title"/>
          </p:nvPr>
        </p:nvSpPr>
        <p:spPr/>
        <p:txBody>
          <a:bodyPr/>
          <a:lstStyle/>
          <a:p>
            <a:r>
              <a:rPr lang="en-US" dirty="0">
                <a:solidFill>
                  <a:schemeClr val="tx1">
                    <a:lumMod val="85000"/>
                    <a:lumOff val="15000"/>
                  </a:schemeClr>
                </a:solidFill>
                <a:latin typeface="+mj-lt"/>
                <a:cs typeface="Calibri" panose="020F0502020204030204" pitchFamily="34" charset="0"/>
              </a:rPr>
              <a:t>Spec grading</a:t>
            </a:r>
          </a:p>
        </p:txBody>
      </p:sp>
      <p:sp>
        <p:nvSpPr>
          <p:cNvPr id="7" name="Rectangle 1">
            <a:extLst>
              <a:ext uri="{FF2B5EF4-FFF2-40B4-BE49-F238E27FC236}">
                <a16:creationId xmlns:a16="http://schemas.microsoft.com/office/drawing/2014/main" id="{BA6931D2-95A3-E932-BA8F-555E6DCA8798}"/>
              </a:ext>
            </a:extLst>
          </p:cNvPr>
          <p:cNvSpPr>
            <a:spLocks noChangeArrowheads="1"/>
          </p:cNvSpPr>
          <p:nvPr/>
        </p:nvSpPr>
        <p:spPr bwMode="auto">
          <a:xfrm>
            <a:off x="3119438" y="2036763"/>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a:ln>
                  <a:noFill/>
                </a:ln>
                <a:solidFill>
                  <a:schemeClr val="tx1"/>
                </a:solidFill>
                <a:effectLst/>
                <a:latin typeface="Arial" panose="020B0604020202020204" pitchFamily="34" charset="0"/>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pic>
        <p:nvPicPr>
          <p:cNvPr id="10" name="Picture 9">
            <a:extLst>
              <a:ext uri="{FF2B5EF4-FFF2-40B4-BE49-F238E27FC236}">
                <a16:creationId xmlns:a16="http://schemas.microsoft.com/office/drawing/2014/main" id="{20D4581D-4564-5D03-0B7A-1A1B2B04D88B}"/>
              </a:ext>
            </a:extLst>
          </p:cNvPr>
          <p:cNvPicPr>
            <a:picLocks noChangeAspect="1"/>
          </p:cNvPicPr>
          <p:nvPr/>
        </p:nvPicPr>
        <p:blipFill>
          <a:blip r:embed="rId3"/>
          <a:stretch>
            <a:fillRect/>
          </a:stretch>
        </p:blipFill>
        <p:spPr>
          <a:xfrm>
            <a:off x="2070553" y="1739900"/>
            <a:ext cx="8050893" cy="4508500"/>
          </a:xfrm>
          <a:prstGeom prst="rect">
            <a:avLst/>
          </a:prstGeom>
        </p:spPr>
      </p:pic>
    </p:spTree>
    <p:extLst>
      <p:ext uri="{BB962C8B-B14F-4D97-AF65-F5344CB8AC3E}">
        <p14:creationId xmlns:p14="http://schemas.microsoft.com/office/powerpoint/2010/main" val="27808160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p:cNvGrpSpPr/>
        <p:nvPr/>
      </p:nvGrpSpPr>
      <p:grpSpPr>
        <a:xfrm>
          <a:off x="0" y="0"/>
          <a:ext cx="0" cy="0"/>
          <a:chOff x="0" y="0"/>
          <a:chExt cx="0" cy="0"/>
        </a:xfrm>
      </p:grpSpPr>
      <p:sp>
        <p:nvSpPr>
          <p:cNvPr id="253" name="Shape 253" descr="http://developer.r-project.org/Logo/Rlogo.svg"/>
          <p:cNvSpPr/>
          <p:nvPr/>
        </p:nvSpPr>
        <p:spPr>
          <a:xfrm>
            <a:off x="1679576" y="-144463"/>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4" name="Shape 254" descr="http://developer.r-project.org/Logo/Rlogo.svg"/>
          <p:cNvSpPr/>
          <p:nvPr/>
        </p:nvSpPr>
        <p:spPr>
          <a:xfrm>
            <a:off x="1831976" y="79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5" name="Shape 255" descr="http://developer.r-project.org/Logo/Rlogo.svg"/>
          <p:cNvSpPr/>
          <p:nvPr/>
        </p:nvSpPr>
        <p:spPr>
          <a:xfrm>
            <a:off x="1984376" y="160337"/>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6" name="Shape 256" descr="http://developer.r-project.org/Logo/Rlogo.svg"/>
          <p:cNvSpPr/>
          <p:nvPr/>
        </p:nvSpPr>
        <p:spPr>
          <a:xfrm>
            <a:off x="2136776" y="3127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 name="AutoShape 6" descr="Image result for r"/>
          <p:cNvSpPr>
            <a:spLocks noChangeAspect="1" noChangeArrowheads="1"/>
          </p:cNvSpPr>
          <p:nvPr/>
        </p:nvSpPr>
        <p:spPr bwMode="auto">
          <a:xfrm>
            <a:off x="2289175" y="4651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solidFill>
                <a:schemeClr val="accent2">
                  <a:lumMod val="20000"/>
                  <a:lumOff val="80000"/>
                </a:schemeClr>
              </a:solidFill>
            </a:endParaRPr>
          </a:p>
        </p:txBody>
      </p:sp>
      <p:sp>
        <p:nvSpPr>
          <p:cNvPr id="8" name="Shape 208">
            <a:extLst>
              <a:ext uri="{FF2B5EF4-FFF2-40B4-BE49-F238E27FC236}">
                <a16:creationId xmlns:a16="http://schemas.microsoft.com/office/drawing/2014/main" id="{B5ED5A12-E140-4B27-8ED2-A376D55B0764}"/>
              </a:ext>
            </a:extLst>
          </p:cNvPr>
          <p:cNvSpPr txBox="1"/>
          <p:nvPr/>
        </p:nvSpPr>
        <p:spPr>
          <a:xfrm>
            <a:off x="1984374" y="232816"/>
            <a:ext cx="7467601" cy="769441"/>
          </a:xfrm>
          <a:prstGeom prst="rect">
            <a:avLst/>
          </a:prstGeom>
          <a:noFill/>
          <a:ln>
            <a:noFill/>
          </a:ln>
        </p:spPr>
        <p:txBody>
          <a:bodyPr lIns="91425" tIns="45700" rIns="91425" bIns="45700" anchor="t" anchorCtr="0">
            <a:noAutofit/>
          </a:bodyPr>
          <a:lstStyle/>
          <a:p>
            <a:pPr>
              <a:buSzPct val="25000"/>
            </a:pPr>
            <a:r>
              <a:rPr lang="en-US" sz="4400" dirty="0">
                <a:solidFill>
                  <a:schemeClr val="tx1">
                    <a:lumMod val="85000"/>
                    <a:lumOff val="15000"/>
                  </a:schemeClr>
                </a:solidFill>
                <a:latin typeface="Calibri"/>
                <a:ea typeface="Calibri"/>
                <a:cs typeface="Calibri"/>
                <a:sym typeface="Calibri"/>
              </a:rPr>
              <a:t>What are my goals for you?</a:t>
            </a:r>
          </a:p>
        </p:txBody>
      </p:sp>
      <p:sp>
        <p:nvSpPr>
          <p:cNvPr id="6" name="Rectangle 5">
            <a:extLst>
              <a:ext uri="{FF2B5EF4-FFF2-40B4-BE49-F238E27FC236}">
                <a16:creationId xmlns:a16="http://schemas.microsoft.com/office/drawing/2014/main" id="{E5D02709-6223-4EC9-986E-861A9FF9FFB0}"/>
              </a:ext>
            </a:extLst>
          </p:cNvPr>
          <p:cNvSpPr/>
          <p:nvPr/>
        </p:nvSpPr>
        <p:spPr>
          <a:xfrm>
            <a:off x="2136774" y="1316571"/>
            <a:ext cx="7772400" cy="4524315"/>
          </a:xfrm>
          <a:prstGeom prst="rect">
            <a:avLst/>
          </a:prstGeom>
        </p:spPr>
        <p:txBody>
          <a:bodyPr wrap="square">
            <a:spAutoFit/>
          </a:bodyPr>
          <a:lstStyle/>
          <a:p>
            <a:pPr marL="342900" indent="-342900">
              <a:buFont typeface="Arial" panose="020B0604020202020204" pitchFamily="34" charset="0"/>
              <a:buChar char="•"/>
            </a:pPr>
            <a:r>
              <a:rPr lang="en-US" sz="2400" dirty="0">
                <a:solidFill>
                  <a:schemeClr val="tx1">
                    <a:lumMod val="85000"/>
                    <a:lumOff val="15000"/>
                  </a:schemeClr>
                </a:solidFill>
                <a:latin typeface="Calibri" panose="020F0502020204030204" pitchFamily="34" charset="0"/>
                <a:cs typeface="Calibri" panose="020F0502020204030204" pitchFamily="34" charset="0"/>
              </a:rPr>
              <a:t>Improve confidence in using quantitative techniques</a:t>
            </a:r>
          </a:p>
          <a:p>
            <a:pPr marL="342900" indent="-342900">
              <a:buFont typeface="Arial" panose="020B0604020202020204" pitchFamily="34" charset="0"/>
              <a:buChar char="•"/>
            </a:pPr>
            <a:r>
              <a:rPr lang="en-US" sz="2400" dirty="0">
                <a:solidFill>
                  <a:schemeClr val="tx1">
                    <a:lumMod val="85000"/>
                    <a:lumOff val="15000"/>
                  </a:schemeClr>
                </a:solidFill>
                <a:latin typeface="Calibri" panose="020F0502020204030204" pitchFamily="34" charset="0"/>
                <a:cs typeface="Calibri" panose="020F0502020204030204" pitchFamily="34" charset="0"/>
              </a:rPr>
              <a:t>Be able to interpret and constructively critique others’ statistical research</a:t>
            </a:r>
          </a:p>
          <a:p>
            <a:pPr marL="342900" indent="-342900">
              <a:buFont typeface="Arial" panose="020B0604020202020204" pitchFamily="34" charset="0"/>
              <a:buChar char="•"/>
            </a:pPr>
            <a:r>
              <a:rPr lang="en-US" sz="2400" dirty="0">
                <a:solidFill>
                  <a:schemeClr val="tx1">
                    <a:lumMod val="85000"/>
                    <a:lumOff val="15000"/>
                  </a:schemeClr>
                </a:solidFill>
                <a:latin typeface="Calibri" panose="020F0502020204030204" pitchFamily="34" charset="0"/>
                <a:cs typeface="Calibri" panose="020F0502020204030204" pitchFamily="34" charset="0"/>
              </a:rPr>
              <a:t>Learn common workflows for exploratory data analysis and data science</a:t>
            </a:r>
          </a:p>
          <a:p>
            <a:pPr marL="342900" indent="-342900">
              <a:buFont typeface="Arial" panose="020B0604020202020204" pitchFamily="34" charset="0"/>
              <a:buChar char="•"/>
            </a:pPr>
            <a:r>
              <a:rPr lang="en-US" sz="2400" dirty="0">
                <a:solidFill>
                  <a:schemeClr val="tx1">
                    <a:lumMod val="85000"/>
                    <a:lumOff val="15000"/>
                  </a:schemeClr>
                </a:solidFill>
                <a:latin typeface="Calibri" panose="020F0502020204030204" pitchFamily="34" charset="0"/>
                <a:cs typeface="Calibri" panose="020F0502020204030204" pitchFamily="34" charset="0"/>
              </a:rPr>
              <a:t>Be able to explain common techniques for quantitative and spatial analysis and decide which is relevant to a given research problem</a:t>
            </a:r>
          </a:p>
          <a:p>
            <a:pPr marL="342900" indent="-342900">
              <a:buFont typeface="Arial" panose="020B0604020202020204" pitchFamily="34" charset="0"/>
              <a:buChar char="•"/>
            </a:pPr>
            <a:r>
              <a:rPr lang="en-US" sz="2400" dirty="0">
                <a:solidFill>
                  <a:schemeClr val="tx1">
                    <a:lumMod val="85000"/>
                    <a:lumOff val="15000"/>
                  </a:schemeClr>
                </a:solidFill>
                <a:latin typeface="Calibri" panose="020F0502020204030204" pitchFamily="34" charset="0"/>
                <a:cs typeface="Calibri" panose="020F0502020204030204" pitchFamily="34" charset="0"/>
              </a:rPr>
              <a:t>Gain expertise in using R as an open-source programming platform for quantitative analysis</a:t>
            </a:r>
          </a:p>
          <a:p>
            <a:pPr marL="342900" indent="-342900">
              <a:buFont typeface="Arial" panose="020B0604020202020204" pitchFamily="34" charset="0"/>
              <a:buChar char="•"/>
            </a:pPr>
            <a:r>
              <a:rPr lang="en-US" sz="2400" dirty="0">
                <a:solidFill>
                  <a:schemeClr val="tx1">
                    <a:lumMod val="85000"/>
                    <a:lumOff val="15000"/>
                  </a:schemeClr>
                </a:solidFill>
                <a:latin typeface="Calibri" panose="020F0502020204030204" pitchFamily="34" charset="0"/>
                <a:cs typeface="Calibri" panose="020F0502020204030204" pitchFamily="34" charset="0"/>
              </a:rPr>
              <a:t>Attend class regularly and be an active participant</a:t>
            </a:r>
          </a:p>
          <a:p>
            <a:pPr marL="342900" indent="-342900">
              <a:buFont typeface="Arial" panose="020B0604020202020204" pitchFamily="34" charset="0"/>
              <a:buChar char="•"/>
            </a:pPr>
            <a:r>
              <a:rPr lang="en-US" sz="2400" dirty="0">
                <a:solidFill>
                  <a:schemeClr val="tx1">
                    <a:lumMod val="85000"/>
                    <a:lumOff val="15000"/>
                  </a:schemeClr>
                </a:solidFill>
                <a:latin typeface="Calibri" panose="020F0502020204030204" pitchFamily="34" charset="0"/>
                <a:cs typeface="Calibri" panose="020F0502020204030204" pitchFamily="34" charset="0"/>
              </a:rPr>
              <a:t>Contribute to and benefit from our collective learning</a:t>
            </a:r>
          </a:p>
        </p:txBody>
      </p:sp>
    </p:spTree>
    <p:extLst>
      <p:ext uri="{BB962C8B-B14F-4D97-AF65-F5344CB8AC3E}">
        <p14:creationId xmlns:p14="http://schemas.microsoft.com/office/powerpoint/2010/main" val="23112913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p:cNvGrpSpPr/>
        <p:nvPr/>
      </p:nvGrpSpPr>
      <p:grpSpPr>
        <a:xfrm>
          <a:off x="0" y="0"/>
          <a:ext cx="0" cy="0"/>
          <a:chOff x="0" y="0"/>
          <a:chExt cx="0" cy="0"/>
        </a:xfrm>
      </p:grpSpPr>
      <p:sp>
        <p:nvSpPr>
          <p:cNvPr id="253" name="Shape 253" descr="http://developer.r-project.org/Logo/Rlogo.svg"/>
          <p:cNvSpPr/>
          <p:nvPr/>
        </p:nvSpPr>
        <p:spPr>
          <a:xfrm>
            <a:off x="1679576" y="-144463"/>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4" name="Shape 254" descr="http://developer.r-project.org/Logo/Rlogo.svg"/>
          <p:cNvSpPr/>
          <p:nvPr/>
        </p:nvSpPr>
        <p:spPr>
          <a:xfrm>
            <a:off x="1831976" y="79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5" name="Shape 255" descr="http://developer.r-project.org/Logo/Rlogo.svg"/>
          <p:cNvSpPr/>
          <p:nvPr/>
        </p:nvSpPr>
        <p:spPr>
          <a:xfrm>
            <a:off x="1984376" y="160337"/>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6" name="Shape 256" descr="http://developer.r-project.org/Logo/Rlogo.svg"/>
          <p:cNvSpPr/>
          <p:nvPr/>
        </p:nvSpPr>
        <p:spPr>
          <a:xfrm>
            <a:off x="2136776" y="3127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 name="AutoShape 6" descr="Image result for r"/>
          <p:cNvSpPr>
            <a:spLocks noChangeAspect="1" noChangeArrowheads="1"/>
          </p:cNvSpPr>
          <p:nvPr/>
        </p:nvSpPr>
        <p:spPr bwMode="auto">
          <a:xfrm>
            <a:off x="2289175" y="4651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solidFill>
                <a:schemeClr val="accent2">
                  <a:lumMod val="20000"/>
                  <a:lumOff val="80000"/>
                </a:schemeClr>
              </a:solidFill>
            </a:endParaRPr>
          </a:p>
        </p:txBody>
      </p:sp>
      <p:sp>
        <p:nvSpPr>
          <p:cNvPr id="8" name="Shape 208">
            <a:extLst>
              <a:ext uri="{FF2B5EF4-FFF2-40B4-BE49-F238E27FC236}">
                <a16:creationId xmlns:a16="http://schemas.microsoft.com/office/drawing/2014/main" id="{B5ED5A12-E140-4B27-8ED2-A376D55B0764}"/>
              </a:ext>
            </a:extLst>
          </p:cNvPr>
          <p:cNvSpPr txBox="1"/>
          <p:nvPr/>
        </p:nvSpPr>
        <p:spPr>
          <a:xfrm>
            <a:off x="1679575" y="232816"/>
            <a:ext cx="7772400" cy="769441"/>
          </a:xfrm>
          <a:prstGeom prst="rect">
            <a:avLst/>
          </a:prstGeom>
          <a:noFill/>
          <a:ln>
            <a:noFill/>
          </a:ln>
        </p:spPr>
        <p:txBody>
          <a:bodyPr lIns="91425" tIns="45700" rIns="91425" bIns="45700" anchor="t" anchorCtr="0">
            <a:noAutofit/>
          </a:bodyPr>
          <a:lstStyle/>
          <a:p>
            <a:pPr>
              <a:buSzPct val="25000"/>
            </a:pPr>
            <a:r>
              <a:rPr lang="en-US" sz="4400" dirty="0">
                <a:solidFill>
                  <a:schemeClr val="tx1">
                    <a:lumMod val="85000"/>
                    <a:lumOff val="15000"/>
                  </a:schemeClr>
                </a:solidFill>
                <a:latin typeface="Calibri"/>
                <a:ea typeface="Calibri"/>
                <a:cs typeface="Calibri"/>
                <a:sym typeface="Calibri"/>
              </a:rPr>
              <a:t>What does an “A” look like for you?</a:t>
            </a:r>
          </a:p>
        </p:txBody>
      </p:sp>
      <p:sp>
        <p:nvSpPr>
          <p:cNvPr id="6" name="Rectangle 5">
            <a:extLst>
              <a:ext uri="{FF2B5EF4-FFF2-40B4-BE49-F238E27FC236}">
                <a16:creationId xmlns:a16="http://schemas.microsoft.com/office/drawing/2014/main" id="{E5D02709-6223-4EC9-986E-861A9FF9FFB0}"/>
              </a:ext>
            </a:extLst>
          </p:cNvPr>
          <p:cNvSpPr/>
          <p:nvPr/>
        </p:nvSpPr>
        <p:spPr>
          <a:xfrm>
            <a:off x="2136774" y="1997705"/>
            <a:ext cx="7772400" cy="3046988"/>
          </a:xfrm>
          <a:prstGeom prst="rect">
            <a:avLst/>
          </a:prstGeom>
        </p:spPr>
        <p:txBody>
          <a:bodyPr wrap="square">
            <a:spAutoFit/>
          </a:bodyPr>
          <a:lstStyle/>
          <a:p>
            <a:r>
              <a:rPr lang="en-US" sz="2400" dirty="0">
                <a:solidFill>
                  <a:schemeClr val="tx1">
                    <a:lumMod val="85000"/>
                    <a:lumOff val="15000"/>
                  </a:schemeClr>
                </a:solidFill>
                <a:latin typeface="Calibri" panose="020F0502020204030204" pitchFamily="34" charset="0"/>
                <a:cs typeface="Calibri" panose="020F0502020204030204" pitchFamily="34" charset="0"/>
              </a:rPr>
              <a:t>Do NOT use good grades, but focus on what those grades would show about you. For example, you could finish one or more of the following statements:</a:t>
            </a:r>
          </a:p>
          <a:p>
            <a:endParaRPr lang="en-US" sz="2400" dirty="0">
              <a:solidFill>
                <a:schemeClr val="tx1">
                  <a:lumMod val="85000"/>
                  <a:lumOff val="15000"/>
                </a:schemeClr>
              </a:solidFill>
              <a:latin typeface="Calibri" panose="020F0502020204030204" pitchFamily="34" charset="0"/>
              <a:cs typeface="Calibri" panose="020F0502020204030204" pitchFamily="34" charset="0"/>
            </a:endParaRPr>
          </a:p>
          <a:p>
            <a:pPr fontAlgn="base">
              <a:buFont typeface="Arial" panose="020B0604020202020204" pitchFamily="34" charset="0"/>
              <a:buChar char="•"/>
            </a:pPr>
            <a:r>
              <a:rPr lang="en-US" sz="2400" dirty="0">
                <a:solidFill>
                  <a:schemeClr val="tx1">
                    <a:lumMod val="85000"/>
                    <a:lumOff val="15000"/>
                  </a:schemeClr>
                </a:solidFill>
                <a:latin typeface="Calibri" panose="020F0502020204030204" pitchFamily="34" charset="0"/>
                <a:cs typeface="Calibri" panose="020F0502020204030204" pitchFamily="34" charset="0"/>
              </a:rPr>
              <a:t>“I would understand how…”</a:t>
            </a:r>
          </a:p>
          <a:p>
            <a:pPr fontAlgn="base">
              <a:buFont typeface="Arial" panose="020B0604020202020204" pitchFamily="34" charset="0"/>
              <a:buChar char="•"/>
            </a:pPr>
            <a:r>
              <a:rPr lang="en-US" sz="2400" dirty="0">
                <a:solidFill>
                  <a:schemeClr val="tx1">
                    <a:lumMod val="85000"/>
                    <a:lumOff val="15000"/>
                  </a:schemeClr>
                </a:solidFill>
                <a:latin typeface="Calibri" panose="020F0502020204030204" pitchFamily="34" charset="0"/>
                <a:cs typeface="Calibri" panose="020F0502020204030204" pitchFamily="34" charset="0"/>
              </a:rPr>
              <a:t>“I would be able to…”</a:t>
            </a:r>
          </a:p>
          <a:p>
            <a:pPr fontAlgn="base">
              <a:buFont typeface="Arial" panose="020B0604020202020204" pitchFamily="34" charset="0"/>
              <a:buChar char="•"/>
            </a:pPr>
            <a:r>
              <a:rPr lang="en-US" sz="2400" dirty="0">
                <a:solidFill>
                  <a:schemeClr val="tx1">
                    <a:lumMod val="85000"/>
                    <a:lumOff val="15000"/>
                  </a:schemeClr>
                </a:solidFill>
                <a:latin typeface="Calibri" panose="020F0502020204030204" pitchFamily="34" charset="0"/>
                <a:cs typeface="Calibri" panose="020F0502020204030204" pitchFamily="34" charset="0"/>
              </a:rPr>
              <a:t>“I would learn…”</a:t>
            </a:r>
          </a:p>
          <a:p>
            <a:pPr fontAlgn="base">
              <a:buFont typeface="Arial" panose="020B0604020202020204" pitchFamily="34" charset="0"/>
              <a:buChar char="•"/>
            </a:pPr>
            <a:r>
              <a:rPr lang="en-US" sz="2400" dirty="0">
                <a:solidFill>
                  <a:schemeClr val="tx1">
                    <a:lumMod val="85000"/>
                    <a:lumOff val="15000"/>
                  </a:schemeClr>
                </a:solidFill>
                <a:latin typeface="Calibri" panose="020F0502020204030204" pitchFamily="34" charset="0"/>
                <a:cs typeface="Calibri" panose="020F0502020204030204" pitchFamily="34" charset="0"/>
              </a:rPr>
              <a:t>“I could explain…” </a:t>
            </a:r>
          </a:p>
        </p:txBody>
      </p:sp>
    </p:spTree>
    <p:extLst>
      <p:ext uri="{BB962C8B-B14F-4D97-AF65-F5344CB8AC3E}">
        <p14:creationId xmlns:p14="http://schemas.microsoft.com/office/powerpoint/2010/main" val="34524765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p:cNvGrpSpPr/>
        <p:nvPr/>
      </p:nvGrpSpPr>
      <p:grpSpPr>
        <a:xfrm>
          <a:off x="0" y="0"/>
          <a:ext cx="0" cy="0"/>
          <a:chOff x="0" y="0"/>
          <a:chExt cx="0" cy="0"/>
        </a:xfrm>
      </p:grpSpPr>
      <p:sp>
        <p:nvSpPr>
          <p:cNvPr id="253" name="Shape 253" descr="http://developer.r-project.org/Logo/Rlogo.svg"/>
          <p:cNvSpPr/>
          <p:nvPr/>
        </p:nvSpPr>
        <p:spPr>
          <a:xfrm>
            <a:off x="1679576" y="-144463"/>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4" name="Shape 254" descr="http://developer.r-project.org/Logo/Rlogo.svg"/>
          <p:cNvSpPr/>
          <p:nvPr/>
        </p:nvSpPr>
        <p:spPr>
          <a:xfrm>
            <a:off x="1831976" y="79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5" name="Shape 255" descr="http://developer.r-project.org/Logo/Rlogo.svg"/>
          <p:cNvSpPr/>
          <p:nvPr/>
        </p:nvSpPr>
        <p:spPr>
          <a:xfrm>
            <a:off x="1984376" y="160337"/>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6" name="Shape 256" descr="http://developer.r-project.org/Logo/Rlogo.svg"/>
          <p:cNvSpPr/>
          <p:nvPr/>
        </p:nvSpPr>
        <p:spPr>
          <a:xfrm>
            <a:off x="2136776" y="3127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 name="AutoShape 6" descr="Image result for r"/>
          <p:cNvSpPr>
            <a:spLocks noChangeAspect="1" noChangeArrowheads="1"/>
          </p:cNvSpPr>
          <p:nvPr/>
        </p:nvSpPr>
        <p:spPr bwMode="auto">
          <a:xfrm>
            <a:off x="2289175" y="4651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solidFill>
                <a:schemeClr val="accent2">
                  <a:lumMod val="20000"/>
                  <a:lumOff val="80000"/>
                </a:schemeClr>
              </a:solidFill>
            </a:endParaRPr>
          </a:p>
        </p:txBody>
      </p:sp>
      <p:sp>
        <p:nvSpPr>
          <p:cNvPr id="8" name="Shape 208">
            <a:extLst>
              <a:ext uri="{FF2B5EF4-FFF2-40B4-BE49-F238E27FC236}">
                <a16:creationId xmlns:a16="http://schemas.microsoft.com/office/drawing/2014/main" id="{B5ED5A12-E140-4B27-8ED2-A376D55B0764}"/>
              </a:ext>
            </a:extLst>
          </p:cNvPr>
          <p:cNvSpPr txBox="1"/>
          <p:nvPr/>
        </p:nvSpPr>
        <p:spPr>
          <a:xfrm>
            <a:off x="1679575" y="232816"/>
            <a:ext cx="7772400" cy="769441"/>
          </a:xfrm>
          <a:prstGeom prst="rect">
            <a:avLst/>
          </a:prstGeom>
          <a:noFill/>
          <a:ln>
            <a:noFill/>
          </a:ln>
        </p:spPr>
        <p:txBody>
          <a:bodyPr lIns="91425" tIns="45700" rIns="91425" bIns="45700" anchor="t" anchorCtr="0">
            <a:noAutofit/>
          </a:bodyPr>
          <a:lstStyle/>
          <a:p>
            <a:pPr>
              <a:buSzPct val="25000"/>
            </a:pPr>
            <a:r>
              <a:rPr lang="en-US" sz="4400" dirty="0">
                <a:solidFill>
                  <a:schemeClr val="tx1">
                    <a:lumMod val="85000"/>
                    <a:lumOff val="15000"/>
                  </a:schemeClr>
                </a:solidFill>
                <a:latin typeface="Calibri"/>
                <a:ea typeface="Calibri"/>
                <a:cs typeface="Calibri"/>
                <a:sym typeface="Calibri"/>
              </a:rPr>
              <a:t>What does an “A” look like for you?</a:t>
            </a:r>
          </a:p>
        </p:txBody>
      </p:sp>
      <p:sp>
        <p:nvSpPr>
          <p:cNvPr id="6" name="Rectangle 5">
            <a:extLst>
              <a:ext uri="{FF2B5EF4-FFF2-40B4-BE49-F238E27FC236}">
                <a16:creationId xmlns:a16="http://schemas.microsoft.com/office/drawing/2014/main" id="{E5D02709-6223-4EC9-986E-861A9FF9FFB0}"/>
              </a:ext>
            </a:extLst>
          </p:cNvPr>
          <p:cNvSpPr/>
          <p:nvPr/>
        </p:nvSpPr>
        <p:spPr>
          <a:xfrm>
            <a:off x="2136774" y="1997706"/>
            <a:ext cx="7772400" cy="1200329"/>
          </a:xfrm>
          <a:prstGeom prst="rect">
            <a:avLst/>
          </a:prstGeom>
        </p:spPr>
        <p:txBody>
          <a:bodyPr wrap="square">
            <a:spAutoFit/>
          </a:bodyPr>
          <a:lstStyle/>
          <a:p>
            <a:r>
              <a:rPr lang="en-US" sz="2400" dirty="0">
                <a:solidFill>
                  <a:schemeClr val="tx1">
                    <a:lumMod val="85000"/>
                    <a:lumOff val="15000"/>
                  </a:schemeClr>
                </a:solidFill>
                <a:latin typeface="Calibri" panose="020F0502020204030204" pitchFamily="34" charset="0"/>
                <a:cs typeface="Calibri" panose="020F0502020204030204" pitchFamily="34" charset="0"/>
              </a:rPr>
              <a:t>Post your goals on ELC discussion by next Thursday’s class time. We’ll be reflecting back on these throughout the course.</a:t>
            </a:r>
          </a:p>
        </p:txBody>
      </p:sp>
    </p:spTree>
    <p:extLst>
      <p:ext uri="{BB962C8B-B14F-4D97-AF65-F5344CB8AC3E}">
        <p14:creationId xmlns:p14="http://schemas.microsoft.com/office/powerpoint/2010/main" val="23839642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52"/>
        <p:cNvGrpSpPr/>
        <p:nvPr/>
      </p:nvGrpSpPr>
      <p:grpSpPr>
        <a:xfrm>
          <a:off x="0" y="0"/>
          <a:ext cx="0" cy="0"/>
          <a:chOff x="0" y="0"/>
          <a:chExt cx="0" cy="0"/>
        </a:xfrm>
      </p:grpSpPr>
      <p:pic>
        <p:nvPicPr>
          <p:cNvPr id="153" name="Shape 153" descr="http://www.forwardmapworks.com/wordpress/wp-content/uploads/2012/03/Census_Bureau_Geographers_Cartographers.jpg"/>
          <p:cNvPicPr preferRelativeResize="0"/>
          <p:nvPr/>
        </p:nvPicPr>
        <p:blipFill rotWithShape="1">
          <a:blip r:embed="rId3">
            <a:alphaModFix/>
          </a:blip>
          <a:srcRect/>
          <a:stretch/>
        </p:blipFill>
        <p:spPr>
          <a:xfrm>
            <a:off x="4387645" y="2241755"/>
            <a:ext cx="6286886" cy="3862489"/>
          </a:xfrm>
          <a:prstGeom prst="rect">
            <a:avLst/>
          </a:prstGeom>
          <a:noFill/>
          <a:ln>
            <a:noFill/>
          </a:ln>
        </p:spPr>
      </p:pic>
      <p:sp>
        <p:nvSpPr>
          <p:cNvPr id="154" name="Shape 154"/>
          <p:cNvSpPr txBox="1">
            <a:spLocks noGrp="1"/>
          </p:cNvSpPr>
          <p:nvPr>
            <p:ph type="ctrTitle"/>
          </p:nvPr>
        </p:nvSpPr>
        <p:spPr>
          <a:xfrm>
            <a:off x="670210" y="373612"/>
            <a:ext cx="6934199" cy="760287"/>
          </a:xfrm>
          <a:prstGeom prst="rect">
            <a:avLst/>
          </a:prstGeom>
          <a:noFill/>
          <a:ln>
            <a:noFill/>
          </a:ln>
        </p:spPr>
        <p:txBody>
          <a:bodyPr vert="horz" lIns="91425" tIns="45700" rIns="91425" bIns="45700" rtlCol="0" anchor="ctr" anchorCtr="0">
            <a:noAutofit/>
          </a:bodyPr>
          <a:lstStyle/>
          <a:p>
            <a:pPr>
              <a:spcBef>
                <a:spcPts val="0"/>
              </a:spcBef>
              <a:buClr>
                <a:srgbClr val="FFFF66"/>
              </a:buClr>
              <a:buSzPct val="25000"/>
            </a:pPr>
            <a:r>
              <a:rPr lang="en-US" sz="3959" dirty="0">
                <a:latin typeface="+mj-lt"/>
                <a:ea typeface="Calibri"/>
                <a:cs typeface="Calibri"/>
                <a:sym typeface="Calibri"/>
              </a:rPr>
              <a:t>Statistics in Geography</a:t>
            </a:r>
          </a:p>
        </p:txBody>
      </p:sp>
      <p:sp>
        <p:nvSpPr>
          <p:cNvPr id="155" name="Shape 155"/>
          <p:cNvSpPr txBox="1"/>
          <p:nvPr/>
        </p:nvSpPr>
        <p:spPr>
          <a:xfrm>
            <a:off x="1516855" y="5797731"/>
            <a:ext cx="2058577" cy="246220"/>
          </a:xfrm>
          <a:prstGeom prst="rect">
            <a:avLst/>
          </a:prstGeom>
          <a:noFill/>
          <a:ln>
            <a:noFill/>
          </a:ln>
        </p:spPr>
        <p:txBody>
          <a:bodyPr lIns="91425" tIns="45700" rIns="91425" bIns="45700" anchor="t" anchorCtr="0">
            <a:noAutofit/>
          </a:bodyPr>
          <a:lstStyle/>
          <a:p>
            <a:pPr>
              <a:buSzPct val="25000"/>
            </a:pPr>
            <a:r>
              <a:rPr lang="en-US" sz="1000" dirty="0">
                <a:solidFill>
                  <a:schemeClr val="tx1">
                    <a:lumMod val="85000"/>
                    <a:lumOff val="15000"/>
                  </a:schemeClr>
                </a:solidFill>
                <a:latin typeface="Calibri"/>
                <a:ea typeface="Calibri"/>
                <a:cs typeface="Calibri"/>
                <a:sym typeface="Calibri"/>
              </a:rPr>
              <a:t>http://blog.forwardmapworks.com/</a:t>
            </a:r>
          </a:p>
        </p:txBody>
      </p:sp>
    </p:spTree>
    <p:extLst>
      <p:ext uri="{BB962C8B-B14F-4D97-AF65-F5344CB8AC3E}">
        <p14:creationId xmlns:p14="http://schemas.microsoft.com/office/powerpoint/2010/main" val="1933889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60"/>
        <p:cNvGrpSpPr/>
        <p:nvPr/>
      </p:nvGrpSpPr>
      <p:grpSpPr>
        <a:xfrm>
          <a:off x="0" y="0"/>
          <a:ext cx="0" cy="0"/>
          <a:chOff x="0" y="0"/>
          <a:chExt cx="0" cy="0"/>
        </a:xfrm>
      </p:grpSpPr>
      <p:sp>
        <p:nvSpPr>
          <p:cNvPr id="161" name="Shape 161"/>
          <p:cNvSpPr txBox="1"/>
          <p:nvPr/>
        </p:nvSpPr>
        <p:spPr>
          <a:xfrm>
            <a:off x="2438401" y="2133600"/>
            <a:ext cx="7291907" cy="1569660"/>
          </a:xfrm>
          <a:prstGeom prst="rect">
            <a:avLst/>
          </a:prstGeom>
          <a:noFill/>
          <a:ln>
            <a:noFill/>
          </a:ln>
        </p:spPr>
        <p:txBody>
          <a:bodyPr lIns="91425" tIns="45700" rIns="91425" bIns="45700" anchor="t" anchorCtr="0">
            <a:noAutofit/>
          </a:bodyPr>
          <a:lstStyle/>
          <a:p>
            <a:pPr>
              <a:buSzPct val="25000"/>
            </a:pPr>
            <a:r>
              <a:rPr lang="en-US" sz="4800" dirty="0">
                <a:solidFill>
                  <a:schemeClr val="tx1">
                    <a:lumMod val="85000"/>
                    <a:lumOff val="15000"/>
                  </a:schemeClr>
                </a:solidFill>
                <a:latin typeface="Calibri"/>
                <a:ea typeface="Calibri"/>
                <a:cs typeface="Calibri"/>
                <a:sym typeface="Calibri"/>
              </a:rPr>
              <a:t>What’s distinctive about statistics in geography?</a:t>
            </a:r>
          </a:p>
        </p:txBody>
      </p:sp>
    </p:spTree>
    <p:extLst>
      <p:ext uri="{BB962C8B-B14F-4D97-AF65-F5344CB8AC3E}">
        <p14:creationId xmlns:p14="http://schemas.microsoft.com/office/powerpoint/2010/main" val="2749416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74"/>
        <p:cNvGrpSpPr/>
        <p:nvPr/>
      </p:nvGrpSpPr>
      <p:grpSpPr>
        <a:xfrm>
          <a:off x="0" y="0"/>
          <a:ext cx="0" cy="0"/>
          <a:chOff x="0" y="0"/>
          <a:chExt cx="0" cy="0"/>
        </a:xfrm>
      </p:grpSpPr>
      <p:sp>
        <p:nvSpPr>
          <p:cNvPr id="175" name="Shape 175"/>
          <p:cNvSpPr txBox="1"/>
          <p:nvPr/>
        </p:nvSpPr>
        <p:spPr>
          <a:xfrm>
            <a:off x="9460618" y="6400801"/>
            <a:ext cx="1207381" cy="261609"/>
          </a:xfrm>
          <a:prstGeom prst="rect">
            <a:avLst/>
          </a:prstGeom>
          <a:noFill/>
          <a:ln>
            <a:noFill/>
          </a:ln>
        </p:spPr>
        <p:txBody>
          <a:bodyPr lIns="91425" tIns="45700" rIns="91425" bIns="45700" anchor="t" anchorCtr="0">
            <a:noAutofit/>
          </a:bodyPr>
          <a:lstStyle/>
          <a:p>
            <a:pPr>
              <a:buSzPct val="25000"/>
            </a:pPr>
            <a:r>
              <a:rPr lang="en-US" sz="1100">
                <a:solidFill>
                  <a:schemeClr val="tx1">
                    <a:lumMod val="85000"/>
                    <a:lumOff val="15000"/>
                  </a:schemeClr>
                </a:solidFill>
                <a:latin typeface="Calibri"/>
                <a:ea typeface="Calibri"/>
                <a:cs typeface="Calibri"/>
                <a:sym typeface="Calibri"/>
              </a:rPr>
              <a:t>3dgolfcourse.com</a:t>
            </a:r>
          </a:p>
        </p:txBody>
      </p:sp>
      <p:pic>
        <p:nvPicPr>
          <p:cNvPr id="176" name="Shape 176" descr="http://www.3dgolfcourse.com/wp-content/uploads/2010/02/willow_creek_lidar_2_sm.jpg"/>
          <p:cNvPicPr preferRelativeResize="0"/>
          <p:nvPr/>
        </p:nvPicPr>
        <p:blipFill rotWithShape="1">
          <a:blip r:embed="rId3">
            <a:alphaModFix/>
          </a:blip>
          <a:srcRect/>
          <a:stretch/>
        </p:blipFill>
        <p:spPr>
          <a:xfrm>
            <a:off x="5715000" y="3385439"/>
            <a:ext cx="4724400" cy="3062986"/>
          </a:xfrm>
          <a:prstGeom prst="rect">
            <a:avLst/>
          </a:prstGeom>
          <a:noFill/>
          <a:ln>
            <a:noFill/>
          </a:ln>
        </p:spPr>
      </p:pic>
      <p:pic>
        <p:nvPicPr>
          <p:cNvPr id="177" name="Shape 177" descr="http://www.nass.usda.gov/research/atlas02/Crops/Hay%20and%20Forage%20Crops%20Harvested/Forage%20-%20Land%20Used%20for%20All%20Hay%20and%20All%20Haylage,%20Grass%20Silage,%20and%20Greenchop,%20Harvested%20Acres%202002-choropleth%20map.gif"/>
          <p:cNvPicPr preferRelativeResize="0"/>
          <p:nvPr/>
        </p:nvPicPr>
        <p:blipFill rotWithShape="1">
          <a:blip r:embed="rId4">
            <a:alphaModFix/>
          </a:blip>
          <a:srcRect/>
          <a:stretch/>
        </p:blipFill>
        <p:spPr>
          <a:xfrm>
            <a:off x="1752600" y="1130744"/>
            <a:ext cx="4899772" cy="3786188"/>
          </a:xfrm>
          <a:prstGeom prst="rect">
            <a:avLst/>
          </a:prstGeom>
          <a:noFill/>
          <a:ln>
            <a:noFill/>
          </a:ln>
        </p:spPr>
      </p:pic>
      <p:sp>
        <p:nvSpPr>
          <p:cNvPr id="178" name="Shape 178"/>
          <p:cNvSpPr txBox="1"/>
          <p:nvPr/>
        </p:nvSpPr>
        <p:spPr>
          <a:xfrm>
            <a:off x="1752601" y="86379"/>
            <a:ext cx="8453761" cy="707886"/>
          </a:xfrm>
          <a:prstGeom prst="rect">
            <a:avLst/>
          </a:prstGeom>
          <a:noFill/>
          <a:ln>
            <a:noFill/>
          </a:ln>
        </p:spPr>
        <p:txBody>
          <a:bodyPr lIns="91425" tIns="45700" rIns="91425" bIns="45700" anchor="t" anchorCtr="0">
            <a:noAutofit/>
          </a:bodyPr>
          <a:lstStyle/>
          <a:p>
            <a:pPr>
              <a:buSzPct val="25000"/>
            </a:pPr>
            <a:r>
              <a:rPr lang="en-US" sz="4000" dirty="0">
                <a:solidFill>
                  <a:schemeClr val="tx1">
                    <a:lumMod val="85000"/>
                    <a:lumOff val="15000"/>
                  </a:schemeClr>
                </a:solidFill>
                <a:latin typeface="Calibri"/>
                <a:ea typeface="Calibri"/>
                <a:cs typeface="Calibri"/>
                <a:sym typeface="Calibri"/>
              </a:rPr>
              <a:t>1. Data formats and creation methods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descr="A map of land with different colors&#10;&#10;AI-generated content may be incorrect.">
            <a:extLst>
              <a:ext uri="{FF2B5EF4-FFF2-40B4-BE49-F238E27FC236}">
                <a16:creationId xmlns:a16="http://schemas.microsoft.com/office/drawing/2014/main" id="{870FEDE6-D3EA-3D14-B258-4254A70AF8E0}"/>
              </a:ext>
            </a:extLst>
          </p:cNvPr>
          <p:cNvPicPr>
            <a:picLocks noChangeAspect="1"/>
          </p:cNvPicPr>
          <p:nvPr/>
        </p:nvPicPr>
        <p:blipFill>
          <a:blip r:embed="rId3"/>
          <a:stretch>
            <a:fillRect/>
          </a:stretch>
        </p:blipFill>
        <p:spPr>
          <a:xfrm>
            <a:off x="471557" y="3725241"/>
            <a:ext cx="7857212" cy="2609298"/>
          </a:xfrm>
          <a:prstGeom prst="rect">
            <a:avLst/>
          </a:prstGeom>
        </p:spPr>
      </p:pic>
      <p:sp>
        <p:nvSpPr>
          <p:cNvPr id="4" name="Shape 178">
            <a:extLst>
              <a:ext uri="{FF2B5EF4-FFF2-40B4-BE49-F238E27FC236}">
                <a16:creationId xmlns:a16="http://schemas.microsoft.com/office/drawing/2014/main" id="{68AAFFCC-7A45-6569-603D-2E65D8426F7A}"/>
              </a:ext>
            </a:extLst>
          </p:cNvPr>
          <p:cNvSpPr txBox="1"/>
          <p:nvPr/>
        </p:nvSpPr>
        <p:spPr>
          <a:xfrm>
            <a:off x="471557" y="3017355"/>
            <a:ext cx="5902739" cy="707886"/>
          </a:xfrm>
          <a:prstGeom prst="rect">
            <a:avLst/>
          </a:prstGeom>
          <a:noFill/>
          <a:ln>
            <a:noFill/>
          </a:ln>
        </p:spPr>
        <p:txBody>
          <a:bodyPr lIns="91425" tIns="45700" rIns="91425" bIns="45700" anchor="t" anchorCtr="0">
            <a:noAutofit/>
          </a:bodyPr>
          <a:lstStyle/>
          <a:p>
            <a:pPr>
              <a:buSzPct val="25000"/>
            </a:pPr>
            <a:r>
              <a:rPr lang="en-US" sz="4000" dirty="0">
                <a:solidFill>
                  <a:schemeClr val="tx1">
                    <a:lumMod val="85000"/>
                    <a:lumOff val="15000"/>
                  </a:schemeClr>
                </a:solidFill>
                <a:latin typeface="Calibri"/>
                <a:ea typeface="Calibri"/>
                <a:cs typeface="Calibri"/>
                <a:sym typeface="Calibri"/>
              </a:rPr>
              <a:t>Thematic (discrete) data</a:t>
            </a:r>
          </a:p>
        </p:txBody>
      </p:sp>
      <p:pic>
        <p:nvPicPr>
          <p:cNvPr id="6" name="Picture 5" descr="A green and yellow background&#10;&#10;AI-generated content may be incorrect.">
            <a:extLst>
              <a:ext uri="{FF2B5EF4-FFF2-40B4-BE49-F238E27FC236}">
                <a16:creationId xmlns:a16="http://schemas.microsoft.com/office/drawing/2014/main" id="{28B8791D-D31D-8864-5C4F-89D6E411142B}"/>
              </a:ext>
            </a:extLst>
          </p:cNvPr>
          <p:cNvPicPr>
            <a:picLocks noChangeAspect="1"/>
          </p:cNvPicPr>
          <p:nvPr/>
        </p:nvPicPr>
        <p:blipFill>
          <a:blip r:embed="rId4"/>
          <a:stretch>
            <a:fillRect/>
          </a:stretch>
        </p:blipFill>
        <p:spPr>
          <a:xfrm>
            <a:off x="7807186" y="913295"/>
            <a:ext cx="3788465" cy="2626669"/>
          </a:xfrm>
          <a:prstGeom prst="rect">
            <a:avLst/>
          </a:prstGeom>
        </p:spPr>
      </p:pic>
      <p:sp>
        <p:nvSpPr>
          <p:cNvPr id="7" name="Shape 178">
            <a:extLst>
              <a:ext uri="{FF2B5EF4-FFF2-40B4-BE49-F238E27FC236}">
                <a16:creationId xmlns:a16="http://schemas.microsoft.com/office/drawing/2014/main" id="{73E03BD3-E417-82BC-1287-74B7AA6BA7D4}"/>
              </a:ext>
            </a:extLst>
          </p:cNvPr>
          <p:cNvSpPr txBox="1"/>
          <p:nvPr/>
        </p:nvSpPr>
        <p:spPr>
          <a:xfrm>
            <a:off x="7807186" y="205409"/>
            <a:ext cx="4764157" cy="707886"/>
          </a:xfrm>
          <a:prstGeom prst="rect">
            <a:avLst/>
          </a:prstGeom>
          <a:noFill/>
          <a:ln>
            <a:noFill/>
          </a:ln>
        </p:spPr>
        <p:txBody>
          <a:bodyPr lIns="91425" tIns="45700" rIns="91425" bIns="45700" anchor="t" anchorCtr="0">
            <a:noAutofit/>
          </a:bodyPr>
          <a:lstStyle/>
          <a:p>
            <a:pPr>
              <a:buSzPct val="25000"/>
            </a:pPr>
            <a:r>
              <a:rPr lang="en-US" sz="4000" dirty="0">
                <a:solidFill>
                  <a:schemeClr val="tx1">
                    <a:lumMod val="85000"/>
                    <a:lumOff val="15000"/>
                  </a:schemeClr>
                </a:solidFill>
                <a:latin typeface="Calibri"/>
                <a:ea typeface="Calibri"/>
                <a:cs typeface="Calibri"/>
                <a:sym typeface="Calibri"/>
              </a:rPr>
              <a:t>Continuous data</a:t>
            </a:r>
          </a:p>
        </p:txBody>
      </p:sp>
      <p:pic>
        <p:nvPicPr>
          <p:cNvPr id="9" name="Picture 8" descr="A map of a city&#10;&#10;AI-generated content may be incorrect.">
            <a:extLst>
              <a:ext uri="{FF2B5EF4-FFF2-40B4-BE49-F238E27FC236}">
                <a16:creationId xmlns:a16="http://schemas.microsoft.com/office/drawing/2014/main" id="{4D516178-F925-E216-5075-11FC20AFA7E3}"/>
              </a:ext>
            </a:extLst>
          </p:cNvPr>
          <p:cNvPicPr>
            <a:picLocks noChangeAspect="1"/>
          </p:cNvPicPr>
          <p:nvPr/>
        </p:nvPicPr>
        <p:blipFill>
          <a:blip r:embed="rId5"/>
          <a:stretch>
            <a:fillRect/>
          </a:stretch>
        </p:blipFill>
        <p:spPr>
          <a:xfrm>
            <a:off x="471557" y="290995"/>
            <a:ext cx="3944112" cy="2385944"/>
          </a:xfrm>
          <a:prstGeom prst="rect">
            <a:avLst/>
          </a:prstGeom>
        </p:spPr>
      </p:pic>
      <p:sp>
        <p:nvSpPr>
          <p:cNvPr id="10" name="Shape 178">
            <a:extLst>
              <a:ext uri="{FF2B5EF4-FFF2-40B4-BE49-F238E27FC236}">
                <a16:creationId xmlns:a16="http://schemas.microsoft.com/office/drawing/2014/main" id="{D86CFB01-FCC2-4AE5-46B1-F2D8E27EABCA}"/>
              </a:ext>
            </a:extLst>
          </p:cNvPr>
          <p:cNvSpPr txBox="1"/>
          <p:nvPr/>
        </p:nvSpPr>
        <p:spPr>
          <a:xfrm>
            <a:off x="4384814" y="408056"/>
            <a:ext cx="2446679" cy="903909"/>
          </a:xfrm>
          <a:prstGeom prst="rect">
            <a:avLst/>
          </a:prstGeom>
          <a:noFill/>
          <a:ln>
            <a:noFill/>
          </a:ln>
        </p:spPr>
        <p:txBody>
          <a:bodyPr lIns="91425" tIns="45700" rIns="91425" bIns="45700" anchor="t" anchorCtr="0">
            <a:noAutofit/>
          </a:bodyPr>
          <a:lstStyle/>
          <a:p>
            <a:pPr>
              <a:buSzPct val="25000"/>
            </a:pPr>
            <a:r>
              <a:rPr lang="en-US" sz="4000" dirty="0">
                <a:solidFill>
                  <a:schemeClr val="tx1">
                    <a:lumMod val="85000"/>
                    <a:lumOff val="15000"/>
                  </a:schemeClr>
                </a:solidFill>
                <a:latin typeface="Calibri"/>
                <a:ea typeface="Calibri"/>
                <a:cs typeface="Calibri"/>
                <a:sym typeface="Calibri"/>
              </a:rPr>
              <a:t>Basemaps</a:t>
            </a:r>
          </a:p>
        </p:txBody>
      </p:sp>
    </p:spTree>
    <p:extLst>
      <p:ext uri="{BB962C8B-B14F-4D97-AF65-F5344CB8AC3E}">
        <p14:creationId xmlns:p14="http://schemas.microsoft.com/office/powerpoint/2010/main" val="39831936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descr="A diagram of a red and yellow cubes&#10;&#10;AI-generated content may be incorrect.">
            <a:extLst>
              <a:ext uri="{FF2B5EF4-FFF2-40B4-BE49-F238E27FC236}">
                <a16:creationId xmlns:a16="http://schemas.microsoft.com/office/drawing/2014/main" id="{176C38B3-6ACE-BF49-4BC2-22FCFB9C053A}"/>
              </a:ext>
            </a:extLst>
          </p:cNvPr>
          <p:cNvPicPr>
            <a:picLocks noChangeAspect="1"/>
          </p:cNvPicPr>
          <p:nvPr/>
        </p:nvPicPr>
        <p:blipFill>
          <a:blip r:embed="rId2"/>
          <a:stretch>
            <a:fillRect/>
          </a:stretch>
        </p:blipFill>
        <p:spPr>
          <a:xfrm>
            <a:off x="631686" y="2622826"/>
            <a:ext cx="4064000" cy="1930400"/>
          </a:xfrm>
          <a:prstGeom prst="rect">
            <a:avLst/>
          </a:prstGeom>
        </p:spPr>
      </p:pic>
      <p:sp>
        <p:nvSpPr>
          <p:cNvPr id="4" name="Shape 178">
            <a:extLst>
              <a:ext uri="{FF2B5EF4-FFF2-40B4-BE49-F238E27FC236}">
                <a16:creationId xmlns:a16="http://schemas.microsoft.com/office/drawing/2014/main" id="{C3B41642-BA7C-1138-5086-7A61B96A3101}"/>
              </a:ext>
            </a:extLst>
          </p:cNvPr>
          <p:cNvSpPr txBox="1"/>
          <p:nvPr/>
        </p:nvSpPr>
        <p:spPr>
          <a:xfrm>
            <a:off x="445052" y="1755914"/>
            <a:ext cx="5902739" cy="707886"/>
          </a:xfrm>
          <a:prstGeom prst="rect">
            <a:avLst/>
          </a:prstGeom>
          <a:noFill/>
          <a:ln>
            <a:noFill/>
          </a:ln>
        </p:spPr>
        <p:txBody>
          <a:bodyPr lIns="91425" tIns="45700" rIns="91425" bIns="45700" anchor="t" anchorCtr="0">
            <a:noAutofit/>
          </a:bodyPr>
          <a:lstStyle/>
          <a:p>
            <a:pPr>
              <a:buSzPct val="25000"/>
            </a:pPr>
            <a:r>
              <a:rPr lang="en-US" sz="4000" dirty="0">
                <a:solidFill>
                  <a:schemeClr val="tx1">
                    <a:lumMod val="85000"/>
                    <a:lumOff val="15000"/>
                  </a:schemeClr>
                </a:solidFill>
                <a:latin typeface="Calibri"/>
                <a:ea typeface="Calibri"/>
                <a:cs typeface="Calibri"/>
                <a:sym typeface="Calibri"/>
              </a:rPr>
              <a:t>Arrays (multi-dimensional)</a:t>
            </a:r>
          </a:p>
        </p:txBody>
      </p:sp>
      <p:pic>
        <p:nvPicPr>
          <p:cNvPr id="5" name="Picture 4">
            <a:extLst>
              <a:ext uri="{FF2B5EF4-FFF2-40B4-BE49-F238E27FC236}">
                <a16:creationId xmlns:a16="http://schemas.microsoft.com/office/drawing/2014/main" id="{8A4C5F47-329F-0E6F-A9F8-6CEFD9A9269E}"/>
              </a:ext>
            </a:extLst>
          </p:cNvPr>
          <p:cNvPicPr>
            <a:picLocks noChangeAspect="1"/>
          </p:cNvPicPr>
          <p:nvPr/>
        </p:nvPicPr>
        <p:blipFill>
          <a:blip r:embed="rId3"/>
          <a:stretch>
            <a:fillRect/>
          </a:stretch>
        </p:blipFill>
        <p:spPr>
          <a:xfrm>
            <a:off x="6976165" y="2463800"/>
            <a:ext cx="4235174" cy="2737369"/>
          </a:xfrm>
          <a:prstGeom prst="rect">
            <a:avLst/>
          </a:prstGeom>
        </p:spPr>
      </p:pic>
      <p:cxnSp>
        <p:nvCxnSpPr>
          <p:cNvPr id="7" name="Straight Arrow Connector 6">
            <a:extLst>
              <a:ext uri="{FF2B5EF4-FFF2-40B4-BE49-F238E27FC236}">
                <a16:creationId xmlns:a16="http://schemas.microsoft.com/office/drawing/2014/main" id="{C095966E-31C9-BA64-1DC7-18E5334D3F5E}"/>
              </a:ext>
            </a:extLst>
          </p:cNvPr>
          <p:cNvCxnSpPr/>
          <p:nvPr/>
        </p:nvCxnSpPr>
        <p:spPr>
          <a:xfrm>
            <a:off x="5035826" y="3588026"/>
            <a:ext cx="1775791"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4EBF3921-438C-B62A-4BCF-6EDFFC3D95C3}"/>
              </a:ext>
            </a:extLst>
          </p:cNvPr>
          <p:cNvPicPr>
            <a:picLocks noChangeAspect="1"/>
          </p:cNvPicPr>
          <p:nvPr/>
        </p:nvPicPr>
        <p:blipFill>
          <a:blip r:embed="rId4"/>
          <a:stretch>
            <a:fillRect/>
          </a:stretch>
        </p:blipFill>
        <p:spPr>
          <a:xfrm>
            <a:off x="7788966" y="5031408"/>
            <a:ext cx="2895600" cy="558800"/>
          </a:xfrm>
          <a:prstGeom prst="rect">
            <a:avLst/>
          </a:prstGeom>
        </p:spPr>
      </p:pic>
    </p:spTree>
    <p:extLst>
      <p:ext uri="{BB962C8B-B14F-4D97-AF65-F5344CB8AC3E}">
        <p14:creationId xmlns:p14="http://schemas.microsoft.com/office/powerpoint/2010/main" val="3862537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66"/>
        <p:cNvGrpSpPr/>
        <p:nvPr/>
      </p:nvGrpSpPr>
      <p:grpSpPr>
        <a:xfrm>
          <a:off x="0" y="0"/>
          <a:ext cx="0" cy="0"/>
          <a:chOff x="0" y="0"/>
          <a:chExt cx="0" cy="0"/>
        </a:xfrm>
      </p:grpSpPr>
      <p:sp>
        <p:nvSpPr>
          <p:cNvPr id="167" name="Shape 167"/>
          <p:cNvSpPr txBox="1"/>
          <p:nvPr/>
        </p:nvSpPr>
        <p:spPr>
          <a:xfrm>
            <a:off x="1699694" y="76200"/>
            <a:ext cx="6917565" cy="707886"/>
          </a:xfrm>
          <a:prstGeom prst="rect">
            <a:avLst/>
          </a:prstGeom>
          <a:noFill/>
          <a:ln>
            <a:noFill/>
          </a:ln>
        </p:spPr>
        <p:txBody>
          <a:bodyPr lIns="91425" tIns="45700" rIns="91425" bIns="45700" anchor="t" anchorCtr="0">
            <a:noAutofit/>
          </a:bodyPr>
          <a:lstStyle/>
          <a:p>
            <a:pPr>
              <a:buSzPct val="25000"/>
            </a:pPr>
            <a:r>
              <a:rPr lang="en-US" sz="4000" dirty="0">
                <a:solidFill>
                  <a:schemeClr val="tx1">
                    <a:lumMod val="85000"/>
                    <a:lumOff val="15000"/>
                  </a:schemeClr>
                </a:solidFill>
                <a:latin typeface="+mj-lt"/>
                <a:ea typeface="Calibri"/>
                <a:cs typeface="Calibri"/>
                <a:sym typeface="Calibri"/>
              </a:rPr>
              <a:t>2. Methods of analysis</a:t>
            </a:r>
          </a:p>
        </p:txBody>
      </p:sp>
      <p:pic>
        <p:nvPicPr>
          <p:cNvPr id="168" name="Shape 168"/>
          <p:cNvPicPr preferRelativeResize="0"/>
          <p:nvPr/>
        </p:nvPicPr>
        <p:blipFill rotWithShape="1">
          <a:blip r:embed="rId3">
            <a:alphaModFix/>
          </a:blip>
          <a:srcRect/>
          <a:stretch/>
        </p:blipFill>
        <p:spPr>
          <a:xfrm>
            <a:off x="5389527" y="3200401"/>
            <a:ext cx="4916523" cy="3260539"/>
          </a:xfrm>
          <a:prstGeom prst="rect">
            <a:avLst/>
          </a:prstGeom>
          <a:noFill/>
          <a:ln>
            <a:noFill/>
          </a:ln>
        </p:spPr>
      </p:pic>
      <p:sp>
        <p:nvSpPr>
          <p:cNvPr id="169" name="Shape 169"/>
          <p:cNvSpPr txBox="1"/>
          <p:nvPr/>
        </p:nvSpPr>
        <p:spPr>
          <a:xfrm>
            <a:off x="2133601" y="784086"/>
            <a:ext cx="5144165" cy="1938991"/>
          </a:xfrm>
          <a:prstGeom prst="rect">
            <a:avLst/>
          </a:prstGeom>
          <a:noFill/>
          <a:ln>
            <a:noFill/>
          </a:ln>
        </p:spPr>
        <p:txBody>
          <a:bodyPr lIns="91425" tIns="45700" rIns="91425" bIns="45700" anchor="t" anchorCtr="0">
            <a:noAutofit/>
          </a:bodyPr>
          <a:lstStyle/>
          <a:p>
            <a:pPr>
              <a:buClr>
                <a:srgbClr val="FFFF66"/>
              </a:buClr>
              <a:buSzPct val="100000"/>
            </a:pPr>
            <a:r>
              <a:rPr lang="en-US" sz="4000" dirty="0">
                <a:solidFill>
                  <a:schemeClr val="tx1">
                    <a:lumMod val="85000"/>
                    <a:lumOff val="15000"/>
                  </a:schemeClr>
                </a:solidFill>
                <a:ea typeface="Calibri"/>
                <a:cs typeface="Calibri"/>
                <a:sym typeface="Calibri"/>
              </a:rPr>
              <a:t>Spatial clustering</a:t>
            </a:r>
          </a:p>
          <a:p>
            <a:pPr>
              <a:buClr>
                <a:srgbClr val="FFFF66"/>
              </a:buClr>
              <a:buSzPct val="100000"/>
            </a:pPr>
            <a:r>
              <a:rPr lang="en-US" sz="4000" dirty="0">
                <a:solidFill>
                  <a:schemeClr val="tx1">
                    <a:lumMod val="85000"/>
                    <a:lumOff val="15000"/>
                  </a:schemeClr>
                </a:solidFill>
                <a:ea typeface="Calibri"/>
                <a:cs typeface="Calibri"/>
                <a:sym typeface="Calibri"/>
              </a:rPr>
              <a:t>Spatial lag/influence</a:t>
            </a:r>
          </a:p>
          <a:p>
            <a:pPr>
              <a:buClr>
                <a:srgbClr val="FFFF66"/>
              </a:buClr>
              <a:buSzPct val="100000"/>
            </a:pPr>
            <a:r>
              <a:rPr lang="en-US" sz="4000" dirty="0">
                <a:solidFill>
                  <a:schemeClr val="tx1">
                    <a:lumMod val="85000"/>
                    <a:lumOff val="15000"/>
                  </a:schemeClr>
                </a:solidFill>
                <a:latin typeface="Calibri"/>
                <a:ea typeface="Calibri"/>
                <a:cs typeface="Calibri"/>
                <a:sym typeface="Calibri"/>
              </a:rPr>
              <a:t>Space/time geography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32"/>
        <p:cNvGrpSpPr/>
        <p:nvPr/>
      </p:nvGrpSpPr>
      <p:grpSpPr>
        <a:xfrm>
          <a:off x="0" y="0"/>
          <a:ext cx="0" cy="0"/>
          <a:chOff x="0" y="0"/>
          <a:chExt cx="0" cy="0"/>
        </a:xfrm>
      </p:grpSpPr>
      <p:pic>
        <p:nvPicPr>
          <p:cNvPr id="233" name="Shape 233" descr="http://prabasiva.files.wordpress.com/2012/04/big-data-iceberg1.jpg"/>
          <p:cNvPicPr preferRelativeResize="0"/>
          <p:nvPr/>
        </p:nvPicPr>
        <p:blipFill rotWithShape="1">
          <a:blip r:embed="rId3">
            <a:alphaModFix/>
          </a:blip>
          <a:srcRect r="13310"/>
          <a:stretch/>
        </p:blipFill>
        <p:spPr>
          <a:xfrm>
            <a:off x="494192" y="790114"/>
            <a:ext cx="4601591" cy="4630722"/>
          </a:xfrm>
          <a:prstGeom prst="rect">
            <a:avLst/>
          </a:prstGeom>
          <a:noFill/>
          <a:ln>
            <a:noFill/>
          </a:ln>
        </p:spPr>
      </p:pic>
      <p:pic>
        <p:nvPicPr>
          <p:cNvPr id="234" name="Shape 234" descr="http://qualityandinnovation.files.wordpress.com/2012/09/top-20-data-vis.jpg"/>
          <p:cNvPicPr preferRelativeResize="0"/>
          <p:nvPr/>
        </p:nvPicPr>
        <p:blipFill rotWithShape="1">
          <a:blip r:embed="rId4">
            <a:alphaModFix/>
          </a:blip>
          <a:srcRect/>
          <a:stretch/>
        </p:blipFill>
        <p:spPr>
          <a:xfrm>
            <a:off x="5705382" y="3532665"/>
            <a:ext cx="6096000" cy="3169976"/>
          </a:xfrm>
          <a:prstGeom prst="rect">
            <a:avLst/>
          </a:prstGeom>
          <a:noFill/>
          <a:ln>
            <a:noFill/>
          </a:ln>
        </p:spPr>
      </p:pic>
      <p:pic>
        <p:nvPicPr>
          <p:cNvPr id="3" name="Picture 2">
            <a:extLst>
              <a:ext uri="{FF2B5EF4-FFF2-40B4-BE49-F238E27FC236}">
                <a16:creationId xmlns:a16="http://schemas.microsoft.com/office/drawing/2014/main" id="{EAEFC137-7747-4A7A-BF66-C93A7E7CA2DB}"/>
              </a:ext>
            </a:extLst>
          </p:cNvPr>
          <p:cNvPicPr>
            <a:picLocks noChangeAspect="1"/>
          </p:cNvPicPr>
          <p:nvPr/>
        </p:nvPicPr>
        <p:blipFill rotWithShape="1">
          <a:blip r:embed="rId5"/>
          <a:srcRect r="27475"/>
          <a:stretch/>
        </p:blipFill>
        <p:spPr>
          <a:xfrm>
            <a:off x="5705382" y="323385"/>
            <a:ext cx="6096000" cy="3001951"/>
          </a:xfrm>
          <a:prstGeom prst="rect">
            <a:avLst/>
          </a:prstGeom>
        </p:spPr>
      </p:pic>
      <p:sp>
        <p:nvSpPr>
          <p:cNvPr id="2" name="Shape 167">
            <a:extLst>
              <a:ext uri="{FF2B5EF4-FFF2-40B4-BE49-F238E27FC236}">
                <a16:creationId xmlns:a16="http://schemas.microsoft.com/office/drawing/2014/main" id="{608A7FA6-E913-20C4-ABDE-B138E0C50A76}"/>
              </a:ext>
            </a:extLst>
          </p:cNvPr>
          <p:cNvSpPr txBox="1"/>
          <p:nvPr/>
        </p:nvSpPr>
        <p:spPr>
          <a:xfrm>
            <a:off x="494192" y="82228"/>
            <a:ext cx="6917565" cy="707886"/>
          </a:xfrm>
          <a:prstGeom prst="rect">
            <a:avLst/>
          </a:prstGeom>
          <a:noFill/>
          <a:ln>
            <a:noFill/>
          </a:ln>
        </p:spPr>
        <p:txBody>
          <a:bodyPr lIns="91425" tIns="45700" rIns="91425" bIns="45700" anchor="t" anchorCtr="0">
            <a:noAutofit/>
          </a:bodyPr>
          <a:lstStyle/>
          <a:p>
            <a:pPr>
              <a:buSzPct val="25000"/>
            </a:pPr>
            <a:r>
              <a:rPr lang="en-US" sz="4000" dirty="0">
                <a:solidFill>
                  <a:schemeClr val="tx1">
                    <a:lumMod val="85000"/>
                    <a:lumOff val="15000"/>
                  </a:schemeClr>
                </a:solidFill>
                <a:latin typeface="+mj-lt"/>
                <a:ea typeface="Calibri"/>
                <a:cs typeface="Calibri"/>
                <a:sym typeface="Calibri"/>
              </a:rPr>
              <a:t>3. Data workflow</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p:cNvGrpSpPr/>
        <p:nvPr/>
      </p:nvGrpSpPr>
      <p:grpSpPr>
        <a:xfrm>
          <a:off x="0" y="0"/>
          <a:ext cx="0" cy="0"/>
          <a:chOff x="0" y="0"/>
          <a:chExt cx="0" cy="0"/>
        </a:xfrm>
      </p:grpSpPr>
      <p:sp>
        <p:nvSpPr>
          <p:cNvPr id="253" name="Shape 253" descr="http://developer.r-project.org/Logo/Rlogo.svg"/>
          <p:cNvSpPr/>
          <p:nvPr/>
        </p:nvSpPr>
        <p:spPr>
          <a:xfrm>
            <a:off x="1679576" y="-144463"/>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4" name="Shape 254" descr="http://developer.r-project.org/Logo/Rlogo.svg"/>
          <p:cNvSpPr/>
          <p:nvPr/>
        </p:nvSpPr>
        <p:spPr>
          <a:xfrm>
            <a:off x="1831976" y="79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5" name="Shape 255" descr="http://developer.r-project.org/Logo/Rlogo.svg"/>
          <p:cNvSpPr/>
          <p:nvPr/>
        </p:nvSpPr>
        <p:spPr>
          <a:xfrm>
            <a:off x="1984376" y="160337"/>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6" name="Shape 256" descr="http://developer.r-project.org/Logo/Rlogo.svg"/>
          <p:cNvSpPr/>
          <p:nvPr/>
        </p:nvSpPr>
        <p:spPr>
          <a:xfrm>
            <a:off x="2136776" y="3127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 name="AutoShape 6" descr="Image result for r"/>
          <p:cNvSpPr>
            <a:spLocks noChangeAspect="1" noChangeArrowheads="1"/>
          </p:cNvSpPr>
          <p:nvPr/>
        </p:nvSpPr>
        <p:spPr bwMode="auto">
          <a:xfrm>
            <a:off x="2289175" y="4651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solidFill>
                <a:schemeClr val="accent2">
                  <a:lumMod val="20000"/>
                  <a:lumOff val="80000"/>
                </a:schemeClr>
              </a:solidFill>
            </a:endParaRPr>
          </a:p>
        </p:txBody>
      </p:sp>
      <p:sp>
        <p:nvSpPr>
          <p:cNvPr id="8" name="Shape 208">
            <a:extLst>
              <a:ext uri="{FF2B5EF4-FFF2-40B4-BE49-F238E27FC236}">
                <a16:creationId xmlns:a16="http://schemas.microsoft.com/office/drawing/2014/main" id="{B5ED5A12-E140-4B27-8ED2-A376D55B0764}"/>
              </a:ext>
            </a:extLst>
          </p:cNvPr>
          <p:cNvSpPr txBox="1"/>
          <p:nvPr/>
        </p:nvSpPr>
        <p:spPr>
          <a:xfrm>
            <a:off x="1828800" y="152401"/>
            <a:ext cx="7772400" cy="769441"/>
          </a:xfrm>
          <a:prstGeom prst="rect">
            <a:avLst/>
          </a:prstGeom>
          <a:noFill/>
          <a:ln>
            <a:noFill/>
          </a:ln>
        </p:spPr>
        <p:txBody>
          <a:bodyPr lIns="91425" tIns="45700" rIns="91425" bIns="45700" anchor="t" anchorCtr="0">
            <a:noAutofit/>
          </a:bodyPr>
          <a:lstStyle/>
          <a:p>
            <a:pPr>
              <a:buSzPct val="25000"/>
            </a:pPr>
            <a:r>
              <a:rPr lang="en-US" sz="4400" dirty="0">
                <a:solidFill>
                  <a:schemeClr val="tx1">
                    <a:lumMod val="85000"/>
                    <a:lumOff val="15000"/>
                  </a:schemeClr>
                </a:solidFill>
                <a:latin typeface="+mj-lt"/>
                <a:ea typeface="Calibri"/>
                <a:cs typeface="Calibri"/>
                <a:sym typeface="Calibri"/>
              </a:rPr>
              <a:t>Types of statistics</a:t>
            </a:r>
          </a:p>
        </p:txBody>
      </p:sp>
      <p:pic>
        <p:nvPicPr>
          <p:cNvPr id="9" name="Shape 146" descr="http://mwcz.org/img/019/mean_median_mode.png">
            <a:extLst>
              <a:ext uri="{FF2B5EF4-FFF2-40B4-BE49-F238E27FC236}">
                <a16:creationId xmlns:a16="http://schemas.microsoft.com/office/drawing/2014/main" id="{C61195E6-5007-4614-9CE0-604BEC19443B}"/>
              </a:ext>
            </a:extLst>
          </p:cNvPr>
          <p:cNvPicPr preferRelativeResize="0"/>
          <p:nvPr/>
        </p:nvPicPr>
        <p:blipFill rotWithShape="1">
          <a:blip r:embed="rId3">
            <a:alphaModFix/>
          </a:blip>
          <a:srcRect/>
          <a:stretch/>
        </p:blipFill>
        <p:spPr>
          <a:xfrm>
            <a:off x="1935371" y="1218704"/>
            <a:ext cx="2984973" cy="2890288"/>
          </a:xfrm>
          <a:prstGeom prst="rect">
            <a:avLst/>
          </a:prstGeom>
          <a:noFill/>
          <a:ln>
            <a:noFill/>
          </a:ln>
        </p:spPr>
      </p:pic>
      <p:pic>
        <p:nvPicPr>
          <p:cNvPr id="10" name="Shape 147" descr="http://www.ats.ucla.edu/stat/mult_pkg/faq/general/noconstant.png">
            <a:extLst>
              <a:ext uri="{FF2B5EF4-FFF2-40B4-BE49-F238E27FC236}">
                <a16:creationId xmlns:a16="http://schemas.microsoft.com/office/drawing/2014/main" id="{310A17DB-91AE-4442-A488-BDCD9BCBC39A}"/>
              </a:ext>
            </a:extLst>
          </p:cNvPr>
          <p:cNvPicPr preferRelativeResize="0"/>
          <p:nvPr/>
        </p:nvPicPr>
        <p:blipFill rotWithShape="1">
          <a:blip r:embed="rId4">
            <a:alphaModFix/>
          </a:blip>
          <a:srcRect/>
          <a:stretch/>
        </p:blipFill>
        <p:spPr>
          <a:xfrm>
            <a:off x="6655838" y="1218704"/>
            <a:ext cx="3229998" cy="2890288"/>
          </a:xfrm>
          <a:prstGeom prst="rect">
            <a:avLst/>
          </a:prstGeom>
          <a:noFill/>
          <a:ln>
            <a:noFill/>
          </a:ln>
        </p:spPr>
      </p:pic>
      <p:pic>
        <p:nvPicPr>
          <p:cNvPr id="4" name="Picture 3">
            <a:extLst>
              <a:ext uri="{FF2B5EF4-FFF2-40B4-BE49-F238E27FC236}">
                <a16:creationId xmlns:a16="http://schemas.microsoft.com/office/drawing/2014/main" id="{FEC5B753-B8A3-4AAC-BD08-B5C70554F0C5}"/>
              </a:ext>
            </a:extLst>
          </p:cNvPr>
          <p:cNvPicPr>
            <a:picLocks noChangeAspect="1"/>
          </p:cNvPicPr>
          <p:nvPr/>
        </p:nvPicPr>
        <p:blipFill rotWithShape="1">
          <a:blip r:embed="rId5"/>
          <a:srcRect t="4888" b="5273"/>
          <a:stretch/>
        </p:blipFill>
        <p:spPr>
          <a:xfrm>
            <a:off x="4583117" y="4164978"/>
            <a:ext cx="2686049" cy="2596608"/>
          </a:xfrm>
          <a:prstGeom prst="rect">
            <a:avLst/>
          </a:prstGeom>
        </p:spPr>
      </p:pic>
    </p:spTree>
    <p:extLst>
      <p:ext uri="{BB962C8B-B14F-4D97-AF65-F5344CB8AC3E}">
        <p14:creationId xmlns:p14="http://schemas.microsoft.com/office/powerpoint/2010/main" val="36399417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p:cNvGrpSpPr/>
        <p:nvPr/>
      </p:nvGrpSpPr>
      <p:grpSpPr>
        <a:xfrm>
          <a:off x="0" y="0"/>
          <a:ext cx="0" cy="0"/>
          <a:chOff x="0" y="0"/>
          <a:chExt cx="0" cy="0"/>
        </a:xfrm>
      </p:grpSpPr>
      <p:sp>
        <p:nvSpPr>
          <p:cNvPr id="253" name="Shape 253" descr="http://developer.r-project.org/Logo/Rlogo.svg"/>
          <p:cNvSpPr/>
          <p:nvPr/>
        </p:nvSpPr>
        <p:spPr>
          <a:xfrm>
            <a:off x="1679576" y="-144463"/>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4" name="Shape 254" descr="http://developer.r-project.org/Logo/Rlogo.svg"/>
          <p:cNvSpPr/>
          <p:nvPr/>
        </p:nvSpPr>
        <p:spPr>
          <a:xfrm>
            <a:off x="1831976" y="79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5" name="Shape 255" descr="http://developer.r-project.org/Logo/Rlogo.svg"/>
          <p:cNvSpPr/>
          <p:nvPr/>
        </p:nvSpPr>
        <p:spPr>
          <a:xfrm>
            <a:off x="1984376" y="160337"/>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6" name="Shape 256" descr="http://developer.r-project.org/Logo/Rlogo.svg"/>
          <p:cNvSpPr/>
          <p:nvPr/>
        </p:nvSpPr>
        <p:spPr>
          <a:xfrm>
            <a:off x="2136776" y="3127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 name="AutoShape 6" descr="Image result for r"/>
          <p:cNvSpPr>
            <a:spLocks noChangeAspect="1" noChangeArrowheads="1"/>
          </p:cNvSpPr>
          <p:nvPr/>
        </p:nvSpPr>
        <p:spPr bwMode="auto">
          <a:xfrm>
            <a:off x="2289175" y="4651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solidFill>
                <a:schemeClr val="accent2">
                  <a:lumMod val="20000"/>
                  <a:lumOff val="80000"/>
                </a:schemeClr>
              </a:solidFill>
            </a:endParaRPr>
          </a:p>
        </p:txBody>
      </p:sp>
      <p:sp>
        <p:nvSpPr>
          <p:cNvPr id="8" name="Shape 208">
            <a:extLst>
              <a:ext uri="{FF2B5EF4-FFF2-40B4-BE49-F238E27FC236}">
                <a16:creationId xmlns:a16="http://schemas.microsoft.com/office/drawing/2014/main" id="{B5ED5A12-E140-4B27-8ED2-A376D55B0764}"/>
              </a:ext>
            </a:extLst>
          </p:cNvPr>
          <p:cNvSpPr txBox="1"/>
          <p:nvPr/>
        </p:nvSpPr>
        <p:spPr>
          <a:xfrm>
            <a:off x="1828800" y="152401"/>
            <a:ext cx="7772400" cy="769441"/>
          </a:xfrm>
          <a:prstGeom prst="rect">
            <a:avLst/>
          </a:prstGeom>
          <a:noFill/>
          <a:ln>
            <a:noFill/>
          </a:ln>
        </p:spPr>
        <p:txBody>
          <a:bodyPr lIns="91425" tIns="45700" rIns="91425" bIns="45700" anchor="t" anchorCtr="0">
            <a:noAutofit/>
          </a:bodyPr>
          <a:lstStyle/>
          <a:p>
            <a:pPr>
              <a:buSzPct val="25000"/>
            </a:pPr>
            <a:r>
              <a:rPr lang="en-US" sz="4400" dirty="0">
                <a:solidFill>
                  <a:schemeClr val="tx1">
                    <a:lumMod val="85000"/>
                    <a:lumOff val="15000"/>
                  </a:schemeClr>
                </a:solidFill>
                <a:latin typeface="+mj-lt"/>
                <a:ea typeface="Calibri"/>
                <a:cs typeface="Calibri"/>
                <a:sym typeface="Calibri"/>
              </a:rPr>
              <a:t>Descriptive statistics</a:t>
            </a:r>
          </a:p>
        </p:txBody>
      </p:sp>
      <p:pic>
        <p:nvPicPr>
          <p:cNvPr id="9" name="Shape 146" descr="http://mwcz.org/img/019/mean_median_mode.png">
            <a:extLst>
              <a:ext uri="{FF2B5EF4-FFF2-40B4-BE49-F238E27FC236}">
                <a16:creationId xmlns:a16="http://schemas.microsoft.com/office/drawing/2014/main" id="{C61195E6-5007-4614-9CE0-604BEC19443B}"/>
              </a:ext>
            </a:extLst>
          </p:cNvPr>
          <p:cNvPicPr preferRelativeResize="0"/>
          <p:nvPr/>
        </p:nvPicPr>
        <p:blipFill rotWithShape="1">
          <a:blip r:embed="rId3">
            <a:alphaModFix/>
          </a:blip>
          <a:srcRect/>
          <a:stretch/>
        </p:blipFill>
        <p:spPr>
          <a:xfrm>
            <a:off x="6768629" y="3517641"/>
            <a:ext cx="3600794" cy="3110616"/>
          </a:xfrm>
          <a:prstGeom prst="rect">
            <a:avLst/>
          </a:prstGeom>
          <a:noFill/>
          <a:ln>
            <a:noFill/>
          </a:ln>
        </p:spPr>
      </p:pic>
      <p:sp>
        <p:nvSpPr>
          <p:cNvPr id="3" name="Rectangle 2">
            <a:extLst>
              <a:ext uri="{FF2B5EF4-FFF2-40B4-BE49-F238E27FC236}">
                <a16:creationId xmlns:a16="http://schemas.microsoft.com/office/drawing/2014/main" id="{7CCF5879-AF74-4DA1-9B01-1BC05E355968}"/>
              </a:ext>
            </a:extLst>
          </p:cNvPr>
          <p:cNvSpPr/>
          <p:nvPr/>
        </p:nvSpPr>
        <p:spPr>
          <a:xfrm>
            <a:off x="2289174" y="944909"/>
            <a:ext cx="7109863" cy="1815882"/>
          </a:xfrm>
          <a:prstGeom prst="rect">
            <a:avLst/>
          </a:prstGeom>
        </p:spPr>
        <p:txBody>
          <a:bodyPr wrap="square">
            <a:spAutoFit/>
          </a:bodyPr>
          <a:lstStyle/>
          <a:p>
            <a:pPr>
              <a:buClr>
                <a:srgbClr val="FFFF66"/>
              </a:buClr>
              <a:buSzPct val="100000"/>
            </a:pPr>
            <a:r>
              <a:rPr lang="en-US" sz="2800" dirty="0">
                <a:solidFill>
                  <a:schemeClr val="tx1">
                    <a:lumMod val="85000"/>
                    <a:lumOff val="15000"/>
                  </a:schemeClr>
                </a:solidFill>
                <a:ea typeface="Calibri"/>
                <a:cs typeface="Calibri"/>
                <a:sym typeface="Calibri"/>
              </a:rPr>
              <a:t>Central tendency</a:t>
            </a:r>
          </a:p>
          <a:p>
            <a:pPr>
              <a:buClr>
                <a:srgbClr val="FFFF66"/>
              </a:buClr>
              <a:buSzPct val="100000"/>
            </a:pPr>
            <a:r>
              <a:rPr lang="en-US" sz="2800" dirty="0">
                <a:solidFill>
                  <a:schemeClr val="tx1">
                    <a:lumMod val="85000"/>
                    <a:lumOff val="15000"/>
                  </a:schemeClr>
                </a:solidFill>
                <a:ea typeface="Calibri"/>
                <a:cs typeface="Calibri"/>
                <a:sym typeface="Calibri"/>
              </a:rPr>
              <a:t>Distribution</a:t>
            </a:r>
          </a:p>
          <a:p>
            <a:pPr>
              <a:buClr>
                <a:srgbClr val="FFFF66"/>
              </a:buClr>
              <a:buSzPct val="100000"/>
            </a:pPr>
            <a:r>
              <a:rPr lang="en-US" sz="2800" dirty="0">
                <a:solidFill>
                  <a:schemeClr val="tx1">
                    <a:lumMod val="85000"/>
                    <a:lumOff val="15000"/>
                  </a:schemeClr>
                </a:solidFill>
                <a:ea typeface="Calibri"/>
                <a:cs typeface="Calibri"/>
                <a:sym typeface="Calibri"/>
              </a:rPr>
              <a:t>Change over time</a:t>
            </a:r>
          </a:p>
          <a:p>
            <a:pPr>
              <a:buClr>
                <a:srgbClr val="FFFF66"/>
              </a:buClr>
              <a:buSzPct val="100000"/>
            </a:pPr>
            <a:r>
              <a:rPr lang="en-US" sz="2800" dirty="0">
                <a:solidFill>
                  <a:schemeClr val="tx1">
                    <a:lumMod val="85000"/>
                    <a:lumOff val="15000"/>
                  </a:schemeClr>
                </a:solidFill>
                <a:ea typeface="Calibri"/>
                <a:cs typeface="Calibri"/>
                <a:sym typeface="Calibri"/>
              </a:rPr>
              <a:t>Data visualization/exploratory analysis</a:t>
            </a:r>
          </a:p>
        </p:txBody>
      </p:sp>
      <p:pic>
        <p:nvPicPr>
          <p:cNvPr id="6" name="Picture 5">
            <a:extLst>
              <a:ext uri="{FF2B5EF4-FFF2-40B4-BE49-F238E27FC236}">
                <a16:creationId xmlns:a16="http://schemas.microsoft.com/office/drawing/2014/main" id="{4538B799-D326-40B1-B44B-9094848B2B7D}"/>
              </a:ext>
            </a:extLst>
          </p:cNvPr>
          <p:cNvPicPr>
            <a:picLocks noChangeAspect="1"/>
          </p:cNvPicPr>
          <p:nvPr/>
        </p:nvPicPr>
        <p:blipFill rotWithShape="1">
          <a:blip r:embed="rId4"/>
          <a:srcRect r="22250"/>
          <a:stretch/>
        </p:blipFill>
        <p:spPr>
          <a:xfrm>
            <a:off x="1623589" y="3141315"/>
            <a:ext cx="4879975" cy="3486942"/>
          </a:xfrm>
          <a:prstGeom prst="rect">
            <a:avLst/>
          </a:prstGeom>
        </p:spPr>
      </p:pic>
    </p:spTree>
    <p:extLst>
      <p:ext uri="{BB962C8B-B14F-4D97-AF65-F5344CB8AC3E}">
        <p14:creationId xmlns:p14="http://schemas.microsoft.com/office/powerpoint/2010/main" val="28377100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p:cNvGrpSpPr/>
        <p:nvPr/>
      </p:nvGrpSpPr>
      <p:grpSpPr>
        <a:xfrm>
          <a:off x="0" y="0"/>
          <a:ext cx="0" cy="0"/>
          <a:chOff x="0" y="0"/>
          <a:chExt cx="0" cy="0"/>
        </a:xfrm>
      </p:grpSpPr>
      <p:sp>
        <p:nvSpPr>
          <p:cNvPr id="253" name="Shape 253" descr="http://developer.r-project.org/Logo/Rlogo.svg"/>
          <p:cNvSpPr/>
          <p:nvPr/>
        </p:nvSpPr>
        <p:spPr>
          <a:xfrm>
            <a:off x="1679576" y="-144463"/>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4" name="Shape 254" descr="http://developer.r-project.org/Logo/Rlogo.svg"/>
          <p:cNvSpPr/>
          <p:nvPr/>
        </p:nvSpPr>
        <p:spPr>
          <a:xfrm>
            <a:off x="1831976" y="79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5" name="Shape 255" descr="http://developer.r-project.org/Logo/Rlogo.svg"/>
          <p:cNvSpPr/>
          <p:nvPr/>
        </p:nvSpPr>
        <p:spPr>
          <a:xfrm>
            <a:off x="1984376" y="160337"/>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6" name="Shape 256" descr="http://developer.r-project.org/Logo/Rlogo.svg"/>
          <p:cNvSpPr/>
          <p:nvPr/>
        </p:nvSpPr>
        <p:spPr>
          <a:xfrm>
            <a:off x="2136776" y="3127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 name="AutoShape 6" descr="Image result for r"/>
          <p:cNvSpPr>
            <a:spLocks noChangeAspect="1" noChangeArrowheads="1"/>
          </p:cNvSpPr>
          <p:nvPr/>
        </p:nvSpPr>
        <p:spPr bwMode="auto">
          <a:xfrm>
            <a:off x="2289175" y="4651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solidFill>
                <a:schemeClr val="accent2">
                  <a:lumMod val="20000"/>
                  <a:lumOff val="80000"/>
                </a:schemeClr>
              </a:solidFill>
            </a:endParaRPr>
          </a:p>
        </p:txBody>
      </p:sp>
      <p:sp>
        <p:nvSpPr>
          <p:cNvPr id="8" name="Shape 208">
            <a:extLst>
              <a:ext uri="{FF2B5EF4-FFF2-40B4-BE49-F238E27FC236}">
                <a16:creationId xmlns:a16="http://schemas.microsoft.com/office/drawing/2014/main" id="{B5ED5A12-E140-4B27-8ED2-A376D55B0764}"/>
              </a:ext>
            </a:extLst>
          </p:cNvPr>
          <p:cNvSpPr txBox="1"/>
          <p:nvPr/>
        </p:nvSpPr>
        <p:spPr>
          <a:xfrm>
            <a:off x="1828800" y="152401"/>
            <a:ext cx="7772400" cy="769441"/>
          </a:xfrm>
          <a:prstGeom prst="rect">
            <a:avLst/>
          </a:prstGeom>
          <a:noFill/>
          <a:ln>
            <a:noFill/>
          </a:ln>
        </p:spPr>
        <p:txBody>
          <a:bodyPr lIns="91425" tIns="45700" rIns="91425" bIns="45700" anchor="t" anchorCtr="0">
            <a:noAutofit/>
          </a:bodyPr>
          <a:lstStyle/>
          <a:p>
            <a:pPr>
              <a:buSzPct val="25000"/>
            </a:pPr>
            <a:r>
              <a:rPr lang="en-US" sz="4400" dirty="0">
                <a:solidFill>
                  <a:schemeClr val="accent2">
                    <a:lumMod val="20000"/>
                    <a:lumOff val="80000"/>
                  </a:schemeClr>
                </a:solidFill>
                <a:latin typeface="Calibri"/>
                <a:ea typeface="Calibri"/>
                <a:cs typeface="Calibri"/>
                <a:sym typeface="Calibri"/>
              </a:rPr>
              <a:t>Inferential statistics</a:t>
            </a:r>
          </a:p>
        </p:txBody>
      </p:sp>
      <p:sp>
        <p:nvSpPr>
          <p:cNvPr id="3" name="Rectangle 2">
            <a:extLst>
              <a:ext uri="{FF2B5EF4-FFF2-40B4-BE49-F238E27FC236}">
                <a16:creationId xmlns:a16="http://schemas.microsoft.com/office/drawing/2014/main" id="{7CCF5879-AF74-4DA1-9B01-1BC05E355968}"/>
              </a:ext>
            </a:extLst>
          </p:cNvPr>
          <p:cNvSpPr/>
          <p:nvPr/>
        </p:nvSpPr>
        <p:spPr>
          <a:xfrm>
            <a:off x="2289174" y="944909"/>
            <a:ext cx="7772400" cy="1815882"/>
          </a:xfrm>
          <a:prstGeom prst="rect">
            <a:avLst/>
          </a:prstGeom>
        </p:spPr>
        <p:txBody>
          <a:bodyPr wrap="square">
            <a:spAutoFit/>
          </a:bodyPr>
          <a:lstStyle/>
          <a:p>
            <a:pPr>
              <a:buClr>
                <a:srgbClr val="FFFF66"/>
              </a:buClr>
              <a:buSzPct val="100000"/>
            </a:pPr>
            <a:r>
              <a:rPr lang="en-US" sz="2800" dirty="0">
                <a:solidFill>
                  <a:schemeClr val="accent2">
                    <a:lumMod val="20000"/>
                    <a:lumOff val="80000"/>
                  </a:schemeClr>
                </a:solidFill>
                <a:latin typeface="Calibri"/>
                <a:ea typeface="Calibri"/>
                <a:cs typeface="Calibri"/>
                <a:sym typeface="Calibri"/>
              </a:rPr>
              <a:t>Difference in means/t-tests</a:t>
            </a:r>
          </a:p>
          <a:p>
            <a:pPr>
              <a:buClr>
                <a:srgbClr val="FFFF66"/>
              </a:buClr>
              <a:buSzPct val="100000"/>
            </a:pPr>
            <a:r>
              <a:rPr lang="en-US" sz="2800" dirty="0">
                <a:solidFill>
                  <a:schemeClr val="accent2">
                    <a:lumMod val="20000"/>
                    <a:lumOff val="80000"/>
                  </a:schemeClr>
                </a:solidFill>
                <a:latin typeface="Calibri"/>
                <a:ea typeface="Calibri"/>
                <a:cs typeface="Calibri"/>
                <a:sym typeface="Calibri"/>
              </a:rPr>
              <a:t>Confidence intervals</a:t>
            </a:r>
          </a:p>
          <a:p>
            <a:pPr>
              <a:buClr>
                <a:srgbClr val="FFFF66"/>
              </a:buClr>
              <a:buSzPct val="100000"/>
            </a:pPr>
            <a:r>
              <a:rPr lang="en-US" sz="2800" dirty="0">
                <a:solidFill>
                  <a:schemeClr val="accent2">
                    <a:lumMod val="20000"/>
                    <a:lumOff val="80000"/>
                  </a:schemeClr>
                </a:solidFill>
                <a:latin typeface="Calibri"/>
                <a:ea typeface="Calibri"/>
                <a:cs typeface="Calibri"/>
                <a:sym typeface="Calibri"/>
              </a:rPr>
              <a:t>Correlation</a:t>
            </a:r>
          </a:p>
          <a:p>
            <a:pPr>
              <a:buClr>
                <a:srgbClr val="FFFF66"/>
              </a:buClr>
              <a:buSzPct val="100000"/>
            </a:pPr>
            <a:r>
              <a:rPr lang="en-US" sz="2800" dirty="0">
                <a:solidFill>
                  <a:schemeClr val="accent2">
                    <a:lumMod val="20000"/>
                    <a:lumOff val="80000"/>
                  </a:schemeClr>
                </a:solidFill>
                <a:latin typeface="Calibri"/>
                <a:ea typeface="Calibri"/>
                <a:cs typeface="Calibri"/>
                <a:sym typeface="Calibri"/>
              </a:rPr>
              <a:t>Regression</a:t>
            </a:r>
          </a:p>
        </p:txBody>
      </p:sp>
      <p:pic>
        <p:nvPicPr>
          <p:cNvPr id="14" name="Shape 147" descr="http://www.ats.ucla.edu/stat/mult_pkg/faq/general/noconstant.png">
            <a:extLst>
              <a:ext uri="{FF2B5EF4-FFF2-40B4-BE49-F238E27FC236}">
                <a16:creationId xmlns:a16="http://schemas.microsoft.com/office/drawing/2014/main" id="{22C12108-4117-4598-9123-489C463848AE}"/>
              </a:ext>
            </a:extLst>
          </p:cNvPr>
          <p:cNvPicPr preferRelativeResize="0"/>
          <p:nvPr/>
        </p:nvPicPr>
        <p:blipFill rotWithShape="1">
          <a:blip r:embed="rId3">
            <a:alphaModFix/>
          </a:blip>
          <a:srcRect/>
          <a:stretch/>
        </p:blipFill>
        <p:spPr>
          <a:xfrm>
            <a:off x="6758473" y="3429000"/>
            <a:ext cx="3752514" cy="3276600"/>
          </a:xfrm>
          <a:prstGeom prst="rect">
            <a:avLst/>
          </a:prstGeom>
          <a:noFill/>
          <a:ln>
            <a:noFill/>
          </a:ln>
        </p:spPr>
      </p:pic>
      <p:pic>
        <p:nvPicPr>
          <p:cNvPr id="11" name="Picture 10">
            <a:extLst>
              <a:ext uri="{FF2B5EF4-FFF2-40B4-BE49-F238E27FC236}">
                <a16:creationId xmlns:a16="http://schemas.microsoft.com/office/drawing/2014/main" id="{0AD05EAA-0B09-4DB6-A05D-925569AA4A33}"/>
              </a:ext>
            </a:extLst>
          </p:cNvPr>
          <p:cNvPicPr>
            <a:picLocks noChangeAspect="1"/>
          </p:cNvPicPr>
          <p:nvPr/>
        </p:nvPicPr>
        <p:blipFill>
          <a:blip r:embed="rId4"/>
          <a:stretch>
            <a:fillRect/>
          </a:stretch>
        </p:blipFill>
        <p:spPr>
          <a:xfrm>
            <a:off x="1902765" y="4117327"/>
            <a:ext cx="4486275" cy="2038350"/>
          </a:xfrm>
          <a:prstGeom prst="rect">
            <a:avLst/>
          </a:prstGeom>
        </p:spPr>
      </p:pic>
    </p:spTree>
    <p:extLst>
      <p:ext uri="{BB962C8B-B14F-4D97-AF65-F5344CB8AC3E}">
        <p14:creationId xmlns:p14="http://schemas.microsoft.com/office/powerpoint/2010/main" val="23022015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p:cNvGrpSpPr/>
        <p:nvPr/>
      </p:nvGrpSpPr>
      <p:grpSpPr>
        <a:xfrm>
          <a:off x="0" y="0"/>
          <a:ext cx="0" cy="0"/>
          <a:chOff x="0" y="0"/>
          <a:chExt cx="0" cy="0"/>
        </a:xfrm>
      </p:grpSpPr>
      <p:sp>
        <p:nvSpPr>
          <p:cNvPr id="253" name="Shape 253" descr="http://developer.r-project.org/Logo/Rlogo.svg"/>
          <p:cNvSpPr/>
          <p:nvPr/>
        </p:nvSpPr>
        <p:spPr>
          <a:xfrm>
            <a:off x="1679576" y="-144463"/>
            <a:ext cx="304799" cy="304801"/>
          </a:xfrm>
          <a:prstGeom prst="rect">
            <a:avLst/>
          </a:prstGeom>
          <a:noFill/>
          <a:ln>
            <a:noFill/>
          </a:ln>
        </p:spPr>
        <p:txBody>
          <a:bodyPr lIns="91425" tIns="45700" rIns="91425" bIns="45700" anchor="t" anchorCtr="0">
            <a:noAutofit/>
          </a:bodyPr>
          <a:lstStyle/>
          <a:p>
            <a:endParaRPr>
              <a:solidFill>
                <a:schemeClr val="dk1"/>
              </a:solidFill>
              <a:latin typeface="Calibri"/>
              <a:ea typeface="Calibri"/>
              <a:cs typeface="Calibri"/>
              <a:sym typeface="Calibri"/>
            </a:endParaRPr>
          </a:p>
        </p:txBody>
      </p:sp>
      <p:sp>
        <p:nvSpPr>
          <p:cNvPr id="254" name="Shape 254" descr="http://developer.r-project.org/Logo/Rlogo.svg"/>
          <p:cNvSpPr/>
          <p:nvPr/>
        </p:nvSpPr>
        <p:spPr>
          <a:xfrm>
            <a:off x="1831976" y="7938"/>
            <a:ext cx="304799" cy="304801"/>
          </a:xfrm>
          <a:prstGeom prst="rect">
            <a:avLst/>
          </a:prstGeom>
          <a:noFill/>
          <a:ln>
            <a:noFill/>
          </a:ln>
        </p:spPr>
        <p:txBody>
          <a:bodyPr lIns="91425" tIns="45700" rIns="91425" bIns="45700" anchor="t" anchorCtr="0">
            <a:noAutofit/>
          </a:bodyPr>
          <a:lstStyle/>
          <a:p>
            <a:endParaRPr>
              <a:solidFill>
                <a:schemeClr val="dk1"/>
              </a:solidFill>
              <a:latin typeface="Calibri"/>
              <a:ea typeface="Calibri"/>
              <a:cs typeface="Calibri"/>
              <a:sym typeface="Calibri"/>
            </a:endParaRPr>
          </a:p>
        </p:txBody>
      </p:sp>
      <p:sp>
        <p:nvSpPr>
          <p:cNvPr id="255" name="Shape 255" descr="http://developer.r-project.org/Logo/Rlogo.svg"/>
          <p:cNvSpPr/>
          <p:nvPr/>
        </p:nvSpPr>
        <p:spPr>
          <a:xfrm>
            <a:off x="1984376" y="160337"/>
            <a:ext cx="304799" cy="304801"/>
          </a:xfrm>
          <a:prstGeom prst="rect">
            <a:avLst/>
          </a:prstGeom>
          <a:noFill/>
          <a:ln>
            <a:noFill/>
          </a:ln>
        </p:spPr>
        <p:txBody>
          <a:bodyPr lIns="91425" tIns="45700" rIns="91425" bIns="45700" anchor="t" anchorCtr="0">
            <a:noAutofit/>
          </a:bodyPr>
          <a:lstStyle/>
          <a:p>
            <a:endParaRPr>
              <a:solidFill>
                <a:schemeClr val="dk1"/>
              </a:solidFill>
              <a:latin typeface="Calibri"/>
              <a:ea typeface="Calibri"/>
              <a:cs typeface="Calibri"/>
              <a:sym typeface="Calibri"/>
            </a:endParaRPr>
          </a:p>
        </p:txBody>
      </p:sp>
      <p:sp>
        <p:nvSpPr>
          <p:cNvPr id="256" name="Shape 256" descr="http://developer.r-project.org/Logo/Rlogo.svg"/>
          <p:cNvSpPr/>
          <p:nvPr/>
        </p:nvSpPr>
        <p:spPr>
          <a:xfrm>
            <a:off x="2136776" y="312738"/>
            <a:ext cx="304799" cy="304801"/>
          </a:xfrm>
          <a:prstGeom prst="rect">
            <a:avLst/>
          </a:prstGeom>
          <a:noFill/>
          <a:ln>
            <a:noFill/>
          </a:ln>
        </p:spPr>
        <p:txBody>
          <a:bodyPr lIns="91425" tIns="45700" rIns="91425" bIns="45700" anchor="t" anchorCtr="0">
            <a:noAutofit/>
          </a:bodyPr>
          <a:lstStyle/>
          <a:p>
            <a:endParaRPr>
              <a:solidFill>
                <a:schemeClr val="dk1"/>
              </a:solidFill>
              <a:latin typeface="Calibri"/>
              <a:ea typeface="Calibri"/>
              <a:cs typeface="Calibri"/>
              <a:sym typeface="Calibri"/>
            </a:endParaRPr>
          </a:p>
        </p:txBody>
      </p:sp>
      <p:sp>
        <p:nvSpPr>
          <p:cNvPr id="2" name="AutoShape 6" descr="Image result for r"/>
          <p:cNvSpPr>
            <a:spLocks noChangeAspect="1" noChangeArrowheads="1"/>
          </p:cNvSpPr>
          <p:nvPr/>
        </p:nvSpPr>
        <p:spPr bwMode="auto">
          <a:xfrm>
            <a:off x="2289175" y="4651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Shape 208">
            <a:extLst>
              <a:ext uri="{FF2B5EF4-FFF2-40B4-BE49-F238E27FC236}">
                <a16:creationId xmlns:a16="http://schemas.microsoft.com/office/drawing/2014/main" id="{B5ED5A12-E140-4B27-8ED2-A376D55B0764}"/>
              </a:ext>
            </a:extLst>
          </p:cNvPr>
          <p:cNvSpPr txBox="1"/>
          <p:nvPr/>
        </p:nvSpPr>
        <p:spPr>
          <a:xfrm>
            <a:off x="1828800" y="152401"/>
            <a:ext cx="7772400" cy="769441"/>
          </a:xfrm>
          <a:prstGeom prst="rect">
            <a:avLst/>
          </a:prstGeom>
          <a:noFill/>
          <a:ln>
            <a:noFill/>
          </a:ln>
        </p:spPr>
        <p:txBody>
          <a:bodyPr lIns="91425" tIns="45700" rIns="91425" bIns="45700" anchor="t" anchorCtr="0">
            <a:noAutofit/>
          </a:bodyPr>
          <a:lstStyle/>
          <a:p>
            <a:pPr>
              <a:buSzPct val="25000"/>
            </a:pPr>
            <a:r>
              <a:rPr lang="en-US" sz="4400" dirty="0">
                <a:solidFill>
                  <a:schemeClr val="tx1">
                    <a:lumMod val="85000"/>
                    <a:lumOff val="15000"/>
                  </a:schemeClr>
                </a:solidFill>
                <a:latin typeface="+mj-lt"/>
                <a:ea typeface="Calibri"/>
                <a:cs typeface="Calibri"/>
                <a:sym typeface="Calibri"/>
              </a:rPr>
              <a:t>Spatial statistics</a:t>
            </a:r>
          </a:p>
        </p:txBody>
      </p:sp>
      <p:sp>
        <p:nvSpPr>
          <p:cNvPr id="3" name="Rectangle 2">
            <a:extLst>
              <a:ext uri="{FF2B5EF4-FFF2-40B4-BE49-F238E27FC236}">
                <a16:creationId xmlns:a16="http://schemas.microsoft.com/office/drawing/2014/main" id="{7CCF5879-AF74-4DA1-9B01-1BC05E355968}"/>
              </a:ext>
            </a:extLst>
          </p:cNvPr>
          <p:cNvSpPr/>
          <p:nvPr/>
        </p:nvSpPr>
        <p:spPr>
          <a:xfrm>
            <a:off x="2289174" y="944910"/>
            <a:ext cx="7772400" cy="1384995"/>
          </a:xfrm>
          <a:prstGeom prst="rect">
            <a:avLst/>
          </a:prstGeom>
        </p:spPr>
        <p:txBody>
          <a:bodyPr wrap="square">
            <a:spAutoFit/>
          </a:bodyPr>
          <a:lstStyle/>
          <a:p>
            <a:pPr>
              <a:buClr>
                <a:srgbClr val="FFFF66"/>
              </a:buClr>
              <a:buSzPct val="100000"/>
            </a:pPr>
            <a:r>
              <a:rPr lang="en-US" sz="2800" dirty="0">
                <a:solidFill>
                  <a:schemeClr val="tx1">
                    <a:lumMod val="85000"/>
                    <a:lumOff val="15000"/>
                  </a:schemeClr>
                </a:solidFill>
                <a:latin typeface="Calibri"/>
                <a:ea typeface="Calibri"/>
                <a:cs typeface="Calibri"/>
                <a:sym typeface="Calibri"/>
              </a:rPr>
              <a:t>Spatial autocorrelation/Hotspot analysis</a:t>
            </a:r>
          </a:p>
          <a:p>
            <a:pPr>
              <a:buClr>
                <a:srgbClr val="FFFF66"/>
              </a:buClr>
              <a:buSzPct val="100000"/>
            </a:pPr>
            <a:r>
              <a:rPr lang="en-US" sz="2800" dirty="0">
                <a:solidFill>
                  <a:schemeClr val="tx1">
                    <a:lumMod val="85000"/>
                    <a:lumOff val="15000"/>
                  </a:schemeClr>
                </a:solidFill>
                <a:latin typeface="Calibri"/>
                <a:ea typeface="Calibri"/>
                <a:cs typeface="Calibri"/>
                <a:sym typeface="Calibri"/>
              </a:rPr>
              <a:t>Spatial clustering</a:t>
            </a:r>
          </a:p>
          <a:p>
            <a:pPr>
              <a:buClr>
                <a:srgbClr val="FFFF66"/>
              </a:buClr>
              <a:buSzPct val="100000"/>
            </a:pPr>
            <a:r>
              <a:rPr lang="en-US" sz="2800" dirty="0">
                <a:solidFill>
                  <a:schemeClr val="tx1">
                    <a:lumMod val="85000"/>
                    <a:lumOff val="15000"/>
                  </a:schemeClr>
                </a:solidFill>
                <a:latin typeface="Calibri"/>
                <a:ea typeface="Calibri"/>
                <a:cs typeface="Calibri"/>
                <a:sym typeface="Calibri"/>
              </a:rPr>
              <a:t>Geographic regression models</a:t>
            </a:r>
          </a:p>
        </p:txBody>
      </p:sp>
      <p:pic>
        <p:nvPicPr>
          <p:cNvPr id="5" name="Picture 4">
            <a:extLst>
              <a:ext uri="{FF2B5EF4-FFF2-40B4-BE49-F238E27FC236}">
                <a16:creationId xmlns:a16="http://schemas.microsoft.com/office/drawing/2014/main" id="{1353B2A5-8BED-4A82-9366-99D73D997B73}"/>
              </a:ext>
            </a:extLst>
          </p:cNvPr>
          <p:cNvPicPr>
            <a:picLocks noChangeAspect="1"/>
          </p:cNvPicPr>
          <p:nvPr/>
        </p:nvPicPr>
        <p:blipFill>
          <a:blip r:embed="rId3"/>
          <a:stretch>
            <a:fillRect/>
          </a:stretch>
        </p:blipFill>
        <p:spPr>
          <a:xfrm>
            <a:off x="6022563" y="4142792"/>
            <a:ext cx="4513042" cy="2562808"/>
          </a:xfrm>
          <a:prstGeom prst="rect">
            <a:avLst/>
          </a:prstGeom>
        </p:spPr>
      </p:pic>
      <p:pic>
        <p:nvPicPr>
          <p:cNvPr id="7" name="Picture 6">
            <a:extLst>
              <a:ext uri="{FF2B5EF4-FFF2-40B4-BE49-F238E27FC236}">
                <a16:creationId xmlns:a16="http://schemas.microsoft.com/office/drawing/2014/main" id="{362499F4-4C3B-4B60-BD20-67AA9C85AF17}"/>
              </a:ext>
            </a:extLst>
          </p:cNvPr>
          <p:cNvPicPr>
            <a:picLocks noChangeAspect="1"/>
          </p:cNvPicPr>
          <p:nvPr/>
        </p:nvPicPr>
        <p:blipFill>
          <a:blip r:embed="rId4"/>
          <a:stretch>
            <a:fillRect/>
          </a:stretch>
        </p:blipFill>
        <p:spPr>
          <a:xfrm>
            <a:off x="1828801" y="3582955"/>
            <a:ext cx="4033706" cy="3122645"/>
          </a:xfrm>
          <a:prstGeom prst="rect">
            <a:avLst/>
          </a:prstGeom>
        </p:spPr>
      </p:pic>
    </p:spTree>
    <p:extLst>
      <p:ext uri="{BB962C8B-B14F-4D97-AF65-F5344CB8AC3E}">
        <p14:creationId xmlns:p14="http://schemas.microsoft.com/office/powerpoint/2010/main" val="39537454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251"/>
        <p:cNvGrpSpPr/>
        <p:nvPr/>
      </p:nvGrpSpPr>
      <p:grpSpPr>
        <a:xfrm>
          <a:off x="0" y="0"/>
          <a:ext cx="0" cy="0"/>
          <a:chOff x="0" y="0"/>
          <a:chExt cx="0" cy="0"/>
        </a:xfrm>
      </p:grpSpPr>
      <p:sp>
        <p:nvSpPr>
          <p:cNvPr id="253" name="Shape 253" descr="http://developer.r-project.org/Logo/Rlogo.svg"/>
          <p:cNvSpPr/>
          <p:nvPr/>
        </p:nvSpPr>
        <p:spPr>
          <a:xfrm>
            <a:off x="1679576" y="-144463"/>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4" name="Shape 254" descr="http://developer.r-project.org/Logo/Rlogo.svg"/>
          <p:cNvSpPr/>
          <p:nvPr/>
        </p:nvSpPr>
        <p:spPr>
          <a:xfrm>
            <a:off x="1831976" y="79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5" name="Shape 255" descr="http://developer.r-project.org/Logo/Rlogo.svg"/>
          <p:cNvSpPr/>
          <p:nvPr/>
        </p:nvSpPr>
        <p:spPr>
          <a:xfrm>
            <a:off x="1984376" y="160337"/>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56" name="Shape 256" descr="http://developer.r-project.org/Logo/Rlogo.svg"/>
          <p:cNvSpPr/>
          <p:nvPr/>
        </p:nvSpPr>
        <p:spPr>
          <a:xfrm>
            <a:off x="2136776" y="312738"/>
            <a:ext cx="304799" cy="304801"/>
          </a:xfrm>
          <a:prstGeom prst="rect">
            <a:avLst/>
          </a:prstGeom>
          <a:noFill/>
          <a:ln>
            <a:noFill/>
          </a:ln>
        </p:spPr>
        <p:txBody>
          <a:bodyPr lIns="91425" tIns="45700" rIns="91425" bIns="45700" anchor="t" anchorCtr="0">
            <a:noAutofit/>
          </a:bodyPr>
          <a:lstStyle/>
          <a:p>
            <a:endParaRPr>
              <a:solidFill>
                <a:schemeClr val="accent2">
                  <a:lumMod val="20000"/>
                  <a:lumOff val="80000"/>
                </a:schemeClr>
              </a:solidFill>
              <a:latin typeface="Calibri"/>
              <a:ea typeface="Calibri"/>
              <a:cs typeface="Calibri"/>
              <a:sym typeface="Calibri"/>
            </a:endParaRPr>
          </a:p>
        </p:txBody>
      </p:sp>
      <p:sp>
        <p:nvSpPr>
          <p:cNvPr id="2" name="AutoShape 6" descr="Image result for r"/>
          <p:cNvSpPr>
            <a:spLocks noChangeAspect="1" noChangeArrowheads="1"/>
          </p:cNvSpPr>
          <p:nvPr/>
        </p:nvSpPr>
        <p:spPr bwMode="auto">
          <a:xfrm>
            <a:off x="2289175" y="4651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solidFill>
                <a:schemeClr val="accent2">
                  <a:lumMod val="20000"/>
                  <a:lumOff val="80000"/>
                </a:schemeClr>
              </a:solidFill>
            </a:endParaRPr>
          </a:p>
        </p:txBody>
      </p:sp>
      <p:sp>
        <p:nvSpPr>
          <p:cNvPr id="8" name="Shape 208">
            <a:extLst>
              <a:ext uri="{FF2B5EF4-FFF2-40B4-BE49-F238E27FC236}">
                <a16:creationId xmlns:a16="http://schemas.microsoft.com/office/drawing/2014/main" id="{B5ED5A12-E140-4B27-8ED2-A376D55B0764}"/>
              </a:ext>
            </a:extLst>
          </p:cNvPr>
          <p:cNvSpPr txBox="1"/>
          <p:nvPr/>
        </p:nvSpPr>
        <p:spPr>
          <a:xfrm>
            <a:off x="1679575" y="232816"/>
            <a:ext cx="8680450" cy="769441"/>
          </a:xfrm>
          <a:prstGeom prst="rect">
            <a:avLst/>
          </a:prstGeom>
          <a:noFill/>
          <a:ln>
            <a:noFill/>
          </a:ln>
        </p:spPr>
        <p:txBody>
          <a:bodyPr lIns="91425" tIns="45700" rIns="91425" bIns="45700" anchor="t" anchorCtr="0">
            <a:noAutofit/>
          </a:bodyPr>
          <a:lstStyle/>
          <a:p>
            <a:pPr>
              <a:buSzPct val="25000"/>
            </a:pPr>
            <a:r>
              <a:rPr lang="en-US" sz="4400" dirty="0">
                <a:solidFill>
                  <a:schemeClr val="tx1">
                    <a:lumMod val="85000"/>
                    <a:lumOff val="15000"/>
                  </a:schemeClr>
                </a:solidFill>
                <a:latin typeface="Calibri"/>
                <a:ea typeface="Calibri"/>
                <a:cs typeface="Calibri"/>
                <a:sym typeface="Calibri"/>
              </a:rPr>
              <a:t>Next time: Getting started with R!</a:t>
            </a:r>
          </a:p>
        </p:txBody>
      </p:sp>
      <p:sp>
        <p:nvSpPr>
          <p:cNvPr id="6" name="Rectangle 5">
            <a:extLst>
              <a:ext uri="{FF2B5EF4-FFF2-40B4-BE49-F238E27FC236}">
                <a16:creationId xmlns:a16="http://schemas.microsoft.com/office/drawing/2014/main" id="{E5D02709-6223-4EC9-986E-861A9FF9FFB0}"/>
              </a:ext>
            </a:extLst>
          </p:cNvPr>
          <p:cNvSpPr/>
          <p:nvPr/>
        </p:nvSpPr>
        <p:spPr>
          <a:xfrm>
            <a:off x="2136774" y="1154657"/>
            <a:ext cx="7772400" cy="3539430"/>
          </a:xfrm>
          <a:prstGeom prst="rect">
            <a:avLst/>
          </a:prstGeom>
        </p:spPr>
        <p:txBody>
          <a:bodyPr wrap="square">
            <a:spAutoFit/>
          </a:bodyPr>
          <a:lstStyle/>
          <a:p>
            <a:pPr marL="342900" indent="-342900">
              <a:buFont typeface="Arial" panose="020B0604020202020204" pitchFamily="34" charset="0"/>
              <a:buChar char="•"/>
            </a:pPr>
            <a:r>
              <a:rPr lang="en-US" sz="2800" b="1" dirty="0">
                <a:solidFill>
                  <a:schemeClr val="tx1">
                    <a:lumMod val="85000"/>
                    <a:lumOff val="15000"/>
                  </a:schemeClr>
                </a:solidFill>
                <a:latin typeface="Calibri" panose="020F0502020204030204" pitchFamily="34" charset="0"/>
                <a:cs typeface="Calibri" panose="020F0502020204030204" pitchFamily="34" charset="0"/>
              </a:rPr>
              <a:t>Install R/</a:t>
            </a:r>
            <a:r>
              <a:rPr lang="en-US" sz="2800" b="1" dirty="0" err="1">
                <a:solidFill>
                  <a:schemeClr val="tx1">
                    <a:lumMod val="85000"/>
                    <a:lumOff val="15000"/>
                  </a:schemeClr>
                </a:solidFill>
                <a:latin typeface="Calibri" panose="020F0502020204030204" pitchFamily="34" charset="0"/>
                <a:cs typeface="Calibri" panose="020F0502020204030204" pitchFamily="34" charset="0"/>
              </a:rPr>
              <a:t>Rstudio</a:t>
            </a:r>
            <a:r>
              <a:rPr lang="en-US" sz="2800" b="1" dirty="0">
                <a:solidFill>
                  <a:schemeClr val="tx1">
                    <a:lumMod val="85000"/>
                    <a:lumOff val="15000"/>
                  </a:schemeClr>
                </a:solidFill>
                <a:latin typeface="Calibri" panose="020F0502020204030204" pitchFamily="34" charset="0"/>
                <a:cs typeface="Calibri" panose="020F0502020204030204" pitchFamily="34" charset="0"/>
              </a:rPr>
              <a:t>/Git BEFORE class</a:t>
            </a:r>
          </a:p>
          <a:p>
            <a:pPr marL="342900" indent="-342900">
              <a:buFont typeface="Arial" panose="020B0604020202020204" pitchFamily="34" charset="0"/>
              <a:buChar char="•"/>
            </a:pPr>
            <a:r>
              <a:rPr lang="en-US" sz="2800" b="1" dirty="0">
                <a:solidFill>
                  <a:schemeClr val="tx1">
                    <a:lumMod val="85000"/>
                    <a:lumOff val="15000"/>
                  </a:schemeClr>
                </a:solidFill>
                <a:latin typeface="Calibri" panose="020F0502020204030204" pitchFamily="34" charset="0"/>
                <a:cs typeface="Calibri" panose="020F0502020204030204" pitchFamily="34" charset="0"/>
              </a:rPr>
              <a:t>Take the Introductory Survey</a:t>
            </a:r>
          </a:p>
          <a:p>
            <a:pPr marL="342900" indent="-342900">
              <a:buFont typeface="Arial" panose="020B0604020202020204" pitchFamily="34" charset="0"/>
              <a:buChar char="•"/>
            </a:pPr>
            <a:r>
              <a:rPr lang="en-US" sz="2800" b="1" dirty="0">
                <a:solidFill>
                  <a:schemeClr val="tx1">
                    <a:lumMod val="85000"/>
                    <a:lumOff val="15000"/>
                  </a:schemeClr>
                </a:solidFill>
                <a:latin typeface="Calibri" panose="020F0502020204030204" pitchFamily="34" charset="0"/>
                <a:cs typeface="Calibri" panose="020F0502020204030204" pitchFamily="34" charset="0"/>
              </a:rPr>
              <a:t>Answer discussion post: what does an A look like for you?</a:t>
            </a:r>
          </a:p>
          <a:p>
            <a:pPr marL="342900" indent="-342900">
              <a:buFont typeface="Arial" panose="020B0604020202020204" pitchFamily="34" charset="0"/>
              <a:buChar char="•"/>
            </a:pPr>
            <a:endParaRPr lang="en-US" sz="2800" dirty="0">
              <a:solidFill>
                <a:schemeClr val="tx1">
                  <a:lumMod val="85000"/>
                  <a:lumOff val="15000"/>
                </a:schemeClr>
              </a:solidFill>
              <a:latin typeface="Calibri" panose="020F0502020204030204" pitchFamily="34" charset="0"/>
              <a:cs typeface="Calibri" panose="020F0502020204030204" pitchFamily="34" charset="0"/>
            </a:endParaRPr>
          </a:p>
          <a:p>
            <a:r>
              <a:rPr lang="en-US" sz="2800" dirty="0">
                <a:solidFill>
                  <a:schemeClr val="tx1">
                    <a:lumMod val="85000"/>
                    <a:lumOff val="15000"/>
                  </a:schemeClr>
                </a:solidFill>
                <a:latin typeface="Calibri" panose="020F0502020204030204" pitchFamily="34" charset="0"/>
                <a:cs typeface="Calibri" panose="020F0502020204030204" pitchFamily="34" charset="0"/>
              </a:rPr>
              <a:t>What we will cover:</a:t>
            </a:r>
          </a:p>
          <a:p>
            <a:pPr marL="342900" indent="-342900">
              <a:buFont typeface="Arial" panose="020B0604020202020204" pitchFamily="34" charset="0"/>
              <a:buChar char="•"/>
            </a:pPr>
            <a:r>
              <a:rPr lang="en-US" sz="2800" dirty="0">
                <a:solidFill>
                  <a:schemeClr val="tx1">
                    <a:lumMod val="85000"/>
                    <a:lumOff val="15000"/>
                  </a:schemeClr>
                </a:solidFill>
                <a:latin typeface="Calibri" panose="020F0502020204030204" pitchFamily="34" charset="0"/>
                <a:cs typeface="Calibri" panose="020F0502020204030204" pitchFamily="34" charset="0"/>
              </a:rPr>
              <a:t>How to clone the course repository (“repo”)</a:t>
            </a:r>
          </a:p>
          <a:p>
            <a:pPr marL="342900" indent="-342900">
              <a:buFont typeface="Arial" panose="020B0604020202020204" pitchFamily="34" charset="0"/>
              <a:buChar char="•"/>
            </a:pPr>
            <a:r>
              <a:rPr lang="en-US" sz="2800" dirty="0">
                <a:solidFill>
                  <a:schemeClr val="tx1">
                    <a:lumMod val="85000"/>
                    <a:lumOff val="15000"/>
                  </a:schemeClr>
                </a:solidFill>
                <a:latin typeface="Calibri" panose="020F0502020204030204" pitchFamily="34" charset="0"/>
                <a:cs typeface="Calibri" panose="020F0502020204030204" pitchFamily="34" charset="0"/>
              </a:rPr>
              <a:t>Get started using data in R: Script S01-1</a:t>
            </a:r>
          </a:p>
        </p:txBody>
      </p:sp>
    </p:spTree>
    <p:extLst>
      <p:ext uri="{BB962C8B-B14F-4D97-AF65-F5344CB8AC3E}">
        <p14:creationId xmlns:p14="http://schemas.microsoft.com/office/powerpoint/2010/main" val="1573291738"/>
      </p:ext>
    </p:extLst>
  </p:cSld>
  <p:clrMapOvr>
    <a:masterClrMapping/>
  </p:clrMapOvr>
</p:sld>
</file>

<file path=ppt/theme/theme1.xml><?xml version="1.0" encoding="utf-8"?>
<a:theme xmlns:a="http://schemas.openxmlformats.org/drawingml/2006/main" name="4300 theme">
  <a:themeElements>
    <a:clrScheme name="Custom 5">
      <a:dk1>
        <a:srgbClr val="3F3F3F"/>
      </a:dk1>
      <a:lt1>
        <a:sysClr val="window" lastClr="FFFFFF"/>
      </a:lt1>
      <a:dk2>
        <a:srgbClr val="637052"/>
      </a:dk2>
      <a:lt2>
        <a:srgbClr val="CCDDEA"/>
      </a:lt2>
      <a:accent1>
        <a:srgbClr val="E5A99F"/>
      </a:accent1>
      <a:accent2>
        <a:srgbClr val="B23838"/>
      </a:accent2>
      <a:accent3>
        <a:srgbClr val="865640"/>
      </a:accent3>
      <a:accent4>
        <a:srgbClr val="9B8357"/>
      </a:accent4>
      <a:accent5>
        <a:srgbClr val="C2BC80"/>
      </a:accent5>
      <a:accent6>
        <a:srgbClr val="94A088"/>
      </a:accent6>
      <a:hlink>
        <a:srgbClr val="2998E3"/>
      </a:hlink>
      <a:folHlink>
        <a:srgbClr val="8C8C8C"/>
      </a:folHlink>
    </a:clrScheme>
    <a:fontScheme name="4300">
      <a:majorFont>
        <a:latin typeface="Caladea"/>
        <a:ea typeface=""/>
        <a:cs typeface=""/>
      </a:majorFont>
      <a:minorFont>
        <a:latin typeface="Calibri"/>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geog4300_L01-Introductions" id="{FA51A00F-822B-41B5-AA4A-2C123A5E9355}" vid="{2F9C99DD-B25B-4D9F-92B4-7DCE57BD0F40}"/>
    </a:ext>
  </a:ext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376</TotalTime>
  <Words>1454</Words>
  <Application>Microsoft Office PowerPoint</Application>
  <PresentationFormat>Widescreen</PresentationFormat>
  <Paragraphs>199</Paragraphs>
  <Slides>26</Slides>
  <Notes>24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26</vt:i4>
      </vt:variant>
    </vt:vector>
  </HeadingPairs>
  <TitlesOfParts>
    <vt:vector size="33" baseType="lpstr">
      <vt:lpstr>Arial</vt:lpstr>
      <vt:lpstr>Caladea</vt:lpstr>
      <vt:lpstr>Calibri</vt:lpstr>
      <vt:lpstr>Segoe UI</vt:lpstr>
      <vt:lpstr>Sitka Display Semibold</vt:lpstr>
      <vt:lpstr>Sitka Subheading</vt:lpstr>
      <vt:lpstr>4300 theme</vt:lpstr>
      <vt:lpstr>Geog4/6300: Data Science in Geography</vt:lpstr>
      <vt:lpstr>What’s this course about?</vt:lpstr>
      <vt:lpstr>Course objectives</vt:lpstr>
      <vt:lpstr>Main course units</vt:lpstr>
      <vt:lpstr>PowerPoint Presentation</vt:lpstr>
      <vt:lpstr>What you need</vt:lpstr>
      <vt:lpstr>Introduce yourself!</vt:lpstr>
      <vt:lpstr>PowerPoint Presentation</vt:lpstr>
      <vt:lpstr>PowerPoint Presentation</vt:lpstr>
      <vt:lpstr>PowerPoint Presentation</vt:lpstr>
      <vt:lpstr>Spec grading</vt:lpstr>
      <vt:lpstr>PowerPoint Presentation</vt:lpstr>
      <vt:lpstr>PowerPoint Presentation</vt:lpstr>
      <vt:lpstr>PowerPoint Presentation</vt:lpstr>
      <vt:lpstr>Statistics in Geography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Numbers: What are they good for?</dc:title>
  <dc:creator>Gerald Shannon</dc:creator>
  <cp:lastModifiedBy>Jerry Shannon</cp:lastModifiedBy>
  <cp:revision>82</cp:revision>
  <dcterms:modified xsi:type="dcterms:W3CDTF">2026-08-11T15:49:58Z</dcterms:modified>
</cp:coreProperties>
</file>